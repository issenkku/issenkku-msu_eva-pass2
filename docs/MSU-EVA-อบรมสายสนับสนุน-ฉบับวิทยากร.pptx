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5e404421ea14af3" /><Relationship Type="http://schemas.openxmlformats.org/officeDocument/2006/relationships/extended-properties" Target="/docProps/app.xml" Id="R32f198041945451a" /><Relationship Type="http://schemas.openxmlformats.org/officeDocument/2006/relationships/officeDocument" Target="/ppt/presentation.xml" Id="R56cad6de19ed42d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dd03ff9f6994d03"/>
  </p:sldMasterIdLst>
  <p:notesMasterIdLst>
    <p:notesMasterId xmlns:r="http://schemas.openxmlformats.org/officeDocument/2006/relationships" r:id="R3e4ef5225cf84f5b"/>
  </p:notesMasterIdLst>
  <p:sldIdLst>
    <p:sldId xmlns:r="http://schemas.openxmlformats.org/officeDocument/2006/relationships" id="256" r:id="R5dd6c0e8636d464e"/>
    <p:sldId xmlns:r="http://schemas.openxmlformats.org/officeDocument/2006/relationships" id="257" r:id="Rdea1cbc0b9404a10"/>
    <p:sldId xmlns:r="http://schemas.openxmlformats.org/officeDocument/2006/relationships" id="258" r:id="Rc813cfb4598e4244"/>
    <p:sldId xmlns:r="http://schemas.openxmlformats.org/officeDocument/2006/relationships" id="259" r:id="Rf7ee6d64163c4574"/>
    <p:sldId xmlns:r="http://schemas.openxmlformats.org/officeDocument/2006/relationships" id="260" r:id="R4f24c80fb0fe4959"/>
    <p:sldId xmlns:r="http://schemas.openxmlformats.org/officeDocument/2006/relationships" id="261" r:id="R42b8602b06d748cf"/>
    <p:sldId xmlns:r="http://schemas.openxmlformats.org/officeDocument/2006/relationships" id="262" r:id="R243d8e490c7e47e0"/>
    <p:sldId xmlns:r="http://schemas.openxmlformats.org/officeDocument/2006/relationships" id="263" r:id="Rb444e3ed6b3746a9"/>
    <p:sldId xmlns:r="http://schemas.openxmlformats.org/officeDocument/2006/relationships" id="264" r:id="R6601e93af8dd4d34"/>
    <p:sldId xmlns:r="http://schemas.openxmlformats.org/officeDocument/2006/relationships" id="265" r:id="Rc65b5f8fd33147e1"/>
    <p:sldId xmlns:r="http://schemas.openxmlformats.org/officeDocument/2006/relationships" id="266" r:id="R1be78efb24f448d4"/>
    <p:sldId xmlns:r="http://schemas.openxmlformats.org/officeDocument/2006/relationships" id="267" r:id="Rac1fe3ce6a904acf"/>
    <p:sldId xmlns:r="http://schemas.openxmlformats.org/officeDocument/2006/relationships" id="268" r:id="R94e66db85db54c68"/>
    <p:sldId xmlns:r="http://schemas.openxmlformats.org/officeDocument/2006/relationships" id="269" r:id="R29b6ed5608664c2d"/>
    <p:sldId xmlns:r="http://schemas.openxmlformats.org/officeDocument/2006/relationships" id="270" r:id="Rac723ac9e9834695"/>
    <p:sldId xmlns:r="http://schemas.openxmlformats.org/officeDocument/2006/relationships" id="271" r:id="Rf78ebbcb4227480b"/>
    <p:sldId xmlns:r="http://schemas.openxmlformats.org/officeDocument/2006/relationships" id="272" r:id="R0962243c73e7457d"/>
    <p:sldId xmlns:r="http://schemas.openxmlformats.org/officeDocument/2006/relationships" id="273" r:id="Rd82d7c29d2454f9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eee8c40935145e0" /><Relationship Type="http://schemas.openxmlformats.org/officeDocument/2006/relationships/slideMaster" Target="/ppt/slideMasters/slideMaster1.xml" Id="Redd03ff9f6994d03" /><Relationship Type="http://schemas.openxmlformats.org/officeDocument/2006/relationships/notesMaster" Target="/ppt/notesMasters/notesMaster1.xml" Id="R3e4ef5225cf84f5b" /><Relationship Type="http://schemas.openxmlformats.org/officeDocument/2006/relationships/presProps" Target="/ppt/presProps.xml" Id="R26444a16c5764d29" /><Relationship Type="http://schemas.openxmlformats.org/officeDocument/2006/relationships/tableStyles" Target="/ppt/tableStyles.xml" Id="Rbc870008112e49de" /><Relationship Type="http://schemas.openxmlformats.org/officeDocument/2006/relationships/slide" Target="/ppt/slides/slide1.xml" Id="R5dd6c0e8636d464e" /><Relationship Type="http://schemas.openxmlformats.org/officeDocument/2006/relationships/slide" Target="/ppt/slides/slide2.xml" Id="Rdea1cbc0b9404a10" /><Relationship Type="http://schemas.openxmlformats.org/officeDocument/2006/relationships/slide" Target="/ppt/slides/slide3.xml" Id="Rc813cfb4598e4244" /><Relationship Type="http://schemas.openxmlformats.org/officeDocument/2006/relationships/slide" Target="/ppt/slides/slide4.xml" Id="Rf7ee6d64163c4574" /><Relationship Type="http://schemas.openxmlformats.org/officeDocument/2006/relationships/slide" Target="/ppt/slides/slide5.xml" Id="R4f24c80fb0fe4959" /><Relationship Type="http://schemas.openxmlformats.org/officeDocument/2006/relationships/slide" Target="/ppt/slides/slide6.xml" Id="R42b8602b06d748cf" /><Relationship Type="http://schemas.openxmlformats.org/officeDocument/2006/relationships/slide" Target="/ppt/slides/slide7.xml" Id="R243d8e490c7e47e0" /><Relationship Type="http://schemas.openxmlformats.org/officeDocument/2006/relationships/slide" Target="/ppt/slides/slide8.xml" Id="Rb444e3ed6b3746a9" /><Relationship Type="http://schemas.openxmlformats.org/officeDocument/2006/relationships/slide" Target="/ppt/slides/slide9.xml" Id="R6601e93af8dd4d34" /><Relationship Type="http://schemas.openxmlformats.org/officeDocument/2006/relationships/slide" Target="/ppt/slides/slide10.xml" Id="Rc65b5f8fd33147e1" /><Relationship Type="http://schemas.openxmlformats.org/officeDocument/2006/relationships/slide" Target="/ppt/slides/slide11.xml" Id="R1be78efb24f448d4" /><Relationship Type="http://schemas.openxmlformats.org/officeDocument/2006/relationships/slide" Target="/ppt/slides/slide12.xml" Id="Rac1fe3ce6a904acf" /><Relationship Type="http://schemas.openxmlformats.org/officeDocument/2006/relationships/slide" Target="/ppt/slides/slide13.xml" Id="R94e66db85db54c68" /><Relationship Type="http://schemas.openxmlformats.org/officeDocument/2006/relationships/slide" Target="/ppt/slides/slide14.xml" Id="R29b6ed5608664c2d" /><Relationship Type="http://schemas.openxmlformats.org/officeDocument/2006/relationships/slide" Target="/ppt/slides/slide15.xml" Id="Rac723ac9e9834695" /><Relationship Type="http://schemas.openxmlformats.org/officeDocument/2006/relationships/slide" Target="/ppt/slides/slide16.xml" Id="Rf78ebbcb4227480b" /><Relationship Type="http://schemas.openxmlformats.org/officeDocument/2006/relationships/slide" Target="/ppt/slides/slide17.xml" Id="R0962243c73e7457d" /><Relationship Type="http://schemas.openxmlformats.org/officeDocument/2006/relationships/slide" Target="/ppt/slides/slide18.xml" Id="Rd82d7c29d2454f9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1c655cb4809459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4f5f3ded13943ae" /><Relationship Type="http://schemas.openxmlformats.org/officeDocument/2006/relationships/notesMaster" Target="/ppt/notesMasters/notesMaster1.xml" Id="R8eceed7d43674f7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cdfe0abc6fe4e66" /><Relationship Type="http://schemas.openxmlformats.org/officeDocument/2006/relationships/notesMaster" Target="/ppt/notesMasters/notesMaster1.xml" Id="R0c7a7333f02841c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b9b33d627194b57" /><Relationship Type="http://schemas.openxmlformats.org/officeDocument/2006/relationships/notesMaster" Target="/ppt/notesMasters/notesMaster1.xml" Id="Rbcb47537573946c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1da3fb402f94af2" /><Relationship Type="http://schemas.openxmlformats.org/officeDocument/2006/relationships/notesMaster" Target="/ppt/notesMasters/notesMaster1.xml" Id="Ra7a2d39cc3bd4e4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23244e3b64a455e" /><Relationship Type="http://schemas.openxmlformats.org/officeDocument/2006/relationships/notesMaster" Target="/ppt/notesMasters/notesMaster1.xml" Id="Rb984009e2741491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8eb706a886b45fc" /><Relationship Type="http://schemas.openxmlformats.org/officeDocument/2006/relationships/notesMaster" Target="/ppt/notesMasters/notesMaster1.xml" Id="Rb8aa3a81cea349b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f940d55f6b34650" /><Relationship Type="http://schemas.openxmlformats.org/officeDocument/2006/relationships/notesMaster" Target="/ppt/notesMasters/notesMaster1.xml" Id="R17cfa2f377954f3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70e88ec4c3f429e" /><Relationship Type="http://schemas.openxmlformats.org/officeDocument/2006/relationships/notesMaster" Target="/ppt/notesMasters/notesMaster1.xml" Id="R9119872d6df6401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26d16372df24bb2" /><Relationship Type="http://schemas.openxmlformats.org/officeDocument/2006/relationships/notesMaster" Target="/ppt/notesMasters/notesMaster1.xml" Id="Re8156d27de5f42e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72e719f8ff5476b" /><Relationship Type="http://schemas.openxmlformats.org/officeDocument/2006/relationships/notesMaster" Target="/ppt/notesMasters/notesMaster1.xml" Id="R960b2d9b63fe44e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cfb8535ab5743e9" /><Relationship Type="http://schemas.openxmlformats.org/officeDocument/2006/relationships/notesMaster" Target="/ppt/notesMasters/notesMaster1.xml" Id="R37db1961606b4b7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923328946e64024" /><Relationship Type="http://schemas.openxmlformats.org/officeDocument/2006/relationships/notesMaster" Target="/ppt/notesMasters/notesMaster1.xml" Id="Rb9c8d5aef8da4d9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2b86e8c14ef42e7" /><Relationship Type="http://schemas.openxmlformats.org/officeDocument/2006/relationships/notesMaster" Target="/ppt/notesMasters/notesMaster1.xml" Id="Rae3cca920b1841c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643f69b6a9c4f18" /><Relationship Type="http://schemas.openxmlformats.org/officeDocument/2006/relationships/notesMaster" Target="/ppt/notesMasters/notesMaster1.xml" Id="R0776713a2759498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811ce56c34f465d" /><Relationship Type="http://schemas.openxmlformats.org/officeDocument/2006/relationships/notesMaster" Target="/ppt/notesMasters/notesMaster1.xml" Id="R3078c32ec491489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b91fc9fc8cf4384" /><Relationship Type="http://schemas.openxmlformats.org/officeDocument/2006/relationships/notesMaster" Target="/ppt/notesMasters/notesMaster1.xml" Id="Rb62cfb18178f473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b12b61e8bb24607" /><Relationship Type="http://schemas.openxmlformats.org/officeDocument/2006/relationships/notesMaster" Target="/ppt/notesMasters/notesMaster1.xml" Id="Rcc9025335830410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5bd43909d784506" /><Relationship Type="http://schemas.openxmlformats.org/officeDocument/2006/relationships/notesMaster" Target="/ppt/notesMasters/notesMaster1.xml" Id="Rd9ad26e60e08460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สวัสดีทุกท่านครับ สำหรับช่วงบ่ายนี้เราจะมาดูการใช้งานระบบประเมินผลการปฏิบัติงานบุคลากร หรือ MSU EVA สำหรับบุคลากรสายสนับสนุนกันนะครับ บางท่านอาจอยู่ต่อจากช่วงเช้า บางท่านเพิ่งเข้ามาใหม่ และมีทั้งผู้รับการประเมิน ผู้ประเมิน ผู้บริหาร รวมถึงผู้ประเมินระบบ ไม่ต้องกังวลครับ เราจะเริ่มจากภาพรวมสั้น ๆ ก่อน แล้วผมจะสาธิตหนึ่งรายการให้ดู หลังจากนั้นทุกท่านจะได้ทดลองกับบัญชีที่เตรียมไว้ครับ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docs/superpowers/specs/2026-07-24-split-role-training-decks-design.md</a:t>
            </a:r>
          </a:p>
          <a:p xmlns:a="http://schemas.openxmlformats.org/drawingml/2006/main">
            <a:r>
              <a:t>- public/favicon-msu.png</a:t>
            </a:r>
          </a:p>
          <a:p xmlns:a="http://schemas.openxmlformats.org/drawingml/2006/main">
            <a:r>
              <a:t>- C:\Users\pisut\Downloads\logoบริษัท.svg</a:t>
            </a:r>
          </a:p>
          <a:p xmlns:a="http://schemas.openxmlformats.org/drawingml/2006/main">
            <a:r>
              <a:t>- public/images/workload-background.jpg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เป้าหมายของช่วงบ่ายนี้ชัดเจนครับ เราจะทำกิจกรรมหนึ่งรายการให้ครบ ตั้งแต่เลือกกิจกรรม กรอกเป้าหมายและผล ตรวจคะแนน แนบหลักฐาน ไปจนถึงบันทึกร่าง ที่สำคัญคือเราต้องอธิบายได้ว่าคะแนนเกิดจากข้อมูลใด รอบประเมินเป็นสิ่งที่ผู้ดูแลระบบกำหนดไว้แล้วนะครับ ผู้ใช้งานมีหน้าที่ตรวจรอบกับรายการที่ได้รับมอบหมาย เมื่อพร้อมแล้ว ทีนี้เรามาดูว่าระบบช่วยงานส่วนไหนบ้างครับ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docs/superpowers/specs/2026-07-24-split-role-training-decks-design.md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ระบบไม่ได้มีเฉพาะหน้ากรอกกิจกรรมครับ ก่อนเริ่มใช้งาน Admin จะจัดการผู้ใช้ สิทธิ์ เกณฑ์ รอบประเมิน และการมอบหมายงานให้เรียบร้อย ส่วนผู้ใช้งานจะทำงานตามรายการที่ได้รับ ตั้งแต่การกรอกข้อมูล การประเมิน การติดตามสถานะ จนถึงการออกรายงาน ดังนั้นผู้เข้าอบรมไม่ต้องสร้างหรือเลือกรอบประเมินเองครับ เพียงตรวจว่ารอบและรายการถูกต้อง แล้วทำหน้าที่ตามสิทธิ์ของตนเอง ต่อไปเรามาดูผู้ใช้งานแต่ละกลุ่มกันครับ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database/seeders/RoleSeeder.php</a:t>
            </a:r>
          </a:p>
          <a:p xmlns:a="http://schemas.openxmlformats.org/drawingml/2006/main">
            <a:r>
              <a:t>- app/Http/Controllers/AssignmentDataController.php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ในระบบมีห้าบทบาทหลักครับ ได้แก่ Admin ผู้รับการประเมิน ผู้ประเมิน กรรมการ และผู้บริหาร แต่ละบทบาทจะเห็นเมนูต่างกัน ตรงนี้ขอเน้นครับ Admin เป็นผู้กำหนดผู้ใช้ เกณฑ์ รอบประเมิน การมอบหมาย และลำดับผู้ประเมิน ส่วนบทบาทผู้ประเมิน กรรมการ และผู้บริหารจะถูกใช้ตามขั้นที่ Admin จัดไว้ บางงานอาจใช้ไม่ครบทุกบทบาท และงานจะเสร็จสมบูรณ์เมื่อผู้ประเมินลำดับสุดท้ายกดยืนยันผลครับ เมื่อรู้ว่าใครทำอะไรแล้ว เรามาดูเส้นทางของงานทั้งกระบวนการกันครับ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database/seeders/RoleSeeder.php</a:t>
            </a:r>
          </a:p>
          <a:p xmlns:a="http://schemas.openxmlformats.org/drawingml/2006/main">
            <a:r>
              <a:t>- app/Http/Controllers/AssignmentDataController.php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ลองดูภาพนี้จากซ้ายไปขวาครับ ผู้รับการประเมินเปิดงาน เลือกกิจกรรม กรอกผล ตรวจคะแนนและหลักฐาน แล้วจึงส่งแบบประเมิน หลังจากนั้นระบบส่งงานให้ผู้ประเมินทีละคนตามลำดับ คนสุดท้ายยืนยันเมื่อใด งานจึงเป็นประเมินเสร็จสิ้น หรือ Completed ครับ จำไว้ว่าแต่ละปุ่มมีผลกับคนถัดไป เมื่อเห็นภาพรวมแล้ว ต่อไปเราจะเริ่มจากบทบาทของผู้กรอกข้อมูลครับ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ผู้รับการประเมินมีหน้าที่กรอกข้อมูลกิจกรรมให้ครบครับ ในแต่ละกิจกรรมต้องระบุว่า ทำอะไร ตั้งเป้าหมายไว้เท่าไร ผลจริงเป็นอย่างไร และใช้หลักฐานใดยืนยัน หากข้อมูลยังไม่ครบ ให้บันทึกร่างไว้ก่อน ยังไม่ต้องส่งแบบประเมิน เพราะผู้ประเมินจะใช้ข้อมูลส่วนนี้ประกอบการให้ผลครับ ต่อไปเรามาดูจุดเริ่มต้นบนแดชบอร์ดครับ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ต่อไปมาที่แดชบอร์ดของฉันครับ ก่อนเปิดงานให้ตรวจรอบประเมินที่ผู้ดูแลระบบกำหนด รายการที่ได้รับมอบหมาย และสถานะปัจจุบัน ผู้ใช้งานไม่ต้องเลือกรอบเองนะครับ ถ้ารายการไม่ตรงให้หยุดและแจ้งผู้ดูแลระบบก่อน บนแดชบอร์ดให้สังเกตชื่อรอบ ชื่อรายการ และปุ่มเปิดงานครับ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เมื่อเปิดรายการแล้ว ให้ตรวจว่าข้อมูล 4 ส่วนสอดคล้องกันครับ หนึ่ง โครงการบอกว่างานนี้อยู่ภายใต้เรื่องใด สอง กิจกรรมบอกว่างานที่ทำคืออะไร สาม ตัวชี้วัดบอกว่าจะวัดผลอย่างไร และสี่ หลักฐานใช้ยืนยันผลที่กรอก หากข้อมูลส่วนใดไม่ตรงกัน ผู้ประเมินอาจต้องขอข้อมูลเพิ่มครับ ดังนั้นให้เลือกกิจกรรมที่ตรงกับงานจริงก่อน แล้วจึงกรอกเป้าหมายและผลครับ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resources/views/criteria_config/partials/support-criteria-template.blade.php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ในหน้าบันทึกกิจกรรม มีสามส่วนที่อยากให้ดูครับ คือเป้าหมาย ผลที่ทำได้ และรายละเอียดกิจกรรม เป้าหมายคือค่าที่ตั้งไว้ ส่วนผลที่ทำได้คือสิ่งที่เกิดขึ้นจริง อย่าสลับสองช่องนี้นะครับ รายละเอียดกิจกรรมควรเขียนสั้น ๆ แต่บอกได้ว่าทำอะไรและเกิดผลอย่างไร เมื่อข้อมูลครบ ระบบจะนำไปคำนวณคะแนน ทีนี้เรามาดูสูตรแบบง่าย ๆ กันครับ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resources/views/criteria_config/partials/support-criteria-template.blade.php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ใช่ครับ สูตรนี้ดูเหมือนมีหลายตัว แต่หลักคิดไม่ซับซ้อน คะแนนถ่วงน้ำหนักเท่ากับน้ำหนักคูณคะแนนที่ทำได้ แล้วหารหนึ่งร้อย น้ำหนักบอกความสำคัญของรายการ ส่วนคะแนนที่ทำได้มาจากผลเทียบกับเกณฑ์ ตรงนี้อย่ากรอกคะแนนถ่วงน้ำหนักเองนะครับ ระบบคำนวณให้ หน้าที่ของเราคือตรวจว่าค่าต้นทางถูกต้อง ต่อไปลองคำนวณจากตัวอย่างจริงกันครับ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resources/views/criteria_config/partials/support-criteria-template.blade.php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ลองช่วยกันคิดนะครับ ถ้าน้ำหนักเท่ากับยี่สิบ และคะแนนที่ทำได้เท่ากับแปดสิบ ผลจะเป็นเท่าไรครับ ใช่ครับ คำตอบคือสิบหกคะแนน เพราะยี่สิบคูณแปดสิบแล้วหารหนึ่งร้อย ตัวอย่างนี้ช่วยให้เราตรวจคร่าว ๆ ได้ว่าคะแนนบนหน้าจอสมเหตุสมผลหรือไม่ ถ้าคะแนนไม่ตรง ให้ย้อนดูน้ำหนัก คะแนนที่ทำได้ และหน่วยข้อมูลก่อนครับ</a:t>
            </a:r>
          </a:p>
          <a:p xmlns:a="http://schemas.openxmlformats.org/drawingml/2006/main">
            <a:r>
              <a:t>[ถามผู้เข้าอบรม] ถ้าน้ำหนักเป็น 30 และคะแนนที่ทำได้เป็น 70 คะแนนถ่วงน้ำหนักควรเป็นเท่าไรครับ</a:t>
            </a:r>
          </a:p>
          <a:p xmlns:a="http://schemas.openxmlformats.org/drawingml/2006/main">
            <a:r>
              <a:t>[พูด] คำตอบคือ 21 คะแนนครับ ต่อไปเราจะดูหลักฐานที่ใช้รองรับผลกิจกรรม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resources/views/criteria_config/partials/support-criteria-template.blade.php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ก่อนส่ง ให้ตรวจ 3 เรื่องครับ หนึ่ง คะแนนที่ระบบคำนวณสมเหตุสมผลหรือไม่ สอง ลิงก์หลักฐานเปิดได้จากบัญชีผู้ประเมินหรือไม่ และสาม หลักฐานตรงกับกิจกรรมหรือไม่ ควรตั้งชื่อไฟล์ให้รู้ว่าเป็นหลักฐานของรายการใดครับ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- resources/views/criteria_config/partials/support-criteria-template.blade.php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ถ้าข้อมูลยังไม่ครบ ให้บันทึกร่างไว้ก่อน เมื่อข้อมูลและหลักฐานครบแล้วจึงส่งแบบประเมินครับ ก่อนยืนยัน ลองหยุดตรวจอีกครั้งว่าผลที่ทำได้สอดคล้องกับรายละเอียดกิจกรรมและหลักฐานหรือไม่ วันนี้ตอนทดลองเราจะหยุดที่บันทึกร่างนะครับ ส่วนต่อไปผมจะอธิบายให้เห็นว่าเมื่อส่งจริง งานเดินต่ออย่างไร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resources/views/partials/evaluation-form-action-buttons.blade.php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หลังส่งแบบประเมิน ระบบจะส่งงานไปยังผู้ประเมินตามลำดับที่ Admin กำหนดครับ ผู้ประเมินแต่ละคนตรวจ บันทึกผล และส่งต่อให้คนถัดไป จำนวนขั้นอาจต่างกันในแต่ละงาน เวลาตรวจว่างานอยู่ที่ใคร ให้ดูสถานะและลำดับของรายการ ไม่ต้องคาดเดาจากชื่อตำแหน่งครับ ต่อไปเรามาดูหน้าที่ของผู้ประเมินครับ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ตอนนี้เรามาดูฝั่งผู้ประเมินครับ เมื่อได้รับงาน ให้ตรวจ 4 เรื่องตามลำดับ คือ กิจกรรมตรงกับเกณฑ์หรือไม่ เป้าหมายกับผลที่ทำได้สอดคล้องกันหรือไม่ คะแนนถูกต้องหรือไม่ และหลักฐานเปิดได้และตรงกับข้อมูลหรือไม่ หากข้อมูลยังไม่ครบ ยังไม่ต้องบันทึกผล ให้แจ้งผู้เกี่ยวข้องตามขั้นตอนที่หน่วยงานกำหนดครับ บนหน้าจอให้สังเกตด้วยว่า ส่วนใดเป็นข้อมูลที่ผู้รับการประเมินกรอก และส่วนใดเป็นผลที่ผู้ประเมินต้องบันทึกครับ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ผู้ประเมินแต่ละคนทำงานเฉพาะขั้นของตัวเองครับ เมื่อตรวจครบแล้วจึงส่งต่อ คนถัดไปจึงจะรับงาน และเมื่อถึงคนสุดท้าย บุคคลนั้นจะยืนยันขั้นสุดท้ายจนสถานะเป็น Completed คนสุดท้ายอาจเป็นบทบาทใดก็ได้ตามลำดับที่ Admin กำหนดนะครับ เมื่อส่งต่องาน สถานะและผู้รับผิดชอบจะเปลี่ยนไปตามลำดับ จนผู้ประเมินลำดับสุดท้ายยืนยันผลครับ</a:t>
            </a:r>
          </a:p>
          <a:p xmlns:a="http://schemas.openxmlformats.org/drawingml/2006/main">
            <a:r>
              <a:t>[เริ่มสาธิตระบบ] ต่อไปผมจะสาธิตขั้นตอนทั้งหมดบนระบบให้ดู ตั้งแต่เริ่มต้นจนงานเสร็จครับ ทุกท่านยังไม่ต้องกดตาม ให้สังเกตลำดับการทำงานก่อน</a:t>
            </a:r>
          </a:p>
          <a:p xmlns:a="http://schemas.openxmlformats.org/drawingml/2006/main">
            <a:r>
              <a:t>[สาธิตต่อเนื่อง]</a:t>
            </a:r>
          </a:p>
          <a:p xmlns:a="http://schemas.openxmlformats.org/drawingml/2006/main">
            <a:r>
              <a:t>1. เปิดแดชบอร์ดและรายการที่ได้รับมอบหมาย</a:t>
            </a:r>
          </a:p>
          <a:p xmlns:a="http://schemas.openxmlformats.org/drawingml/2006/main">
            <a:r>
              <a:t>2. กรอกกิจกรรม เป้าหมาย และผล</a:t>
            </a:r>
          </a:p>
          <a:p xmlns:a="http://schemas.openxmlformats.org/drawingml/2006/main">
            <a:r>
              <a:t>3. ตรวจคะแนนที่ระบบคำนวณ</a:t>
            </a:r>
          </a:p>
          <a:p xmlns:a="http://schemas.openxmlformats.org/drawingml/2006/main">
            <a:r>
              <a:t>4. แนบและเปิดหลักฐาน</a:t>
            </a:r>
          </a:p>
          <a:p xmlns:a="http://schemas.openxmlformats.org/drawingml/2006/main">
            <a:r>
              <a:t>5. บันทึกร่าง</a:t>
            </a:r>
          </a:p>
          <a:p xmlns:a="http://schemas.openxmlformats.org/drawingml/2006/main">
            <a:r>
              <a:t>6. ตรวจความพร้อมและส่งแบบประเมิน</a:t>
            </a:r>
          </a:p>
          <a:p xmlns:a="http://schemas.openxmlformats.org/drawingml/2006/main">
            <a:r>
              <a:t>7. เปิดมุมผู้ประเมิน</a:t>
            </a:r>
          </a:p>
          <a:p xmlns:a="http://schemas.openxmlformats.org/drawingml/2006/main">
            <a:r>
              <a:t>8. ตรวจข้อมูล ให้ผล และส่งต่อ</a:t>
            </a:r>
          </a:p>
          <a:p xmlns:a="http://schemas.openxmlformats.org/drawingml/2006/main">
            <a:r>
              <a:t>9. เปิดบัญชีผู้ประเมินลำดับสุดท้าย</a:t>
            </a:r>
          </a:p>
          <a:p xmlns:a="http://schemas.openxmlformats.org/drawingml/2006/main">
            <a:r>
              <a:t>10. ยืนยันผลจนสถานะเป็น ประเมินเสร็จสิ้น (Completed)</a:t>
            </a:r>
          </a:p>
          <a:p xmlns:a="http://schemas.openxmlformats.org/drawingml/2006/main">
            <a:r>
              <a:t>[กลับมานำเสนอ] เมื่อเห็นขั้นตอนทั้งหมดแล้ว ต่อไปทุกท่านจะได้ทดลองทำด้วยบัญชีที่เตรียมไว้ครับ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ทีนี้ถึงเวลาลองทำด้วยตัวเองแล้วครับ ให้ทุกท่านเปิดบัญชีที่เตรียมไว้ ผู้ที่เคยทดสอบระบบแล้วลองเน้นตรวจคะแนนและความสัมพันธ์ของหลักฐาน ส่วนผู้ที่เพิ่งเริ่มให้ทำทีละขั้น เลือกกิจกรรม กรอกเป้าหมายและผล ตรวจคะแนน แนบหลักฐาน แล้วบันทึกร่าง ถ้าติดตรงไหนยกมือได้เลยครับ ยังไม่ต้องกดส่งแบบประเมิน เพราะเราจะตรวจความพร้อมร่วมกันก่อน</a:t>
            </a:r>
          </a:p>
          <a:p xmlns:a="http://schemas.openxmlformats.org/drawingml/2006/main">
            <a:r>
              <a:t>[เริ่มทดลองใช้งาน — 30 นาที]</a:t>
            </a:r>
          </a:p>
          <a:p xmlns:a="http://schemas.openxmlformats.org/drawingml/2006/main">
            <a:r>
              <a:t>[ให้ผู้เข้าอบรมหยุดที่บันทึกร่าง]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docs/superpowers/specs/2026-07-24-split-role-training-decks-design.md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ก่อนจบ ขอฝากวิธีตรวจปัญหาเบื้องต้นไว้สี่จุดครับ ดูรอบและรายการ สิทธิ์ของบัญชี สถานะงาน และข้อมูลบังคับรวมถึงลิงก์หลักฐาน ถ้าคะแนนไม่เป็นไปตามที่คิด ให้ย้อนดูน้ำหนัก คะแนนที่ทำได้ และหน่วยก่อน หากยังแก้ไม่ได้ ให้จดชื่อรายการ สถานะ และข้อความที่พบ แล้วแจ้งผู้ดูแลระบบครับ</a:t>
            </a:r>
          </a:p>
          <a:p xmlns:a="http://schemas.openxmlformats.org/drawingml/2006/main">
            <a:r>
              <a:t>[ถามผู้เข้าอบรม] ตอนนี้มีใครติดที่การเลือกกิจกรรม การคำนวณคะแนน หรือการเปิดหลักฐานไหมครับ</a:t>
            </a:r>
          </a:p>
          <a:p xmlns:a="http://schemas.openxmlformats.org/drawingml/2006/main">
            <a:r>
              <a:t>[พูด] ถ้าไม่มีคำถามเพิ่มเติม ขอให้จำไว้ครับ ตรวจงานให้ถูก กรอกข้อมูลให้ครบ และบันทึกร่างก่อนส่งจริง ขอบคุณทุกท่านครับ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resources/views/partials/evaluation-form-action-buttons.blade.php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C:\Users\pisut\Downloads\logoบริษัท.svg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be5d8a5c1745f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e89bd83317d4f04" /><Relationship Type="http://schemas.openxmlformats.org/officeDocument/2006/relationships/slideLayout" Target="/ppt/slideLayouts/slideLayout1.xml" Id="R81c77ee164694cd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1c77ee164694cd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b8e388f8cb4b15" /><Relationship Type="http://schemas.openxmlformats.org/officeDocument/2006/relationships/image" Target="/ppt/media/image.jpeg" Id="Rc53587b9fb624545" /><Relationship Type="http://schemas.openxmlformats.org/officeDocument/2006/relationships/image" Target="/ppt/media/image.png" Id="R4d67ebdfc0bf45d0" /><Relationship Type="http://schemas.openxmlformats.org/officeDocument/2006/relationships/image" Target="/ppt/media/image2.png" Id="Raed6bbc97678491f" /><Relationship Type="http://schemas.openxmlformats.org/officeDocument/2006/relationships/notesSlide" Target="/ppt/notesSlides/notesSlide1.xml" Id="Ra2a3b75da1a3488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214c3017ef4382" /><Relationship Type="http://schemas.openxmlformats.org/officeDocument/2006/relationships/notesSlide" Target="/ppt/notesSlides/notesSlide2.xml" Id="R6ce2755cebfd485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6fa63b4dec4d72" /><Relationship Type="http://schemas.openxmlformats.org/officeDocument/2006/relationships/notesSlide" Target="/ppt/notesSlides/notesSlide3.xml" Id="R50f2314d31f1451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97e025688a418c" /><Relationship Type="http://schemas.openxmlformats.org/officeDocument/2006/relationships/notesSlide" Target="/ppt/notesSlides/notesSlide4.xml" Id="R8c9b9f970ea3479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d5794ec27e47c6" /><Relationship Type="http://schemas.openxmlformats.org/officeDocument/2006/relationships/notesSlide" Target="/ppt/notesSlides/notesSlide5.xml" Id="R469a086b23b3403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fdf85a3d5d449e" /><Relationship Type="http://schemas.openxmlformats.org/officeDocument/2006/relationships/notesSlide" Target="/ppt/notesSlides/notesSlide6.xml" Id="Reb7e0188045b43b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e579df445b43c1" /><Relationship Type="http://schemas.openxmlformats.org/officeDocument/2006/relationships/notesSlide" Target="/ppt/notesSlides/notesSlide7.xml" Id="Re8847d780d544bb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e4f597914d4b5d" /><Relationship Type="http://schemas.openxmlformats.org/officeDocument/2006/relationships/notesSlide" Target="/ppt/notesSlides/notesSlide8.xml" Id="Rf331d1fd5d654df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f88c76d70240ad" /><Relationship Type="http://schemas.openxmlformats.org/officeDocument/2006/relationships/notesSlide" Target="/ppt/notesSlides/notesSlide9.xml" Id="R7fb38c834fee4dc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e828c3ede14775" /><Relationship Type="http://schemas.openxmlformats.org/officeDocument/2006/relationships/notesSlide" Target="/ppt/notesSlides/notesSlide10.xml" Id="R8f01ba9bfe81406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ed7ffa479e4586" /><Relationship Type="http://schemas.openxmlformats.org/officeDocument/2006/relationships/notesSlide" Target="/ppt/notesSlides/notesSlide11.xml" Id="R9cd0ea86fd6c4a7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825f474f564317" /><Relationship Type="http://schemas.openxmlformats.org/officeDocument/2006/relationships/notesSlide" Target="/ppt/notesSlides/notesSlide12.xml" Id="R44a6293031db4b3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f104d5f79e452e" /><Relationship Type="http://schemas.openxmlformats.org/officeDocument/2006/relationships/notesSlide" Target="/ppt/notesSlides/notesSlide13.xml" Id="Rdec2a095258e491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d84a7db7d34588" /><Relationship Type="http://schemas.openxmlformats.org/officeDocument/2006/relationships/notesSlide" Target="/ppt/notesSlides/notesSlide14.xml" Id="Ree1074bf5d034d2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15eff24abe49b7" /><Relationship Type="http://schemas.openxmlformats.org/officeDocument/2006/relationships/notesSlide" Target="/ppt/notesSlides/notesSlide15.xml" Id="Rb80d129622f542f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6a0e45454648d0" /><Relationship Type="http://schemas.openxmlformats.org/officeDocument/2006/relationships/notesSlide" Target="/ppt/notesSlides/notesSlide16.xml" Id="R51034fe7bfec445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14a9bd2d604e42" /><Relationship Type="http://schemas.openxmlformats.org/officeDocument/2006/relationships/notesSlide" Target="/ppt/notesSlides/notesSlide17.xml" Id="R301923bd93974b7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2b900b71d54649" /><Relationship Type="http://schemas.openxmlformats.org/officeDocument/2006/relationships/image" Target="/ppt/media/image3.png" Id="R4165b088ec76461a" /><Relationship Type="http://schemas.openxmlformats.org/officeDocument/2006/relationships/notesSlide" Target="/ppt/notesSlides/notesSlide18.xml" Id="R57db7d67b9a344f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3587b9fb624545"/>
          <a:srcRect xmlns:a="http://schemas.openxmlformats.org/drawingml/2006/main" l="2579" t="0" r="257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over-panel">
            <a:extLst xmlns:a="http://schemas.openxmlformats.org/drawingml/2006/main">
              <a:ext uri="{FF2B5EF4-FFF2-40B4-BE49-F238E27FC236}">
                <a16:creationId xmlns:a16="http://schemas.microsoft.com/office/drawing/2014/main" id="{E21DA3D2-E746-4E01-8FD5-54450C66C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524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E2F6D43C-665B-4A8F-9375-33CE878D0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67ebdfc0bf45d0"/>
          <a:stretch xmlns:a="http://schemas.openxmlformats.org/drawingml/2006/main"/>
        </p:blipFill>
        <p:spPr>
          <a:xfrm xmlns:a="http://schemas.openxmlformats.org/drawingml/2006/main">
            <a:off x="628650" y="419100"/>
            <a:ext cx="800100" cy="800100"/>
          </a:xfrm>
          <a:prstGeom xmlns:a="http://schemas.openxmlformats.org/drawingml/2006/main" prst="rect">
            <a:avLst/>
          </a:prstGeom>
        </p:spPr>
      </p:pic>
      <p:sp>
        <p:nvSpPr>
          <p:cNvPr id="5" name="cover-institution">
            <a:extLst xmlns:a="http://schemas.openxmlformats.org/drawingml/2006/main">
              <a:ext uri="{FF2B5EF4-FFF2-40B4-BE49-F238E27FC236}">
                <a16:creationId xmlns:a16="http://schemas.microsoft.com/office/drawing/2014/main" id="{AB4095D1-F3FB-422F-876B-70520B1F6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143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5F2A84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5F2A84"/>
                </a:solidFill>
                <a:latin typeface="Tahoma"/>
                <a:ea typeface="Tahoma"/>
                <a:cs typeface="Tahoma"/>
              </a:rPr>
              <a:t>คณะสาธารณสุขศาสตร์  •  มหาวิทยาลัยมหาสารคาม</a:t>
            </a:r>
          </a:p>
        </p:txBody>
      </p:sp>
      <p:sp>
        <p:nvSpPr>
          <p:cNvPr id="6" name="cover-session">
            <a:extLst xmlns:a="http://schemas.openxmlformats.org/drawingml/2006/main">
              <a:ext uri="{FF2B5EF4-FFF2-40B4-BE49-F238E27FC236}">
                <a16:creationId xmlns:a16="http://schemas.microsoft.com/office/drawing/2014/main" id="{58137DA4-9C14-406E-8DE8-44C8B713D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573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ภาคบ่าย</a:t>
            </a:r>
          </a:p>
        </p:txBody>
      </p:sp>
      <p:sp>
        <p:nvSpPr>
          <p:cNvPr id="7" name="cover-title">
            <a:extLst xmlns:a="http://schemas.openxmlformats.org/drawingml/2006/main">
              <a:ext uri="{FF2B5EF4-FFF2-40B4-BE49-F238E27FC236}">
                <a16:creationId xmlns:a16="http://schemas.microsoft.com/office/drawing/2014/main" id="{DF12BE92-B6A7-4F0A-B4C5-97381B96F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64770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5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5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ระบบประเมินผลการปฏิบัติงานบุคลากร</a:t>
            </a:r>
          </a:p>
        </p:txBody>
      </p:sp>
      <p:sp>
        <p:nvSpPr>
          <p:cNvPr id="8" name="cover-system-short-name">
            <a:extLst xmlns:a="http://schemas.openxmlformats.org/drawingml/2006/main">
              <a:ext uri="{FF2B5EF4-FFF2-40B4-BE49-F238E27FC236}">
                <a16:creationId xmlns:a16="http://schemas.microsoft.com/office/drawing/2014/main" id="{CEB49476-97B4-4FF1-91D8-FBDEFE9D0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14750"/>
            <a:ext cx="571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(MSU EVA)  •  สายสนับสนุน</a:t>
            </a:r>
          </a:p>
        </p:txBody>
      </p:sp>
      <p:sp>
        <p:nvSpPr>
          <p:cNvPr id="9" name="cover-gold-rule">
            <a:extLst xmlns:a="http://schemas.openxmlformats.org/drawingml/2006/main">
              <a:ext uri="{FF2B5EF4-FFF2-40B4-BE49-F238E27FC236}">
                <a16:creationId xmlns:a16="http://schemas.microsoft.com/office/drawing/2014/main" id="{F9A087EC-FA23-4175-A9FA-1BB42D8D7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05300"/>
            <a:ext cx="876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cover-promise">
            <a:extLst xmlns:a="http://schemas.openxmlformats.org/drawingml/2006/main">
              <a:ext uri="{FF2B5EF4-FFF2-40B4-BE49-F238E27FC236}">
                <a16:creationId xmlns:a16="http://schemas.microsoft.com/office/drawing/2014/main" id="{4057040E-6190-43F3-AADF-7CF6409D3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0"/>
            <a:ext cx="590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บันทึกกิจกรรม เข้าใจที่มาของคะแนน และแนบหลักฐานให้พร้อมตรวจ</a:t>
            </a:r>
          </a:p>
        </p:txBody>
      </p:sp>
      <p:sp>
        <p:nvSpPr>
          <p:cNvPr id="11" name="cover-style">
            <a:extLst xmlns:a="http://schemas.openxmlformats.org/drawingml/2006/main">
              <a:ext uri="{FF2B5EF4-FFF2-40B4-BE49-F238E27FC236}">
                <a16:creationId xmlns:a16="http://schemas.microsoft.com/office/drawing/2014/main" id="{C274FD41-5720-4A33-ABEC-A94300C46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0007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1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Professional Training  •  สายสนับสนุน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d6bbc97678491f"/>
          <a:stretch xmlns:a="http://schemas.openxmlformats.org/drawingml/2006/main"/>
        </p:blipFill>
        <p:spPr>
          <a:xfrm xmlns:a="http://schemas.openxmlformats.org/drawingml/2006/main">
            <a:off x="9186571" y="5962650"/>
            <a:ext cx="2029408" cy="5524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641126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ide-accent-2">
            <a:extLst xmlns:a="http://schemas.openxmlformats.org/drawingml/2006/main">
              <a:ext uri="{FF2B5EF4-FFF2-40B4-BE49-F238E27FC236}">
                <a16:creationId xmlns:a16="http://schemas.microsoft.com/office/drawing/2014/main" id="{5F39FBC6-F0FC-4823-BE4A-0E19733C5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2">
            <a:extLst xmlns:a="http://schemas.openxmlformats.org/drawingml/2006/main">
              <a:ext uri="{FF2B5EF4-FFF2-40B4-BE49-F238E27FC236}">
                <a16:creationId xmlns:a16="http://schemas.microsoft.com/office/drawing/2014/main" id="{7DEF3BDE-3DDC-499D-81CD-416DA8A14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เป้าหมายการอบรม  /  สายสนับสนุน</a:t>
            </a:r>
          </a:p>
        </p:txBody>
      </p:sp>
      <p:sp>
        <p:nvSpPr>
          <p:cNvPr id="3" name="title-2">
            <a:extLst xmlns:a="http://schemas.openxmlformats.org/drawingml/2006/main">
              <a:ext uri="{FF2B5EF4-FFF2-40B4-BE49-F238E27FC236}">
                <a16:creationId xmlns:a16="http://schemas.microsoft.com/office/drawing/2014/main" id="{90374745-30E2-4AF2-882D-6397C57AF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ช่วงบ่ายนี้ เราจะทดลองบันทึกกิจกรรมและตรวจคะแนน 1 รายการ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96C66E-A6DF-45E6-A12D-09507F0D5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571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เมื่อจบช่วงนี้ คุณจะทำได้ด้วยตัวเอง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C79006-CA36-4A20-8E0D-B779C6CDC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72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116ECE-2DAB-4861-8B53-63DD86646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676525"/>
            <a:ext cx="38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223B30-748D-4182-B0BD-3277B2692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628900"/>
            <a:ext cx="885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0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0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เปิดงานและเลือกกิจกรรมได้ถูกต้อง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25DA1A-C65D-4CBA-8728-73AC0544B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72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5E9EBA-4C02-494C-8E25-8FCFDAE37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648075"/>
            <a:ext cx="38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E751BB-0BAD-4F71-BBE2-2A30DCEF5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600450"/>
            <a:ext cx="885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0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0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กรอกผล คำนวณคะแนน และแนบหลักฐานได้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C8BECF-1EDA-4AC4-84BC-F082EC4B7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72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C74EC9-99E4-4FE5-AA70-92942AB52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619625"/>
            <a:ext cx="38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E579B7-4511-44EF-86C5-F68BFFAD8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572000"/>
            <a:ext cx="885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ตรวจความพร้อมก่อนส่งแบบประเมิน</a:t>
            </a:r>
          </a:p>
        </p:txBody>
      </p:sp>
      <p:sp>
        <p:nvSpPr>
          <p:cNvPr id="14" name="outcome-mark">
            <a:extLst xmlns:a="http://schemas.openxmlformats.org/drawingml/2006/main">
              <a:ext uri="{FF2B5EF4-FFF2-40B4-BE49-F238E27FC236}">
                <a16:creationId xmlns:a16="http://schemas.microsoft.com/office/drawing/2014/main" id="{2BF0A207-69E3-4A53-AEE7-3497879A0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076450"/>
            <a:ext cx="2324100" cy="3295650"/>
          </a:xfrm>
          <a:prstGeom xmlns:a="http://schemas.openxmlformats.org/drawingml/2006/main" prst="roundRect">
            <a:avLst>
              <a:gd name="adj" fmla="val 3279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9525">
            <a:solidFill>
              <a:srgbClr val="008C8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B6C5AC-4B43-4A28-8AE4-30B615349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324100"/>
            <a:ext cx="17907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0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780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367C67-B746-4D21-A501-C1259EAB8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752850"/>
            <a:ext cx="1790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รายการ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พร้อมส่ง</a:t>
            </a:r>
          </a:p>
        </p:txBody>
      </p:sp>
      <p:sp>
        <p:nvSpPr>
          <p:cNvPr id="17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FBC58066-7492-4B03-A47E-84A84A2D9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footer-label-2">
            <a:extLst xmlns:a="http://schemas.openxmlformats.org/drawingml/2006/main">
              <a:ext uri="{FF2B5EF4-FFF2-40B4-BE49-F238E27FC236}">
                <a16:creationId xmlns:a16="http://schemas.microsoft.com/office/drawing/2014/main" id="{8C3AC631-3BC6-441F-83FC-1D1BAF5FF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19" name="footer-page-2">
            <a:extLst xmlns:a="http://schemas.openxmlformats.org/drawingml/2006/main">
              <a:ext uri="{FF2B5EF4-FFF2-40B4-BE49-F238E27FC236}">
                <a16:creationId xmlns:a16="http://schemas.microsoft.com/office/drawing/2014/main" id="{1ACAE5E0-4835-46C7-8D92-CCA682743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02 / 18</a:t>
            </a:r>
          </a:p>
        </p:txBody>
      </p:sp>
    </p:spTree>
    <p:extLst>
      <p:ext uri="{BB962C8B-B14F-4D97-AF65-F5344CB8AC3E}">
        <p14:creationId xmlns:p14="http://schemas.microsoft.com/office/powerpoint/2010/main" val="107692930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side-accent-3">
            <a:extLst xmlns:a="http://schemas.openxmlformats.org/drawingml/2006/main">
              <a:ext uri="{FF2B5EF4-FFF2-40B4-BE49-F238E27FC236}">
                <a16:creationId xmlns:a16="http://schemas.microsoft.com/office/drawing/2014/main" id="{B6E16A85-B711-417F-9EE7-BC0C2050D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3">
            <a:extLst xmlns:a="http://schemas.openxmlformats.org/drawingml/2006/main">
              <a:ext uri="{FF2B5EF4-FFF2-40B4-BE49-F238E27FC236}">
                <a16:creationId xmlns:a16="http://schemas.microsoft.com/office/drawing/2014/main" id="{87D7E922-E866-4959-86EA-6E1CCCBFA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รู้จักระบบ  /  สายสนับสนุน</a:t>
            </a:r>
          </a:p>
        </p:txBody>
      </p:sp>
      <p:sp>
        <p:nvSpPr>
          <p:cNvPr id="3" name="title-3">
            <a:extLst xmlns:a="http://schemas.openxmlformats.org/drawingml/2006/main">
              <a:ext uri="{FF2B5EF4-FFF2-40B4-BE49-F238E27FC236}">
                <a16:creationId xmlns:a16="http://schemas.microsoft.com/office/drawing/2014/main" id="{16A8A918-2043-4AD8-ABB1-B1AD3D527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ระบบช่วยจัดการงานประเมินตั้งแต่เตรียมรอบจนถึงรายงานผล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85A71B-8B0A-405A-B2CF-5EC47BA06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857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ฟังก์ชันหลัก 5 ด้าน เชื่อมต่อกันเป็นกระบวนการเดียว</a:t>
            </a:r>
          </a:p>
        </p:txBody>
      </p:sp>
      <p:sp>
        <p:nvSpPr>
          <p:cNvPr id="5" name="system-function-line">
            <a:extLst xmlns:a="http://schemas.openxmlformats.org/drawingml/2006/main">
              <a:ext uri="{FF2B5EF4-FFF2-40B4-BE49-F238E27FC236}">
                <a16:creationId xmlns:a16="http://schemas.microsoft.com/office/drawing/2014/main" id="{03743DEE-F1B2-4293-B7C6-AE23B6D1F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467100"/>
            <a:ext cx="87058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BFF412-7A43-4C6E-B70B-D1BCAA1CB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D7BB26-306C-45BB-8226-57AED507A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5EAEF6-7AF3-4E22-A8D7-CD9D8B3B7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ผู้ใช้และสิทธิ์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9688E4-48E5-404D-91D4-1C7A68C37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จัดการบัญชีและบทบาท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72F000-A35C-406D-8CB0-F5213AA78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6CEB7A-AA3A-4ABC-BA32-081E8BD56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4B0A28-334B-4C53-AEE0-F58AE48E2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เกณฑ์ประเมิน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0DB1E7-5A75-406A-A710-4A16D9799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จัดการแบบและเกณฑ์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AA1765-ACB5-4028-9997-B6CE23F09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9588DA-690D-4D19-A441-18DBB4EFF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3E96CB-0043-472B-ADAA-962E7F979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รอบและงาน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1320BB-309E-4A67-AB5E-31B7C3EDD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สร้างรอบและมอบหมาย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D0895E-7795-46D2-B343-54E51F59B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F2216A-BF31-470E-8023-63FBB4E2F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B14D7C-05A9-48A9-870F-451A9D4A1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กรอกและประเมิน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34CD60-8794-4C46-8C90-C4FF608AC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บันทึก ตรวจ และส่งต่อ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C4DBD4-535B-43E7-A392-39DAE0E1E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4AB5625-F3F1-49A9-8B4F-055953845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D31378E-9E0D-498F-A44B-6A2B5384C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ติดตาม/รายงาน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8CFF0C0-5D06-47FC-8F88-2E87346EE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ติดตามสถานะและส่งออก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5E30495-B203-4BE0-91F1-AADEA66EB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D1F2B51-1E9A-4B99-B39E-6E60E433E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91200"/>
            <a:ext cx="1051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Admin เตรียมระบบและมอบหมายงาน ก่อนผู้ใช้งานเริ่มดำเนินการ</a:t>
            </a:r>
          </a:p>
        </p:txBody>
      </p:sp>
      <p:sp>
        <p:nvSpPr>
          <p:cNvPr id="28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882D1DA0-55F0-460E-B522-196A4F5E2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footer-label-3">
            <a:extLst xmlns:a="http://schemas.openxmlformats.org/drawingml/2006/main">
              <a:ext uri="{FF2B5EF4-FFF2-40B4-BE49-F238E27FC236}">
                <a16:creationId xmlns:a16="http://schemas.microsoft.com/office/drawing/2014/main" id="{CE04E8D3-EBE6-4849-9F9C-227325324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30" name="footer-page-3">
            <a:extLst xmlns:a="http://schemas.openxmlformats.org/drawingml/2006/main">
              <a:ext uri="{FF2B5EF4-FFF2-40B4-BE49-F238E27FC236}">
                <a16:creationId xmlns:a16="http://schemas.microsoft.com/office/drawing/2014/main" id="{26BC1363-FA26-400F-A2EC-9623E3B84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03 / 18</a:t>
            </a:r>
          </a:p>
        </p:txBody>
      </p:sp>
    </p:spTree>
    <p:extLst>
      <p:ext uri="{BB962C8B-B14F-4D97-AF65-F5344CB8AC3E}">
        <p14:creationId xmlns:p14="http://schemas.microsoft.com/office/powerpoint/2010/main" val="207510778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side-accent-4">
            <a:extLst xmlns:a="http://schemas.openxmlformats.org/drawingml/2006/main">
              <a:ext uri="{FF2B5EF4-FFF2-40B4-BE49-F238E27FC236}">
                <a16:creationId xmlns:a16="http://schemas.microsoft.com/office/drawing/2014/main" id="{C230977E-6D11-459F-98A4-8EB12ED7B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4">
            <a:extLst xmlns:a="http://schemas.openxmlformats.org/drawingml/2006/main">
              <a:ext uri="{FF2B5EF4-FFF2-40B4-BE49-F238E27FC236}">
                <a16:creationId xmlns:a16="http://schemas.microsoft.com/office/drawing/2014/main" id="{9989BFA6-6AF8-489D-80EE-A735B4A64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ผู้ใช้งานระบบ  /  สายสนับสนุน</a:t>
            </a:r>
          </a:p>
        </p:txBody>
      </p:sp>
      <p:sp>
        <p:nvSpPr>
          <p:cNvPr id="3" name="title-4">
            <a:extLst xmlns:a="http://schemas.openxmlformats.org/drawingml/2006/main">
              <a:ext uri="{FF2B5EF4-FFF2-40B4-BE49-F238E27FC236}">
                <a16:creationId xmlns:a16="http://schemas.microsoft.com/office/drawing/2014/main" id="{81BF8EC9-61F9-4D41-974A-F3569458C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ระบบมี 5 บทบาท และแต่ละคนเห็นงานต่างกัน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371B4C-583F-4619-AD4F-37E9ABCBE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7FCC9B-FFF2-4911-A899-BCAAC7F19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82880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Admin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E49561-01FE-4F87-B64B-0E852C680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866900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ผู้ใช้ • สิทธิ์ • เกณฑ์ • รอบประเมิน • งาน • ลำดับผู้ประเมิน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CFF80E-0B24-4E25-9411-0FE488670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38125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307CD9-CB3D-4481-90C2-38D60C002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0325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9D51CB-5182-4BEE-A9BC-74DAFBDED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562225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ผู้รับการประเมิน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56A328-3272-4503-BB64-A1B1A7DC7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600325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กรอกข้อมูล • แนบหลักฐาน • บันทึกร่าง • ส่งแบบประเมิน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38777A-C360-4ECF-80F2-21E26A296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114675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864C6E-F80A-462B-8E5D-E243B37EB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0F5BD0-4C08-45CB-AA29-5B5B2FFDF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29565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C5DA47-B5D3-45FF-8A03-361CC7247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333750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ตรวจข้อมูล • ให้คะแนนหรือความเห็น • ส่งต่องาน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8BEDBD-A047-4DA1-836B-785941132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8481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DC0892-E950-433A-BB23-C3E7F01A0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A5D9E3-1516-45A8-97A8-AF75A2AB9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029075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กรรมการ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D8CC72-711C-40CB-B611-70E2BDE47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067175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ตรวจและรับรองผลตามขั้นที่ได้รับมอบหมาย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2DC1B5-279C-4258-8E1D-B3D8E4B03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581525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9BD0D5C-247C-4229-BBF3-2F31DAF13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F34B9B9-FF87-47FF-91AF-076726600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76250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ผู้บริหาร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C1B65F-ED47-4C2E-A233-052FF9F39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800600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ตรวจหรือยืนยันตามลำดับ • ดูรายงานตามสิทธิ์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5F8E1A4-1248-4A5B-99A8-95AF5DFD2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7A9CF93-BB76-4B99-B82A-FB86C27B6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19775"/>
            <a:ext cx="10515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แต่ละรอบอาจใช้ผู้ประเมินไม่ครบทุกบทบาท ให้ยึดลำดับที่ Admin กำหนด</a:t>
            </a:r>
          </a:p>
        </p:txBody>
      </p:sp>
      <p:sp>
        <p:nvSpPr>
          <p:cNvPr id="25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E9831BB9-5C38-429B-9A09-0471503F1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footer-label-4">
            <a:extLst xmlns:a="http://schemas.openxmlformats.org/drawingml/2006/main">
              <a:ext uri="{FF2B5EF4-FFF2-40B4-BE49-F238E27FC236}">
                <a16:creationId xmlns:a16="http://schemas.microsoft.com/office/drawing/2014/main" id="{00441493-1933-4F07-B79C-F2B5EA80C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7" name="footer-page-4">
            <a:extLst xmlns:a="http://schemas.openxmlformats.org/drawingml/2006/main">
              <a:ext uri="{FF2B5EF4-FFF2-40B4-BE49-F238E27FC236}">
                <a16:creationId xmlns:a16="http://schemas.microsoft.com/office/drawing/2014/main" id="{023B72EA-8111-433C-8B00-92F504939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04 / 18</a:t>
            </a:r>
          </a:p>
        </p:txBody>
      </p:sp>
    </p:spTree>
    <p:extLst>
      <p:ext uri="{BB962C8B-B14F-4D97-AF65-F5344CB8AC3E}">
        <p14:creationId xmlns:p14="http://schemas.microsoft.com/office/powerpoint/2010/main" val="205712550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side-accent-5">
            <a:extLst xmlns:a="http://schemas.openxmlformats.org/drawingml/2006/main">
              <a:ext uri="{FF2B5EF4-FFF2-40B4-BE49-F238E27FC236}">
                <a16:creationId xmlns:a16="http://schemas.microsoft.com/office/drawing/2014/main" id="{921CB988-1FC6-4F4B-A578-7A5FB8355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5">
            <a:extLst xmlns:a="http://schemas.openxmlformats.org/drawingml/2006/main">
              <a:ext uri="{FF2B5EF4-FFF2-40B4-BE49-F238E27FC236}">
                <a16:creationId xmlns:a16="http://schemas.microsoft.com/office/drawing/2014/main" id="{9CD5A177-48E3-4A64-8882-A7310DD9D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ภาพรวมกระบวนการ  /  สายสนับสนุน</a:t>
            </a:r>
          </a:p>
        </p:txBody>
      </p:sp>
      <p:sp>
        <p:nvSpPr>
          <p:cNvPr id="3" name="title-5">
            <a:extLst xmlns:a="http://schemas.openxmlformats.org/drawingml/2006/main">
              <a:ext uri="{FF2B5EF4-FFF2-40B4-BE49-F238E27FC236}">
                <a16:creationId xmlns:a16="http://schemas.microsoft.com/office/drawing/2014/main" id="{7CCFC263-85C6-4A60-BA76-DFE8C8AA1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มาดูขั้นตอนทั้งหมดก่อนเริ่มกรอกข้อมูล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0D4EB1-ECB7-40E4-8610-7D4A9BC43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ตั้งแต่เลือกกิจกรรม กรอกผล ตรวจคะแนน จนถึงผู้ประเมินคนสุดท้าย</a:t>
            </a:r>
          </a:p>
        </p:txBody>
      </p:sp>
      <p:sp>
        <p:nvSpPr>
          <p:cNvPr id="5" name="workflow-line">
            <a:extLst xmlns:a="http://schemas.openxmlformats.org/drawingml/2006/main">
              <a:ext uri="{FF2B5EF4-FFF2-40B4-BE49-F238E27FC236}">
                <a16:creationId xmlns:a16="http://schemas.microsoft.com/office/drawing/2014/main" id="{D734B9CF-C989-409A-81BE-0EFE806DC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57575"/>
            <a:ext cx="866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workflow-arrow">
            <a:extLst xmlns:a="http://schemas.openxmlformats.org/drawingml/2006/main">
              <a:ext uri="{FF2B5EF4-FFF2-40B4-BE49-F238E27FC236}">
                <a16:creationId xmlns:a16="http://schemas.microsoft.com/office/drawing/2014/main" id="{F59B918B-3810-47A0-A1C9-3C4E07662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343275"/>
            <a:ext cx="4572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A1D456-BFAD-4ABB-B335-83CE3200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0F87D2-1AB3-4E59-BB0E-C4AF27DE6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5CE137-24FA-4D07-8AC0-BB8D15984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รับงาน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0F1043-49DF-4C75-95D0-E0A1A47C4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ตรวจรอบและรายการ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DB05C7-035C-4FEB-B87F-9FBAB05C2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4CB954-E89C-47A9-B289-84A278473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DF4ACF-2508-41BD-A015-61827F966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กรอกข้อมูล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57BC16-A808-4047-BF9F-AF322A580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กิจกรรม • ตัวชี้วัด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16C422-BE28-4B14-9200-D658F0902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FB15E7-3607-4875-A328-378506680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01156C-FA9F-47CD-9FBC-1E873192D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ตรวจความพร้อม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D6C8DC-D135-4F95-BC47-40BA3ED93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 • หลักฐาน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47272F-2D13-4C33-B289-1E9A48060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1592520-6077-40A1-A6E1-432A07723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43621F2-C1CB-4C45-AEE8-7621550C1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ส่งแบบประเมิน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789C40-94E8-469C-AECE-A12B1FDB5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เข้าสู่ลำดับผู้ประเมิน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BD53E1A-373B-4481-93A5-7A63CCB15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DD164FF-832C-4B12-ADC8-72A07CB09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D672C49-9E5D-490E-8EB8-E409831E1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ปิดงาน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EA78A0C-B702-4E98-840C-6CC0D2707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สถานะ Completed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CC2F799-C488-4032-BFC8-AFB90DAEE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742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งานเดินตามลำดับผู้ประเมินที่ผู้ดูแลระบบกำหนด</a:t>
            </a:r>
          </a:p>
        </p:txBody>
      </p:sp>
      <p:sp>
        <p:nvSpPr>
          <p:cNvPr id="28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A2A6F02D-18E4-43E9-A6F7-44BA79D4D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footer-label-5">
            <a:extLst xmlns:a="http://schemas.openxmlformats.org/drawingml/2006/main">
              <a:ext uri="{FF2B5EF4-FFF2-40B4-BE49-F238E27FC236}">
                <a16:creationId xmlns:a16="http://schemas.microsoft.com/office/drawing/2014/main" id="{CE701338-1107-4E24-8417-14346DC0C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30" name="footer-page-5">
            <a:extLst xmlns:a="http://schemas.openxmlformats.org/drawingml/2006/main">
              <a:ext uri="{FF2B5EF4-FFF2-40B4-BE49-F238E27FC236}">
                <a16:creationId xmlns:a16="http://schemas.microsoft.com/office/drawing/2014/main" id="{F2F646BA-B0EB-49EA-857E-24563B632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05 / 18</a:t>
            </a:r>
          </a:p>
        </p:txBody>
      </p:sp>
    </p:spTree>
    <p:extLst>
      <p:ext uri="{BB962C8B-B14F-4D97-AF65-F5344CB8AC3E}">
        <p14:creationId xmlns:p14="http://schemas.microsoft.com/office/powerpoint/2010/main" val="207184229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ide-accent-6">
            <a:extLst xmlns:a="http://schemas.openxmlformats.org/drawingml/2006/main">
              <a:ext uri="{FF2B5EF4-FFF2-40B4-BE49-F238E27FC236}">
                <a16:creationId xmlns:a16="http://schemas.microsoft.com/office/drawing/2014/main" id="{D8E75C79-7FD7-4E8E-9E6C-E4398E918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6">
            <a:extLst xmlns:a="http://schemas.openxmlformats.org/drawingml/2006/main">
              <a:ext uri="{FF2B5EF4-FFF2-40B4-BE49-F238E27FC236}">
                <a16:creationId xmlns:a16="http://schemas.microsoft.com/office/drawing/2014/main" id="{2D19EC02-C174-4CD0-9A82-54A425C05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บทบาทของคุณ  /  สายสนับสนุน</a:t>
            </a:r>
          </a:p>
        </p:txBody>
      </p:sp>
      <p:sp>
        <p:nvSpPr>
          <p:cNvPr id="3" name="title-6">
            <a:extLst xmlns:a="http://schemas.openxmlformats.org/drawingml/2006/main">
              <a:ext uri="{FF2B5EF4-FFF2-40B4-BE49-F238E27FC236}">
                <a16:creationId xmlns:a16="http://schemas.microsoft.com/office/drawing/2014/main" id="{F3C8DBCF-BB39-4148-B0FE-359DA4E75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กรอกผลการดำเนินงานให้ครบ แล้วส่งให้ผู้ประเมิน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821C28-68CD-4818-A407-9218DC23B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609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875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ผู้รับการประเมินกรอกผลกิจกรรมและแนบหลักฐานให้ครบ เพื่อให้ผู้ประเมินตรวจข้อมูลได้ชัดเจน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BE962A-B22A-4066-A292-5B073CA8F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30325B-4634-4374-83EC-7B6EAEF09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3028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เตรียม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134D99-72E3-44FD-A651-4131E530F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3028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081287-1803-44F3-8B9E-ABC9BD958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30289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กิจกรรม ผลที่ทำได้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และรายละเอียดประกอบ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AA582C-BF4B-4399-9B77-B79070764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105150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96F058-0037-423E-9195-A49ABA4BE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638550"/>
            <a:ext cx="3028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5E120A-E053-4921-A02C-A6FBC6440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191000"/>
            <a:ext cx="3028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327027-F9C0-4966-A82F-ADB22521E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476750"/>
            <a:ext cx="30289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ค่าที่กรอก สูตรคำนวณ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และลิงก์หลักฐาน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8620E3-C41C-4107-B5F1-D0BAA0C3C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05150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9F575A-A37A-4BC5-A472-02A424546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638550"/>
            <a:ext cx="3028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ตัดสินใจ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DD0A95-D790-4721-B574-AB1FBF3A4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191000"/>
            <a:ext cx="3028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A91A11-36CA-415B-844C-D7E5FE0FB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476750"/>
            <a:ext cx="30289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บันทึกร่าง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หรือส่งแบบประเมิน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AF551D-1F26-42D9-A78C-4068BAB62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866900"/>
            <a:ext cx="30099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BF5BE5-AE50-4A79-AEA7-3D4EA4CFD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990725"/>
            <a:ext cx="2476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งานเสร็จเมื่อผู้ประเมิน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ลำดับสุดท้ายยืนยันผล</a:t>
            </a:r>
          </a:p>
        </p:txBody>
      </p:sp>
      <p:sp>
        <p:nvSpPr>
          <p:cNvPr id="19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B4D29CCF-F5F8-4D69-84E2-2209E593E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footer-label-6">
            <a:extLst xmlns:a="http://schemas.openxmlformats.org/drawingml/2006/main">
              <a:ext uri="{FF2B5EF4-FFF2-40B4-BE49-F238E27FC236}">
                <a16:creationId xmlns:a16="http://schemas.microsoft.com/office/drawing/2014/main" id="{DC4A6369-1DFE-403E-A0C4-015BF9B24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1" name="footer-page-6">
            <a:extLst xmlns:a="http://schemas.openxmlformats.org/drawingml/2006/main">
              <a:ext uri="{FF2B5EF4-FFF2-40B4-BE49-F238E27FC236}">
                <a16:creationId xmlns:a16="http://schemas.microsoft.com/office/drawing/2014/main" id="{5C2F7483-A3F3-4D35-978F-41C998856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06 / 18</a:t>
            </a:r>
          </a:p>
        </p:txBody>
      </p:sp>
    </p:spTree>
    <p:extLst>
      <p:ext uri="{BB962C8B-B14F-4D97-AF65-F5344CB8AC3E}">
        <p14:creationId xmlns:p14="http://schemas.microsoft.com/office/powerpoint/2010/main" val="134059612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side-accent-7">
            <a:extLst xmlns:a="http://schemas.openxmlformats.org/drawingml/2006/main">
              <a:ext uri="{FF2B5EF4-FFF2-40B4-BE49-F238E27FC236}">
                <a16:creationId xmlns:a16="http://schemas.microsoft.com/office/drawing/2014/main" id="{D0E2FD4A-8D8B-4A70-AF6D-02CE59291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7">
            <a:extLst xmlns:a="http://schemas.openxmlformats.org/drawingml/2006/main">
              <a:ext uri="{FF2B5EF4-FFF2-40B4-BE49-F238E27FC236}">
                <a16:creationId xmlns:a16="http://schemas.microsoft.com/office/drawing/2014/main" id="{A8CA575F-A859-4979-BD55-2F9555D94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จุดเริ่มต้น  /  สายสนับสนุน</a:t>
            </a:r>
          </a:p>
        </p:txBody>
      </p:sp>
      <p:sp>
        <p:nvSpPr>
          <p:cNvPr id="3" name="title-7">
            <a:extLst xmlns:a="http://schemas.openxmlformats.org/drawingml/2006/main">
              <a:ext uri="{FF2B5EF4-FFF2-40B4-BE49-F238E27FC236}">
                <a16:creationId xmlns:a16="http://schemas.microsoft.com/office/drawing/2014/main" id="{51D01A4B-C0ED-474C-9AAB-FA59C3048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ตรวจสอบรอบประเมินและรายการที่ได้รับมอบหมาย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4C1D42-B0DF-4DF5-BAA8-921DE095A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ก่อนเปิดงาน ให้ตรวจ 3 อย่างนี้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4C663C-066C-4B38-95FD-B9CC3E57C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4B8276-8788-4CFD-A086-531ADC51C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90EC53-BBEC-45B6-B028-F8436FB27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6289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รอบประเมิน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05E92B-99E9-4441-805B-FA4FCB374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6670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ผู้ดูแลระบบกำหนดไว้ถูกต้อง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70E233-DFFF-42B4-8083-4E3272013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7A8EC7-4C22-456E-A10B-A9E536419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047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75A05A-1193-49A3-BA98-95D001D78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6957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รายการงาน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5EA132-9875-4C03-967A-773233802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7338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เป็นงานของคุณและตรงประเภท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F4CEA7-B54F-4CC7-8B21-EA6711964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13EBAD-DDF3-400D-A54E-C9253F380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6727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6B76BD-34ED-4002-9ADF-D809306C6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7625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สถานะ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06CAF0-32ED-4AB9-B65C-26C7624CC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8006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ยังอยู่ในขั้นที่คุณดำเนินการได้</a:t>
            </a:r>
          </a:p>
        </p:txBody>
      </p:sp>
      <p:sp>
        <p:nvSpPr>
          <p:cNvPr id="17" name="dashboard-preview">
            <a:extLst xmlns:a="http://schemas.openxmlformats.org/drawingml/2006/main">
              <a:ext uri="{FF2B5EF4-FFF2-40B4-BE49-F238E27FC236}">
                <a16:creationId xmlns:a16="http://schemas.microsoft.com/office/drawing/2014/main" id="{998F02F2-F95C-46A1-810C-8040E9C24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209800"/>
            <a:ext cx="3124200" cy="3352800"/>
          </a:xfrm>
          <a:prstGeom xmlns:a="http://schemas.openxmlformats.org/drawingml/2006/main" prst="roundRect">
            <a:avLst>
              <a:gd name="adj" fmla="val 24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52FEA3-F3B9-4AB5-960E-F92AD246A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495550"/>
            <a:ext cx="2514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9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แดชบอร์ดของฉัน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700E500-EA88-4A63-839D-A17B7AB5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105150"/>
            <a:ext cx="2514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06399A-CC72-43E0-9133-9A83906B7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209925"/>
            <a:ext cx="2171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สายสนับสนุน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5CEA08-41F6-4F89-97C2-A40B36517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752850"/>
            <a:ext cx="1943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1BC18DD-3FA9-4439-99E8-44C4EA658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114800"/>
            <a:ext cx="2266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CB180F-E657-4FB0-A4E8-95C4F7672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705350"/>
            <a:ext cx="15430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6D5B0A-0BB5-4145-9349-EB129C495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82917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เปิดรายการ</a:t>
            </a:r>
          </a:p>
        </p:txBody>
      </p:sp>
      <p:sp>
        <p:nvSpPr>
          <p:cNvPr id="25" name="footer-rule-7">
            <a:extLst xmlns:a="http://schemas.openxmlformats.org/drawingml/2006/main">
              <a:ext uri="{FF2B5EF4-FFF2-40B4-BE49-F238E27FC236}">
                <a16:creationId xmlns:a16="http://schemas.microsoft.com/office/drawing/2014/main" id="{B5D1A3C1-F770-4582-A03F-928203186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footer-label-7">
            <a:extLst xmlns:a="http://schemas.openxmlformats.org/drawingml/2006/main">
              <a:ext uri="{FF2B5EF4-FFF2-40B4-BE49-F238E27FC236}">
                <a16:creationId xmlns:a16="http://schemas.microsoft.com/office/drawing/2014/main" id="{34D362F4-D296-4083-8321-5ADD5E6C6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7" name="footer-page-7">
            <a:extLst xmlns:a="http://schemas.openxmlformats.org/drawingml/2006/main">
              <a:ext uri="{FF2B5EF4-FFF2-40B4-BE49-F238E27FC236}">
                <a16:creationId xmlns:a16="http://schemas.microsoft.com/office/drawing/2014/main" id="{4324E322-6D20-40E2-ADB0-C6D7CFE8A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07 / 18</a:t>
            </a:r>
          </a:p>
        </p:txBody>
      </p:sp>
    </p:spTree>
    <p:extLst>
      <p:ext uri="{BB962C8B-B14F-4D97-AF65-F5344CB8AC3E}">
        <p14:creationId xmlns:p14="http://schemas.microsoft.com/office/powerpoint/2010/main" val="12876195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side-accent-8">
            <a:extLst xmlns:a="http://schemas.openxmlformats.org/drawingml/2006/main">
              <a:ext uri="{FF2B5EF4-FFF2-40B4-BE49-F238E27FC236}">
                <a16:creationId xmlns:a16="http://schemas.microsoft.com/office/drawing/2014/main" id="{D13E93E2-BA99-4BCE-AF8B-5415F3A6C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8">
            <a:extLst xmlns:a="http://schemas.openxmlformats.org/drawingml/2006/main">
              <a:ext uri="{FF2B5EF4-FFF2-40B4-BE49-F238E27FC236}">
                <a16:creationId xmlns:a16="http://schemas.microsoft.com/office/drawing/2014/main" id="{300496EA-73E1-428D-A4A2-F9AE6F841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โครงสร้างข้อมูล  /  สายสนับสนุน</a:t>
            </a:r>
          </a:p>
        </p:txBody>
      </p:sp>
      <p:sp>
        <p:nvSpPr>
          <p:cNvPr id="3" name="title-8">
            <a:extLst xmlns:a="http://schemas.openxmlformats.org/drawingml/2006/main">
              <a:ext uri="{FF2B5EF4-FFF2-40B4-BE49-F238E27FC236}">
                <a16:creationId xmlns:a16="http://schemas.microsoft.com/office/drawing/2014/main" id="{B1BE26CE-AFD2-4FFA-B775-2E6433ECC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ตรวจให้แน่ใจว่าโครงการ กิจกรรม ตัวชี้วัด และหลักฐานตรงกัน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30349D-157D-4E60-A2F4-299A67ADF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685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ตรวจความเชื่อมโยงของข้อมูลทุกส่วน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5379C4-32F1-4650-8C3A-C65A21455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505200"/>
            <a:ext cx="7696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56DEBA-B225-4B99-9C79-49F515E4D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96D4A5-B995-4486-A049-3A204C2F6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650220-C524-46A8-A366-61E7FF112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โครงการ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5EB9DC-EFA6-40DB-8A46-C52611C4C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บริบทและเป้าหมาย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DCFCB1-30C3-4FA6-9842-D0394DB5F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414FD5-CFEA-4772-914F-F2E1328BB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F82EC9-D370-4BB3-954C-7883375D7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กิจกรรม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CEE264-D3E6-452E-AAF6-2746D5AF0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งานที่ดำเนินการ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0831DF-6D0C-499A-AD82-07B15815B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01784B-B8B0-440D-BA11-1A288828C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553FBA-AE1C-4C6A-8655-D0FB74A0E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ตัวชี้วัด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90551F-D3F2-4625-A2DA-EE6E8D126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เกณฑ์ที่ใช้วัดผล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5C5C45-AF8C-421B-974D-A5DA17E53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B4DCAA-6930-44E0-88AC-255F40F9E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BB2D78-E2C4-4386-9A23-FD9C10843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หลักฐาน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9ADFF8-F2EA-47DE-A702-25E254B80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สิ่งที่ยืนยันผล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92582E1-0FD8-49C2-BDF5-887E36E01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ทุกคะแนนต้องย้อนกลับไปอธิบายได้ว่าเกิดจากกิจกรรมใด</a:t>
            </a:r>
          </a:p>
        </p:txBody>
      </p:sp>
      <p:sp>
        <p:nvSpPr>
          <p:cNvPr id="23" name="footer-rule-8">
            <a:extLst xmlns:a="http://schemas.openxmlformats.org/drawingml/2006/main">
              <a:ext uri="{FF2B5EF4-FFF2-40B4-BE49-F238E27FC236}">
                <a16:creationId xmlns:a16="http://schemas.microsoft.com/office/drawing/2014/main" id="{52498347-C50C-47C4-AD84-91C59D65A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footer-label-8">
            <a:extLst xmlns:a="http://schemas.openxmlformats.org/drawingml/2006/main">
              <a:ext uri="{FF2B5EF4-FFF2-40B4-BE49-F238E27FC236}">
                <a16:creationId xmlns:a16="http://schemas.microsoft.com/office/drawing/2014/main" id="{67BFDA57-408D-4CF8-ABEB-F322BEC39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5" name="footer-page-8">
            <a:extLst xmlns:a="http://schemas.openxmlformats.org/drawingml/2006/main">
              <a:ext uri="{FF2B5EF4-FFF2-40B4-BE49-F238E27FC236}">
                <a16:creationId xmlns:a16="http://schemas.microsoft.com/office/drawing/2014/main" id="{F570F9E1-DD46-4B00-8938-670A476DA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08 / 18</a:t>
            </a:r>
          </a:p>
        </p:txBody>
      </p:sp>
    </p:spTree>
    <p:extLst>
      <p:ext uri="{BB962C8B-B14F-4D97-AF65-F5344CB8AC3E}">
        <p14:creationId xmlns:p14="http://schemas.microsoft.com/office/powerpoint/2010/main" val="123501363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ide-accent-9">
            <a:extLst xmlns:a="http://schemas.openxmlformats.org/drawingml/2006/main">
              <a:ext uri="{FF2B5EF4-FFF2-40B4-BE49-F238E27FC236}">
                <a16:creationId xmlns:a16="http://schemas.microsoft.com/office/drawing/2014/main" id="{AC0C89D9-DAC5-400C-8062-629ABA6E4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9">
            <a:extLst xmlns:a="http://schemas.openxmlformats.org/drawingml/2006/main">
              <a:ext uri="{FF2B5EF4-FFF2-40B4-BE49-F238E27FC236}">
                <a16:creationId xmlns:a16="http://schemas.microsoft.com/office/drawing/2014/main" id="{C06A3142-4BF1-4567-B578-747A3552E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บันทึกผลกิจกรรม  /  สายสนับสนุน</a:t>
            </a:r>
          </a:p>
        </p:txBody>
      </p:sp>
      <p:sp>
        <p:nvSpPr>
          <p:cNvPr id="3" name="title-9">
            <a:extLst xmlns:a="http://schemas.openxmlformats.org/drawingml/2006/main">
              <a:ext uri="{FF2B5EF4-FFF2-40B4-BE49-F238E27FC236}">
                <a16:creationId xmlns:a16="http://schemas.microsoft.com/office/drawing/2014/main" id="{45C5ABD6-D3AB-4C82-B62B-EAF23E62B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กรอกเป้าหมาย ผลที่ทำได้ และรายละเอียดกิจกรรมให้ครบ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422553-72C4-4715-8158-605A4F2F5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685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 3 ส่วนนี้ทำให้คะแนนมีที่มา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AC658C-2FBF-4178-924C-1E04844DE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3124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898280-C76A-4FAD-8038-BDAEF7A6A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เป้าหมาย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C4FCBE-6AE7-4EC8-9E2A-ED185CAB5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สิ่งที่เกณฑ์คาดหวัง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7C59E7-4548-4FEB-A2AA-2628214C2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3124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กำหนดจุดอ้างอิง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E4DA82-B3F8-44A8-A94E-229D19ED4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724150"/>
            <a:ext cx="3124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1EDD76-F197-4D21-AC6E-B7942AEAC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105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ผลที่ทำได้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19CEF1-4D22-453D-87B4-EAA297894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8290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ค่าหรือระดับผลงานจริง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C21030-2365-4E4B-9956-70825448E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667250"/>
            <a:ext cx="3124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ใช้คำนวณคะแนน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2EBDAB-BDE9-4E95-A9BA-B5D9E3E93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724150"/>
            <a:ext cx="3124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342C2A-3E11-4704-967F-DD6DE1D5D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05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รายละเอียดกิจกรรม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AEE54E-46A3-44FD-A1D6-DAD952F1E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8290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อธิบายงานที่เกิดขึ้น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89A322-BD02-4104-90D7-675376E57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667250"/>
            <a:ext cx="3124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เชื่อมกับหลักฐาน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F5A6E5-0C75-4DE6-8BD2-658D63064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904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หากเกณฑ์อนุญาต คุณสามารถเพิ่มรายการกิจกรรม/โครงการได้</a:t>
            </a:r>
          </a:p>
        </p:txBody>
      </p:sp>
      <p:sp>
        <p:nvSpPr>
          <p:cNvPr id="18" name="footer-rule-9">
            <a:extLst xmlns:a="http://schemas.openxmlformats.org/drawingml/2006/main">
              <a:ext uri="{FF2B5EF4-FFF2-40B4-BE49-F238E27FC236}">
                <a16:creationId xmlns:a16="http://schemas.microsoft.com/office/drawing/2014/main" id="{CA27EBA5-DC57-4D64-B9FE-6E4E3A9ED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footer-label-9">
            <a:extLst xmlns:a="http://schemas.openxmlformats.org/drawingml/2006/main">
              <a:ext uri="{FF2B5EF4-FFF2-40B4-BE49-F238E27FC236}">
                <a16:creationId xmlns:a16="http://schemas.microsoft.com/office/drawing/2014/main" id="{8CC059CF-137C-4241-9A4C-6FE3316C9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0" name="footer-page-9">
            <a:extLst xmlns:a="http://schemas.openxmlformats.org/drawingml/2006/main">
              <a:ext uri="{FF2B5EF4-FFF2-40B4-BE49-F238E27FC236}">
                <a16:creationId xmlns:a16="http://schemas.microsoft.com/office/drawing/2014/main" id="{24347561-ACD0-48F4-8062-D0F940BE6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09 / 18</a:t>
            </a:r>
          </a:p>
        </p:txBody>
      </p:sp>
    </p:spTree>
    <p:extLst>
      <p:ext uri="{BB962C8B-B14F-4D97-AF65-F5344CB8AC3E}">
        <p14:creationId xmlns:p14="http://schemas.microsoft.com/office/powerpoint/2010/main" val="122159642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ide-accent-10">
            <a:extLst xmlns:a="http://schemas.openxmlformats.org/drawingml/2006/main">
              <a:ext uri="{FF2B5EF4-FFF2-40B4-BE49-F238E27FC236}">
                <a16:creationId xmlns:a16="http://schemas.microsoft.com/office/drawing/2014/main" id="{7FD48FB0-66DF-4AA9-935F-C18B1B6DD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0">
            <a:extLst xmlns:a="http://schemas.openxmlformats.org/drawingml/2006/main">
              <a:ext uri="{FF2B5EF4-FFF2-40B4-BE49-F238E27FC236}">
                <a16:creationId xmlns:a16="http://schemas.microsoft.com/office/drawing/2014/main" id="{E6767B42-78BF-428E-B946-ACB0FC235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สูตรคะแนน  /  สายสนับสนุน</a:t>
            </a:r>
          </a:p>
        </p:txBody>
      </p:sp>
      <p:sp>
        <p:nvSpPr>
          <p:cNvPr id="3" name="title-10">
            <a:extLst xmlns:a="http://schemas.openxmlformats.org/drawingml/2006/main">
              <a:ext uri="{FF2B5EF4-FFF2-40B4-BE49-F238E27FC236}">
                <a16:creationId xmlns:a16="http://schemas.microsoft.com/office/drawing/2014/main" id="{4AAEE529-3334-4A5F-8426-078439DA6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ระบบคำนวณคะแนนถ่วงน้ำหนักจากน้ำหนักและคะแนนที่ทำได้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DD2C16-A1AC-4BEA-A4E5-0D4263BAA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4857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24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คะแนนถ่วงน้ำหนัก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D3F68B-702F-46EE-9489-C46313A53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33700"/>
            <a:ext cx="723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90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390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=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C12871-5064-4A4C-A0CD-00C946E39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95550"/>
            <a:ext cx="20002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8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8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น้ำหนัก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47A626-EB29-4B2D-B572-3FFB48C4C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933700"/>
            <a:ext cx="552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7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37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×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452610-8805-4168-BA41-008637FEB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495550"/>
            <a:ext cx="24955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9525">
            <a:solidFill>
              <a:srgbClr val="008C86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5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5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คะแนนที่ทำได้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67BF14-4765-4D61-AC0F-BB9537251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943350"/>
            <a:ext cx="5276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61BC5A-5A3E-498D-BBE0-0CB474C73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171950"/>
            <a:ext cx="5276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1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1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100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0ACBE2-418B-4AF8-A369-51EBCB66B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895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คะแนนถ่วงน้ำหนัก = น้ำหนัก × คะแนนที่ทำได้ ÷ 100</a:t>
            </a:r>
          </a:p>
        </p:txBody>
      </p:sp>
      <p:sp>
        <p:nvSpPr>
          <p:cNvPr id="12" name="footer-rule-10">
            <a:extLst xmlns:a="http://schemas.openxmlformats.org/drawingml/2006/main">
              <a:ext uri="{FF2B5EF4-FFF2-40B4-BE49-F238E27FC236}">
                <a16:creationId xmlns:a16="http://schemas.microsoft.com/office/drawing/2014/main" id="{40BA8A73-30E9-4D8E-8510-01434B71B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footer-label-10">
            <a:extLst xmlns:a="http://schemas.openxmlformats.org/drawingml/2006/main">
              <a:ext uri="{FF2B5EF4-FFF2-40B4-BE49-F238E27FC236}">
                <a16:creationId xmlns:a16="http://schemas.microsoft.com/office/drawing/2014/main" id="{29748CC5-2248-45F1-8F8D-0946A9ED1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14" name="footer-page-10">
            <a:extLst xmlns:a="http://schemas.openxmlformats.org/drawingml/2006/main">
              <a:ext uri="{FF2B5EF4-FFF2-40B4-BE49-F238E27FC236}">
                <a16:creationId xmlns:a16="http://schemas.microsoft.com/office/drawing/2014/main" id="{36801014-917A-4CCF-BB26-09BE925CA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10 / 18</a:t>
            </a:r>
          </a:p>
        </p:txBody>
      </p:sp>
    </p:spTree>
    <p:extLst>
      <p:ext uri="{BB962C8B-B14F-4D97-AF65-F5344CB8AC3E}">
        <p14:creationId xmlns:p14="http://schemas.microsoft.com/office/powerpoint/2010/main" val="34020560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ide-accent-11">
            <a:extLst xmlns:a="http://schemas.openxmlformats.org/drawingml/2006/main">
              <a:ext uri="{FF2B5EF4-FFF2-40B4-BE49-F238E27FC236}">
                <a16:creationId xmlns:a16="http://schemas.microsoft.com/office/drawing/2014/main" id="{8129789E-0F29-4DB6-8D65-0C5C18795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1">
            <a:extLst xmlns:a="http://schemas.openxmlformats.org/drawingml/2006/main">
              <a:ext uri="{FF2B5EF4-FFF2-40B4-BE49-F238E27FC236}">
                <a16:creationId xmlns:a16="http://schemas.microsoft.com/office/drawing/2014/main" id="{254C5BDD-18CF-4C62-8BB9-A37D77864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ตัวอย่างคำนวณ  /  สายสนับสนุน</a:t>
            </a:r>
          </a:p>
        </p:txBody>
      </p:sp>
      <p:sp>
        <p:nvSpPr>
          <p:cNvPr id="3" name="title-11">
            <a:extLst xmlns:a="http://schemas.openxmlformats.org/drawingml/2006/main">
              <a:ext uri="{FF2B5EF4-FFF2-40B4-BE49-F238E27FC236}">
                <a16:creationId xmlns:a16="http://schemas.microsoft.com/office/drawing/2014/main" id="{68CB33C2-4375-4087-BA7F-8B8277C94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ลองคำนวณคะแนนจากตัวอย่างนี้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6EAB5B-BC26-46A2-9E0D-AC527E9E8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3143250" cy="234315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B25BE3-6838-4700-9136-68616C3A8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47950"/>
            <a:ext cx="26860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5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55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20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5132A9-55B9-412E-95A4-38970AC33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05250"/>
            <a:ext cx="2686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น้ำหนัก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C60451-3F72-4620-8C23-192211A87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400300"/>
            <a:ext cx="3143250" cy="234315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595598-2400-414D-96EA-35D3B5DA0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647950"/>
            <a:ext cx="26860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5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55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80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191DC0-7461-4A23-BE0C-D7E03C08C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905250"/>
            <a:ext cx="2686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คะแนนที่ทำได้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13A86A-C7B6-4588-89BF-EC73D6BC1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400300"/>
            <a:ext cx="3143250" cy="234315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9525">
            <a:solidFill>
              <a:srgbClr val="008C8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8D00E4-1C51-4E6C-B1BF-C0A79E97F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647950"/>
            <a:ext cx="26860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55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555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16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3E08FD-DF6E-4AE1-9E85-1F84F0D0B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905250"/>
            <a:ext cx="2686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คะแนนถ่วงน้ำหนัก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7CBC0F-E791-4C0E-B8E4-36DF829FB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7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27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20 × 80 ÷ 100 = 16 คะแนน</a:t>
            </a:r>
          </a:p>
        </p:txBody>
      </p:sp>
      <p:sp>
        <p:nvSpPr>
          <p:cNvPr id="14" name="footer-rule-11">
            <a:extLst xmlns:a="http://schemas.openxmlformats.org/drawingml/2006/main">
              <a:ext uri="{FF2B5EF4-FFF2-40B4-BE49-F238E27FC236}">
                <a16:creationId xmlns:a16="http://schemas.microsoft.com/office/drawing/2014/main" id="{1D978E4F-D044-4D28-B7B4-39094EF17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footer-label-11">
            <a:extLst xmlns:a="http://schemas.openxmlformats.org/drawingml/2006/main">
              <a:ext uri="{FF2B5EF4-FFF2-40B4-BE49-F238E27FC236}">
                <a16:creationId xmlns:a16="http://schemas.microsoft.com/office/drawing/2014/main" id="{F987B2AC-F873-4977-A870-B8E3C9EBB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16" name="footer-page-11">
            <a:extLst xmlns:a="http://schemas.openxmlformats.org/drawingml/2006/main">
              <a:ext uri="{FF2B5EF4-FFF2-40B4-BE49-F238E27FC236}">
                <a16:creationId xmlns:a16="http://schemas.microsoft.com/office/drawing/2014/main" id="{72A7CD5F-BB85-4FF5-AE38-0D65CEF53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11 / 18</a:t>
            </a:r>
          </a:p>
        </p:txBody>
      </p:sp>
    </p:spTree>
    <p:extLst>
      <p:ext uri="{BB962C8B-B14F-4D97-AF65-F5344CB8AC3E}">
        <p14:creationId xmlns:p14="http://schemas.microsoft.com/office/powerpoint/2010/main" val="98604718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ide-accent-12">
            <a:extLst xmlns:a="http://schemas.openxmlformats.org/drawingml/2006/main">
              <a:ext uri="{FF2B5EF4-FFF2-40B4-BE49-F238E27FC236}">
                <a16:creationId xmlns:a16="http://schemas.microsoft.com/office/drawing/2014/main" id="{15D45E8A-2501-4406-A7E6-1D6362ACB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2">
            <a:extLst xmlns:a="http://schemas.openxmlformats.org/drawingml/2006/main">
              <a:ext uri="{FF2B5EF4-FFF2-40B4-BE49-F238E27FC236}">
                <a16:creationId xmlns:a16="http://schemas.microsoft.com/office/drawing/2014/main" id="{8A008F5B-9626-405A-AEE6-1DADE32C0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หลักฐาน  /  สายสนับสนุน</a:t>
            </a:r>
          </a:p>
        </p:txBody>
      </p:sp>
      <p:sp>
        <p:nvSpPr>
          <p:cNvPr id="3" name="title-12">
            <a:extLst xmlns:a="http://schemas.openxmlformats.org/drawingml/2006/main">
              <a:ext uri="{FF2B5EF4-FFF2-40B4-BE49-F238E27FC236}">
                <a16:creationId xmlns:a16="http://schemas.microsoft.com/office/drawing/2014/main" id="{B2F5680F-CE96-4E86-B1FC-110456DCA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แนบหลักฐานที่เปิดดูได้และตรงกับกิจกรรม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7444D8-10F7-463B-8025-C78AE5A77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8477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ผู้ประเมินควรเห็นได้ทันทีว่าหลักฐานรองรับกิจกรรมใด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D44302-2A4C-432B-B80D-8322295A8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1C3C1A-B078-44E2-B864-8BEA8C9CB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47975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6AB7CD-0BC9-42CA-B5E4-4DD082280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622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เปิดได้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D90379-D4A4-4A2E-A1A1-EE8E9E9FB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781300"/>
            <a:ext cx="666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ใช้ลิงก์ http/https ที่เข้าถึงได้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52B9F4-E4B2-4D9A-B13A-56BCFC003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BB954C-EB7D-4055-92C9-D1F307F49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B1E72B-BE39-4F1F-B8EC-A518751EC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9570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ตรงรายการ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378ED4-B6B6-4C8A-8899-E8952EADA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14750"/>
            <a:ext cx="666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เห็นความเชื่อมโยงกับกิจกรรมหรือโครงการ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C30533-FB93-4DDE-8448-40CDDAC56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48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8D02BE-6F1D-45B3-A1A1-549838735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B3E6E9-2DE1-4D7E-97F8-FB33D64F2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6291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ระบุตัวตนได้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026CD0-FEDF-4501-A129-406F826E1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648200"/>
            <a:ext cx="666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ตั้งชื่อไฟล์หรือเอกสารให้เข้าใจง่าย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111116-FC75-4CF7-A852-8B5C96061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124450"/>
            <a:ext cx="35242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9525">
            <a:solidFill>
              <a:srgbClr val="008C8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F61751A-A068-449C-9CB7-A004761DA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219700"/>
            <a:ext cx="3028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รายการที่บังคับหลักฐาน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ต้องมีลิงก์ก่อนส่ง</a:t>
            </a:r>
          </a:p>
        </p:txBody>
      </p:sp>
      <p:sp>
        <p:nvSpPr>
          <p:cNvPr id="19" name="footer-rule-12">
            <a:extLst xmlns:a="http://schemas.openxmlformats.org/drawingml/2006/main">
              <a:ext uri="{FF2B5EF4-FFF2-40B4-BE49-F238E27FC236}">
                <a16:creationId xmlns:a16="http://schemas.microsoft.com/office/drawing/2014/main" id="{4BE828A5-5413-4159-B2C3-AFD7ABB62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footer-label-12">
            <a:extLst xmlns:a="http://schemas.openxmlformats.org/drawingml/2006/main">
              <a:ext uri="{FF2B5EF4-FFF2-40B4-BE49-F238E27FC236}">
                <a16:creationId xmlns:a16="http://schemas.microsoft.com/office/drawing/2014/main" id="{A385CA1A-65B2-4384-BF74-B1BA94D10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1" name="footer-page-12">
            <a:extLst xmlns:a="http://schemas.openxmlformats.org/drawingml/2006/main">
              <a:ext uri="{FF2B5EF4-FFF2-40B4-BE49-F238E27FC236}">
                <a16:creationId xmlns:a16="http://schemas.microsoft.com/office/drawing/2014/main" id="{E609D14E-0D3A-4C2B-B917-CC69B7E7A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12 / 18</a:t>
            </a:r>
          </a:p>
        </p:txBody>
      </p:sp>
    </p:spTree>
    <p:extLst>
      <p:ext uri="{BB962C8B-B14F-4D97-AF65-F5344CB8AC3E}">
        <p14:creationId xmlns:p14="http://schemas.microsoft.com/office/powerpoint/2010/main" val="163044547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ide-accent-13">
            <a:extLst xmlns:a="http://schemas.openxmlformats.org/drawingml/2006/main">
              <a:ext uri="{FF2B5EF4-FFF2-40B4-BE49-F238E27FC236}">
                <a16:creationId xmlns:a16="http://schemas.microsoft.com/office/drawing/2014/main" id="{B303436C-DD82-4538-A31E-101655959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3">
            <a:extLst xmlns:a="http://schemas.openxmlformats.org/drawingml/2006/main">
              <a:ext uri="{FF2B5EF4-FFF2-40B4-BE49-F238E27FC236}">
                <a16:creationId xmlns:a16="http://schemas.microsoft.com/office/drawing/2014/main" id="{8071F922-D666-46F1-8FF7-96D204C5E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ก่อนกดปุ่ม  /  สายสนับสนุน</a:t>
            </a:r>
          </a:p>
        </p:txBody>
      </p:sp>
      <p:sp>
        <p:nvSpPr>
          <p:cNvPr id="3" name="title-13">
            <a:extLst xmlns:a="http://schemas.openxmlformats.org/drawingml/2006/main">
              <a:ext uri="{FF2B5EF4-FFF2-40B4-BE49-F238E27FC236}">
                <a16:creationId xmlns:a16="http://schemas.microsoft.com/office/drawing/2014/main" id="{981D7247-2A11-4014-8226-D0EDB2CD8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หากข้อมูลยังไม่ครบ ให้บันทึกร่างไว้ก่อน</a:t>
            </a:r>
          </a:p>
        </p:txBody>
      </p:sp>
      <p:sp>
        <p:nvSpPr>
          <p:cNvPr id="4" name="draft-panel">
            <a:extLst xmlns:a="http://schemas.openxmlformats.org/drawingml/2006/main">
              <a:ext uri="{FF2B5EF4-FFF2-40B4-BE49-F238E27FC236}">
                <a16:creationId xmlns:a16="http://schemas.microsoft.com/office/drawing/2014/main" id="{5ED48E0A-51C6-43D7-B128-A0F0ED9EE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4953000" cy="2914650"/>
          </a:xfrm>
          <a:prstGeom xmlns:a="http://schemas.openxmlformats.org/drawingml/2006/main" prst="roundRect">
            <a:avLst>
              <a:gd name="adj" fmla="val 26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C187E8-696C-4F9B-91D7-BE1B14C8A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86050"/>
            <a:ext cx="4191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7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บันทึกร่าง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FC9DBC-A89A-4854-A5F6-F8FAB76DB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486150"/>
            <a:ext cx="40386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กลับมาแก้ไขได้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เหมาะเมื่อข้อมูลยังไม่ครบ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งานยังไม่ส่งให้ผู้ประเมิน</a:t>
            </a:r>
          </a:p>
        </p:txBody>
      </p:sp>
      <p:sp>
        <p:nvSpPr>
          <p:cNvPr id="7" name="submit-panel">
            <a:extLst xmlns:a="http://schemas.openxmlformats.org/drawingml/2006/main">
              <a:ext uri="{FF2B5EF4-FFF2-40B4-BE49-F238E27FC236}">
                <a16:creationId xmlns:a16="http://schemas.microsoft.com/office/drawing/2014/main" id="{C53FF3CB-ED44-4E15-96AF-B1C603806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343150"/>
            <a:ext cx="5562600" cy="2914650"/>
          </a:xfrm>
          <a:prstGeom xmlns:a="http://schemas.openxmlformats.org/drawingml/2006/main" prst="roundRect">
            <a:avLst>
              <a:gd name="adj" fmla="val 2614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19050">
            <a:solidFill>
              <a:srgbClr val="008C8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930B45-0DE8-430E-9727-B71AF6DC6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68605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27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ส่งแบบประเมิน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5913D8-DD23-4F80-8B4C-CFBFE9916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486150"/>
            <a:ext cx="46863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ระบบตรวจข้อมูลบังคับและหลักฐาน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งานเข้าสู่ลำดับผู้ประเมิน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ตรวจอีกครั้งก่อนยืนยัน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C64BD5-A410-4703-BA28-65A8AFA5F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ถามตัวเองก่อนกดส่ง: “ผู้ประเมินเห็นข้อมูลครบหรือยัง?”</a:t>
            </a:r>
          </a:p>
        </p:txBody>
      </p:sp>
      <p:sp>
        <p:nvSpPr>
          <p:cNvPr id="11" name="footer-rule-13">
            <a:extLst xmlns:a="http://schemas.openxmlformats.org/drawingml/2006/main">
              <a:ext uri="{FF2B5EF4-FFF2-40B4-BE49-F238E27FC236}">
                <a16:creationId xmlns:a16="http://schemas.microsoft.com/office/drawing/2014/main" id="{EBF8DC0E-A088-4E8E-A3B9-33351C76C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footer-label-13">
            <a:extLst xmlns:a="http://schemas.openxmlformats.org/drawingml/2006/main">
              <a:ext uri="{FF2B5EF4-FFF2-40B4-BE49-F238E27FC236}">
                <a16:creationId xmlns:a16="http://schemas.microsoft.com/office/drawing/2014/main" id="{EF3AAD65-7342-43B4-8410-6EAABF719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13" name="footer-page-13">
            <a:extLst xmlns:a="http://schemas.openxmlformats.org/drawingml/2006/main">
              <a:ext uri="{FF2B5EF4-FFF2-40B4-BE49-F238E27FC236}">
                <a16:creationId xmlns:a16="http://schemas.microsoft.com/office/drawing/2014/main" id="{5B9D7F3D-A36D-4CC1-86CE-96C3A2D11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13 / 18</a:t>
            </a:r>
          </a:p>
        </p:txBody>
      </p:sp>
    </p:spTree>
    <p:extLst>
      <p:ext uri="{BB962C8B-B14F-4D97-AF65-F5344CB8AC3E}">
        <p14:creationId xmlns:p14="http://schemas.microsoft.com/office/powerpoint/2010/main" val="199950319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ide-accent-14">
            <a:extLst xmlns:a="http://schemas.openxmlformats.org/drawingml/2006/main">
              <a:ext uri="{FF2B5EF4-FFF2-40B4-BE49-F238E27FC236}">
                <a16:creationId xmlns:a16="http://schemas.microsoft.com/office/drawing/2014/main" id="{514D1999-2AC5-4204-9236-BCF6F13FE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4">
            <a:extLst xmlns:a="http://schemas.openxmlformats.org/drawingml/2006/main">
              <a:ext uri="{FF2B5EF4-FFF2-40B4-BE49-F238E27FC236}">
                <a16:creationId xmlns:a16="http://schemas.microsoft.com/office/drawing/2014/main" id="{965BD65F-216E-4393-9EC3-240CFEB97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หลังจากส่ง  /  สายสนับสนุน</a:t>
            </a:r>
          </a:p>
        </p:txBody>
      </p:sp>
      <p:sp>
        <p:nvSpPr>
          <p:cNvPr id="3" name="title-14">
            <a:extLst xmlns:a="http://schemas.openxmlformats.org/drawingml/2006/main">
              <a:ext uri="{FF2B5EF4-FFF2-40B4-BE49-F238E27FC236}">
                <a16:creationId xmlns:a16="http://schemas.microsoft.com/office/drawing/2014/main" id="{E75FCB45-8F61-4D6E-AA02-F4A2C8236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หลังส่งแบบประเมิน ระบบจะส่งงานตามลำดับผู้ประเมิน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FEF300-1B2A-44E2-8FF6-A6B382AD2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86150"/>
            <a:ext cx="8801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66EE29-FBE4-4F17-9624-45CF81453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1BD189-14BA-4EF2-8E88-D797AA5BD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94B0E5-6652-48B3-9E3F-D625A2D7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E3F96B-5512-458E-B04C-FAA49FF59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ข้อมูลและหลักฐาน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88EAF8-7721-473C-872E-95CA71A12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3389AD-C2FE-4767-A53D-454637FED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6FFFB9-DA00-4280-B1FA-F39DD44E4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ให้ผล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B50698-D17A-4B14-96EA-A2338F1DE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คะแนนหรือความเห็น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3965EC-1632-4220-BDB3-08D9FF9E8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3210D2-2470-4D04-B903-726AB2F34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99CC96-9277-44D3-97B3-E92AD506C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ส่งต่อ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91A9A2-5D7C-4E5D-A403-21BCA74E0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ไปยังผู้ประเมินลำดับถัดไป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B7D1CE-373E-43C5-B864-23D615344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B387BF-270D-4780-8889-47473AE74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16FF06-67D2-45E8-82D5-591F1BDA3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ยืนยันขั้นสุดท้าย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C74093-EF81-40AC-A58A-6913BB1AC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เมื่ออยู่ในลำดับสุดท้าย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6DCA1C-7C65-44E1-BAAF-3E0DE4CBC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838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จำนวนและบทบาทของผู้ประเมินอาจต่างกันในแต่ละงาน</a:t>
            </a:r>
          </a:p>
        </p:txBody>
      </p:sp>
      <p:sp>
        <p:nvSpPr>
          <p:cNvPr id="22" name="footer-rule-14">
            <a:extLst xmlns:a="http://schemas.openxmlformats.org/drawingml/2006/main">
              <a:ext uri="{FF2B5EF4-FFF2-40B4-BE49-F238E27FC236}">
                <a16:creationId xmlns:a16="http://schemas.microsoft.com/office/drawing/2014/main" id="{86F17661-B8CA-45E0-9B72-C20B948D0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footer-label-14">
            <a:extLst xmlns:a="http://schemas.openxmlformats.org/drawingml/2006/main">
              <a:ext uri="{FF2B5EF4-FFF2-40B4-BE49-F238E27FC236}">
                <a16:creationId xmlns:a16="http://schemas.microsoft.com/office/drawing/2014/main" id="{5316F99E-BF64-422B-9E99-92ED1B5B0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4" name="footer-page-14">
            <a:extLst xmlns:a="http://schemas.openxmlformats.org/drawingml/2006/main">
              <a:ext uri="{FF2B5EF4-FFF2-40B4-BE49-F238E27FC236}">
                <a16:creationId xmlns:a16="http://schemas.microsoft.com/office/drawing/2014/main" id="{F42258C3-517E-4873-89E9-6B4E13C73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14 / 18</a:t>
            </a:r>
          </a:p>
        </p:txBody>
      </p:sp>
    </p:spTree>
    <p:extLst>
      <p:ext uri="{BB962C8B-B14F-4D97-AF65-F5344CB8AC3E}">
        <p14:creationId xmlns:p14="http://schemas.microsoft.com/office/powerpoint/2010/main" val="86325844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ide-accent-15">
            <a:extLst xmlns:a="http://schemas.openxmlformats.org/drawingml/2006/main">
              <a:ext uri="{FF2B5EF4-FFF2-40B4-BE49-F238E27FC236}">
                <a16:creationId xmlns:a16="http://schemas.microsoft.com/office/drawing/2014/main" id="{52D51099-D3A0-4EC8-864A-ECE7AF4DD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5">
            <a:extLst xmlns:a="http://schemas.openxmlformats.org/drawingml/2006/main">
              <a:ext uri="{FF2B5EF4-FFF2-40B4-BE49-F238E27FC236}">
                <a16:creationId xmlns:a16="http://schemas.microsoft.com/office/drawing/2014/main" id="{5A6829F8-BCD3-41A6-8FD0-AFF17A8DA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สำหรับผู้ประเมิน  /  สายสนับสนุน</a:t>
            </a:r>
          </a:p>
        </p:txBody>
      </p:sp>
      <p:sp>
        <p:nvSpPr>
          <p:cNvPr id="3" name="title-15">
            <a:extLst xmlns:a="http://schemas.openxmlformats.org/drawingml/2006/main">
              <a:ext uri="{FF2B5EF4-FFF2-40B4-BE49-F238E27FC236}">
                <a16:creationId xmlns:a16="http://schemas.microsoft.com/office/drawing/2014/main" id="{DB76418F-F629-4331-8698-D34885938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ผู้ประเมินตรวจผลกิจกรรม คะแนน และหลักฐาน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E41881-C3D3-4133-A4BB-C537BF967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23F97E-6FB7-4EC5-AD71-61F5EBE71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3835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ตรวจข้อมูล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B3055F-0BCB-45D1-AD6D-59A1A9192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0764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ผลกิจกรรมและรายละเอียดตรงกับเกณฑ์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2F1112-12D9-4766-884D-CD8F80E54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67000"/>
            <a:ext cx="9734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ECE8C8-549A-4297-A601-0926A1EFB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22D0D9-F515-4F45-B488-7B0BD98D1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9337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ตรวจคะแนน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96053C-AE95-416E-A199-A836F6944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97180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น้ำหนัก คะแนนที่ทำได้ และผลคำนวณสอดคล้องกัน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686EB3-E01E-4634-92D4-991878E7C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62350"/>
            <a:ext cx="9734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3D8C0D-7FBA-42A8-8901-975C7F336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F46E54-1BB0-498F-916E-4D15CAD81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82905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เปิดหลักฐาน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BDCB27-F842-470B-B5B2-50A356582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8671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ลิงก์เข้าถึงได้และยืนยันกิจกรรม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41710A-63D6-4399-BE7B-78501BC91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57700"/>
            <a:ext cx="9734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57C199-E3B8-4838-A8EE-8BAFF9178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0140AA-63E3-4BB1-94DC-9E00158BE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244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ส่งต่องาน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F9A26F-038D-4532-91A6-8B3715A67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76250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ให้ผลและดำเนินการเมื่อข้อมูลครบตามสิทธิ์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A26A6A-B0F9-4274-8919-A66ED1527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E4CC0F-2532-4EAB-9691-3DC97CE71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38825"/>
            <a:ext cx="10515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ผู้ประเมินควรตัดสินใจจากข้อมูลและหลักฐานที่เปิดตรวจได้</a:t>
            </a:r>
          </a:p>
        </p:txBody>
      </p:sp>
      <p:sp>
        <p:nvSpPr>
          <p:cNvPr id="21" name="footer-rule-15">
            <a:extLst xmlns:a="http://schemas.openxmlformats.org/drawingml/2006/main">
              <a:ext uri="{FF2B5EF4-FFF2-40B4-BE49-F238E27FC236}">
                <a16:creationId xmlns:a16="http://schemas.microsoft.com/office/drawing/2014/main" id="{E7E8B398-9A92-4E89-8D7A-42DEC01E7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footer-label-15">
            <a:extLst xmlns:a="http://schemas.openxmlformats.org/drawingml/2006/main">
              <a:ext uri="{FF2B5EF4-FFF2-40B4-BE49-F238E27FC236}">
                <a16:creationId xmlns:a16="http://schemas.microsoft.com/office/drawing/2014/main" id="{8A75E69E-9928-4EC7-8178-20B4A3957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3" name="footer-page-15">
            <a:extLst xmlns:a="http://schemas.openxmlformats.org/drawingml/2006/main">
              <a:ext uri="{FF2B5EF4-FFF2-40B4-BE49-F238E27FC236}">
                <a16:creationId xmlns:a16="http://schemas.microsoft.com/office/drawing/2014/main" id="{44A6CA42-D3C9-4319-B338-5583CAF25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15 / 18</a:t>
            </a:r>
          </a:p>
        </p:txBody>
      </p:sp>
    </p:spTree>
    <p:extLst>
      <p:ext uri="{BB962C8B-B14F-4D97-AF65-F5344CB8AC3E}">
        <p14:creationId xmlns:p14="http://schemas.microsoft.com/office/powerpoint/2010/main" val="209324376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ide-accent-16">
            <a:extLst xmlns:a="http://schemas.openxmlformats.org/drawingml/2006/main">
              <a:ext uri="{FF2B5EF4-FFF2-40B4-BE49-F238E27FC236}">
                <a16:creationId xmlns:a16="http://schemas.microsoft.com/office/drawing/2014/main" id="{EDB97FBD-8920-4113-A936-357260729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6">
            <a:extLst xmlns:a="http://schemas.openxmlformats.org/drawingml/2006/main">
              <a:ext uri="{FF2B5EF4-FFF2-40B4-BE49-F238E27FC236}">
                <a16:creationId xmlns:a16="http://schemas.microsoft.com/office/drawing/2014/main" id="{3A885B5A-D9A0-4EED-98BA-9D245B45B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ลำดับการประเมิน  /  สายสนับสนุน</a:t>
            </a:r>
          </a:p>
        </p:txBody>
      </p:sp>
      <p:sp>
        <p:nvSpPr>
          <p:cNvPr id="3" name="title-16">
            <a:extLst xmlns:a="http://schemas.openxmlformats.org/drawingml/2006/main">
              <a:ext uri="{FF2B5EF4-FFF2-40B4-BE49-F238E27FC236}">
                <a16:creationId xmlns:a16="http://schemas.microsoft.com/office/drawing/2014/main" id="{3538AF04-5B46-4E93-A98E-BFA7E464A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ผู้ประเมินแต่ละคนส่งต่องานตามลำดับ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86E01F-D6FB-419F-8CA7-14D541ED2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457575"/>
            <a:ext cx="76581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225AEE-A73A-4A21-9F2F-3C5F89490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914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A64C2B-394B-4D07-80F7-4A874C8A0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219450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241339-A84F-4810-BA71-791819A02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ผู้ประเมินคนที่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950A0C-EB6C-4C83-BEA8-CB0383C55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149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ตรวจและให้ผล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EB08AE-E346-4F39-BE9E-F7A0E7895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914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C057C4-288D-49EA-B328-3240D12D6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19450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811ECF-76A3-4C72-A239-5699A923F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3434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ผู้ประเมินคนถัดไป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EE1183-97AF-45E0-B79C-733508FE0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9149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รับงานตามลำดับ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85041B-4D0E-43A9-AF94-1EE892956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914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54304F-1927-46B8-9F33-DD795D503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219450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6596CC-1C31-4442-BD28-E00499358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3434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ผู้ประเมินคนสุดท้าย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949257-4D33-4F83-8DDA-A3A1E1303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9149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ยืนยันขั้นสุดท้าย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4AC31E-1160-4ECC-9EC8-D8DDBFE27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ผู้ประเมินคนสุดท้ายยืนยันแล้ว สถานะจะเป็น ประเมินเสร็จสิ้น (Completed)</a:t>
            </a:r>
          </a:p>
        </p:txBody>
      </p:sp>
      <p:sp>
        <p:nvSpPr>
          <p:cNvPr id="18" name="footer-rule-16">
            <a:extLst xmlns:a="http://schemas.openxmlformats.org/drawingml/2006/main">
              <a:ext uri="{FF2B5EF4-FFF2-40B4-BE49-F238E27FC236}">
                <a16:creationId xmlns:a16="http://schemas.microsoft.com/office/drawing/2014/main" id="{BD445C95-64B1-448A-8C9B-29E8333DA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footer-label-16">
            <a:extLst xmlns:a="http://schemas.openxmlformats.org/drawingml/2006/main">
              <a:ext uri="{FF2B5EF4-FFF2-40B4-BE49-F238E27FC236}">
                <a16:creationId xmlns:a16="http://schemas.microsoft.com/office/drawing/2014/main" id="{00C0B80C-7123-4593-9816-3233B919D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0" name="footer-page-16">
            <a:extLst xmlns:a="http://schemas.openxmlformats.org/drawingml/2006/main">
              <a:ext uri="{FF2B5EF4-FFF2-40B4-BE49-F238E27FC236}">
                <a16:creationId xmlns:a16="http://schemas.microsoft.com/office/drawing/2014/main" id="{97CACBBC-6057-4460-9BC0-A72F91082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16 / 18</a:t>
            </a:r>
          </a:p>
        </p:txBody>
      </p:sp>
    </p:spTree>
    <p:extLst>
      <p:ext uri="{BB962C8B-B14F-4D97-AF65-F5344CB8AC3E}">
        <p14:creationId xmlns:p14="http://schemas.microsoft.com/office/powerpoint/2010/main" val="27888915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ide-accent-17">
            <a:extLst xmlns:a="http://schemas.openxmlformats.org/drawingml/2006/main">
              <a:ext uri="{FF2B5EF4-FFF2-40B4-BE49-F238E27FC236}">
                <a16:creationId xmlns:a16="http://schemas.microsoft.com/office/drawing/2014/main" id="{D2FAFB59-0C5A-4F39-B3D9-F3B218EC3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7">
            <a:extLst xmlns:a="http://schemas.openxmlformats.org/drawingml/2006/main">
              <a:ext uri="{FF2B5EF4-FFF2-40B4-BE49-F238E27FC236}">
                <a16:creationId xmlns:a16="http://schemas.microsoft.com/office/drawing/2014/main" id="{7B292E17-06EB-4F4C-BFF8-C5E1D057C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ภารกิจฝึกปฏิบัติ  /  สายสนับสนุน</a:t>
            </a:r>
          </a:p>
        </p:txBody>
      </p:sp>
      <p:sp>
        <p:nvSpPr>
          <p:cNvPr id="3" name="title-17">
            <a:extLst xmlns:a="http://schemas.openxmlformats.org/drawingml/2006/main">
              <a:ext uri="{FF2B5EF4-FFF2-40B4-BE49-F238E27FC236}">
                <a16:creationId xmlns:a16="http://schemas.microsoft.com/office/drawing/2014/main" id="{86EFA55D-546C-4D75-96C6-03C8BA610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ลองบันทึกกิจกรรม 1 รายการให้ครบ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AB91C3-221C-4C33-A3D1-D06448FFA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838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ทำตามลำดับ แล้วเรียกวิทยากรตรวจเมื่อครบ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10B5FF-0126-42C0-B472-A4CBCEA1E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843794-9E43-4A29-953B-FD8057C25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987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E8E9A7-4F28-49A3-AE67-B3F239BA9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0510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เลือกกิจกรรมที่กำหนด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3197BF-41EA-4F38-AD31-A3F199D26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B1E5BE-8CD1-4252-84EA-3DAF77E1D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80987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FD16F7-6B75-4904-81F5-402D86DBD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70510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กรอกเป้าหมายและผล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4455B2-53A8-45FF-8DE4-DC44FBBF2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171CD8-288B-49DA-BA21-D3FF0A894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00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2CED10-B44F-4A3B-9CC9-A650FF11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90525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ตรวจคะแนนถ่วงน้ำหนัก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36DBFC-F2E1-4093-A1DB-C29C159DD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9243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9AF5BC-AF9C-43D4-B728-9914B6CE9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100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EB2977-DE66-4B36-B936-06D4DC2E4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90525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แนบหลักฐานและบันทึกร่าง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B439CD-A61B-4A3B-BD27-034CF3608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FB9DEA-CB97-4B97-9D3A-8041FE0BC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19750"/>
            <a:ext cx="10515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ผ่านเมื่อ: ข้อมูลครบ • หลักฐานเปิดได้ • พร้อมอธิบายที่มาของคะแนน</a:t>
            </a:r>
          </a:p>
        </p:txBody>
      </p:sp>
      <p:sp>
        <p:nvSpPr>
          <p:cNvPr id="19" name="footer-rule-17">
            <a:extLst xmlns:a="http://schemas.openxmlformats.org/drawingml/2006/main">
              <a:ext uri="{FF2B5EF4-FFF2-40B4-BE49-F238E27FC236}">
                <a16:creationId xmlns:a16="http://schemas.microsoft.com/office/drawing/2014/main" id="{32A4B9D7-20F0-40C8-B91E-C849E8550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footer-label-17">
            <a:extLst xmlns:a="http://schemas.openxmlformats.org/drawingml/2006/main">
              <a:ext uri="{FF2B5EF4-FFF2-40B4-BE49-F238E27FC236}">
                <a16:creationId xmlns:a16="http://schemas.microsoft.com/office/drawing/2014/main" id="{DD941AA0-D53A-4FBF-89DA-0A709A1F9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1" name="footer-page-17">
            <a:extLst xmlns:a="http://schemas.openxmlformats.org/drawingml/2006/main">
              <a:ext uri="{FF2B5EF4-FFF2-40B4-BE49-F238E27FC236}">
                <a16:creationId xmlns:a16="http://schemas.microsoft.com/office/drawing/2014/main" id="{BD1F9A57-563B-4982-BE91-03278EF3F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17 / 18</a:t>
            </a:r>
          </a:p>
        </p:txBody>
      </p:sp>
    </p:spTree>
    <p:extLst>
      <p:ext uri="{BB962C8B-B14F-4D97-AF65-F5344CB8AC3E}">
        <p14:creationId xmlns:p14="http://schemas.microsoft.com/office/powerpoint/2010/main" val="165147241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ide-accent-18">
            <a:extLst xmlns:a="http://schemas.openxmlformats.org/drawingml/2006/main">
              <a:ext uri="{FF2B5EF4-FFF2-40B4-BE49-F238E27FC236}">
                <a16:creationId xmlns:a16="http://schemas.microsoft.com/office/drawing/2014/main" id="{73B03D6E-4E64-41CC-9668-CAB9885F8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8">
            <a:extLst xmlns:a="http://schemas.openxmlformats.org/drawingml/2006/main">
              <a:ext uri="{FF2B5EF4-FFF2-40B4-BE49-F238E27FC236}">
                <a16:creationId xmlns:a16="http://schemas.microsoft.com/office/drawing/2014/main" id="{5000CCAD-C3D1-4585-8920-62FE5C458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แก้ปัญหาเบื้องต้น  /  สายสนับสนุน</a:t>
            </a:r>
          </a:p>
        </p:txBody>
      </p:sp>
      <p:sp>
        <p:nvSpPr>
          <p:cNvPr id="3" name="title-18">
            <a:extLst xmlns:a="http://schemas.openxmlformats.org/drawingml/2006/main">
              <a:ext uri="{FF2B5EF4-FFF2-40B4-BE49-F238E27FC236}">
                <a16:creationId xmlns:a16="http://schemas.microsoft.com/office/drawing/2014/main" id="{5BA6E5E2-3DD0-4F62-B802-C45FD4CD5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หากใช้งานไม่ได้ ให้ตรวจสอบ 4 จุดนี้ก่อน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16FB96-F464-4524-802C-CEC006E9E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609983-DCF5-4C25-8567-77DBE8811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0764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งานไม่ปรากฏ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9AC3BE-9B66-474B-8257-39C31F6EB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1145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ตรวจงานที่ได้รับมอบหมาย และแจ้งผู้ดูแลระบบหากรอบไม่ถูกต้อง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08DC4C-7B4E-4E14-9B24-AC21055BB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7051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EC5BD7-7694-4F4C-9D23-0D355490D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908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934167-5C1A-4834-8CDF-8B0FCAAC3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9527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ปุ่มใช้งานไม่ได้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2332C7-3423-47BF-B052-A3CB614EE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9908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ตรวจสถานะปัจจุบันและสิทธิ์ของบทบาท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B49A20-9FAD-45AC-8F37-EE172D735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5814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A5E342-EC0E-4D9F-95C8-3C0B233A9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AC6657-92BB-4699-88A7-78D6F78ED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8290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บันทึกหรือส่งไม่ได้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DD96CC-30A3-4362-95A6-BFD422610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8671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ตรวจข้อมูลบังคับ คะแนน และลิงก์หลักฐาน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F8A37C-1AC8-4CD5-9086-7FCB785AB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4577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70DA70-EFAE-4255-A9AC-BED6CD0F9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434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0DC481-EA56-49B3-A3A2-EEA8B93EC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7053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ยังแก้ไม่ได้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B4349D-9A92-48EB-B347-D305AAB92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7434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จดชื่อรายการและสถานะ แล้วติดต่อผู้ดูแลระบบ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EFE471-F0AF-4099-B5A4-597B87CE9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34050"/>
            <a:ext cx="72390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F972C6-B94A-4F1C-A6C7-51DE4D420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42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คู่มือผู้ใช้ • ผู้ดูแลระบบของหน่วยงาน</a:t>
            </a:r>
          </a:p>
        </p:txBody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65b088ec76461a"/>
          <a:stretch xmlns:a="http://schemas.openxmlformats.org/drawingml/2006/main"/>
        </p:blipFill>
        <p:spPr>
          <a:xfrm xmlns:a="http://schemas.openxmlformats.org/drawingml/2006/main">
            <a:off x="9018037" y="5638800"/>
            <a:ext cx="2309327" cy="628650"/>
          </a:xfrm>
          <a:prstGeom xmlns:a="http://schemas.openxmlformats.org/drawingml/2006/main" prst="rect">
            <a:avLst/>
          </a:prstGeom>
        </p:spPr>
      </p:pic>
      <p:sp>
        <p:nvSpPr>
          <p:cNvPr id="22" name="footer-rule-18">
            <a:extLst xmlns:a="http://schemas.openxmlformats.org/drawingml/2006/main">
              <a:ext uri="{FF2B5EF4-FFF2-40B4-BE49-F238E27FC236}">
                <a16:creationId xmlns:a16="http://schemas.microsoft.com/office/drawing/2014/main" id="{A574CC08-81A5-4211-9BCF-8ABADBD6E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footer-label-18">
            <a:extLst xmlns:a="http://schemas.openxmlformats.org/drawingml/2006/main">
              <a:ext uri="{FF2B5EF4-FFF2-40B4-BE49-F238E27FC236}">
                <a16:creationId xmlns:a16="http://schemas.microsoft.com/office/drawing/2014/main" id="{A3F31A77-3C08-4550-8B7E-3021EE46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4" name="footer-page-18">
            <a:extLst xmlns:a="http://schemas.openxmlformats.org/drawingml/2006/main">
              <a:ext uri="{FF2B5EF4-FFF2-40B4-BE49-F238E27FC236}">
                <a16:creationId xmlns:a16="http://schemas.microsoft.com/office/drawing/2014/main" id="{AD8B8234-E162-434E-9472-BCCB65482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18 / 18</a:t>
            </a:r>
          </a:p>
        </p:txBody>
      </p:sp>
    </p:spTree>
    <p:extLst>
      <p:ext uri="{BB962C8B-B14F-4D97-AF65-F5344CB8AC3E}">
        <p14:creationId xmlns:p14="http://schemas.microsoft.com/office/powerpoint/2010/main" val="40068372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2026-08-01T10:03:54.1500000Z</dcterms:created>
  <dcterms:modified xsi:type="dcterms:W3CDTF">2026-08-01T10:03:54.1500000Z</dcterms:modified>
</coreProperties>
</file>