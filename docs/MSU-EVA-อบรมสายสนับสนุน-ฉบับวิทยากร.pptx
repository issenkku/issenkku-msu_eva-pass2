
<file path=[Content_Types].xml><?xml version="1.0" encoding="utf-8"?>
<Types xmlns="http://schemas.openxmlformats.org/package/2006/content-types">
  <Default Extension="xml" ContentType="application/vnd.openxmlformats-package.core-properties+xml"/>
  <Default Extension="jpeg" ContentType="image/jpeg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94fc34e0b20f443d" /><Relationship Type="http://schemas.openxmlformats.org/officeDocument/2006/relationships/extended-properties" Target="/docProps/app.xml" Id="R60577afc9fd14958" /><Relationship Type="http://schemas.openxmlformats.org/officeDocument/2006/relationships/officeDocument" Target="/ppt/presentation.xml" Id="Rdb8f6e3c897840af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37bf7260deac44e2"/>
  </p:sldMasterIdLst>
  <p:notesMasterIdLst>
    <p:notesMasterId xmlns:r="http://schemas.openxmlformats.org/officeDocument/2006/relationships" r:id="R2087dc8508244ebb"/>
  </p:notesMasterIdLst>
  <p:sldIdLst>
    <p:sldId xmlns:r="http://schemas.openxmlformats.org/officeDocument/2006/relationships" id="256" r:id="R98f804fc49724f6c"/>
    <p:sldId xmlns:r="http://schemas.openxmlformats.org/officeDocument/2006/relationships" id="257" r:id="Rc9381f0747a3482a"/>
    <p:sldId xmlns:r="http://schemas.openxmlformats.org/officeDocument/2006/relationships" id="258" r:id="R93ab160da12f42cb"/>
    <p:sldId xmlns:r="http://schemas.openxmlformats.org/officeDocument/2006/relationships" id="259" r:id="R88685d3c6f0149bb"/>
    <p:sldId xmlns:r="http://schemas.openxmlformats.org/officeDocument/2006/relationships" id="260" r:id="R8ca9072cb96a45f1"/>
    <p:sldId xmlns:r="http://schemas.openxmlformats.org/officeDocument/2006/relationships" id="261" r:id="R937be7942d99426d"/>
    <p:sldId xmlns:r="http://schemas.openxmlformats.org/officeDocument/2006/relationships" id="262" r:id="R65e4dd79c9ef4748"/>
    <p:sldId xmlns:r="http://schemas.openxmlformats.org/officeDocument/2006/relationships" id="263" r:id="R0f2a4eac388e44cf"/>
    <p:sldId xmlns:r="http://schemas.openxmlformats.org/officeDocument/2006/relationships" id="264" r:id="R9d1d5fb713d847ea"/>
    <p:sldId xmlns:r="http://schemas.openxmlformats.org/officeDocument/2006/relationships" id="265" r:id="R4d494010ae3a4841"/>
    <p:sldId xmlns:r="http://schemas.openxmlformats.org/officeDocument/2006/relationships" id="266" r:id="Rcecec83683394108"/>
    <p:sldId xmlns:r="http://schemas.openxmlformats.org/officeDocument/2006/relationships" id="267" r:id="R7b6ee03d317244ea"/>
    <p:sldId xmlns:r="http://schemas.openxmlformats.org/officeDocument/2006/relationships" id="268" r:id="R393431e878e54a4b"/>
    <p:sldId xmlns:r="http://schemas.openxmlformats.org/officeDocument/2006/relationships" id="269" r:id="R0eb854fdc83c448d"/>
    <p:sldId xmlns:r="http://schemas.openxmlformats.org/officeDocument/2006/relationships" id="270" r:id="Rb58b53478d7346c2"/>
    <p:sldId xmlns:r="http://schemas.openxmlformats.org/officeDocument/2006/relationships" id="271" r:id="R65bfc98304754950"/>
    <p:sldId xmlns:r="http://schemas.openxmlformats.org/officeDocument/2006/relationships" id="272" r:id="R080fd16ea9bd4ce7"/>
    <p:sldId xmlns:r="http://schemas.openxmlformats.org/officeDocument/2006/relationships" id="273" r:id="R19506843480146fc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899e39c41b6e4ca6" /><Relationship Type="http://schemas.openxmlformats.org/officeDocument/2006/relationships/slideMaster" Target="/ppt/slideMasters/slideMaster1.xml" Id="R37bf7260deac44e2" /><Relationship Type="http://schemas.openxmlformats.org/officeDocument/2006/relationships/notesMaster" Target="/ppt/notesMasters/notesMaster1.xml" Id="R2087dc8508244ebb" /><Relationship Type="http://schemas.openxmlformats.org/officeDocument/2006/relationships/presProps" Target="/ppt/presProps.xml" Id="R53e491f4537e452d" /><Relationship Type="http://schemas.openxmlformats.org/officeDocument/2006/relationships/tableStyles" Target="/ppt/tableStyles.xml" Id="R91ec453f9d0f4cd5" /><Relationship Type="http://schemas.openxmlformats.org/officeDocument/2006/relationships/slide" Target="/ppt/slides/slide1.xml" Id="R98f804fc49724f6c" /><Relationship Type="http://schemas.openxmlformats.org/officeDocument/2006/relationships/slide" Target="/ppt/slides/slide2.xml" Id="Rc9381f0747a3482a" /><Relationship Type="http://schemas.openxmlformats.org/officeDocument/2006/relationships/slide" Target="/ppt/slides/slide3.xml" Id="R93ab160da12f42cb" /><Relationship Type="http://schemas.openxmlformats.org/officeDocument/2006/relationships/slide" Target="/ppt/slides/slide4.xml" Id="R88685d3c6f0149bb" /><Relationship Type="http://schemas.openxmlformats.org/officeDocument/2006/relationships/slide" Target="/ppt/slides/slide5.xml" Id="R8ca9072cb96a45f1" /><Relationship Type="http://schemas.openxmlformats.org/officeDocument/2006/relationships/slide" Target="/ppt/slides/slide6.xml" Id="R937be7942d99426d" /><Relationship Type="http://schemas.openxmlformats.org/officeDocument/2006/relationships/slide" Target="/ppt/slides/slide7.xml" Id="R65e4dd79c9ef4748" /><Relationship Type="http://schemas.openxmlformats.org/officeDocument/2006/relationships/slide" Target="/ppt/slides/slide8.xml" Id="R0f2a4eac388e44cf" /><Relationship Type="http://schemas.openxmlformats.org/officeDocument/2006/relationships/slide" Target="/ppt/slides/slide9.xml" Id="R9d1d5fb713d847ea" /><Relationship Type="http://schemas.openxmlformats.org/officeDocument/2006/relationships/slide" Target="/ppt/slides/slide10.xml" Id="R4d494010ae3a4841" /><Relationship Type="http://schemas.openxmlformats.org/officeDocument/2006/relationships/slide" Target="/ppt/slides/slide11.xml" Id="Rcecec83683394108" /><Relationship Type="http://schemas.openxmlformats.org/officeDocument/2006/relationships/slide" Target="/ppt/slides/slide12.xml" Id="R7b6ee03d317244ea" /><Relationship Type="http://schemas.openxmlformats.org/officeDocument/2006/relationships/slide" Target="/ppt/slides/slide13.xml" Id="R393431e878e54a4b" /><Relationship Type="http://schemas.openxmlformats.org/officeDocument/2006/relationships/slide" Target="/ppt/slides/slide14.xml" Id="R0eb854fdc83c448d" /><Relationship Type="http://schemas.openxmlformats.org/officeDocument/2006/relationships/slide" Target="/ppt/slides/slide15.xml" Id="Rb58b53478d7346c2" /><Relationship Type="http://schemas.openxmlformats.org/officeDocument/2006/relationships/slide" Target="/ppt/slides/slide16.xml" Id="R65bfc98304754950" /><Relationship Type="http://schemas.openxmlformats.org/officeDocument/2006/relationships/slide" Target="/ppt/slides/slide17.xml" Id="R080fd16ea9bd4ce7" /><Relationship Type="http://schemas.openxmlformats.org/officeDocument/2006/relationships/slide" Target="/ppt/slides/slide18.xml" Id="R19506843480146fc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402320185c5c4aba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2f93e1e175274690" /><Relationship Type="http://schemas.openxmlformats.org/officeDocument/2006/relationships/notesMaster" Target="/ppt/notesMasters/notesMaster1.xml" Id="Rbfb1651232f84ca9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65bb6b293ff344d3" /><Relationship Type="http://schemas.openxmlformats.org/officeDocument/2006/relationships/notesMaster" Target="/ppt/notesMasters/notesMaster1.xml" Id="R57b8cd12eee7495f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b7cf92ad9a084843" /><Relationship Type="http://schemas.openxmlformats.org/officeDocument/2006/relationships/notesMaster" Target="/ppt/notesMasters/notesMaster1.xml" Id="R0e3907f5284b4802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d90cf101026943f6" /><Relationship Type="http://schemas.openxmlformats.org/officeDocument/2006/relationships/notesMaster" Target="/ppt/notesMasters/notesMaster1.xml" Id="R108433f29ff5404e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3f1196c5a5bf418e" /><Relationship Type="http://schemas.openxmlformats.org/officeDocument/2006/relationships/notesMaster" Target="/ppt/notesMasters/notesMaster1.xml" Id="R21d9446d897f4ba6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2057325967954970" /><Relationship Type="http://schemas.openxmlformats.org/officeDocument/2006/relationships/notesMaster" Target="/ppt/notesMasters/notesMaster1.xml" Id="R997e4e0987c64c0d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5d7c13fb49234e2e" /><Relationship Type="http://schemas.openxmlformats.org/officeDocument/2006/relationships/notesMaster" Target="/ppt/notesMasters/notesMaster1.xml" Id="R94d69c5a89bd4b70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b60a542695324728" /><Relationship Type="http://schemas.openxmlformats.org/officeDocument/2006/relationships/notesMaster" Target="/ppt/notesMasters/notesMaster1.xml" Id="R7e78054fe1e94242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b619ee84637e4092" /><Relationship Type="http://schemas.openxmlformats.org/officeDocument/2006/relationships/notesMaster" Target="/ppt/notesMasters/notesMaster1.xml" Id="R416cdcd0116446eb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4d1221fac0d24443" /><Relationship Type="http://schemas.openxmlformats.org/officeDocument/2006/relationships/notesMaster" Target="/ppt/notesMasters/notesMaster1.xml" Id="Rf9fb7881263642b0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7c8ac4ee6f4c43de" /><Relationship Type="http://schemas.openxmlformats.org/officeDocument/2006/relationships/notesMaster" Target="/ppt/notesMasters/notesMaster1.xml" Id="R1d7823b88bab41d2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c47790e58ce54cc9" /><Relationship Type="http://schemas.openxmlformats.org/officeDocument/2006/relationships/notesMaster" Target="/ppt/notesMasters/notesMaster1.xml" Id="Rfd3bceb0c94846c4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5f7ce2a157b74ddb" /><Relationship Type="http://schemas.openxmlformats.org/officeDocument/2006/relationships/notesMaster" Target="/ppt/notesMasters/notesMaster1.xml" Id="R3d7551b3b21943c6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3800035bbfc44c4e" /><Relationship Type="http://schemas.openxmlformats.org/officeDocument/2006/relationships/notesMaster" Target="/ppt/notesMasters/notesMaster1.xml" Id="R5bc993f90a83438d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552b77f3654549b3" /><Relationship Type="http://schemas.openxmlformats.org/officeDocument/2006/relationships/notesMaster" Target="/ppt/notesMasters/notesMaster1.xml" Id="R813ca503e35149dd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47f4deb4c02e4603" /><Relationship Type="http://schemas.openxmlformats.org/officeDocument/2006/relationships/notesMaster" Target="/ppt/notesMasters/notesMaster1.xml" Id="R8dbac6ba934440e4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8831e8d700634b74" /><Relationship Type="http://schemas.openxmlformats.org/officeDocument/2006/relationships/notesMaster" Target="/ppt/notesMasters/notesMaster1.xml" Id="R4143a8912564427d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89a75e6681b4430c" /><Relationship Type="http://schemas.openxmlformats.org/officeDocument/2006/relationships/notesMaster" Target="/ppt/notesMasters/notesMaster1.xml" Id="R56f6add27ee5420e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[พูด] สวัสดีทุกท่านครับ สำหรับช่วงบ่ายนี้เราจะมาดูการใช้งาน MSU EVA สำหรับบุคลากรสายสนับสนุนกันนะครับ บางท่านอาจอยู่ต่อจากช่วงเช้า บางท่านเพิ่งเข้ามาใหม่ และมีทั้งผู้รับการประเมิน ผู้ประเมิน ผู้บริหาร รวมถึงผู้ประเมินระบบ ไม่ต้องกังวลครับ เราจะเริ่มจากภาพรวมสั้น ๆ ก่อน แล้วผมจะสาธิตหนึ่งรายการให้ดู หลังจากนั้นทุกท่านจะได้ทดลองกับบัญชีที่เตรียมไว้ครับ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docs/superpowers/specs/2026-07-24-split-role-training-decks-design.md</a:t>
            </a:r>
          </a:p>
          <a:p xmlns:a="http://schemas.openxmlformats.org/drawingml/2006/main">
            <a:r>
              <a:t>- public/favicon-msu.png</a:t>
            </a:r>
          </a:p>
          <a:p xmlns:a="http://schemas.openxmlformats.org/drawingml/2006/main">
            <a:r>
              <a:t>- C:\Users\pisut\Downloads\logoบริษัท.svg</a:t>
            </a:r>
          </a:p>
          <a:p xmlns:a="http://schemas.openxmlformats.org/drawingml/2006/main">
            <a:r>
              <a:t>- public/images/workload-background.jpg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[พูด] เป้าหมายของช่วงบ่ายนี้ชัดเจนครับ เราจะทำกิจกรรมหนึ่งรายการให้ครบ ตั้งแต่เลือกกิจกรรม กรอกเป้าหมายและผล ตรวจคะแนน แนบหลักฐาน ไปจนถึงบันทึกร่าง ที่สำคัญคือเราต้องอธิบายได้ว่าคะแนนเกิดจากข้อมูลใด รอบประเมินเป็นสิ่งที่ผู้ดูแลระบบกำหนดไว้แล้วนะครับ ผู้ใช้งานมีหน้าที่ตรวจรอบกับรายการที่ได้รับมอบหมาย เมื่อพร้อมแล้ว ทีนี้เรามาดูว่าระบบช่วยงานส่วนไหนบ้างครับ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docs/superpowers/specs/2026-07-24-split-role-training-decks-design.md</a:t>
            </a:r>
          </a:p>
          <a:p xmlns:a="http://schemas.openxmlformats.org/drawingml/2006/main">
            <a:r>
              <a:t>- docs/user-guide-th.md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[พูด] MSU EVA ไม่ได้มีแค่หน้ากรอกกิจกรรมนะครับ ระบบครอบคลุมตั้งแต่การจัดการผู้ใช้และสิทธิ์ การสร้างเกณฑ์ การกำหนดรอบและมอบหมายงาน ไปจนถึงการกรอกข้อมูล การประเมิน ติดตามสถานะ และส่งออกรายงาน ส่วนงานเตรียมระบบเป็นหน้าที่ของ Admin ผู้เข้าอบรมทั่วไปจึงไม่ต้องสร้างหรือเลือกรอบประเมินเองครับ เราตรวจเฉพาะงานที่ได้รับ แล้วดำเนินการตามสิทธิ์ของเรา ต่อไปมาทำความรู้จักผู้ใช้งานแต่ละกลุ่มกันครับ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database/seeders/RoleSeeder.php</a:t>
            </a:r>
          </a:p>
          <a:p xmlns:a="http://schemas.openxmlformats.org/drawingml/2006/main">
            <a:r>
              <a:t>- app/Http/Controllers/AssignmentDataController.php</a:t>
            </a:r>
          </a:p>
          <a:p xmlns:a="http://schemas.openxmlformats.org/drawingml/2006/main">
            <a:r>
              <a:t>- docs/user-guide-th.md</a:t>
            </a:r>
          </a:p>
          <a:p xmlns:a="http://schemas.openxmlformats.org/drawingml/2006/main">
            <a:r>
              <a:t>- app/Support/AssignmentFlow.php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[พูด] ในระบบมีห้าบทบาทหลักครับ ได้แก่ Admin ผู้รับการประเมิน ผู้ประเมิน กรรมการ และผู้บริหาร แต่ละบทบาทจะเห็นเมนูต่างกัน ตรงนี้ขอเน้นครับ Admin เป็นผู้กำหนดผู้ใช้ เกณฑ์ รอบประเมิน การมอบหมาย และลำดับผู้ประเมิน ส่วนบทบาทผู้ประเมิน กรรมการ และผู้บริหารจะถูกใช้ตามขั้นที่ Admin จัดไว้ บางงานอาจใช้ไม่ครบทุกบทบาท และคนปิดงานคือคนสุดท้ายในลำดับของงานนั้นครับ เมื่อรู้ว่าใครทำอะไรแล้ว เรามาดูเส้นทางของงานทั้งกระบวนการกันครับ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database/seeders/RoleSeeder.php</a:t>
            </a:r>
          </a:p>
          <a:p xmlns:a="http://schemas.openxmlformats.org/drawingml/2006/main">
            <a:r>
              <a:t>- app/Http/Controllers/AssignmentDataController.php</a:t>
            </a:r>
          </a:p>
          <a:p xmlns:a="http://schemas.openxmlformats.org/drawingml/2006/main">
            <a:r>
              <a:t>- app/Support/AssignmentFlow.php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[พูด] ลองดูภาพนี้จากซ้ายไปขวาครับ ผู้รับการประเมินเปิดงาน เลือกกิจกรรม กรอกผล ตรวจคะแนนและหลักฐาน แล้วจึงส่งแบบประเมิน หลังจากนั้นระบบส่งงานให้ผู้ประเมินทีละคนตามลำดับ คนสุดท้ายยืนยันเมื่อใด งานจึงเป็นประเมินเสร็จสิ้น หรือ Completed ครับ จำไว้ว่าแต่ละปุ่มมีผลกับคนถัดไป เมื่อเห็นภาพรวมแล้ว ต่อไปเราจะเริ่มจากบทบาทของผู้กรอกข้อมูลครับ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docs/user-guide-th.md</a:t>
            </a:r>
          </a:p>
          <a:p xmlns:a="http://schemas.openxmlformats.org/drawingml/2006/main">
            <a:r>
              <a:t>- app/Support/AssignmentFlow.php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[พูด] ผู้รับการประเมินเป็นคนเตรียมเรื่องราวของกิจกรรมให้ครบครับ เราต้องบอกให้ได้ว่าทำกิจกรรมอะไร ตั้งเป้าหมายไว้เท่าไร ผลจริงเป็นอย่างไร และมีหลักฐานใดยืนยัน ถ้าข้อมูลยังไม่พร้อมก็ใช้บันทึกร่างก่อนได้ ไม่ต้องรีบส่งครับ เพราะข้อมูลที่เราเตรียมตรงนี้จะเป็นฐานให้ผู้ประเมินตัดสินใจ ทีนี้เดี๋ยวผมพาไปดูว่าควรเริ่มจากตรงไหนบนหน้าจอ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docs/user-guide-th.md</a:t>
            </a:r>
          </a:p>
          <a:p xmlns:a="http://schemas.openxmlformats.org/drawingml/2006/main">
            <a:r>
              <a:t>- app/Support/AssignmentFlow.php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[พูด] ต่อไปมาที่แดชบอร์ดของฉันครับ ก่อนเปิดงานให้ตรวจรอบประเมินที่ผู้ดูแลระบบกำหนด รายการที่ได้รับมอบหมาย และสถานะปัจจุบัน ผู้ใช้งานไม่ต้องเลือกรอบเองนะครับ ถ้ารายการไม่ตรงให้หยุดและแจ้งผู้ดูแลระบบก่อน เดี๋ยวผมทำให้ดูก่อน ทุกท่านยังไม่ต้องกดตามครับ ให้สังเกตชื่อรอบ ชื่อรายการ และปุ่มเปิดงาน</a:t>
            </a:r>
          </a:p>
          <a:p xmlns:a="http://schemas.openxmlformats.org/drawingml/2006/main">
            <a:r>
              <a:t>[สาธิต] เปิดแดชบอร์ด ตรวจสอบรอบประเมินที่ได้รับมอบหมาย แล้วเปิดรายการสายสนับสนุนที่เตรียมไว้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docs/user-guide-th.md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[พูด] เมื่อเปิดรายการแล้ว ลองสังเกตความเชื่อมโยงนะครับ โครงการบอกบริบท กิจกรรมบอกว่างานที่ทำคืออะไร ตัวชี้วัดบอกว่าจะวัดผลแบบไหน และหลักฐานยืนยันผลนั้น ถ้าข้อมูลเหล่านี้ไปคนละทิศ ผู้ประเมินจะอ่านแล้วไม่เห็นภาพครับ เพราะฉะนั้นให้เริ่มจากเลือกกิจกรรมที่ตรงกับงานจริงก่อน แล้วค่อยกรอกเป้าหมายกับผล ต่อไปเราจะดูช่องที่ต้องกรอกกันครับ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resources/views/criteria_config/partials/support-criteria-template.blade.php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[พูด] ในหน้าบันทึกกิจกรรม มีสามส่วนที่อยากให้ดูครับ คือเป้าหมาย ผลที่ทำได้ และรายละเอียดกิจกรรม เป้าหมายคือค่าที่ตั้งไว้ ส่วนผลที่ทำได้คือสิ่งที่เกิดขึ้นจริง อย่าสลับสองช่องนี้นะครับ รายละเอียดกิจกรรมควรเขียนสั้น ๆ แต่บอกได้ว่าทำอะไรและเกิดผลอย่างไร เมื่อข้อมูลครบ ระบบจะนำไปคำนวณคะแนน ทีนี้เรามาดูสูตรแบบง่าย ๆ กันครับ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resources/views/criteria_config/partials/support-criteria-template.blade.php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[พูด] ใช่ครับ สูตรนี้ดูเหมือนมีหลายตัว แต่หลักคิดไม่ซับซ้อน คะแนนถ่วงน้ำหนักเท่ากับน้ำหนักคูณคะแนนที่ทำได้ แล้วหารหนึ่งร้อย น้ำหนักบอกความสำคัญของรายการ ส่วนคะแนนที่ทำได้มาจากผลเทียบกับเกณฑ์ ตรงนี้อย่ากรอกคะแนนถ่วงน้ำหนักเองนะครับ ระบบคำนวณให้ หน้าที่ของเราคือตรวจว่าค่าต้นทางถูกต้อง ต่อไปลองคำนวณจากตัวอย่างจริงกันครับ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resources/views/criteria_config/partials/support-criteria-template.blade.php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[พูด] ลองช่วยกันคิดนะครับ ถ้าน้ำหนักเท่ากับยี่สิบ และคะแนนที่ทำได้เท่ากับแปดสิบ ผลจะเป็นเท่าไรครับ ใช่ครับ คำตอบคือสิบหกคะแนน เพราะยี่สิบคูณแปดสิบแล้วหารหนึ่งร้อย ตัวอย่างนี้ช่วยให้เราตรวจคร่าว ๆ ได้ว่าคะแนนบนหน้าจอสมเหตุสมผลหรือไม่ ถ้าคะแนนไม่ตรง ให้ย้อนดูน้ำหนัก คะแนนที่ทำได้ และหน่วยข้อมูลก่อนครับ</a:t>
            </a:r>
          </a:p>
          <a:p xmlns:a="http://schemas.openxmlformats.org/drawingml/2006/main">
            <a:r>
              <a:t>[ถามผู้เข้าอบรม] ถ้าน้ำหนักเป็น 30 และคะแนนที่ทำได้เป็น 70 คะแนนถ่วงน้ำหนักควรเป็นเท่าไรครับ</a:t>
            </a:r>
          </a:p>
          <a:p xmlns:a="http://schemas.openxmlformats.org/drawingml/2006/main">
            <a:r>
              <a:t>[พูด] คำตอบคือ 21 คะแนนครับ ต่อไปเราจะดูหลักฐานที่ใช้รองรับผลกิจกรรม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resources/views/criteria_config/partials/support-criteria-template.blade.php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[พูด] หลักฐานที่ดีต้องเปิดได้ ตรงกับกิจกรรม และรู้ว่าเป็นเอกสารของรายการใดครับ ลิงก์ควรเปิดได้จากบัญชีของผู้ประเมิน ไม่ใช่เปิดได้เฉพาะเจ้าของไฟล์ และควรตั้งชื่อไฟล์ให้ค้นหาได้ง่าย เดี๋ยวผมกรอกกิจกรรมหนึ่งรายการและแนบหลักฐานให้ดูก่อนครับ ทุกท่านสังเกตทั้งคะแนนที่ระบบคำนวณและการทดลองเปิดลิงก์</a:t>
            </a:r>
          </a:p>
          <a:p xmlns:a="http://schemas.openxmlformats.org/drawingml/2006/main">
            <a:r>
              <a:t>[สาธิต] กรอกกิจกรรมหนึ่งรายการ ตรวจคะแนน แนบหลักฐาน และทดลองเปิดลิงก์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resources/views/partials/evaluatee-evaluation-script.blade.php</a:t>
            </a:r>
          </a:p>
          <a:p xmlns:a="http://schemas.openxmlformats.org/drawingml/2006/main">
            <a:r>
              <a:t>- resources/views/criteria_config/partials/support-criteria-template.blade.php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[พูด] เมื่อข้อมูลยังไม่ครบ ให้บันทึกร่างไว้ก่อนครับ เรากลับมาแก้ไขได้และงานยังไม่ถูกส่งให้ผู้ประเมิน ส่วนส่งแบบประเมินใช้เมื่อข้อมูลบังคับ คะแนน และหลักฐานครบแล้ว ก่อนยืนยัน ลองหยุดตรวจอีกครั้งว่าผลที่ทำได้สอดคล้องกับรายละเอียดกิจกรรมและหลักฐานหรือไม่ วันนี้ตอนทดลองเราจะหยุดที่บันทึกร่างนะครับ ส่วนต่อไปผมจะอธิบายให้เห็นว่าเมื่อส่งจริง งานเดินต่ออย่างไร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resources/views/partials/evaluation-form-action-buttons.blade.php</a:t>
            </a:r>
          </a:p>
          <a:p xmlns:a="http://schemas.openxmlformats.org/drawingml/2006/main">
            <a:r>
              <a:t>- resources/views/partials/evaluatee-evaluation-script.blade.php</a:t>
            </a:r>
          </a:p>
          <a:p xmlns:a="http://schemas.openxmlformats.org/drawingml/2006/main">
            <a:r>
              <a:t>- app/Support/AssignmentFlow.php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[พูด] หลังส่งแบบประเมิน ระบบจะส่งงานตามลำดับผู้ประเมินที่ Admin กำหนดไว้ครับ ผู้ประเมินแต่ละคนตรวจ ให้ผล และส่งต่อไปยังคนถัดไป จำนวนขั้นและสิทธิ์อาจไม่เหมือนกันในทุกงาน เพราะฉะนั้นอย่าคาดเดาจากชื่อตำแหน่ง ให้ดูสถานะและลำดับของรายการนั้นเป็นหลัก เมื่อเข้าใจตรงนี้แล้ว เดี๋ยวเราสลับไปดูหน้าของผู้ประเมินกันครับ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app/Support/AssignmentFlow.php</a:t>
            </a:r>
          </a:p>
          <a:p xmlns:a="http://schemas.openxmlformats.org/drawingml/2006/main">
            <a:r>
              <a:t>- docs/user-guide-th.md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[พูด] ตอนนี้เราอยู่ในมุมผู้ประเมินครับ สิ่งที่ต้องตรวจคือผลกิจกรรม เป้าหมาย คะแนนที่ระบบคำนวณ และหลักฐานว่าตรงกับเกณฑ์หรือไม่ ควรเปิดหลักฐานจริงก่อนให้ผลนะครับ ไม่ควรดูเฉพาะชื่อไฟล์ เดี๋ยวผมทำให้ดูหนึ่งรายการ ให้สังเกตว่าข้อมูลใดมาจากผู้รับการประเมิน และตรงไหนเป็นส่วนที่ผู้ประเมินต้องตัดสินใจ</a:t>
            </a:r>
          </a:p>
          <a:p xmlns:a="http://schemas.openxmlformats.org/drawingml/2006/main">
            <a:r>
              <a:t>[สาธิต] เปิดบัญชีผู้ประเมิน ตรวจผลกิจกรรม คะแนน และหลักฐาน แล้วบันทึกผล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app/Support/AssignmentFlow.php</a:t>
            </a:r>
          </a:p>
          <a:p xmlns:a="http://schemas.openxmlformats.org/drawingml/2006/main">
            <a:r>
              <a:t>- docs/user-guide-th.md</a:t>
            </a:r>
          </a:p>
          <a:p xmlns:a="http://schemas.openxmlformats.org/drawingml/2006/main">
            <a:r>
              <a:t>- resources/views/partials/evaluatee-evaluation-script.blade.php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[พูด] ผู้ประเมินแต่ละคนทำงานเฉพาะขั้นของตัวเองครับ เมื่อตรวจครบแล้วจึงส่งต่อ คนถัดไปจึงจะรับงาน และเมื่อถึงคนสุดท้าย บุคคลนั้นจะยืนยันขั้นสุดท้ายจนสถานะเป็น Completed คนสุดท้ายอาจเป็นบทบาทใดก็ได้ตามลำดับที่ Admin กำหนดนะครับ เดี๋ยวผมส่งต่องานและเปิดบัญชีคนสุดท้ายให้ดู เพื่อให้เห็นการเปลี่ยนสถานะจริงครับ</a:t>
            </a:r>
          </a:p>
          <a:p xmlns:a="http://schemas.openxmlformats.org/drawingml/2006/main">
            <a:r>
              <a:t>[สาธิต] ส่งต่องานหนึ่งลำดับ เปิดด้วยบัญชีผู้ประเมินคนสุดท้าย และยืนยันจนสถานะเป็น Completed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app/Support/AssignmentFlow.php</a:t>
            </a:r>
          </a:p>
          <a:p xmlns:a="http://schemas.openxmlformats.org/drawingml/2006/main">
            <a:r>
              <a:t>- docs/user-guide-th.md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[พูด] ทีนี้ถึงเวลาลองทำด้วยตัวเองแล้วครับ ให้ทุกท่านเปิดบัญชีที่เตรียมไว้ ผู้ที่เคยทดสอบระบบแล้วลองเน้นตรวจคะแนนและความสัมพันธ์ของหลักฐาน ส่วนผู้ที่เพิ่งเริ่มให้ทำทีละขั้น เลือกกิจกรรม กรอกเป้าหมายและผล ตรวจคะแนน แนบหลักฐาน แล้วบันทึกร่าง ถ้าติดตรงไหนยกมือได้เลยครับ ยังไม่ต้องกดส่งแบบประเมิน เพราะเราจะตรวจความพร้อมร่วมกันก่อน</a:t>
            </a:r>
          </a:p>
          <a:p xmlns:a="http://schemas.openxmlformats.org/drawingml/2006/main">
            <a:r>
              <a:t>[เริ่มทดลองใช้งาน — 30 นาที]</a:t>
            </a:r>
          </a:p>
          <a:p xmlns:a="http://schemas.openxmlformats.org/drawingml/2006/main">
            <a:r>
              <a:t>[ให้ผู้เข้าอบรมหยุดที่บันทึกร่าง]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docs/superpowers/specs/2026-07-24-split-role-training-decks-design.md</a:t>
            </a:r>
          </a:p>
          <a:p xmlns:a="http://schemas.openxmlformats.org/drawingml/2006/main">
            <a:r>
              <a:t>- docs/user-guide-th.md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[พูด] ก่อนจบ ขอฝากวิธีตรวจปัญหาเบื้องต้นไว้สี่จุดครับ ดูรอบและรายการ สิทธิ์ของบัญชี สถานะงาน และข้อมูลบังคับรวมถึงลิงก์หลักฐาน ถ้าคะแนนไม่เป็นไปตามที่คิด ให้ย้อนดูน้ำหนัก คะแนนที่ทำได้ และหน่วยก่อน หากยังแก้ไม่ได้ ให้จดชื่อรายการ สถานะ และข้อความที่พบ แล้วแจ้งผู้ดูแลระบบครับ</a:t>
            </a:r>
          </a:p>
          <a:p xmlns:a="http://schemas.openxmlformats.org/drawingml/2006/main">
            <a:r>
              <a:t>[ถามผู้เข้าอบรม] ตอนนี้มีใครติดที่การเลือกกิจกรรม การคำนวณคะแนน หรือการเปิดหลักฐานไหมครับ</a:t>
            </a:r>
          </a:p>
          <a:p xmlns:a="http://schemas.openxmlformats.org/drawingml/2006/main">
            <a:r>
              <a:t>[พูด] ถ้าไม่มีคำถามเพิ่มเติม ขอให้จำไว้ครับ ตรวจงานให้ถูก กรอกข้อมูลให้ครบ และบันทึกร่างก่อนส่งจริง ขอบคุณทุกท่านครับ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resources/views/partials/evaluation-form-action-buttons.blade.php</a:t>
            </a:r>
          </a:p>
          <a:p xmlns:a="http://schemas.openxmlformats.org/drawingml/2006/main">
            <a:r>
              <a:t>- resources/views/partials/evaluatee-evaluation-script.blade.php</a:t>
            </a:r>
          </a:p>
          <a:p xmlns:a="http://schemas.openxmlformats.org/drawingml/2006/main">
            <a:r>
              <a:t>- app/Support/AssignmentFlow.php</a:t>
            </a:r>
          </a:p>
          <a:p xmlns:a="http://schemas.openxmlformats.org/drawingml/2006/main">
            <a:r>
              <a:t>- C:\Users\pisut\Downloads\logoบริษัท.svg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3b28e8f1b6d428b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e034125f14824f65" /><Relationship Type="http://schemas.openxmlformats.org/officeDocument/2006/relationships/slideLayout" Target="/ppt/slideLayouts/slideLayout1.xml" Id="R89a4da2f7d1341ee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89a4da2f7d1341ee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2f9fb6f9c884302" /><Relationship Type="http://schemas.openxmlformats.org/officeDocument/2006/relationships/image" Target="/ppt/media/image.jpeg" Id="Rd0dc09e7a2914b94" /><Relationship Type="http://schemas.openxmlformats.org/officeDocument/2006/relationships/image" Target="/ppt/media/image.png" Id="R9fa24fab74c7447e" /><Relationship Type="http://schemas.openxmlformats.org/officeDocument/2006/relationships/image" Target="/ppt/media/image2.png" Id="R85e800ffc6564035" /><Relationship Type="http://schemas.openxmlformats.org/officeDocument/2006/relationships/notesSlide" Target="/ppt/notesSlides/notesSlide1.xml" Id="R882c65d3bce74b05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98527577ed648e4" /><Relationship Type="http://schemas.openxmlformats.org/officeDocument/2006/relationships/notesSlide" Target="/ppt/notesSlides/notesSlide2.xml" Id="Rfa67a755ba464589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94e5b3b66cd42d6" /><Relationship Type="http://schemas.openxmlformats.org/officeDocument/2006/relationships/notesSlide" Target="/ppt/notesSlides/notesSlide3.xml" Id="R8c25352efe3f4102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eb4302cdda7470b" /><Relationship Type="http://schemas.openxmlformats.org/officeDocument/2006/relationships/notesSlide" Target="/ppt/notesSlides/notesSlide4.xml" Id="R6b33bfc6353d429f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f47623abbfd4f83" /><Relationship Type="http://schemas.openxmlformats.org/officeDocument/2006/relationships/notesSlide" Target="/ppt/notesSlides/notesSlide5.xml" Id="R970ee76ce96c43c8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b61e06617374ce1" /><Relationship Type="http://schemas.openxmlformats.org/officeDocument/2006/relationships/notesSlide" Target="/ppt/notesSlides/notesSlide6.xml" Id="R11655a266f5348a1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abf429e025545d6" /><Relationship Type="http://schemas.openxmlformats.org/officeDocument/2006/relationships/notesSlide" Target="/ppt/notesSlides/notesSlide7.xml" Id="Rdf1c58c036a9414b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979a3e986484d0d" /><Relationship Type="http://schemas.openxmlformats.org/officeDocument/2006/relationships/notesSlide" Target="/ppt/notesSlides/notesSlide8.xml" Id="Ra8a1f55c62854067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190b32d24f242e9" /><Relationship Type="http://schemas.openxmlformats.org/officeDocument/2006/relationships/notesSlide" Target="/ppt/notesSlides/notesSlide9.xml" Id="Rf1a248af373f4a45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947a7752c004094" /><Relationship Type="http://schemas.openxmlformats.org/officeDocument/2006/relationships/notesSlide" Target="/ppt/notesSlides/notesSlide10.xml" Id="Rfa22f9e1d1104d11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70afd3c8a944f47" /><Relationship Type="http://schemas.openxmlformats.org/officeDocument/2006/relationships/notesSlide" Target="/ppt/notesSlides/notesSlide11.xml" Id="Refe7c9f2e303475b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09ad4ec12504549" /><Relationship Type="http://schemas.openxmlformats.org/officeDocument/2006/relationships/notesSlide" Target="/ppt/notesSlides/notesSlide12.xml" Id="R258e3757a096476c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7b67df0c26f4f6a" /><Relationship Type="http://schemas.openxmlformats.org/officeDocument/2006/relationships/notesSlide" Target="/ppt/notesSlides/notesSlide13.xml" Id="R44a69c2eceda4373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ec38fa88b11402b" /><Relationship Type="http://schemas.openxmlformats.org/officeDocument/2006/relationships/notesSlide" Target="/ppt/notesSlides/notesSlide14.xml" Id="R6df224339f894b8f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c1ce679ebcd46a3" /><Relationship Type="http://schemas.openxmlformats.org/officeDocument/2006/relationships/notesSlide" Target="/ppt/notesSlides/notesSlide15.xml" Id="R6f06ca9ab1dc4733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e5271f20d79463b" /><Relationship Type="http://schemas.openxmlformats.org/officeDocument/2006/relationships/notesSlide" Target="/ppt/notesSlides/notesSlide16.xml" Id="Rca0037072a4c4ded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381d6097db84cc6" /><Relationship Type="http://schemas.openxmlformats.org/officeDocument/2006/relationships/notesSlide" Target="/ppt/notesSlides/notesSlide17.xml" Id="R1cb5a75aa84743d1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a1ffcce68b04a55" /><Relationship Type="http://schemas.openxmlformats.org/officeDocument/2006/relationships/image" Target="/ppt/media/image3.png" Id="Rd40b59ebce364ffd" /><Relationship Type="http://schemas.openxmlformats.org/officeDocument/2006/relationships/notesSlide" Target="/ppt/notesSlides/notesSlide18.xml" Id="R47f7bc9c4fe54d54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0dc09e7a2914b94"/>
          <a:srcRect xmlns:a="http://schemas.openxmlformats.org/drawingml/2006/main" l="2579" t="0" r="2579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cover-panel">
            <a:extLst xmlns:a="http://schemas.openxmlformats.org/drawingml/2006/main">
              <a:ext uri="{FF2B5EF4-FFF2-40B4-BE49-F238E27FC236}">
                <a16:creationId xmlns:a16="http://schemas.microsoft.com/office/drawing/2014/main" id="{8B357B92-4778-49C0-83A8-631EED39A3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75247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A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cover-accent">
            <a:extLst xmlns:a="http://schemas.openxmlformats.org/drawingml/2006/main">
              <a:ext uri="{FF2B5EF4-FFF2-40B4-BE49-F238E27FC236}">
                <a16:creationId xmlns:a16="http://schemas.microsoft.com/office/drawing/2014/main" id="{303A0CEA-616D-4642-A5A3-7C0C4BDE56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C86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1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fa24fab74c7447e"/>
          <a:stretch xmlns:a="http://schemas.openxmlformats.org/drawingml/2006/main"/>
        </p:blipFill>
        <p:spPr>
          <a:xfrm xmlns:a="http://schemas.openxmlformats.org/drawingml/2006/main">
            <a:off x="628650" y="419100"/>
            <a:ext cx="800100" cy="800100"/>
          </a:xfrm>
          <a:prstGeom xmlns:a="http://schemas.openxmlformats.org/drawingml/2006/main" prst="rect">
            <a:avLst/>
          </a:prstGeom>
        </p:spPr>
      </p:pic>
      <p:sp>
        <p:nvSpPr>
          <p:cNvPr id="5" name="cover-institution">
            <a:extLst xmlns:a="http://schemas.openxmlformats.org/drawingml/2006/main">
              <a:ext uri="{FF2B5EF4-FFF2-40B4-BE49-F238E27FC236}">
                <a16:creationId xmlns:a16="http://schemas.microsoft.com/office/drawing/2014/main" id="{692C399B-9775-4888-BDA7-3307284F79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514350"/>
            <a:ext cx="52863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1">
                <a:solidFill>
                  <a:srgbClr val="5F2A84"/>
                </a:solidFill>
                <a:latin typeface="Tahoma"/>
                <a:ea typeface="Tahoma"/>
                <a:cs typeface="Tahoma"/>
              </a:defRPr>
            </a:pPr>
            <a:r>
              <a:rPr sz="1275" b="1">
                <a:solidFill>
                  <a:srgbClr val="5F2A84"/>
                </a:solidFill>
                <a:latin typeface="Tahoma"/>
                <a:ea typeface="Tahoma"/>
                <a:cs typeface="Tahoma"/>
              </a:rPr>
              <a:t>คณะสาธารณสุขศาสตร์  •  มหาวิทยาลัยมหาสารคาม</a:t>
            </a:r>
          </a:p>
        </p:txBody>
      </p:sp>
      <p:sp>
        <p:nvSpPr>
          <p:cNvPr id="6" name="cover-session">
            <a:extLst xmlns:a="http://schemas.openxmlformats.org/drawingml/2006/main">
              <a:ext uri="{FF2B5EF4-FFF2-40B4-BE49-F238E27FC236}">
                <a16:creationId xmlns:a16="http://schemas.microsoft.com/office/drawing/2014/main" id="{401789FB-EE48-401A-A95B-2CBA0843E0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657350"/>
            <a:ext cx="2476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008C86"/>
                </a:solidFill>
                <a:latin typeface="Tahoma"/>
                <a:ea typeface="Tahoma"/>
                <a:cs typeface="Tahoma"/>
              </a:defRPr>
            </a:pPr>
            <a:r>
              <a:rPr sz="1350" b="1">
                <a:solidFill>
                  <a:srgbClr val="008C86"/>
                </a:solidFill>
                <a:latin typeface="Tahoma"/>
                <a:ea typeface="Tahoma"/>
                <a:cs typeface="Tahoma"/>
              </a:rPr>
              <a:t>ภาคบ่าย</a:t>
            </a:r>
          </a:p>
        </p:txBody>
      </p:sp>
      <p:sp>
        <p:nvSpPr>
          <p:cNvPr id="7" name="cover-title">
            <a:extLst xmlns:a="http://schemas.openxmlformats.org/drawingml/2006/main">
              <a:ext uri="{FF2B5EF4-FFF2-40B4-BE49-F238E27FC236}">
                <a16:creationId xmlns:a16="http://schemas.microsoft.com/office/drawing/2014/main" id="{ABABF8B7-0B6F-4587-A8CB-62B9CEC687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095500"/>
            <a:ext cx="6191250" cy="1695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2000"/>
              </a:lnSpc>
              <a:buNone/>
              <a:defRPr sz="397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397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การใช้งานระบบ MSU EVA</a:t>
            </a:r>
          </a:p>
          <a:p xmlns:a="http://schemas.openxmlformats.org/drawingml/2006/main">
            <a:pPr algn="l">
              <a:lnSpc>
                <a:spcPct val="92000"/>
              </a:lnSpc>
              <a:buNone/>
              <a:defRPr sz="397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397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สำหรับบุคลากรสายสนับสนุน</a:t>
            </a:r>
          </a:p>
        </p:txBody>
      </p:sp>
      <p:sp>
        <p:nvSpPr>
          <p:cNvPr id="8" name="cover-gold-rule">
            <a:extLst xmlns:a="http://schemas.openxmlformats.org/drawingml/2006/main">
              <a:ext uri="{FF2B5EF4-FFF2-40B4-BE49-F238E27FC236}">
                <a16:creationId xmlns:a16="http://schemas.microsoft.com/office/drawing/2014/main" id="{0D55ACFF-DAE1-444C-852D-B989D35678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095750"/>
            <a:ext cx="8763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79A2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cover-promise">
            <a:extLst xmlns:a="http://schemas.openxmlformats.org/drawingml/2006/main">
              <a:ext uri="{FF2B5EF4-FFF2-40B4-BE49-F238E27FC236}">
                <a16:creationId xmlns:a16="http://schemas.microsoft.com/office/drawing/2014/main" id="{0C409219-657C-4CE0-87BC-C8F42A65EA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457700"/>
            <a:ext cx="59055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>
                <a:solidFill>
                  <a:srgbClr val="23384D"/>
                </a:solidFill>
                <a:latin typeface="Tahoma"/>
                <a:ea typeface="Tahoma"/>
                <a:cs typeface="Tahoma"/>
              </a:defRPr>
            </a:pPr>
            <a:r>
              <a:rPr sz="1800" b="0">
                <a:solidFill>
                  <a:srgbClr val="23384D"/>
                </a:solidFill>
                <a:latin typeface="Tahoma"/>
                <a:ea typeface="Tahoma"/>
                <a:cs typeface="Tahoma"/>
              </a:rPr>
              <a:t>บันทึกกิจกรรม เข้าใจที่มาของคะแนน และแนบหลักฐานให้พร้อมตรวจ</a:t>
            </a:r>
          </a:p>
        </p:txBody>
      </p:sp>
      <p:sp>
        <p:nvSpPr>
          <p:cNvPr id="10" name="cover-style">
            <a:extLst xmlns:a="http://schemas.openxmlformats.org/drawingml/2006/main">
              <a:ext uri="{FF2B5EF4-FFF2-40B4-BE49-F238E27FC236}">
                <a16:creationId xmlns:a16="http://schemas.microsoft.com/office/drawing/2014/main" id="{1AA10D42-79A5-4B7F-A9FC-4ADBAB0E4B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000750"/>
            <a:ext cx="4000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12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Professional Training  •  สายสนับสนุน</a:t>
            </a:r>
          </a:p>
        </p:txBody>
      </p:sp>
      <p:pic>
        <p:nvPicPr>
          <p:cNvPr id="2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5e800ffc6564035"/>
          <a:stretch xmlns:a="http://schemas.openxmlformats.org/drawingml/2006/main"/>
        </p:blipFill>
        <p:spPr>
          <a:xfrm xmlns:a="http://schemas.openxmlformats.org/drawingml/2006/main">
            <a:off x="9186571" y="5962650"/>
            <a:ext cx="2029408" cy="55245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06007902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side-accent-2">
            <a:extLst xmlns:a="http://schemas.openxmlformats.org/drawingml/2006/main">
              <a:ext uri="{FF2B5EF4-FFF2-40B4-BE49-F238E27FC236}">
                <a16:creationId xmlns:a16="http://schemas.microsoft.com/office/drawing/2014/main" id="{95C95822-B4C8-44FB-8F75-5DB7396ACE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C8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kicker-2">
            <a:extLst xmlns:a="http://schemas.openxmlformats.org/drawingml/2006/main">
              <a:ext uri="{FF2B5EF4-FFF2-40B4-BE49-F238E27FC236}">
                <a16:creationId xmlns:a16="http://schemas.microsoft.com/office/drawing/2014/main" id="{AD19530B-1362-49F8-B406-4005021552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4953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008C86"/>
                </a:solidFill>
                <a:latin typeface="Tahoma"/>
                <a:ea typeface="Tahoma"/>
                <a:cs typeface="Tahoma"/>
              </a:defRPr>
            </a:pPr>
            <a:r>
              <a:rPr sz="1125" b="1">
                <a:solidFill>
                  <a:srgbClr val="008C86"/>
                </a:solidFill>
                <a:latin typeface="Tahoma"/>
                <a:ea typeface="Tahoma"/>
                <a:cs typeface="Tahoma"/>
              </a:rPr>
              <a:t>เป้าหมายการอบรม  /  สายสนับสนุน</a:t>
            </a:r>
          </a:p>
        </p:txBody>
      </p:sp>
      <p:sp>
        <p:nvSpPr>
          <p:cNvPr id="3" name="title-2">
            <a:extLst xmlns:a="http://schemas.openxmlformats.org/drawingml/2006/main">
              <a:ext uri="{FF2B5EF4-FFF2-40B4-BE49-F238E27FC236}">
                <a16:creationId xmlns:a16="http://schemas.microsoft.com/office/drawing/2014/main" id="{8DB38D8E-9E3A-4F9A-AE7F-A29080A403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668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307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307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ช่วงบ่ายนี้ เราจะทดลองบันทึกกิจกรรมและตรวจคะแนน 1 รายการ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3EB0417-4B01-46DE-9C54-6BF42E86B0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43100"/>
            <a:ext cx="5715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650" b="1">
                <a:solidFill>
                  <a:srgbClr val="00615E"/>
                </a:solidFill>
                <a:latin typeface="Tahoma"/>
                <a:ea typeface="Tahoma"/>
                <a:cs typeface="Tahoma"/>
              </a:defRPr>
            </a:pPr>
            <a:r>
              <a:rPr sz="1650" b="1">
                <a:solidFill>
                  <a:srgbClr val="00615E"/>
                </a:solidFill>
                <a:latin typeface="Tahoma"/>
                <a:ea typeface="Tahoma"/>
                <a:cs typeface="Tahoma"/>
              </a:rPr>
              <a:t>เมื่อจบช่วงนี้ คุณจะทำได้ด้วยตัวเอง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E1E36ED-F39E-4D8D-9B3C-50BAD1FFDD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28900"/>
            <a:ext cx="7239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725" b="1">
                <a:solidFill>
                  <a:srgbClr val="008C86"/>
                </a:solidFill>
                <a:latin typeface="Tahoma"/>
                <a:ea typeface="Tahoma"/>
                <a:cs typeface="Tahoma"/>
              </a:defRPr>
            </a:pPr>
            <a:r>
              <a:rPr sz="1725" b="1">
                <a:solidFill>
                  <a:srgbClr val="008C86"/>
                </a:solidFill>
                <a:latin typeface="Tahoma"/>
                <a:ea typeface="Tahoma"/>
                <a:cs typeface="Tahoma"/>
              </a:rPr>
              <a:t>01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9DB315C-221A-4343-88DA-B3AEB16741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2676525"/>
            <a:ext cx="381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7C7B5E6-180F-476B-A6C4-D8BF10EA29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5450" y="2628900"/>
            <a:ext cx="88582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025" b="0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2025" b="0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เปิดงานและเลือกกิจกรรมได้ถูกต้อง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6370E10-126D-4668-B367-B30EED73FC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00450"/>
            <a:ext cx="7239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725" b="1">
                <a:solidFill>
                  <a:srgbClr val="008C86"/>
                </a:solidFill>
                <a:latin typeface="Tahoma"/>
                <a:ea typeface="Tahoma"/>
                <a:cs typeface="Tahoma"/>
              </a:defRPr>
            </a:pPr>
            <a:r>
              <a:rPr sz="1725" b="1">
                <a:solidFill>
                  <a:srgbClr val="008C86"/>
                </a:solidFill>
                <a:latin typeface="Tahoma"/>
                <a:ea typeface="Tahoma"/>
                <a:cs typeface="Tahoma"/>
              </a:rPr>
              <a:t>02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FA37DD7-F7DF-49F8-8B35-3679161BE6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3648075"/>
            <a:ext cx="381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AF479D0-5A16-4CE1-AF82-D5F388256E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5450" y="3600450"/>
            <a:ext cx="88582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025" b="0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2025" b="0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กรอกผล คำนวณคะแนน และแนบหลักฐานได้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C381478-0C22-461E-B4B8-DB00C71372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0"/>
            <a:ext cx="7239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725" b="1">
                <a:solidFill>
                  <a:srgbClr val="008C86"/>
                </a:solidFill>
                <a:latin typeface="Tahoma"/>
                <a:ea typeface="Tahoma"/>
                <a:cs typeface="Tahoma"/>
              </a:defRPr>
            </a:pPr>
            <a:r>
              <a:rPr sz="1725" b="1">
                <a:solidFill>
                  <a:srgbClr val="008C86"/>
                </a:solidFill>
                <a:latin typeface="Tahoma"/>
                <a:ea typeface="Tahoma"/>
                <a:cs typeface="Tahoma"/>
              </a:rPr>
              <a:t>03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262994D-F2A5-4140-9E3D-26A4FC4549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4619625"/>
            <a:ext cx="381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79A2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DFA2928-B4EB-4DB1-914A-BBF1B15867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5450" y="4572000"/>
            <a:ext cx="88582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02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202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ตรวจความพร้อมก่อนส่งแบบประเมิน</a:t>
            </a:r>
          </a:p>
        </p:txBody>
      </p:sp>
      <p:sp>
        <p:nvSpPr>
          <p:cNvPr id="14" name="outcome-mark">
            <a:extLst xmlns:a="http://schemas.openxmlformats.org/drawingml/2006/main">
              <a:ext uri="{FF2B5EF4-FFF2-40B4-BE49-F238E27FC236}">
                <a16:creationId xmlns:a16="http://schemas.microsoft.com/office/drawing/2014/main" id="{CB25A0DD-2641-446F-AC5D-0919601C3B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8300" y="2076450"/>
            <a:ext cx="2324100" cy="3295650"/>
          </a:xfrm>
          <a:prstGeom xmlns:a="http://schemas.openxmlformats.org/drawingml/2006/main" prst="roundRect">
            <a:avLst>
              <a:gd name="adj" fmla="val 3279"/>
            </a:avLst>
          </a:prstGeom>
          <a:solidFill xmlns:a="http://schemas.openxmlformats.org/drawingml/2006/main">
            <a:srgbClr val="E2F4F1"/>
          </a:solidFill>
          <a:ln xmlns:a="http://schemas.openxmlformats.org/drawingml/2006/main" w="9525">
            <a:solidFill>
              <a:srgbClr val="008C86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F1FE031-E308-41C5-9F38-B737364890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2324100"/>
            <a:ext cx="1790700" cy="1371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7800" b="1">
                <a:solidFill>
                  <a:srgbClr val="008C86"/>
                </a:solidFill>
                <a:latin typeface="Tahoma"/>
                <a:ea typeface="Tahoma"/>
                <a:cs typeface="Tahoma"/>
              </a:defRPr>
            </a:pPr>
            <a:r>
              <a:rPr sz="7800" b="1">
                <a:solidFill>
                  <a:srgbClr val="008C86"/>
                </a:solidFill>
                <a:latin typeface="Tahoma"/>
                <a:ea typeface="Tahoma"/>
                <a:cs typeface="Tahoma"/>
              </a:rPr>
              <a:t>1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BF26E9C-AF59-4A30-A89C-EABBA618C9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3752850"/>
            <a:ext cx="17907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250" b="1">
                <a:solidFill>
                  <a:srgbClr val="00615E"/>
                </a:solidFill>
                <a:latin typeface="Tahoma"/>
                <a:ea typeface="Tahoma"/>
                <a:cs typeface="Tahoma"/>
              </a:defRPr>
            </a:pPr>
            <a:r>
              <a:rPr sz="2250" b="1">
                <a:solidFill>
                  <a:srgbClr val="00615E"/>
                </a:solidFill>
                <a:latin typeface="Tahoma"/>
                <a:ea typeface="Tahoma"/>
                <a:cs typeface="Tahoma"/>
              </a:rPr>
              <a:t>รายการ</a:t>
            </a:r>
          </a:p>
          <a:p xmlns:a="http://schemas.openxmlformats.org/drawingml/2006/main">
            <a:pPr algn="ctr">
              <a:lnSpc>
                <a:spcPct val="100000"/>
              </a:lnSpc>
              <a:buNone/>
              <a:defRPr sz="2250" b="1">
                <a:solidFill>
                  <a:srgbClr val="00615E"/>
                </a:solidFill>
                <a:latin typeface="Tahoma"/>
                <a:ea typeface="Tahoma"/>
                <a:cs typeface="Tahoma"/>
              </a:defRPr>
            </a:pPr>
            <a:r>
              <a:rPr sz="2250" b="1">
                <a:solidFill>
                  <a:srgbClr val="00615E"/>
                </a:solidFill>
                <a:latin typeface="Tahoma"/>
                <a:ea typeface="Tahoma"/>
                <a:cs typeface="Tahoma"/>
              </a:rPr>
              <a:t>พร้อมส่ง</a:t>
            </a:r>
          </a:p>
        </p:txBody>
      </p:sp>
      <p:sp>
        <p:nvSpPr>
          <p:cNvPr id="17" name="footer-rule-2">
            <a:extLst xmlns:a="http://schemas.openxmlformats.org/drawingml/2006/main">
              <a:ext uri="{FF2B5EF4-FFF2-40B4-BE49-F238E27FC236}">
                <a16:creationId xmlns:a16="http://schemas.microsoft.com/office/drawing/2014/main" id="{098C0C21-78E0-494C-A607-F0327ED8EE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484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footer-label-2">
            <a:extLst xmlns:a="http://schemas.openxmlformats.org/drawingml/2006/main">
              <a:ext uri="{FF2B5EF4-FFF2-40B4-BE49-F238E27FC236}">
                <a16:creationId xmlns:a16="http://schemas.microsoft.com/office/drawing/2014/main" id="{B25B5788-737D-41FC-82CE-8492C86969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53200"/>
            <a:ext cx="5238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97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MSU EVA  •  ภาคบ่าย สายสนับสนุน</a:t>
            </a:r>
          </a:p>
        </p:txBody>
      </p:sp>
      <p:sp>
        <p:nvSpPr>
          <p:cNvPr id="19" name="footer-page-2">
            <a:extLst xmlns:a="http://schemas.openxmlformats.org/drawingml/2006/main">
              <a:ext uri="{FF2B5EF4-FFF2-40B4-BE49-F238E27FC236}">
                <a16:creationId xmlns:a16="http://schemas.microsoft.com/office/drawing/2014/main" id="{3870C1E6-ACBF-4A1D-B38C-894E6DE02A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553200"/>
            <a:ext cx="11049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75" b="1">
                <a:solidFill>
                  <a:srgbClr val="008C86"/>
                </a:solidFill>
                <a:latin typeface="Tahoma"/>
                <a:ea typeface="Tahoma"/>
                <a:cs typeface="Tahoma"/>
              </a:defRPr>
            </a:pPr>
            <a:r>
              <a:rPr sz="975" b="1">
                <a:solidFill>
                  <a:srgbClr val="008C86"/>
                </a:solidFill>
                <a:latin typeface="Tahoma"/>
                <a:ea typeface="Tahoma"/>
                <a:cs typeface="Tahoma"/>
              </a:rPr>
              <a:t>02 / 18</a:t>
            </a:r>
          </a:p>
        </p:txBody>
      </p:sp>
    </p:spTree>
    <p:extLst>
      <p:ext uri="{BB962C8B-B14F-4D97-AF65-F5344CB8AC3E}">
        <p14:creationId xmlns:p14="http://schemas.microsoft.com/office/powerpoint/2010/main" val="2115246511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1" name="side-accent-3">
            <a:extLst xmlns:a="http://schemas.openxmlformats.org/drawingml/2006/main">
              <a:ext uri="{FF2B5EF4-FFF2-40B4-BE49-F238E27FC236}">
                <a16:creationId xmlns:a16="http://schemas.microsoft.com/office/drawing/2014/main" id="{BFC0158B-EDFC-4A0B-8A15-64BBA76723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C8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kicker-3">
            <a:extLst xmlns:a="http://schemas.openxmlformats.org/drawingml/2006/main">
              <a:ext uri="{FF2B5EF4-FFF2-40B4-BE49-F238E27FC236}">
                <a16:creationId xmlns:a16="http://schemas.microsoft.com/office/drawing/2014/main" id="{0374A2F0-681D-4FFF-BA19-D8DB8378A0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4953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008C86"/>
                </a:solidFill>
                <a:latin typeface="Tahoma"/>
                <a:ea typeface="Tahoma"/>
                <a:cs typeface="Tahoma"/>
              </a:defRPr>
            </a:pPr>
            <a:r>
              <a:rPr sz="1125" b="1">
                <a:solidFill>
                  <a:srgbClr val="008C86"/>
                </a:solidFill>
                <a:latin typeface="Tahoma"/>
                <a:ea typeface="Tahoma"/>
                <a:cs typeface="Tahoma"/>
              </a:rPr>
              <a:t>รู้จักระบบ  /  สายสนับสนุน</a:t>
            </a:r>
          </a:p>
        </p:txBody>
      </p:sp>
      <p:sp>
        <p:nvSpPr>
          <p:cNvPr id="3" name="title-3">
            <a:extLst xmlns:a="http://schemas.openxmlformats.org/drawingml/2006/main">
              <a:ext uri="{FF2B5EF4-FFF2-40B4-BE49-F238E27FC236}">
                <a16:creationId xmlns:a16="http://schemas.microsoft.com/office/drawing/2014/main" id="{BE4130F6-27E6-41A7-9DF7-87A651C8EC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668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307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307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MSU EVA ช่วยจัดการงานประเมินตั้งแต่เตรียมรอบจนถึงรายงานผล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CA113EC-5B98-4183-9335-0547AB5D4F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09750"/>
            <a:ext cx="8572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72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72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ฟังก์ชันหลัก 5 ด้าน เชื่อมต่อกันเป็นกระบวนการเดียว</a:t>
            </a:r>
          </a:p>
        </p:txBody>
      </p:sp>
      <p:sp>
        <p:nvSpPr>
          <p:cNvPr id="5" name="system-function-line">
            <a:extLst xmlns:a="http://schemas.openxmlformats.org/drawingml/2006/main">
              <a:ext uri="{FF2B5EF4-FFF2-40B4-BE49-F238E27FC236}">
                <a16:creationId xmlns:a16="http://schemas.microsoft.com/office/drawing/2014/main" id="{492385AE-19B9-42E1-8FE2-DC504641C6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3467100"/>
            <a:ext cx="87058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DBD4685-C061-41D8-9CD3-D1D5038C1D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3009900"/>
            <a:ext cx="876300" cy="876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79A2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1772F53-AF7C-4268-9109-6D62B830D2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3257550"/>
            <a:ext cx="8763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875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1875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01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A0F2AFB-4A88-458C-92A6-5CE5F91EB3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210050"/>
            <a:ext cx="17907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72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172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ผู้ใช้และสิทธิ์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489EE14-ECED-4EF2-BCA1-DB519ECEF5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819650"/>
            <a:ext cx="19431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7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27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จัดการบัญชีและบทบาท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56F52AC-0CC4-452A-90BB-3A5E8B71DC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3009900"/>
            <a:ext cx="876300" cy="876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79A2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8A986A4-F47A-45A9-A76A-672D0105BE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3257550"/>
            <a:ext cx="8763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875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1875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02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3C5D0D4-AEFB-41B3-85D1-638B5448AF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4210050"/>
            <a:ext cx="17907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72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172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เกณฑ์ประเมิน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DF40CA8-988E-4CBC-9F17-1812F79406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6550" y="4819650"/>
            <a:ext cx="19431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7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27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จัดการแบบและเกณฑ์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E078D8F-A517-4D8B-B847-3BAD29FC4C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62600" y="3009900"/>
            <a:ext cx="876300" cy="876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79A2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0C17B23-0065-4E70-98BE-6AFECEC825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62600" y="3257550"/>
            <a:ext cx="8763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875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1875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03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94A087A-96F7-4C10-B17F-F61C998622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4210050"/>
            <a:ext cx="17907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72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172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รอบและงาน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2CDA686-C287-4525-85F6-F770D2A6B6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0" y="4819650"/>
            <a:ext cx="19431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7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27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สร้างรอบและมอบหมาย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BD099EB-AB5D-4B44-82C4-322960F277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3009900"/>
            <a:ext cx="876300" cy="876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8C8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706A2DD-C5BF-47F3-ADA8-A3AB779475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3257550"/>
            <a:ext cx="8763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875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1875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04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8B38874-5C4F-4FD3-A358-78D4C343C8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4210050"/>
            <a:ext cx="17907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72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172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กรอกและประเมิน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911C08D-72E5-4396-8F92-BBC3207E05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4819650"/>
            <a:ext cx="19431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7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27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บันทึก ตรวจ และส่งต่อ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EEDB0D7-2F85-45AA-8BB2-55EF2DCAD7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67900" y="3009900"/>
            <a:ext cx="876300" cy="876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8C8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29C6FB8-21F2-4C5D-A6F0-DD9226807C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67900" y="3257550"/>
            <a:ext cx="8763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875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1875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05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9BE85BB-0B2F-47C3-BF0C-28366D8B20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0700" y="4210050"/>
            <a:ext cx="17907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72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172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ติดตาม/รายงาน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8FD52B4C-DB83-437E-948C-54D37A104D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4819650"/>
            <a:ext cx="19431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7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27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ติดตามสถานะและส่งออก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9375B62E-A075-4FB8-9FD8-36E7A43F8A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57850"/>
            <a:ext cx="10972800" cy="514350"/>
          </a:xfrm>
          <a:prstGeom xmlns:a="http://schemas.openxmlformats.org/drawingml/2006/main" prst="roundRect">
            <a:avLst>
              <a:gd name="adj" fmla="val 14815"/>
            </a:avLst>
          </a:prstGeom>
          <a:solidFill xmlns:a="http://schemas.openxmlformats.org/drawingml/2006/main">
            <a:srgbClr val="E2F4F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B2346840-2369-4159-AEC3-9557E78C90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791200"/>
            <a:ext cx="10515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75" b="1">
                <a:solidFill>
                  <a:srgbClr val="00615E"/>
                </a:solidFill>
                <a:latin typeface="Tahoma"/>
                <a:ea typeface="Tahoma"/>
                <a:cs typeface="Tahoma"/>
              </a:defRPr>
            </a:pPr>
            <a:r>
              <a:rPr sz="1575" b="1">
                <a:solidFill>
                  <a:srgbClr val="00615E"/>
                </a:solidFill>
                <a:latin typeface="Tahoma"/>
                <a:ea typeface="Tahoma"/>
                <a:cs typeface="Tahoma"/>
              </a:rPr>
              <a:t>Admin เตรียมระบบและมอบหมายงาน ก่อนผู้ใช้งานเริ่มดำเนินการ</a:t>
            </a:r>
          </a:p>
        </p:txBody>
      </p:sp>
      <p:sp>
        <p:nvSpPr>
          <p:cNvPr id="28" name="footer-rule-3">
            <a:extLst xmlns:a="http://schemas.openxmlformats.org/drawingml/2006/main">
              <a:ext uri="{FF2B5EF4-FFF2-40B4-BE49-F238E27FC236}">
                <a16:creationId xmlns:a16="http://schemas.microsoft.com/office/drawing/2014/main" id="{1237658B-C81C-4211-ACB6-7413F7EBB6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484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footer-label-3">
            <a:extLst xmlns:a="http://schemas.openxmlformats.org/drawingml/2006/main">
              <a:ext uri="{FF2B5EF4-FFF2-40B4-BE49-F238E27FC236}">
                <a16:creationId xmlns:a16="http://schemas.microsoft.com/office/drawing/2014/main" id="{F9604393-EF7F-455A-B3AE-AD7B7149D8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53200"/>
            <a:ext cx="5238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97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MSU EVA  •  ภาคบ่าย สายสนับสนุน</a:t>
            </a:r>
          </a:p>
        </p:txBody>
      </p:sp>
      <p:sp>
        <p:nvSpPr>
          <p:cNvPr id="30" name="footer-page-3">
            <a:extLst xmlns:a="http://schemas.openxmlformats.org/drawingml/2006/main">
              <a:ext uri="{FF2B5EF4-FFF2-40B4-BE49-F238E27FC236}">
                <a16:creationId xmlns:a16="http://schemas.microsoft.com/office/drawing/2014/main" id="{4BBD151E-231A-443B-8973-5D48E53536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553200"/>
            <a:ext cx="11049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75" b="1">
                <a:solidFill>
                  <a:srgbClr val="008C86"/>
                </a:solidFill>
                <a:latin typeface="Tahoma"/>
                <a:ea typeface="Tahoma"/>
                <a:cs typeface="Tahoma"/>
              </a:defRPr>
            </a:pPr>
            <a:r>
              <a:rPr sz="975" b="1">
                <a:solidFill>
                  <a:srgbClr val="008C86"/>
                </a:solidFill>
                <a:latin typeface="Tahoma"/>
                <a:ea typeface="Tahoma"/>
                <a:cs typeface="Tahoma"/>
              </a:rPr>
              <a:t>03 / 18</a:t>
            </a:r>
          </a:p>
        </p:txBody>
      </p:sp>
    </p:spTree>
    <p:extLst>
      <p:ext uri="{BB962C8B-B14F-4D97-AF65-F5344CB8AC3E}">
        <p14:creationId xmlns:p14="http://schemas.microsoft.com/office/powerpoint/2010/main" val="1773602275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" name="side-accent-4">
            <a:extLst xmlns:a="http://schemas.openxmlformats.org/drawingml/2006/main">
              <a:ext uri="{FF2B5EF4-FFF2-40B4-BE49-F238E27FC236}">
                <a16:creationId xmlns:a16="http://schemas.microsoft.com/office/drawing/2014/main" id="{AA1D870E-BC60-4196-9B9F-A84C4B2510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C8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kicker-4">
            <a:extLst xmlns:a="http://schemas.openxmlformats.org/drawingml/2006/main">
              <a:ext uri="{FF2B5EF4-FFF2-40B4-BE49-F238E27FC236}">
                <a16:creationId xmlns:a16="http://schemas.microsoft.com/office/drawing/2014/main" id="{14FF3C7B-F937-49DB-AF41-8575BCA850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4953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008C86"/>
                </a:solidFill>
                <a:latin typeface="Tahoma"/>
                <a:ea typeface="Tahoma"/>
                <a:cs typeface="Tahoma"/>
              </a:defRPr>
            </a:pPr>
            <a:r>
              <a:rPr sz="1125" b="1">
                <a:solidFill>
                  <a:srgbClr val="008C86"/>
                </a:solidFill>
                <a:latin typeface="Tahoma"/>
                <a:ea typeface="Tahoma"/>
                <a:cs typeface="Tahoma"/>
              </a:rPr>
              <a:t>ผู้ใช้งานระบบ  /  สายสนับสนุน</a:t>
            </a:r>
          </a:p>
        </p:txBody>
      </p:sp>
      <p:sp>
        <p:nvSpPr>
          <p:cNvPr id="3" name="title-4">
            <a:extLst xmlns:a="http://schemas.openxmlformats.org/drawingml/2006/main">
              <a:ext uri="{FF2B5EF4-FFF2-40B4-BE49-F238E27FC236}">
                <a16:creationId xmlns:a16="http://schemas.microsoft.com/office/drawing/2014/main" id="{86D86A6C-EFBD-4396-8F64-7B63EF132C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668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307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307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ระบบมี 5 บทบาท และแต่ละคนเห็นงานต่างกัน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9A5926E-A75C-4207-95D5-D252629922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66900"/>
            <a:ext cx="590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1">
                <a:solidFill>
                  <a:srgbClr val="C79A2B"/>
                </a:solidFill>
                <a:latin typeface="Tahoma"/>
                <a:ea typeface="Tahoma"/>
                <a:cs typeface="Tahoma"/>
              </a:defRPr>
            </a:pPr>
            <a:r>
              <a:rPr sz="1275" b="1">
                <a:solidFill>
                  <a:srgbClr val="C79A2B"/>
                </a:solidFill>
                <a:latin typeface="Tahoma"/>
                <a:ea typeface="Tahoma"/>
                <a:cs typeface="Tahoma"/>
              </a:rPr>
              <a:t>01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77EF36B-3657-4E4F-951C-B4EB09D7A4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1828800"/>
            <a:ext cx="2571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87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187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Admin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4F8E2A4-0AF0-4257-90EF-60BC114FBC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1866900"/>
            <a:ext cx="71056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42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ผู้ใช้ • สิทธิ์ • เกณฑ์ • รอบประเมิน • งาน • ลำดับผู้ประเมิน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1995954-DB52-4E85-BBBE-37F8201831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2381250"/>
            <a:ext cx="9867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905C437-2B61-4073-B473-54B6239967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00325"/>
            <a:ext cx="590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1">
                <a:solidFill>
                  <a:srgbClr val="008C86"/>
                </a:solidFill>
                <a:latin typeface="Tahoma"/>
                <a:ea typeface="Tahoma"/>
                <a:cs typeface="Tahoma"/>
              </a:defRPr>
            </a:pPr>
            <a:r>
              <a:rPr sz="1275" b="1">
                <a:solidFill>
                  <a:srgbClr val="008C86"/>
                </a:solidFill>
                <a:latin typeface="Tahoma"/>
                <a:ea typeface="Tahoma"/>
                <a:cs typeface="Tahoma"/>
              </a:rPr>
              <a:t>02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95CBBAD-43E5-46B3-AF8D-A95ADF97D0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2562225"/>
            <a:ext cx="2571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87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187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ผู้รับการประเมิน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96A6F61-968C-491A-9D10-3069F4DB4F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2600325"/>
            <a:ext cx="71056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42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กรอกข้อมูล • แนบหลักฐาน • บันทึกร่าง • ส่งแบบประเมิน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9969E35-68DE-43C9-BA62-161D07A34F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3114675"/>
            <a:ext cx="9867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B765420-3E94-4814-95BF-B018565CD4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33750"/>
            <a:ext cx="590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1">
                <a:solidFill>
                  <a:srgbClr val="008C86"/>
                </a:solidFill>
                <a:latin typeface="Tahoma"/>
                <a:ea typeface="Tahoma"/>
                <a:cs typeface="Tahoma"/>
              </a:defRPr>
            </a:pPr>
            <a:r>
              <a:rPr sz="1275" b="1">
                <a:solidFill>
                  <a:srgbClr val="008C86"/>
                </a:solidFill>
                <a:latin typeface="Tahoma"/>
                <a:ea typeface="Tahoma"/>
                <a:cs typeface="Tahoma"/>
              </a:rPr>
              <a:t>03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E03C8B9-3F57-447B-924E-C83CFCB172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3295650"/>
            <a:ext cx="2571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87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187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ผู้ประเมิน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6489DEE-A487-4BF3-8BC6-2ED1506135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3333750"/>
            <a:ext cx="71056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42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ตรวจข้อมูล • ให้คะแนนหรือความเห็น • ส่งต่องาน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A9DE2A7-B3ED-4728-8662-10286BAB80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3848100"/>
            <a:ext cx="9867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595AD9D-76EC-40BE-8469-963A75297F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67175"/>
            <a:ext cx="590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1">
                <a:solidFill>
                  <a:srgbClr val="008C86"/>
                </a:solidFill>
                <a:latin typeface="Tahoma"/>
                <a:ea typeface="Tahoma"/>
                <a:cs typeface="Tahoma"/>
              </a:defRPr>
            </a:pPr>
            <a:r>
              <a:rPr sz="1275" b="1">
                <a:solidFill>
                  <a:srgbClr val="008C86"/>
                </a:solidFill>
                <a:latin typeface="Tahoma"/>
                <a:ea typeface="Tahoma"/>
                <a:cs typeface="Tahoma"/>
              </a:rPr>
              <a:t>04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EE3E9CA-305C-40CD-9FE4-42079772CA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4029075"/>
            <a:ext cx="2571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87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187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กรรมการ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1821D04-6EF5-423B-9224-5421B387BA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4067175"/>
            <a:ext cx="71056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42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ตรวจและรับรองผลตามขั้นที่ได้รับมอบหมาย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3E2D018-D135-4F6E-B3B2-6E4E0C6EF9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4581525"/>
            <a:ext cx="9867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9DA3C86-1A66-4CE7-AA84-0A071DAF8F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00600"/>
            <a:ext cx="590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1">
                <a:solidFill>
                  <a:srgbClr val="008C86"/>
                </a:solidFill>
                <a:latin typeface="Tahoma"/>
                <a:ea typeface="Tahoma"/>
                <a:cs typeface="Tahoma"/>
              </a:defRPr>
            </a:pPr>
            <a:r>
              <a:rPr sz="1275" b="1">
                <a:solidFill>
                  <a:srgbClr val="008C86"/>
                </a:solidFill>
                <a:latin typeface="Tahoma"/>
                <a:ea typeface="Tahoma"/>
                <a:cs typeface="Tahoma"/>
              </a:rPr>
              <a:t>05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498EF86-833E-4111-9AEE-64D7ACE45B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4762500"/>
            <a:ext cx="2571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87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187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ผู้บริหาร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48D9A85-9F24-48B0-9CBB-7FC00342EC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4800600"/>
            <a:ext cx="71056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42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ตรวจหรือยืนยันตามลำดับ • ดูรายงานตามสิทธิ์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0A5F415-1A19-44FC-9E64-EA199E43EA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95950"/>
            <a:ext cx="10972800" cy="476250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E2F4F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6EC3A4A-0101-4F5D-BDCF-087FDF81EB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819775"/>
            <a:ext cx="105156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>
                <a:solidFill>
                  <a:srgbClr val="00615E"/>
                </a:solidFill>
                <a:latin typeface="Tahoma"/>
                <a:ea typeface="Tahoma"/>
                <a:cs typeface="Tahoma"/>
              </a:defRPr>
            </a:pPr>
            <a:r>
              <a:rPr sz="1500" b="1">
                <a:solidFill>
                  <a:srgbClr val="00615E"/>
                </a:solidFill>
                <a:latin typeface="Tahoma"/>
                <a:ea typeface="Tahoma"/>
                <a:cs typeface="Tahoma"/>
              </a:rPr>
              <a:t>แต่ละรอบอาจใช้ผู้ประเมินไม่ครบทุกบทบาท ให้ยึดลำดับที่ Admin กำหนด</a:t>
            </a:r>
          </a:p>
        </p:txBody>
      </p:sp>
      <p:sp>
        <p:nvSpPr>
          <p:cNvPr id="25" name="footer-rule-4">
            <a:extLst xmlns:a="http://schemas.openxmlformats.org/drawingml/2006/main">
              <a:ext uri="{FF2B5EF4-FFF2-40B4-BE49-F238E27FC236}">
                <a16:creationId xmlns:a16="http://schemas.microsoft.com/office/drawing/2014/main" id="{00D62966-E416-40F8-B12E-E6892C6ECE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484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footer-label-4">
            <a:extLst xmlns:a="http://schemas.openxmlformats.org/drawingml/2006/main">
              <a:ext uri="{FF2B5EF4-FFF2-40B4-BE49-F238E27FC236}">
                <a16:creationId xmlns:a16="http://schemas.microsoft.com/office/drawing/2014/main" id="{44DC2A84-E548-43DB-8546-1991BF03B7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53200"/>
            <a:ext cx="5238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97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MSU EVA  •  ภาคบ่าย สายสนับสนุน</a:t>
            </a:r>
          </a:p>
        </p:txBody>
      </p:sp>
      <p:sp>
        <p:nvSpPr>
          <p:cNvPr id="27" name="footer-page-4">
            <a:extLst xmlns:a="http://schemas.openxmlformats.org/drawingml/2006/main">
              <a:ext uri="{FF2B5EF4-FFF2-40B4-BE49-F238E27FC236}">
                <a16:creationId xmlns:a16="http://schemas.microsoft.com/office/drawing/2014/main" id="{4999D268-B2A5-4896-B496-6006E30614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553200"/>
            <a:ext cx="11049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75" b="1">
                <a:solidFill>
                  <a:srgbClr val="008C86"/>
                </a:solidFill>
                <a:latin typeface="Tahoma"/>
                <a:ea typeface="Tahoma"/>
                <a:cs typeface="Tahoma"/>
              </a:defRPr>
            </a:pPr>
            <a:r>
              <a:rPr sz="975" b="1">
                <a:solidFill>
                  <a:srgbClr val="008C86"/>
                </a:solidFill>
                <a:latin typeface="Tahoma"/>
                <a:ea typeface="Tahoma"/>
                <a:cs typeface="Tahoma"/>
              </a:rPr>
              <a:t>04 / 18</a:t>
            </a:r>
          </a:p>
        </p:txBody>
      </p:sp>
    </p:spTree>
    <p:extLst>
      <p:ext uri="{BB962C8B-B14F-4D97-AF65-F5344CB8AC3E}">
        <p14:creationId xmlns:p14="http://schemas.microsoft.com/office/powerpoint/2010/main" val="1884541903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1" name="side-accent-5">
            <a:extLst xmlns:a="http://schemas.openxmlformats.org/drawingml/2006/main">
              <a:ext uri="{FF2B5EF4-FFF2-40B4-BE49-F238E27FC236}">
                <a16:creationId xmlns:a16="http://schemas.microsoft.com/office/drawing/2014/main" id="{8EA7A6B6-641E-439F-831B-EB2875F3BF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C8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kicker-5">
            <a:extLst xmlns:a="http://schemas.openxmlformats.org/drawingml/2006/main">
              <a:ext uri="{FF2B5EF4-FFF2-40B4-BE49-F238E27FC236}">
                <a16:creationId xmlns:a16="http://schemas.microsoft.com/office/drawing/2014/main" id="{627C264B-E641-420B-A1C5-6D3C2E4C22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4953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008C86"/>
                </a:solidFill>
                <a:latin typeface="Tahoma"/>
                <a:ea typeface="Tahoma"/>
                <a:cs typeface="Tahoma"/>
              </a:defRPr>
            </a:pPr>
            <a:r>
              <a:rPr sz="1125" b="1">
                <a:solidFill>
                  <a:srgbClr val="008C86"/>
                </a:solidFill>
                <a:latin typeface="Tahoma"/>
                <a:ea typeface="Tahoma"/>
                <a:cs typeface="Tahoma"/>
              </a:rPr>
              <a:t>ภาพรวมกระบวนการ  /  สายสนับสนุน</a:t>
            </a:r>
          </a:p>
        </p:txBody>
      </p:sp>
      <p:sp>
        <p:nvSpPr>
          <p:cNvPr id="3" name="title-5">
            <a:extLst xmlns:a="http://schemas.openxmlformats.org/drawingml/2006/main">
              <a:ext uri="{FF2B5EF4-FFF2-40B4-BE49-F238E27FC236}">
                <a16:creationId xmlns:a16="http://schemas.microsoft.com/office/drawing/2014/main" id="{28F37DB7-D637-4165-8DAB-A6204B5AB2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668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307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307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มาดูขั้นตอนทั้งหมดก่อนเริ่มกรอกข้อมูล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155FC74-02E2-489A-A3FF-A084CEC05C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09750"/>
            <a:ext cx="10287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7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57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ตั้งแต่เลือกกิจกรรม กรอกผล ตรวจคะแนน จนถึงผู้ประเมินคนสุดท้าย</a:t>
            </a:r>
          </a:p>
        </p:txBody>
      </p:sp>
      <p:sp>
        <p:nvSpPr>
          <p:cNvPr id="5" name="workflow-line">
            <a:extLst xmlns:a="http://schemas.openxmlformats.org/drawingml/2006/main">
              <a:ext uri="{FF2B5EF4-FFF2-40B4-BE49-F238E27FC236}">
                <a16:creationId xmlns:a16="http://schemas.microsoft.com/office/drawing/2014/main" id="{19777EE4-62D6-4684-B68D-9C1358AFB6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3457575"/>
            <a:ext cx="86677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workflow-arrow">
            <a:extLst xmlns:a="http://schemas.openxmlformats.org/drawingml/2006/main">
              <a:ext uri="{FF2B5EF4-FFF2-40B4-BE49-F238E27FC236}">
                <a16:creationId xmlns:a16="http://schemas.microsoft.com/office/drawing/2014/main" id="{0022651F-48DC-43CC-A54B-52378DB206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63150" y="3343275"/>
            <a:ext cx="457200" cy="2667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D8E0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073CF55-7604-4A22-B0DE-84135DE863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105150"/>
            <a:ext cx="742950" cy="7429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8C8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A53AE18-AE41-4CC4-BCB8-219CFDE372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305175"/>
            <a:ext cx="7429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75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1575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01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572D91A-D9BB-421E-A488-5DDECC145C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095750"/>
            <a:ext cx="14668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87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187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รับงาน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AFA824A-EBBA-4555-A57A-960060EBE2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4591050"/>
            <a:ext cx="16573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350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350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ตรวจรอบและรายการ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533807C-33E9-4498-8162-044724B4FD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9900" y="3105150"/>
            <a:ext cx="742950" cy="7429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8C8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92A8576-5E29-45D1-8F75-6316D26986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9900" y="3305175"/>
            <a:ext cx="7429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75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1575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02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6A7C876-D603-4B1C-B6E4-0F5EA781B2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47950" y="4095750"/>
            <a:ext cx="14668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87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187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กรอกข้อมูล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FF6A7B0-D5A9-485E-8DB0-86E38EC9E6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52700" y="4591050"/>
            <a:ext cx="16573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350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350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กิจกรรม • ตัวชี้วัด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0100418-63EE-4087-9769-49C9EAAF15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3105150"/>
            <a:ext cx="742950" cy="7429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8C8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1DF6B8F-D856-4736-96F1-6593AFB41C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3305175"/>
            <a:ext cx="7429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75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1575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03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7C07F08-B40A-4B24-9008-21A929FB37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4095750"/>
            <a:ext cx="14668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87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187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ตรวจความพร้อม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0D5E2C8-7753-4B7B-9FCE-131469C5A1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4591050"/>
            <a:ext cx="16573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350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350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ข้อมูล • หลักฐาน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B156925-EA0C-4546-BD49-B1A02DB1BB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7100" y="3105150"/>
            <a:ext cx="742950" cy="7429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8C8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2016007-6732-4F78-A84F-74E12AEF75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7100" y="3305175"/>
            <a:ext cx="7429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75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1575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04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4B9EFCE-EAEA-443A-84E2-E0B54A7AE7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15150" y="4095750"/>
            <a:ext cx="14668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87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187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ส่งแบบประเมิน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1B323EC-0B9A-430C-8EE8-D7EFADFE6E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4591050"/>
            <a:ext cx="16573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350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350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เข้าสู่ลำดับผู้ประเมิน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C27E341-E18D-462B-B9E3-9054530FBE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0700" y="3105150"/>
            <a:ext cx="742950" cy="7429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79A2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5B0DC59-5232-4856-BF36-7C2ED496D6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0700" y="3305175"/>
            <a:ext cx="7429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75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1575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05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44F5B00-7B8E-46C4-8F77-597437EC0D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4095750"/>
            <a:ext cx="14668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87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187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ปิดงาน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67C9E876-9095-4113-B7E4-CC941502F1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4591050"/>
            <a:ext cx="16573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350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350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สถานะ Completed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79A97088-B35F-4C69-837E-2C3FE34CAF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38800"/>
            <a:ext cx="7429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00" b="1">
                <a:solidFill>
                  <a:srgbClr val="00615E"/>
                </a:solidFill>
                <a:latin typeface="Tahoma"/>
                <a:ea typeface="Tahoma"/>
                <a:cs typeface="Tahoma"/>
              </a:defRPr>
            </a:pPr>
            <a:r>
              <a:rPr sz="1500" b="1">
                <a:solidFill>
                  <a:srgbClr val="00615E"/>
                </a:solidFill>
                <a:latin typeface="Tahoma"/>
                <a:ea typeface="Tahoma"/>
                <a:cs typeface="Tahoma"/>
              </a:rPr>
              <a:t>งานเดินตามลำดับผู้ประเมินที่ผู้ดูแลระบบกำหนด</a:t>
            </a:r>
          </a:p>
        </p:txBody>
      </p:sp>
      <p:sp>
        <p:nvSpPr>
          <p:cNvPr id="28" name="footer-rule-5">
            <a:extLst xmlns:a="http://schemas.openxmlformats.org/drawingml/2006/main">
              <a:ext uri="{FF2B5EF4-FFF2-40B4-BE49-F238E27FC236}">
                <a16:creationId xmlns:a16="http://schemas.microsoft.com/office/drawing/2014/main" id="{370FBF1D-EF19-400B-8560-53921914BA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484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footer-label-5">
            <a:extLst xmlns:a="http://schemas.openxmlformats.org/drawingml/2006/main">
              <a:ext uri="{FF2B5EF4-FFF2-40B4-BE49-F238E27FC236}">
                <a16:creationId xmlns:a16="http://schemas.microsoft.com/office/drawing/2014/main" id="{F45394DA-82E1-48F3-BBCF-BA5C1356EF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53200"/>
            <a:ext cx="5238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97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MSU EVA  •  ภาคบ่าย สายสนับสนุน</a:t>
            </a:r>
          </a:p>
        </p:txBody>
      </p:sp>
      <p:sp>
        <p:nvSpPr>
          <p:cNvPr id="30" name="footer-page-5">
            <a:extLst xmlns:a="http://schemas.openxmlformats.org/drawingml/2006/main">
              <a:ext uri="{FF2B5EF4-FFF2-40B4-BE49-F238E27FC236}">
                <a16:creationId xmlns:a16="http://schemas.microsoft.com/office/drawing/2014/main" id="{F37C697B-6083-47B8-843B-58063D05D2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553200"/>
            <a:ext cx="11049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75" b="1">
                <a:solidFill>
                  <a:srgbClr val="008C86"/>
                </a:solidFill>
                <a:latin typeface="Tahoma"/>
                <a:ea typeface="Tahoma"/>
                <a:cs typeface="Tahoma"/>
              </a:defRPr>
            </a:pPr>
            <a:r>
              <a:rPr sz="975" b="1">
                <a:solidFill>
                  <a:srgbClr val="008C86"/>
                </a:solidFill>
                <a:latin typeface="Tahoma"/>
                <a:ea typeface="Tahoma"/>
                <a:cs typeface="Tahoma"/>
              </a:rPr>
              <a:t>05 / 18</a:t>
            </a:r>
          </a:p>
        </p:txBody>
      </p:sp>
    </p:spTree>
    <p:extLst>
      <p:ext uri="{BB962C8B-B14F-4D97-AF65-F5344CB8AC3E}">
        <p14:creationId xmlns:p14="http://schemas.microsoft.com/office/powerpoint/2010/main" val="1000659268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side-accent-6">
            <a:extLst xmlns:a="http://schemas.openxmlformats.org/drawingml/2006/main">
              <a:ext uri="{FF2B5EF4-FFF2-40B4-BE49-F238E27FC236}">
                <a16:creationId xmlns:a16="http://schemas.microsoft.com/office/drawing/2014/main" id="{458C03D4-1899-45CF-8267-FCA0325897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C8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kicker-6">
            <a:extLst xmlns:a="http://schemas.openxmlformats.org/drawingml/2006/main">
              <a:ext uri="{FF2B5EF4-FFF2-40B4-BE49-F238E27FC236}">
                <a16:creationId xmlns:a16="http://schemas.microsoft.com/office/drawing/2014/main" id="{7D40E29E-7F5B-432F-878A-76B2377F72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4953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008C86"/>
                </a:solidFill>
                <a:latin typeface="Tahoma"/>
                <a:ea typeface="Tahoma"/>
                <a:cs typeface="Tahoma"/>
              </a:defRPr>
            </a:pPr>
            <a:r>
              <a:rPr sz="1125" b="1">
                <a:solidFill>
                  <a:srgbClr val="008C86"/>
                </a:solidFill>
                <a:latin typeface="Tahoma"/>
                <a:ea typeface="Tahoma"/>
                <a:cs typeface="Tahoma"/>
              </a:rPr>
              <a:t>บทบาทของคุณ  /  สายสนับสนุน</a:t>
            </a:r>
          </a:p>
        </p:txBody>
      </p:sp>
      <p:sp>
        <p:nvSpPr>
          <p:cNvPr id="3" name="title-6">
            <a:extLst xmlns:a="http://schemas.openxmlformats.org/drawingml/2006/main">
              <a:ext uri="{FF2B5EF4-FFF2-40B4-BE49-F238E27FC236}">
                <a16:creationId xmlns:a16="http://schemas.microsoft.com/office/drawing/2014/main" id="{4ABE1EE7-F998-4261-B1F2-51AE96E39D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668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307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307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กรอกผลการดำเนินงานให้ครบ แล้วส่งให้ผู้ประเมิน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8B1D94A-F716-4494-BA4C-A74722A84F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47850"/>
            <a:ext cx="6096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>
                <a:solidFill>
                  <a:srgbClr val="23384D"/>
                </a:solidFill>
                <a:latin typeface="Tahoma"/>
                <a:ea typeface="Tahoma"/>
                <a:cs typeface="Tahoma"/>
              </a:defRPr>
            </a:pPr>
            <a:r>
              <a:rPr sz="1875" b="0">
                <a:solidFill>
                  <a:srgbClr val="23384D"/>
                </a:solidFill>
                <a:latin typeface="Tahoma"/>
                <a:ea typeface="Tahoma"/>
                <a:cs typeface="Tahoma"/>
              </a:rPr>
              <a:t>คุณเป็นเจ้าของข้อมูลผลกิจกรรมในขั้นแรก คะแนนที่น่าเชื่อถือต้องมีรายละเอียดและหลักฐานรองรับ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D7FF43E-FDE2-46E8-9F86-10CA65B77E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105150"/>
            <a:ext cx="7239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008C86"/>
                </a:solidFill>
                <a:latin typeface="Tahoma"/>
                <a:ea typeface="Tahoma"/>
                <a:cs typeface="Tahoma"/>
              </a:defRPr>
            </a:pPr>
            <a:r>
              <a:rPr sz="1350" b="1">
                <a:solidFill>
                  <a:srgbClr val="008C86"/>
                </a:solidFill>
                <a:latin typeface="Tahoma"/>
                <a:ea typeface="Tahoma"/>
                <a:cs typeface="Tahoma"/>
              </a:rPr>
              <a:t>01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CEE84B3-1170-4D00-ACED-063F5FDF88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38550"/>
            <a:ext cx="30289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32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232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เตรียม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E3F21EE-F125-444D-9E75-0278046721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0"/>
            <a:ext cx="30289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C8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B8B7D63-09BD-4365-8AA9-B35C628CB1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76750"/>
            <a:ext cx="30289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650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กิจกรรม ผลที่ทำได้</a:t>
            </a:r>
          </a:p>
          <a:p xmlns:a="http://schemas.openxmlformats.org/drawingml/2006/main">
            <a:pPr algn="l">
              <a:lnSpc>
                <a:spcPct val="110000"/>
              </a:lnSpc>
              <a:buNone/>
              <a:defRPr sz="1650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650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และรายละเอียดประกอบ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4A2EEE7-39CB-4666-8D81-6FB24DFEB2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8150" y="3105150"/>
            <a:ext cx="7239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008C86"/>
                </a:solidFill>
                <a:latin typeface="Tahoma"/>
                <a:ea typeface="Tahoma"/>
                <a:cs typeface="Tahoma"/>
              </a:defRPr>
            </a:pPr>
            <a:r>
              <a:rPr sz="1350" b="1">
                <a:solidFill>
                  <a:srgbClr val="008C86"/>
                </a:solidFill>
                <a:latin typeface="Tahoma"/>
                <a:ea typeface="Tahoma"/>
                <a:cs typeface="Tahoma"/>
              </a:rPr>
              <a:t>02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422E4A8-7F3E-4EE8-9CE5-EC5ED4FA0D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8150" y="3638550"/>
            <a:ext cx="30289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32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232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ตรวจ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F4E8181-E4AE-4650-941C-FC65CCB725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8150" y="4191000"/>
            <a:ext cx="30289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C8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6501293-483E-47D8-B565-DBA3A46022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8150" y="4476750"/>
            <a:ext cx="30289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650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ค่าที่กรอก สูตรคำนวณ</a:t>
            </a:r>
          </a:p>
          <a:p xmlns:a="http://schemas.openxmlformats.org/drawingml/2006/main">
            <a:pPr algn="l">
              <a:lnSpc>
                <a:spcPct val="110000"/>
              </a:lnSpc>
              <a:buNone/>
              <a:defRPr sz="1650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650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และลิงก์หลักฐาน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1D11419-C4D6-4BAE-875B-E3BCE7DB43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3105150"/>
            <a:ext cx="7239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008C86"/>
                </a:solidFill>
                <a:latin typeface="Tahoma"/>
                <a:ea typeface="Tahoma"/>
                <a:cs typeface="Tahoma"/>
              </a:defRPr>
            </a:pPr>
            <a:r>
              <a:rPr sz="1350" b="1">
                <a:solidFill>
                  <a:srgbClr val="008C86"/>
                </a:solidFill>
                <a:latin typeface="Tahoma"/>
                <a:ea typeface="Tahoma"/>
                <a:cs typeface="Tahoma"/>
              </a:rPr>
              <a:t>03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AA86058-F8C0-4EF4-B175-2B61E085BF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3638550"/>
            <a:ext cx="30289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32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232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ตัดสินใจ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C498936-B758-40A8-B22A-4D0741D968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4191000"/>
            <a:ext cx="30289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79A2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9D25F2D-FE03-41DD-AC31-42ABF509A8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4476750"/>
            <a:ext cx="30289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650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บันทึกร่าง</a:t>
            </a:r>
          </a:p>
          <a:p xmlns:a="http://schemas.openxmlformats.org/drawingml/2006/main">
            <a:pPr algn="l">
              <a:lnSpc>
                <a:spcPct val="110000"/>
              </a:lnSpc>
              <a:buNone/>
              <a:defRPr sz="1650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650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หรือส่งแบบประเมิน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61E5FB0-440B-483B-ADBC-34FC1D4F0E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1866900"/>
            <a:ext cx="3009900" cy="781050"/>
          </a:xfrm>
          <a:prstGeom xmlns:a="http://schemas.openxmlformats.org/drawingml/2006/main" prst="roundRect">
            <a:avLst>
              <a:gd name="adj" fmla="val 9756"/>
            </a:avLst>
          </a:prstGeom>
          <a:solidFill xmlns:a="http://schemas.openxmlformats.org/drawingml/2006/main">
            <a:srgbClr val="E2F4F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6B00F28-F9E8-4EA4-A585-365FC7270C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1990725"/>
            <a:ext cx="2476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725" b="1">
                <a:solidFill>
                  <a:srgbClr val="00615E"/>
                </a:solidFill>
                <a:latin typeface="Tahoma"/>
                <a:ea typeface="Tahoma"/>
                <a:cs typeface="Tahoma"/>
              </a:defRPr>
            </a:pPr>
            <a:r>
              <a:rPr sz="1725" b="1">
                <a:solidFill>
                  <a:srgbClr val="00615E"/>
                </a:solidFill>
                <a:latin typeface="Tahoma"/>
                <a:ea typeface="Tahoma"/>
                <a:cs typeface="Tahoma"/>
              </a:rPr>
              <a:t>ผู้ประเมินคนสุดท้าย</a:t>
            </a:r>
          </a:p>
          <a:p xmlns:a="http://schemas.openxmlformats.org/drawingml/2006/main">
            <a:pPr algn="ctr">
              <a:lnSpc>
                <a:spcPct val="100000"/>
              </a:lnSpc>
              <a:buNone/>
              <a:defRPr sz="1725" b="1">
                <a:solidFill>
                  <a:srgbClr val="00615E"/>
                </a:solidFill>
                <a:latin typeface="Tahoma"/>
                <a:ea typeface="Tahoma"/>
                <a:cs typeface="Tahoma"/>
              </a:defRPr>
            </a:pPr>
            <a:r>
              <a:rPr sz="1725" b="1">
                <a:solidFill>
                  <a:srgbClr val="00615E"/>
                </a:solidFill>
                <a:latin typeface="Tahoma"/>
                <a:ea typeface="Tahoma"/>
                <a:cs typeface="Tahoma"/>
              </a:rPr>
              <a:t>เป็นผู้ปิดงาน</a:t>
            </a:r>
          </a:p>
        </p:txBody>
      </p:sp>
      <p:sp>
        <p:nvSpPr>
          <p:cNvPr id="19" name="footer-rule-6">
            <a:extLst xmlns:a="http://schemas.openxmlformats.org/drawingml/2006/main">
              <a:ext uri="{FF2B5EF4-FFF2-40B4-BE49-F238E27FC236}">
                <a16:creationId xmlns:a16="http://schemas.microsoft.com/office/drawing/2014/main" id="{092104D4-67D0-4714-A32C-B2A56F5DAD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484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footer-label-6">
            <a:extLst xmlns:a="http://schemas.openxmlformats.org/drawingml/2006/main">
              <a:ext uri="{FF2B5EF4-FFF2-40B4-BE49-F238E27FC236}">
                <a16:creationId xmlns:a16="http://schemas.microsoft.com/office/drawing/2014/main" id="{7858B04A-2726-4C8B-AE35-06384D2766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53200"/>
            <a:ext cx="5238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97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MSU EVA  •  ภาคบ่าย สายสนับสนุน</a:t>
            </a:r>
          </a:p>
        </p:txBody>
      </p:sp>
      <p:sp>
        <p:nvSpPr>
          <p:cNvPr id="21" name="footer-page-6">
            <a:extLst xmlns:a="http://schemas.openxmlformats.org/drawingml/2006/main">
              <a:ext uri="{FF2B5EF4-FFF2-40B4-BE49-F238E27FC236}">
                <a16:creationId xmlns:a16="http://schemas.microsoft.com/office/drawing/2014/main" id="{B23AB426-4073-498B-87EF-494BFCC24B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553200"/>
            <a:ext cx="11049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75" b="1">
                <a:solidFill>
                  <a:srgbClr val="008C86"/>
                </a:solidFill>
                <a:latin typeface="Tahoma"/>
                <a:ea typeface="Tahoma"/>
                <a:cs typeface="Tahoma"/>
              </a:defRPr>
            </a:pPr>
            <a:r>
              <a:rPr sz="975" b="1">
                <a:solidFill>
                  <a:srgbClr val="008C86"/>
                </a:solidFill>
                <a:latin typeface="Tahoma"/>
                <a:ea typeface="Tahoma"/>
                <a:cs typeface="Tahoma"/>
              </a:rPr>
              <a:t>06 / 18</a:t>
            </a:r>
          </a:p>
        </p:txBody>
      </p:sp>
    </p:spTree>
    <p:extLst>
      <p:ext uri="{BB962C8B-B14F-4D97-AF65-F5344CB8AC3E}">
        <p14:creationId xmlns:p14="http://schemas.microsoft.com/office/powerpoint/2010/main" val="1268567040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" name="side-accent-7">
            <a:extLst xmlns:a="http://schemas.openxmlformats.org/drawingml/2006/main">
              <a:ext uri="{FF2B5EF4-FFF2-40B4-BE49-F238E27FC236}">
                <a16:creationId xmlns:a16="http://schemas.microsoft.com/office/drawing/2014/main" id="{812B978E-41D6-4B12-8C1A-3C1A93E475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C8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kicker-7">
            <a:extLst xmlns:a="http://schemas.openxmlformats.org/drawingml/2006/main">
              <a:ext uri="{FF2B5EF4-FFF2-40B4-BE49-F238E27FC236}">
                <a16:creationId xmlns:a16="http://schemas.microsoft.com/office/drawing/2014/main" id="{3010FA3F-A6FD-43EE-B069-253BC7EA3D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4953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008C86"/>
                </a:solidFill>
                <a:latin typeface="Tahoma"/>
                <a:ea typeface="Tahoma"/>
                <a:cs typeface="Tahoma"/>
              </a:defRPr>
            </a:pPr>
            <a:r>
              <a:rPr sz="1125" b="1">
                <a:solidFill>
                  <a:srgbClr val="008C86"/>
                </a:solidFill>
                <a:latin typeface="Tahoma"/>
                <a:ea typeface="Tahoma"/>
                <a:cs typeface="Tahoma"/>
              </a:rPr>
              <a:t>จุดเริ่มต้น  /  สายสนับสนุน</a:t>
            </a:r>
          </a:p>
        </p:txBody>
      </p:sp>
      <p:sp>
        <p:nvSpPr>
          <p:cNvPr id="3" name="title-7">
            <a:extLst xmlns:a="http://schemas.openxmlformats.org/drawingml/2006/main">
              <a:ext uri="{FF2B5EF4-FFF2-40B4-BE49-F238E27FC236}">
                <a16:creationId xmlns:a16="http://schemas.microsoft.com/office/drawing/2014/main" id="{D4D5F690-7959-4908-805C-1BF9FF21B1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668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307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307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ตรวจสอบรอบประเมินและรายการที่ได้รับมอบหมาย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16CDC48-FAC0-4E75-BE5E-133FEDFC53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47850"/>
            <a:ext cx="5334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800" b="1">
                <a:solidFill>
                  <a:srgbClr val="00615E"/>
                </a:solidFill>
                <a:latin typeface="Tahoma"/>
                <a:ea typeface="Tahoma"/>
                <a:cs typeface="Tahoma"/>
              </a:defRPr>
            </a:pPr>
            <a:r>
              <a:rPr sz="1800" b="1">
                <a:solidFill>
                  <a:srgbClr val="00615E"/>
                </a:solidFill>
                <a:latin typeface="Tahoma"/>
                <a:ea typeface="Tahoma"/>
                <a:cs typeface="Tahoma"/>
              </a:rPr>
              <a:t>ก่อนเปิดงาน ให้ตรวจ 3 อย่างนี้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F642726-686A-4B5E-A7F1-FC5D01FE45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0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8C8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D37511F-60A8-4B39-A75D-33B91F0F62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33675"/>
            <a:ext cx="457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800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1800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✓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AFE91B4-A75F-4B05-B5AD-2D393E0AD7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2628900"/>
            <a:ext cx="2381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02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202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รอบประเมิน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4EE77B5-CA5B-4F3B-BFC2-4D24B1B917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8100" y="2667000"/>
            <a:ext cx="447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650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650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ผู้ดูแลระบบกำหนดไว้ถูกต้อง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90617E8-E625-4D78-9F4A-58DE79CC88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33800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8C8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99F7DE6-F703-43DE-A8CB-E3DB6A297A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00475"/>
            <a:ext cx="457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800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1800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✓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326D429-3035-4C48-9980-ADF47F9784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3695700"/>
            <a:ext cx="2381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02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202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รายการงาน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E1B231F-6F02-44C9-8298-8925487CD7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8100" y="3733800"/>
            <a:ext cx="447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650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650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เป็นงานของคุณและตรงประเภท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A9208AA-F19B-4BE2-BEEE-1952E3ACA3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00600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79A2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3BCCE20-3656-412F-B632-0B7346EFD7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67275"/>
            <a:ext cx="457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800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1800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✓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BEB18F3-0F97-4684-BFBE-3206C8E872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4762500"/>
            <a:ext cx="2381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02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202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สถานะ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AC5CC0F-FD51-45C0-B506-DE59610B7F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8100" y="4800600"/>
            <a:ext cx="447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650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650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ยังอยู่ในขั้นที่คุณดำเนินการได้</a:t>
            </a:r>
          </a:p>
        </p:txBody>
      </p:sp>
      <p:sp>
        <p:nvSpPr>
          <p:cNvPr id="17" name="dashboard-preview">
            <a:extLst xmlns:a="http://schemas.openxmlformats.org/drawingml/2006/main">
              <a:ext uri="{FF2B5EF4-FFF2-40B4-BE49-F238E27FC236}">
                <a16:creationId xmlns:a16="http://schemas.microsoft.com/office/drawing/2014/main" id="{72263329-F431-4ACC-AC9A-687E63DE8A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2209800"/>
            <a:ext cx="3124200" cy="3352800"/>
          </a:xfrm>
          <a:prstGeom xmlns:a="http://schemas.openxmlformats.org/drawingml/2006/main" prst="roundRect">
            <a:avLst>
              <a:gd name="adj" fmla="val 243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7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9DB885F-BFD3-47AA-A36B-A7513AD0BC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2495550"/>
            <a:ext cx="25146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950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1950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แดชบอร์ดของฉัน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7533D88-6C3F-4686-BE2B-B03D98BC78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3105150"/>
            <a:ext cx="25146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F4F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6184D17-ACF2-459E-A4BA-DFB93D4D3C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4450" y="3209925"/>
            <a:ext cx="21717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1">
                <a:solidFill>
                  <a:srgbClr val="00615E"/>
                </a:solidFill>
                <a:latin typeface="Tahoma"/>
                <a:ea typeface="Tahoma"/>
                <a:cs typeface="Tahoma"/>
              </a:defRPr>
            </a:pPr>
            <a:r>
              <a:rPr sz="1275" b="1">
                <a:solidFill>
                  <a:srgbClr val="00615E"/>
                </a:solidFill>
                <a:latin typeface="Tahoma"/>
                <a:ea typeface="Tahoma"/>
                <a:cs typeface="Tahoma"/>
              </a:rPr>
              <a:t>สายสนับสนุน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CFD0697-60C3-47E9-B9C4-AD149D8C6F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3752850"/>
            <a:ext cx="19431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047A72D-8635-4843-A271-B069E46F4E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4114800"/>
            <a:ext cx="226695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7B4E876-E5CB-4BCF-9707-6AE905924C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4705350"/>
            <a:ext cx="1543050" cy="476250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008C8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58D0CB9-1EC8-486C-AC44-542CAAB167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4829175"/>
            <a:ext cx="15430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350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1350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เปิดรายการ</a:t>
            </a:r>
          </a:p>
        </p:txBody>
      </p:sp>
      <p:sp>
        <p:nvSpPr>
          <p:cNvPr id="25" name="footer-rule-7">
            <a:extLst xmlns:a="http://schemas.openxmlformats.org/drawingml/2006/main">
              <a:ext uri="{FF2B5EF4-FFF2-40B4-BE49-F238E27FC236}">
                <a16:creationId xmlns:a16="http://schemas.microsoft.com/office/drawing/2014/main" id="{6BECE940-7732-4E07-B7C0-F42559FD81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484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footer-label-7">
            <a:extLst xmlns:a="http://schemas.openxmlformats.org/drawingml/2006/main">
              <a:ext uri="{FF2B5EF4-FFF2-40B4-BE49-F238E27FC236}">
                <a16:creationId xmlns:a16="http://schemas.microsoft.com/office/drawing/2014/main" id="{5692868C-C9DB-4EDD-9DE8-75EA85E288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53200"/>
            <a:ext cx="5238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97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MSU EVA  •  ภาคบ่าย สายสนับสนุน</a:t>
            </a:r>
          </a:p>
        </p:txBody>
      </p:sp>
      <p:sp>
        <p:nvSpPr>
          <p:cNvPr id="27" name="footer-page-7">
            <a:extLst xmlns:a="http://schemas.openxmlformats.org/drawingml/2006/main">
              <a:ext uri="{FF2B5EF4-FFF2-40B4-BE49-F238E27FC236}">
                <a16:creationId xmlns:a16="http://schemas.microsoft.com/office/drawing/2014/main" id="{D36F4495-6156-4FC1-ADFF-41B2506457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553200"/>
            <a:ext cx="11049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75" b="1">
                <a:solidFill>
                  <a:srgbClr val="008C86"/>
                </a:solidFill>
                <a:latin typeface="Tahoma"/>
                <a:ea typeface="Tahoma"/>
                <a:cs typeface="Tahoma"/>
              </a:defRPr>
            </a:pPr>
            <a:r>
              <a:rPr sz="975" b="1">
                <a:solidFill>
                  <a:srgbClr val="008C86"/>
                </a:solidFill>
                <a:latin typeface="Tahoma"/>
                <a:ea typeface="Tahoma"/>
                <a:cs typeface="Tahoma"/>
              </a:rPr>
              <a:t>07 / 18</a:t>
            </a:r>
          </a:p>
        </p:txBody>
      </p:sp>
    </p:spTree>
    <p:extLst>
      <p:ext uri="{BB962C8B-B14F-4D97-AF65-F5344CB8AC3E}">
        <p14:creationId xmlns:p14="http://schemas.microsoft.com/office/powerpoint/2010/main" val="1044932252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side-accent-8">
            <a:extLst xmlns:a="http://schemas.openxmlformats.org/drawingml/2006/main">
              <a:ext uri="{FF2B5EF4-FFF2-40B4-BE49-F238E27FC236}">
                <a16:creationId xmlns:a16="http://schemas.microsoft.com/office/drawing/2014/main" id="{63EB4A12-0E43-4E18-B0D9-CDC53DEBE0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C8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kicker-8">
            <a:extLst xmlns:a="http://schemas.openxmlformats.org/drawingml/2006/main">
              <a:ext uri="{FF2B5EF4-FFF2-40B4-BE49-F238E27FC236}">
                <a16:creationId xmlns:a16="http://schemas.microsoft.com/office/drawing/2014/main" id="{A27E46E9-F124-464B-9F70-CCBCA1A0F5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4953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008C86"/>
                </a:solidFill>
                <a:latin typeface="Tahoma"/>
                <a:ea typeface="Tahoma"/>
                <a:cs typeface="Tahoma"/>
              </a:defRPr>
            </a:pPr>
            <a:r>
              <a:rPr sz="1125" b="1">
                <a:solidFill>
                  <a:srgbClr val="008C86"/>
                </a:solidFill>
                <a:latin typeface="Tahoma"/>
                <a:ea typeface="Tahoma"/>
                <a:cs typeface="Tahoma"/>
              </a:rPr>
              <a:t>โครงสร้างข้อมูล  /  สายสนับสนุน</a:t>
            </a:r>
          </a:p>
        </p:txBody>
      </p:sp>
      <p:sp>
        <p:nvSpPr>
          <p:cNvPr id="3" name="title-8">
            <a:extLst xmlns:a="http://schemas.openxmlformats.org/drawingml/2006/main">
              <a:ext uri="{FF2B5EF4-FFF2-40B4-BE49-F238E27FC236}">
                <a16:creationId xmlns:a16="http://schemas.microsoft.com/office/drawing/2014/main" id="{3A0D98A4-919E-4D0F-80A9-16A3A5C1B5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668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307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307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ตรวจให้แน่ใจว่าโครงการ กิจกรรม ตัวชี้วัด และหลักฐานตรงกัน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235ADEE-4AD5-4DC5-9068-5576F3E77F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09750"/>
            <a:ext cx="6858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72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72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ตรวจความเชื่อมโยงของข้อมูลทุกส่วน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2D1D012-4B9B-46CB-97BB-C30E25C3A0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3505200"/>
            <a:ext cx="76962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07B52AF-1ED1-459B-8373-D045E0B858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3009900"/>
            <a:ext cx="1028700" cy="1028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8C8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AC9D0BA-834B-4515-8BA6-078D4B149E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3295650"/>
            <a:ext cx="10287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250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2250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F031BCB-11A0-4B16-88AA-4ECAFE5D58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305300"/>
            <a:ext cx="25908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02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202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โครงการ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18B7A68-15DA-41DE-BCAA-7C05FB03A2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800600"/>
            <a:ext cx="25146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42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42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บริบทและเป้าหมาย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16F5ED2-1059-43FD-8BD0-149A447FF7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3009900"/>
            <a:ext cx="1028700" cy="1028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8C8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C6E045A-E3B3-4EAD-A6C6-A11435374E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3295650"/>
            <a:ext cx="10287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250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2250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2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D03990B-6344-456E-BF88-4205FC96F6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4305300"/>
            <a:ext cx="25908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02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202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กิจกรรม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C04E089-6E9D-4BCB-B507-7B6787FA4D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4800600"/>
            <a:ext cx="25146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42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42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งานที่ดำเนินการ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7DE2A78-0D2C-4C6F-8D5E-95F3A3863A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3009900"/>
            <a:ext cx="1028700" cy="1028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8C8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B9E36AB-061B-4A2C-9AFA-16BA0C065D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3295650"/>
            <a:ext cx="10287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250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2250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3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B673983-AAE6-445D-B532-91036C96CD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4305300"/>
            <a:ext cx="25908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02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202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ตัวชี้วัด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7293F5B-AE10-447B-9700-6989F549A2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4800600"/>
            <a:ext cx="25146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42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42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เกณฑ์ที่ใช้วัดผล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294E209-35CD-4C78-B41F-BF0751305C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72700" y="3009900"/>
            <a:ext cx="1028700" cy="1028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79A2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E7017A0-F2EC-418B-B524-3513A1CD5E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72700" y="3295650"/>
            <a:ext cx="10287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250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2250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4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7DCBA6F-4BFA-4CE3-8294-B72EDA6683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4305300"/>
            <a:ext cx="25908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02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202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หลักฐาน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75C73DD-6D04-4DE8-B75C-8F7E144B44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4800600"/>
            <a:ext cx="25146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42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42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สิ่งที่ยืนยันผล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3A75F90-5EB1-44A7-ADFB-79C359F45D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29300"/>
            <a:ext cx="10477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00" b="1">
                <a:solidFill>
                  <a:srgbClr val="00615E"/>
                </a:solidFill>
                <a:latin typeface="Tahoma"/>
                <a:ea typeface="Tahoma"/>
                <a:cs typeface="Tahoma"/>
              </a:defRPr>
            </a:pPr>
            <a:r>
              <a:rPr sz="1500" b="1">
                <a:solidFill>
                  <a:srgbClr val="00615E"/>
                </a:solidFill>
                <a:latin typeface="Tahoma"/>
                <a:ea typeface="Tahoma"/>
                <a:cs typeface="Tahoma"/>
              </a:rPr>
              <a:t>ทุกคะแนนต้องย้อนกลับไปอธิบายได้ว่าเกิดจากกิจกรรมใด</a:t>
            </a:r>
          </a:p>
        </p:txBody>
      </p:sp>
      <p:sp>
        <p:nvSpPr>
          <p:cNvPr id="23" name="footer-rule-8">
            <a:extLst xmlns:a="http://schemas.openxmlformats.org/drawingml/2006/main">
              <a:ext uri="{FF2B5EF4-FFF2-40B4-BE49-F238E27FC236}">
                <a16:creationId xmlns:a16="http://schemas.microsoft.com/office/drawing/2014/main" id="{B0DFD39E-A409-4EA9-975D-96C807237E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484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footer-label-8">
            <a:extLst xmlns:a="http://schemas.openxmlformats.org/drawingml/2006/main">
              <a:ext uri="{FF2B5EF4-FFF2-40B4-BE49-F238E27FC236}">
                <a16:creationId xmlns:a16="http://schemas.microsoft.com/office/drawing/2014/main" id="{DC6A77FD-4C16-4D49-AAF1-2E6EC1CAB7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53200"/>
            <a:ext cx="5238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97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MSU EVA  •  ภาคบ่าย สายสนับสนุน</a:t>
            </a:r>
          </a:p>
        </p:txBody>
      </p:sp>
      <p:sp>
        <p:nvSpPr>
          <p:cNvPr id="25" name="footer-page-8">
            <a:extLst xmlns:a="http://schemas.openxmlformats.org/drawingml/2006/main">
              <a:ext uri="{FF2B5EF4-FFF2-40B4-BE49-F238E27FC236}">
                <a16:creationId xmlns:a16="http://schemas.microsoft.com/office/drawing/2014/main" id="{D986FF4A-BBC7-4E83-8758-C3A57B7BE7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553200"/>
            <a:ext cx="11049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75" b="1">
                <a:solidFill>
                  <a:srgbClr val="008C86"/>
                </a:solidFill>
                <a:latin typeface="Tahoma"/>
                <a:ea typeface="Tahoma"/>
                <a:cs typeface="Tahoma"/>
              </a:defRPr>
            </a:pPr>
            <a:r>
              <a:rPr sz="975" b="1">
                <a:solidFill>
                  <a:srgbClr val="008C86"/>
                </a:solidFill>
                <a:latin typeface="Tahoma"/>
                <a:ea typeface="Tahoma"/>
                <a:cs typeface="Tahoma"/>
              </a:rPr>
              <a:t>08 / 18</a:t>
            </a:r>
          </a:p>
        </p:txBody>
      </p:sp>
    </p:spTree>
    <p:extLst>
      <p:ext uri="{BB962C8B-B14F-4D97-AF65-F5344CB8AC3E}">
        <p14:creationId xmlns:p14="http://schemas.microsoft.com/office/powerpoint/2010/main" val="1225108089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side-accent-9">
            <a:extLst xmlns:a="http://schemas.openxmlformats.org/drawingml/2006/main">
              <a:ext uri="{FF2B5EF4-FFF2-40B4-BE49-F238E27FC236}">
                <a16:creationId xmlns:a16="http://schemas.microsoft.com/office/drawing/2014/main" id="{0005EFA4-E6C1-4182-B505-489D8FB867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C8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kicker-9">
            <a:extLst xmlns:a="http://schemas.openxmlformats.org/drawingml/2006/main">
              <a:ext uri="{FF2B5EF4-FFF2-40B4-BE49-F238E27FC236}">
                <a16:creationId xmlns:a16="http://schemas.microsoft.com/office/drawing/2014/main" id="{E0E89474-0843-4BF8-AFC3-01498EA350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4953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008C86"/>
                </a:solidFill>
                <a:latin typeface="Tahoma"/>
                <a:ea typeface="Tahoma"/>
                <a:cs typeface="Tahoma"/>
              </a:defRPr>
            </a:pPr>
            <a:r>
              <a:rPr sz="1125" b="1">
                <a:solidFill>
                  <a:srgbClr val="008C86"/>
                </a:solidFill>
                <a:latin typeface="Tahoma"/>
                <a:ea typeface="Tahoma"/>
                <a:cs typeface="Tahoma"/>
              </a:rPr>
              <a:t>บันทึกผลกิจกรรม  /  สายสนับสนุน</a:t>
            </a:r>
          </a:p>
        </p:txBody>
      </p:sp>
      <p:sp>
        <p:nvSpPr>
          <p:cNvPr id="3" name="title-9">
            <a:extLst xmlns:a="http://schemas.openxmlformats.org/drawingml/2006/main">
              <a:ext uri="{FF2B5EF4-FFF2-40B4-BE49-F238E27FC236}">
                <a16:creationId xmlns:a16="http://schemas.microsoft.com/office/drawing/2014/main" id="{C4EE4324-0006-4189-B205-E1C0ADF23E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668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307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307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กรอกเป้าหมาย ผลที่ทำได้ และรายละเอียดกิจกรรมให้ครบ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09A5592-DC1C-42B9-B3B0-878B6B7C46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47850"/>
            <a:ext cx="6858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72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72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ข้อมูล 3 ส่วนนี้ทำให้คะแนนมีที่มา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368AF67-A43B-4080-8B10-970BE0C7B8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24150"/>
            <a:ext cx="31242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C8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9E31C51-7779-400A-A927-8E1B38AE03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105150"/>
            <a:ext cx="31242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32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232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เป้าหมาย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CE03088-6EAC-439A-BE1F-D2C6BA0E8E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29050"/>
            <a:ext cx="31242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725" b="0">
                <a:solidFill>
                  <a:srgbClr val="23384D"/>
                </a:solidFill>
                <a:latin typeface="Tahoma"/>
                <a:ea typeface="Tahoma"/>
                <a:cs typeface="Tahoma"/>
              </a:defRPr>
            </a:pPr>
            <a:r>
              <a:rPr sz="1725" b="0">
                <a:solidFill>
                  <a:srgbClr val="23384D"/>
                </a:solidFill>
                <a:latin typeface="Tahoma"/>
                <a:ea typeface="Tahoma"/>
                <a:cs typeface="Tahoma"/>
              </a:rPr>
              <a:t>สิ่งที่เกณฑ์คาดหวัง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D1FB9D9-319D-4271-AA2C-A0CCCA07E1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667250"/>
            <a:ext cx="31242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42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กำหนดจุดอ้างอิง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DA2D6BD-C27A-4D80-8026-F679D9D879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8150" y="2724150"/>
            <a:ext cx="31242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C8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B2E062F-EC40-4B83-AE1F-9BF1301540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8150" y="3105150"/>
            <a:ext cx="31242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32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232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ผลที่ทำได้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EC104A9-A500-489D-88CA-B894C150D2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8150" y="3829050"/>
            <a:ext cx="31242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725" b="0">
                <a:solidFill>
                  <a:srgbClr val="23384D"/>
                </a:solidFill>
                <a:latin typeface="Tahoma"/>
                <a:ea typeface="Tahoma"/>
                <a:cs typeface="Tahoma"/>
              </a:defRPr>
            </a:pPr>
            <a:r>
              <a:rPr sz="1725" b="0">
                <a:solidFill>
                  <a:srgbClr val="23384D"/>
                </a:solidFill>
                <a:latin typeface="Tahoma"/>
                <a:ea typeface="Tahoma"/>
                <a:cs typeface="Tahoma"/>
              </a:rPr>
              <a:t>ค่าหรือระดับผลงานจริง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E26C9E5-5FB2-4E12-85C3-7DE4AF19F0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8150" y="4667250"/>
            <a:ext cx="31242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42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ใช้คำนวณคะแนน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8E0B45A-D43E-416C-8556-24511EF979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2724150"/>
            <a:ext cx="31242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79A2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0AF85F5-2D63-42B4-A1EA-0506727BC9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3105150"/>
            <a:ext cx="31242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32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232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รายละเอียดกิจกรรม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755E49D-0CDD-4AA3-ADCC-9CF9742B24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3829050"/>
            <a:ext cx="31242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725" b="0">
                <a:solidFill>
                  <a:srgbClr val="23384D"/>
                </a:solidFill>
                <a:latin typeface="Tahoma"/>
                <a:ea typeface="Tahoma"/>
                <a:cs typeface="Tahoma"/>
              </a:defRPr>
            </a:pPr>
            <a:r>
              <a:rPr sz="1725" b="0">
                <a:solidFill>
                  <a:srgbClr val="23384D"/>
                </a:solidFill>
                <a:latin typeface="Tahoma"/>
                <a:ea typeface="Tahoma"/>
                <a:cs typeface="Tahoma"/>
              </a:rPr>
              <a:t>อธิบายงานที่เกิดขึ้น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05ED1BB-9C3C-4F25-9AAB-8B2C74613C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4667250"/>
            <a:ext cx="31242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42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เชื่อมกับหลักฐาน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533A5DF-5C49-4994-95A0-0AD7445689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57850"/>
            <a:ext cx="9048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75" b="1">
                <a:solidFill>
                  <a:srgbClr val="00615E"/>
                </a:solidFill>
                <a:latin typeface="Tahoma"/>
                <a:ea typeface="Tahoma"/>
                <a:cs typeface="Tahoma"/>
              </a:defRPr>
            </a:pPr>
            <a:r>
              <a:rPr sz="1575" b="1">
                <a:solidFill>
                  <a:srgbClr val="00615E"/>
                </a:solidFill>
                <a:latin typeface="Tahoma"/>
                <a:ea typeface="Tahoma"/>
                <a:cs typeface="Tahoma"/>
              </a:rPr>
              <a:t>หากเกณฑ์อนุญาต คุณสามารถเพิ่มรายการกิจกรรม/โครงการได้</a:t>
            </a:r>
          </a:p>
        </p:txBody>
      </p:sp>
      <p:sp>
        <p:nvSpPr>
          <p:cNvPr id="18" name="footer-rule-9">
            <a:extLst xmlns:a="http://schemas.openxmlformats.org/drawingml/2006/main">
              <a:ext uri="{FF2B5EF4-FFF2-40B4-BE49-F238E27FC236}">
                <a16:creationId xmlns:a16="http://schemas.microsoft.com/office/drawing/2014/main" id="{F1A6A100-7568-4A0C-98DA-898FA373FB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484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footer-label-9">
            <a:extLst xmlns:a="http://schemas.openxmlformats.org/drawingml/2006/main">
              <a:ext uri="{FF2B5EF4-FFF2-40B4-BE49-F238E27FC236}">
                <a16:creationId xmlns:a16="http://schemas.microsoft.com/office/drawing/2014/main" id="{9BE15481-57FD-4120-91DD-39908D97C6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53200"/>
            <a:ext cx="5238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97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MSU EVA  •  ภาคบ่าย สายสนับสนุน</a:t>
            </a:r>
          </a:p>
        </p:txBody>
      </p:sp>
      <p:sp>
        <p:nvSpPr>
          <p:cNvPr id="20" name="footer-page-9">
            <a:extLst xmlns:a="http://schemas.openxmlformats.org/drawingml/2006/main">
              <a:ext uri="{FF2B5EF4-FFF2-40B4-BE49-F238E27FC236}">
                <a16:creationId xmlns:a16="http://schemas.microsoft.com/office/drawing/2014/main" id="{8EF04DDA-6F08-4F59-A0D1-76B7786CBE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553200"/>
            <a:ext cx="11049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75" b="1">
                <a:solidFill>
                  <a:srgbClr val="008C86"/>
                </a:solidFill>
                <a:latin typeface="Tahoma"/>
                <a:ea typeface="Tahoma"/>
                <a:cs typeface="Tahoma"/>
              </a:defRPr>
            </a:pPr>
            <a:r>
              <a:rPr sz="975" b="1">
                <a:solidFill>
                  <a:srgbClr val="008C86"/>
                </a:solidFill>
                <a:latin typeface="Tahoma"/>
                <a:ea typeface="Tahoma"/>
                <a:cs typeface="Tahoma"/>
              </a:rPr>
              <a:t>09 / 18</a:t>
            </a:r>
          </a:p>
        </p:txBody>
      </p:sp>
    </p:spTree>
    <p:extLst>
      <p:ext uri="{BB962C8B-B14F-4D97-AF65-F5344CB8AC3E}">
        <p14:creationId xmlns:p14="http://schemas.microsoft.com/office/powerpoint/2010/main" val="741017526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side-accent-10">
            <a:extLst xmlns:a="http://schemas.openxmlformats.org/drawingml/2006/main">
              <a:ext uri="{FF2B5EF4-FFF2-40B4-BE49-F238E27FC236}">
                <a16:creationId xmlns:a16="http://schemas.microsoft.com/office/drawing/2014/main" id="{203397CC-49E3-4BB6-8137-1F86F099A7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C8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kicker-10">
            <a:extLst xmlns:a="http://schemas.openxmlformats.org/drawingml/2006/main">
              <a:ext uri="{FF2B5EF4-FFF2-40B4-BE49-F238E27FC236}">
                <a16:creationId xmlns:a16="http://schemas.microsoft.com/office/drawing/2014/main" id="{41AF05DF-FCEC-4F12-9EC5-1C71882CF1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4953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008C86"/>
                </a:solidFill>
                <a:latin typeface="Tahoma"/>
                <a:ea typeface="Tahoma"/>
                <a:cs typeface="Tahoma"/>
              </a:defRPr>
            </a:pPr>
            <a:r>
              <a:rPr sz="1125" b="1">
                <a:solidFill>
                  <a:srgbClr val="008C86"/>
                </a:solidFill>
                <a:latin typeface="Tahoma"/>
                <a:ea typeface="Tahoma"/>
                <a:cs typeface="Tahoma"/>
              </a:rPr>
              <a:t>สูตรคะแนน  /  สายสนับสนุน</a:t>
            </a:r>
          </a:p>
        </p:txBody>
      </p:sp>
      <p:sp>
        <p:nvSpPr>
          <p:cNvPr id="3" name="title-10">
            <a:extLst xmlns:a="http://schemas.openxmlformats.org/drawingml/2006/main">
              <a:ext uri="{FF2B5EF4-FFF2-40B4-BE49-F238E27FC236}">
                <a16:creationId xmlns:a16="http://schemas.microsoft.com/office/drawing/2014/main" id="{44D3D773-43B2-427A-9B94-AA2ACE9420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668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307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307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ระบบคำนวณคะแนนถ่วงน้ำหนักจากน้ำหนักและคะแนนที่ทำได้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BEB4541-92B5-489A-AE43-96485999C5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52650"/>
            <a:ext cx="48577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400" b="1">
                <a:solidFill>
                  <a:srgbClr val="00615E"/>
                </a:solidFill>
                <a:latin typeface="Tahoma"/>
                <a:ea typeface="Tahoma"/>
                <a:cs typeface="Tahoma"/>
              </a:defRPr>
            </a:pPr>
            <a:r>
              <a:rPr sz="2400" b="1">
                <a:solidFill>
                  <a:srgbClr val="00615E"/>
                </a:solidFill>
                <a:latin typeface="Tahoma"/>
                <a:ea typeface="Tahoma"/>
                <a:cs typeface="Tahoma"/>
              </a:rPr>
              <a:t>คะแนนถ่วงน้ำหนัก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5DE816E-7B23-477B-9FDA-AC1D177B83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2933700"/>
            <a:ext cx="7239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3900" b="1">
                <a:solidFill>
                  <a:srgbClr val="C79A2B"/>
                </a:solidFill>
                <a:latin typeface="Tahoma"/>
                <a:ea typeface="Tahoma"/>
                <a:cs typeface="Tahoma"/>
              </a:defRPr>
            </a:pPr>
            <a:r>
              <a:rPr sz="3900" b="1">
                <a:solidFill>
                  <a:srgbClr val="C79A2B"/>
                </a:solidFill>
                <a:latin typeface="Tahoma"/>
                <a:ea typeface="Tahoma"/>
                <a:cs typeface="Tahoma"/>
              </a:rPr>
              <a:t>=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9F0874C-1A1A-4E67-A920-A625AF544A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2495550"/>
            <a:ext cx="2000250" cy="1104900"/>
          </a:xfrm>
          <a:prstGeom xmlns:a="http://schemas.openxmlformats.org/drawingml/2006/main" prst="roundRect">
            <a:avLst>
              <a:gd name="adj" fmla="val 1034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7"/>
            </a:solidFill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850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2850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น้ำหนัก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214B907-65FA-42BD-8E48-BBD3CBF7FA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2933700"/>
            <a:ext cx="5524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3750" b="1">
                <a:solidFill>
                  <a:srgbClr val="008C86"/>
                </a:solidFill>
                <a:latin typeface="Tahoma"/>
                <a:ea typeface="Tahoma"/>
                <a:cs typeface="Tahoma"/>
              </a:defRPr>
            </a:pPr>
            <a:r>
              <a:rPr sz="3750" b="1">
                <a:solidFill>
                  <a:srgbClr val="008C86"/>
                </a:solidFill>
                <a:latin typeface="Tahoma"/>
                <a:ea typeface="Tahoma"/>
                <a:cs typeface="Tahoma"/>
              </a:rPr>
              <a:t>×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B19D7B1-D2FF-46E6-A810-93F80E5D90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86850" y="2495550"/>
            <a:ext cx="2495550" cy="1104900"/>
          </a:xfrm>
          <a:prstGeom xmlns:a="http://schemas.openxmlformats.org/drawingml/2006/main" prst="roundRect">
            <a:avLst>
              <a:gd name="adj" fmla="val 10345"/>
            </a:avLst>
          </a:prstGeom>
          <a:solidFill xmlns:a="http://schemas.openxmlformats.org/drawingml/2006/main">
            <a:srgbClr val="E2F4F1"/>
          </a:solidFill>
          <a:ln xmlns:a="http://schemas.openxmlformats.org/drawingml/2006/main" w="9525">
            <a:solidFill>
              <a:srgbClr val="008C86"/>
            </a:solidFill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550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2550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คะแนนที่ทำได้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179AFD8-CEB9-4D51-A8E8-7F05CBDCA4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3943350"/>
            <a:ext cx="52768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2A4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9F7B664-48D0-4253-A572-E9D897188E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4171950"/>
            <a:ext cx="52768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3150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3150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100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8E5BE55-A182-4D0E-A24E-27F8EB1C10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29250"/>
            <a:ext cx="8953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650" b="1">
                <a:solidFill>
                  <a:srgbClr val="00615E"/>
                </a:solidFill>
                <a:latin typeface="Tahoma"/>
                <a:ea typeface="Tahoma"/>
                <a:cs typeface="Tahoma"/>
              </a:defRPr>
            </a:pPr>
            <a:r>
              <a:rPr sz="1650" b="1">
                <a:solidFill>
                  <a:srgbClr val="00615E"/>
                </a:solidFill>
                <a:latin typeface="Tahoma"/>
                <a:ea typeface="Tahoma"/>
                <a:cs typeface="Tahoma"/>
              </a:rPr>
              <a:t>คะแนนถ่วงน้ำหนัก = น้ำหนัก × คะแนนที่ทำได้ ÷ 100</a:t>
            </a:r>
          </a:p>
        </p:txBody>
      </p:sp>
      <p:sp>
        <p:nvSpPr>
          <p:cNvPr id="12" name="footer-rule-10">
            <a:extLst xmlns:a="http://schemas.openxmlformats.org/drawingml/2006/main">
              <a:ext uri="{FF2B5EF4-FFF2-40B4-BE49-F238E27FC236}">
                <a16:creationId xmlns:a16="http://schemas.microsoft.com/office/drawing/2014/main" id="{8BA55BD5-0AD0-4B44-BD86-E80EFBC1AA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484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footer-label-10">
            <a:extLst xmlns:a="http://schemas.openxmlformats.org/drawingml/2006/main">
              <a:ext uri="{FF2B5EF4-FFF2-40B4-BE49-F238E27FC236}">
                <a16:creationId xmlns:a16="http://schemas.microsoft.com/office/drawing/2014/main" id="{EC49EA7D-CC93-46AC-8305-59F76583AF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53200"/>
            <a:ext cx="5238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97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MSU EVA  •  ภาคบ่าย สายสนับสนุน</a:t>
            </a:r>
          </a:p>
        </p:txBody>
      </p:sp>
      <p:sp>
        <p:nvSpPr>
          <p:cNvPr id="14" name="footer-page-10">
            <a:extLst xmlns:a="http://schemas.openxmlformats.org/drawingml/2006/main">
              <a:ext uri="{FF2B5EF4-FFF2-40B4-BE49-F238E27FC236}">
                <a16:creationId xmlns:a16="http://schemas.microsoft.com/office/drawing/2014/main" id="{D79973A6-56EF-4442-9D20-3951678D39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553200"/>
            <a:ext cx="11049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75" b="1">
                <a:solidFill>
                  <a:srgbClr val="008C86"/>
                </a:solidFill>
                <a:latin typeface="Tahoma"/>
                <a:ea typeface="Tahoma"/>
                <a:cs typeface="Tahoma"/>
              </a:defRPr>
            </a:pPr>
            <a:r>
              <a:rPr sz="975" b="1">
                <a:solidFill>
                  <a:srgbClr val="008C86"/>
                </a:solidFill>
                <a:latin typeface="Tahoma"/>
                <a:ea typeface="Tahoma"/>
                <a:cs typeface="Tahoma"/>
              </a:rPr>
              <a:t>10 / 18</a:t>
            </a:r>
          </a:p>
        </p:txBody>
      </p:sp>
    </p:spTree>
    <p:extLst>
      <p:ext uri="{BB962C8B-B14F-4D97-AF65-F5344CB8AC3E}">
        <p14:creationId xmlns:p14="http://schemas.microsoft.com/office/powerpoint/2010/main" val="557179271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side-accent-11">
            <a:extLst xmlns:a="http://schemas.openxmlformats.org/drawingml/2006/main">
              <a:ext uri="{FF2B5EF4-FFF2-40B4-BE49-F238E27FC236}">
                <a16:creationId xmlns:a16="http://schemas.microsoft.com/office/drawing/2014/main" id="{F2CD13B1-5189-463D-AE3C-A2D8E00C7A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C8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kicker-11">
            <a:extLst xmlns:a="http://schemas.openxmlformats.org/drawingml/2006/main">
              <a:ext uri="{FF2B5EF4-FFF2-40B4-BE49-F238E27FC236}">
                <a16:creationId xmlns:a16="http://schemas.microsoft.com/office/drawing/2014/main" id="{20B72C08-980C-4A1B-9FCE-0E6E097ABA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4953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008C86"/>
                </a:solidFill>
                <a:latin typeface="Tahoma"/>
                <a:ea typeface="Tahoma"/>
                <a:cs typeface="Tahoma"/>
              </a:defRPr>
            </a:pPr>
            <a:r>
              <a:rPr sz="1125" b="1">
                <a:solidFill>
                  <a:srgbClr val="008C86"/>
                </a:solidFill>
                <a:latin typeface="Tahoma"/>
                <a:ea typeface="Tahoma"/>
                <a:cs typeface="Tahoma"/>
              </a:rPr>
              <a:t>ตัวอย่างคำนวณ  /  สายสนับสนุน</a:t>
            </a:r>
          </a:p>
        </p:txBody>
      </p:sp>
      <p:sp>
        <p:nvSpPr>
          <p:cNvPr id="3" name="title-11">
            <a:extLst xmlns:a="http://schemas.openxmlformats.org/drawingml/2006/main">
              <a:ext uri="{FF2B5EF4-FFF2-40B4-BE49-F238E27FC236}">
                <a16:creationId xmlns:a16="http://schemas.microsoft.com/office/drawing/2014/main" id="{A7FE3D4E-BE97-42C5-B616-7D3B190B16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668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307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307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ลองคำนวณคะแนนจากตัวอย่างนี้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C85C058-C251-4E19-83C1-C5E5AE957D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00300"/>
            <a:ext cx="3143250" cy="2343150"/>
          </a:xfrm>
          <a:prstGeom xmlns:a="http://schemas.openxmlformats.org/drawingml/2006/main" prst="roundRect">
            <a:avLst>
              <a:gd name="adj" fmla="val 325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7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01F62EF-E8DA-4A4D-8C5D-28E584F5D2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647950"/>
            <a:ext cx="268605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5550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5550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20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DBE3FC1-507D-41A3-914F-746E9D905F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905250"/>
            <a:ext cx="26860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72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72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น้ำหนัก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9F880A1-02A1-4E7E-9001-A15892A652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2400300"/>
            <a:ext cx="3143250" cy="2343150"/>
          </a:xfrm>
          <a:prstGeom xmlns:a="http://schemas.openxmlformats.org/drawingml/2006/main" prst="roundRect">
            <a:avLst>
              <a:gd name="adj" fmla="val 325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7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FFDB4FB-B69B-4FCC-B0EC-98175CCE8A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2647950"/>
            <a:ext cx="268605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5550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5550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80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2037AD3-4359-4FFB-9EC8-C057122C3D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3905250"/>
            <a:ext cx="26860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72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72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คะแนนที่ทำได้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650E6C1-7176-442B-B631-DFCC788372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2400300"/>
            <a:ext cx="3143250" cy="2343150"/>
          </a:xfrm>
          <a:prstGeom xmlns:a="http://schemas.openxmlformats.org/drawingml/2006/main" prst="roundRect">
            <a:avLst>
              <a:gd name="adj" fmla="val 3252"/>
            </a:avLst>
          </a:prstGeom>
          <a:solidFill xmlns:a="http://schemas.openxmlformats.org/drawingml/2006/main">
            <a:srgbClr val="E2F4F1"/>
          </a:solidFill>
          <a:ln xmlns:a="http://schemas.openxmlformats.org/drawingml/2006/main" w="9525">
            <a:solidFill>
              <a:srgbClr val="008C86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C756C90-1F08-4E82-B3E6-F5182C4B90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2647950"/>
            <a:ext cx="268605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5550" b="1">
                <a:solidFill>
                  <a:srgbClr val="00615E"/>
                </a:solidFill>
                <a:latin typeface="Tahoma"/>
                <a:ea typeface="Tahoma"/>
                <a:cs typeface="Tahoma"/>
              </a:defRPr>
            </a:pPr>
            <a:r>
              <a:rPr sz="5550" b="1">
                <a:solidFill>
                  <a:srgbClr val="00615E"/>
                </a:solidFill>
                <a:latin typeface="Tahoma"/>
                <a:ea typeface="Tahoma"/>
                <a:cs typeface="Tahoma"/>
              </a:rPr>
              <a:t>16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B5DCD84-B201-4E6A-AFE0-1333FB83D5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3905250"/>
            <a:ext cx="26860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725" b="1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725" b="1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คะแนนถ่วงน้ำหนัก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7E56381-62ED-416D-9B03-238EC404F1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19700"/>
            <a:ext cx="109728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700" b="1">
                <a:solidFill>
                  <a:srgbClr val="00615E"/>
                </a:solidFill>
                <a:latin typeface="Tahoma"/>
                <a:ea typeface="Tahoma"/>
                <a:cs typeface="Tahoma"/>
              </a:defRPr>
            </a:pPr>
            <a:r>
              <a:rPr sz="2700" b="1">
                <a:solidFill>
                  <a:srgbClr val="00615E"/>
                </a:solidFill>
                <a:latin typeface="Tahoma"/>
                <a:ea typeface="Tahoma"/>
                <a:cs typeface="Tahoma"/>
              </a:rPr>
              <a:t>20 × 80 ÷ 100 = 16 คะแนน</a:t>
            </a:r>
          </a:p>
        </p:txBody>
      </p:sp>
      <p:sp>
        <p:nvSpPr>
          <p:cNvPr id="14" name="footer-rule-11">
            <a:extLst xmlns:a="http://schemas.openxmlformats.org/drawingml/2006/main">
              <a:ext uri="{FF2B5EF4-FFF2-40B4-BE49-F238E27FC236}">
                <a16:creationId xmlns:a16="http://schemas.microsoft.com/office/drawing/2014/main" id="{84F54EB3-F4D1-4496-B22F-B1DC8153E5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484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footer-label-11">
            <a:extLst xmlns:a="http://schemas.openxmlformats.org/drawingml/2006/main">
              <a:ext uri="{FF2B5EF4-FFF2-40B4-BE49-F238E27FC236}">
                <a16:creationId xmlns:a16="http://schemas.microsoft.com/office/drawing/2014/main" id="{2E1113A6-508C-4A79-8FE5-E0138117E9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53200"/>
            <a:ext cx="5238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97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MSU EVA  •  ภาคบ่าย สายสนับสนุน</a:t>
            </a:r>
          </a:p>
        </p:txBody>
      </p:sp>
      <p:sp>
        <p:nvSpPr>
          <p:cNvPr id="16" name="footer-page-11">
            <a:extLst xmlns:a="http://schemas.openxmlformats.org/drawingml/2006/main">
              <a:ext uri="{FF2B5EF4-FFF2-40B4-BE49-F238E27FC236}">
                <a16:creationId xmlns:a16="http://schemas.microsoft.com/office/drawing/2014/main" id="{058CAF0A-1383-480D-ACD7-360BF640C7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553200"/>
            <a:ext cx="11049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75" b="1">
                <a:solidFill>
                  <a:srgbClr val="008C86"/>
                </a:solidFill>
                <a:latin typeface="Tahoma"/>
                <a:ea typeface="Tahoma"/>
                <a:cs typeface="Tahoma"/>
              </a:defRPr>
            </a:pPr>
            <a:r>
              <a:rPr sz="975" b="1">
                <a:solidFill>
                  <a:srgbClr val="008C86"/>
                </a:solidFill>
                <a:latin typeface="Tahoma"/>
                <a:ea typeface="Tahoma"/>
                <a:cs typeface="Tahoma"/>
              </a:rPr>
              <a:t>11 / 18</a:t>
            </a:r>
          </a:p>
        </p:txBody>
      </p:sp>
    </p:spTree>
    <p:extLst>
      <p:ext uri="{BB962C8B-B14F-4D97-AF65-F5344CB8AC3E}">
        <p14:creationId xmlns:p14="http://schemas.microsoft.com/office/powerpoint/2010/main" val="1873640644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side-accent-12">
            <a:extLst xmlns:a="http://schemas.openxmlformats.org/drawingml/2006/main">
              <a:ext uri="{FF2B5EF4-FFF2-40B4-BE49-F238E27FC236}">
                <a16:creationId xmlns:a16="http://schemas.microsoft.com/office/drawing/2014/main" id="{DF3F063A-FBB8-4168-AF1B-C168259D5F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C8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kicker-12">
            <a:extLst xmlns:a="http://schemas.openxmlformats.org/drawingml/2006/main">
              <a:ext uri="{FF2B5EF4-FFF2-40B4-BE49-F238E27FC236}">
                <a16:creationId xmlns:a16="http://schemas.microsoft.com/office/drawing/2014/main" id="{8E99DD77-C9C4-4B7E-A2CB-15E648A9BF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4953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008C86"/>
                </a:solidFill>
                <a:latin typeface="Tahoma"/>
                <a:ea typeface="Tahoma"/>
                <a:cs typeface="Tahoma"/>
              </a:defRPr>
            </a:pPr>
            <a:r>
              <a:rPr sz="1125" b="1">
                <a:solidFill>
                  <a:srgbClr val="008C86"/>
                </a:solidFill>
                <a:latin typeface="Tahoma"/>
                <a:ea typeface="Tahoma"/>
                <a:cs typeface="Tahoma"/>
              </a:rPr>
              <a:t>หลักฐาน  /  สายสนับสนุน</a:t>
            </a:r>
          </a:p>
        </p:txBody>
      </p:sp>
      <p:sp>
        <p:nvSpPr>
          <p:cNvPr id="3" name="title-12">
            <a:extLst xmlns:a="http://schemas.openxmlformats.org/drawingml/2006/main">
              <a:ext uri="{FF2B5EF4-FFF2-40B4-BE49-F238E27FC236}">
                <a16:creationId xmlns:a16="http://schemas.microsoft.com/office/drawing/2014/main" id="{5E4070FF-6345-4412-9A28-8655B90F11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668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307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307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แนบหลักฐานที่เปิดดูได้และตรงกับกิจกรรม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F2221B8-EFB9-424B-8996-5C9A59619B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47850"/>
            <a:ext cx="8477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875" b="1">
                <a:solidFill>
                  <a:srgbClr val="00615E"/>
                </a:solidFill>
                <a:latin typeface="Tahoma"/>
                <a:ea typeface="Tahoma"/>
                <a:cs typeface="Tahoma"/>
              </a:defRPr>
            </a:pPr>
            <a:r>
              <a:rPr sz="1875" b="1">
                <a:solidFill>
                  <a:srgbClr val="00615E"/>
                </a:solidFill>
                <a:latin typeface="Tahoma"/>
                <a:ea typeface="Tahoma"/>
                <a:cs typeface="Tahoma"/>
              </a:rPr>
              <a:t>ผู้ประเมินควรเห็นได้ทันทีว่าหลักฐานรองรับกิจกรรมใด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EED0731-F624-46AB-8334-0BD8C21EA3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813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8C8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C61E800-BC37-41C1-BAB8-7BCE474EF5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47975"/>
            <a:ext cx="495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875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1875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✓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37021A1-CDEE-4AE0-84C0-D0144B2CEA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2762250"/>
            <a:ext cx="2286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2100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เปิดได้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7F428A3-DF88-41A0-B997-952157311D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2781300"/>
            <a:ext cx="6667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650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650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ใช้ลิงก์ http/https ที่เข้าถึงได้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FF3505D-63FD-45C2-8BDB-63585445B3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1475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8C8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8C7591C-7FEA-4616-BA9D-7253DA3505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81425"/>
            <a:ext cx="495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875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1875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✓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206E57E-2A0B-450C-965C-FF42C57C51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3695700"/>
            <a:ext cx="2286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2100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ตรงรายการ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198162F-52AE-424C-930C-E22C1C8D9C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3714750"/>
            <a:ext cx="6667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650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650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เห็นความเชื่อมโยงกับกิจกรรมหรือโครงการ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1D8F470-FA8C-4307-B8F2-495D5B06A1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648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79A2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4C816E4-4EC2-419D-AA14-27A05F78D3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14875"/>
            <a:ext cx="495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875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1875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✓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9728723-2AC5-4F27-B640-D513F19282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4629150"/>
            <a:ext cx="2286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2100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ระบุตัวตนได้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2D8CBA8-5E0F-4C93-B7DC-5897863EA9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4648200"/>
            <a:ext cx="6667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650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650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ตั้งชื่อไฟล์หรือเอกสารให้เข้าใจง่าย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99E9789-E4AA-4EC6-88BA-AC4338A44C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5124450"/>
            <a:ext cx="352425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E2F4F1"/>
          </a:solidFill>
          <a:ln xmlns:a="http://schemas.openxmlformats.org/drawingml/2006/main" w="9525">
            <a:solidFill>
              <a:srgbClr val="008C86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27388D7-CF94-401C-A3FB-AE0518C3AE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5219700"/>
            <a:ext cx="30289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75" b="1">
                <a:solidFill>
                  <a:srgbClr val="00615E"/>
                </a:solidFill>
                <a:latin typeface="Tahoma"/>
                <a:ea typeface="Tahoma"/>
                <a:cs typeface="Tahoma"/>
              </a:defRPr>
            </a:pPr>
            <a:r>
              <a:rPr sz="1575" b="1">
                <a:solidFill>
                  <a:srgbClr val="00615E"/>
                </a:solidFill>
                <a:latin typeface="Tahoma"/>
                <a:ea typeface="Tahoma"/>
                <a:cs typeface="Tahoma"/>
              </a:rPr>
              <a:t>รายการที่บังคับหลักฐาน</a:t>
            </a:r>
          </a:p>
          <a:p xmlns:a="http://schemas.openxmlformats.org/drawingml/2006/main">
            <a:pPr algn="ctr">
              <a:lnSpc>
                <a:spcPct val="100000"/>
              </a:lnSpc>
              <a:buNone/>
              <a:defRPr sz="1575" b="1">
                <a:solidFill>
                  <a:srgbClr val="00615E"/>
                </a:solidFill>
                <a:latin typeface="Tahoma"/>
                <a:ea typeface="Tahoma"/>
                <a:cs typeface="Tahoma"/>
              </a:defRPr>
            </a:pPr>
            <a:r>
              <a:rPr sz="1575" b="1">
                <a:solidFill>
                  <a:srgbClr val="00615E"/>
                </a:solidFill>
                <a:latin typeface="Tahoma"/>
                <a:ea typeface="Tahoma"/>
                <a:cs typeface="Tahoma"/>
              </a:rPr>
              <a:t>ต้องมีลิงก์ก่อนส่ง</a:t>
            </a:r>
          </a:p>
        </p:txBody>
      </p:sp>
      <p:sp>
        <p:nvSpPr>
          <p:cNvPr id="19" name="footer-rule-12">
            <a:extLst xmlns:a="http://schemas.openxmlformats.org/drawingml/2006/main">
              <a:ext uri="{FF2B5EF4-FFF2-40B4-BE49-F238E27FC236}">
                <a16:creationId xmlns:a16="http://schemas.microsoft.com/office/drawing/2014/main" id="{3E24F800-DAF3-4167-9E15-7CF74020B0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484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footer-label-12">
            <a:extLst xmlns:a="http://schemas.openxmlformats.org/drawingml/2006/main">
              <a:ext uri="{FF2B5EF4-FFF2-40B4-BE49-F238E27FC236}">
                <a16:creationId xmlns:a16="http://schemas.microsoft.com/office/drawing/2014/main" id="{22BD823F-28D6-4302-9791-674DDA1F44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53200"/>
            <a:ext cx="5238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97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MSU EVA  •  ภาคบ่าย สายสนับสนุน</a:t>
            </a:r>
          </a:p>
        </p:txBody>
      </p:sp>
      <p:sp>
        <p:nvSpPr>
          <p:cNvPr id="21" name="footer-page-12">
            <a:extLst xmlns:a="http://schemas.openxmlformats.org/drawingml/2006/main">
              <a:ext uri="{FF2B5EF4-FFF2-40B4-BE49-F238E27FC236}">
                <a16:creationId xmlns:a16="http://schemas.microsoft.com/office/drawing/2014/main" id="{D741B36A-BC58-4326-B1A2-990FD60CBE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553200"/>
            <a:ext cx="11049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75" b="1">
                <a:solidFill>
                  <a:srgbClr val="008C86"/>
                </a:solidFill>
                <a:latin typeface="Tahoma"/>
                <a:ea typeface="Tahoma"/>
                <a:cs typeface="Tahoma"/>
              </a:defRPr>
            </a:pPr>
            <a:r>
              <a:rPr sz="975" b="1">
                <a:solidFill>
                  <a:srgbClr val="008C86"/>
                </a:solidFill>
                <a:latin typeface="Tahoma"/>
                <a:ea typeface="Tahoma"/>
                <a:cs typeface="Tahoma"/>
              </a:rPr>
              <a:t>12 / 18</a:t>
            </a:r>
          </a:p>
        </p:txBody>
      </p:sp>
    </p:spTree>
    <p:extLst>
      <p:ext uri="{BB962C8B-B14F-4D97-AF65-F5344CB8AC3E}">
        <p14:creationId xmlns:p14="http://schemas.microsoft.com/office/powerpoint/2010/main" val="9531804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side-accent-13">
            <a:extLst xmlns:a="http://schemas.openxmlformats.org/drawingml/2006/main">
              <a:ext uri="{FF2B5EF4-FFF2-40B4-BE49-F238E27FC236}">
                <a16:creationId xmlns:a16="http://schemas.microsoft.com/office/drawing/2014/main" id="{7EFF9DB6-A152-4F5C-BC86-012A72A6C4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C8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kicker-13">
            <a:extLst xmlns:a="http://schemas.openxmlformats.org/drawingml/2006/main">
              <a:ext uri="{FF2B5EF4-FFF2-40B4-BE49-F238E27FC236}">
                <a16:creationId xmlns:a16="http://schemas.microsoft.com/office/drawing/2014/main" id="{AC0F94E6-2A6C-4F8B-9419-FFA8F497D7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4953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008C86"/>
                </a:solidFill>
                <a:latin typeface="Tahoma"/>
                <a:ea typeface="Tahoma"/>
                <a:cs typeface="Tahoma"/>
              </a:defRPr>
            </a:pPr>
            <a:r>
              <a:rPr sz="1125" b="1">
                <a:solidFill>
                  <a:srgbClr val="008C86"/>
                </a:solidFill>
                <a:latin typeface="Tahoma"/>
                <a:ea typeface="Tahoma"/>
                <a:cs typeface="Tahoma"/>
              </a:rPr>
              <a:t>ก่อนกดปุ่ม  /  สายสนับสนุน</a:t>
            </a:r>
          </a:p>
        </p:txBody>
      </p:sp>
      <p:sp>
        <p:nvSpPr>
          <p:cNvPr id="3" name="title-13">
            <a:extLst xmlns:a="http://schemas.openxmlformats.org/drawingml/2006/main">
              <a:ext uri="{FF2B5EF4-FFF2-40B4-BE49-F238E27FC236}">
                <a16:creationId xmlns:a16="http://schemas.microsoft.com/office/drawing/2014/main" id="{2C5C8663-2470-4722-B682-F28A4A55B4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668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307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307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หากข้อมูลยังไม่ครบ ให้บันทึกร่างไว้ก่อน</a:t>
            </a:r>
          </a:p>
        </p:txBody>
      </p:sp>
      <p:sp>
        <p:nvSpPr>
          <p:cNvPr id="4" name="draft-panel">
            <a:extLst xmlns:a="http://schemas.openxmlformats.org/drawingml/2006/main">
              <a:ext uri="{FF2B5EF4-FFF2-40B4-BE49-F238E27FC236}">
                <a16:creationId xmlns:a16="http://schemas.microsoft.com/office/drawing/2014/main" id="{E6BFDCC6-CBE2-4AF0-A8CE-8B3532EF7E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43150"/>
            <a:ext cx="4953000" cy="2914650"/>
          </a:xfrm>
          <a:prstGeom xmlns:a="http://schemas.openxmlformats.org/drawingml/2006/main" prst="roundRect">
            <a:avLst>
              <a:gd name="adj" fmla="val 261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7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267F465-8A64-4FAC-932D-CAE64F26D4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686050"/>
            <a:ext cx="4191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77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277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บันทึกร่าง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71E8AAB-256D-4101-A2C9-08973585E0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486150"/>
            <a:ext cx="403860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72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72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กลับมาแก้ไขได้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72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72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เหมาะเมื่อข้อมูลยังไม่ครบ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72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72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งานยังไม่ส่งให้ผู้ประเมิน</a:t>
            </a:r>
          </a:p>
        </p:txBody>
      </p:sp>
      <p:sp>
        <p:nvSpPr>
          <p:cNvPr id="7" name="submit-panel">
            <a:extLst xmlns:a="http://schemas.openxmlformats.org/drawingml/2006/main">
              <a:ext uri="{FF2B5EF4-FFF2-40B4-BE49-F238E27FC236}">
                <a16:creationId xmlns:a16="http://schemas.microsoft.com/office/drawing/2014/main" id="{4B15136A-FBF5-4239-A6B2-7CF8872F2E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2343150"/>
            <a:ext cx="5562600" cy="2914650"/>
          </a:xfrm>
          <a:prstGeom xmlns:a="http://schemas.openxmlformats.org/drawingml/2006/main" prst="roundRect">
            <a:avLst>
              <a:gd name="adj" fmla="val 2614"/>
            </a:avLst>
          </a:prstGeom>
          <a:solidFill xmlns:a="http://schemas.openxmlformats.org/drawingml/2006/main">
            <a:srgbClr val="E2F4F1"/>
          </a:solidFill>
          <a:ln xmlns:a="http://schemas.openxmlformats.org/drawingml/2006/main" w="19050">
            <a:solidFill>
              <a:srgbClr val="008C86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37DB81D-28C1-4AE7-8766-F078B20095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2686050"/>
            <a:ext cx="4762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775" b="1">
                <a:solidFill>
                  <a:srgbClr val="00615E"/>
                </a:solidFill>
                <a:latin typeface="Tahoma"/>
                <a:ea typeface="Tahoma"/>
                <a:cs typeface="Tahoma"/>
              </a:defRPr>
            </a:pPr>
            <a:r>
              <a:rPr sz="2775" b="1">
                <a:solidFill>
                  <a:srgbClr val="00615E"/>
                </a:solidFill>
                <a:latin typeface="Tahoma"/>
                <a:ea typeface="Tahoma"/>
                <a:cs typeface="Tahoma"/>
              </a:rPr>
              <a:t>ส่งแบบประเมิน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C84C177-E64D-475A-AC2F-71C4C1F5BD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3486150"/>
            <a:ext cx="468630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725" b="0">
                <a:solidFill>
                  <a:srgbClr val="00615E"/>
                </a:solidFill>
                <a:latin typeface="Tahoma"/>
                <a:ea typeface="Tahoma"/>
                <a:cs typeface="Tahoma"/>
              </a:defRPr>
            </a:pPr>
            <a:r>
              <a:rPr sz="1725" b="0">
                <a:solidFill>
                  <a:srgbClr val="00615E"/>
                </a:solidFill>
                <a:latin typeface="Tahoma"/>
                <a:ea typeface="Tahoma"/>
                <a:cs typeface="Tahoma"/>
              </a:rPr>
              <a:t>ระบบตรวจข้อมูลบังคับและหลักฐาน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725" b="0">
                <a:solidFill>
                  <a:srgbClr val="00615E"/>
                </a:solidFill>
                <a:latin typeface="Tahoma"/>
                <a:ea typeface="Tahoma"/>
                <a:cs typeface="Tahoma"/>
              </a:defRPr>
            </a:pPr>
            <a:r>
              <a:rPr sz="1725" b="0">
                <a:solidFill>
                  <a:srgbClr val="00615E"/>
                </a:solidFill>
                <a:latin typeface="Tahoma"/>
                <a:ea typeface="Tahoma"/>
                <a:cs typeface="Tahoma"/>
              </a:rPr>
              <a:t>งานเข้าสู่ลำดับผู้ประเมิน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725" b="0">
                <a:solidFill>
                  <a:srgbClr val="00615E"/>
                </a:solidFill>
                <a:latin typeface="Tahoma"/>
                <a:ea typeface="Tahoma"/>
                <a:cs typeface="Tahoma"/>
              </a:defRPr>
            </a:pPr>
            <a:r>
              <a:rPr sz="1725" b="0">
                <a:solidFill>
                  <a:srgbClr val="00615E"/>
                </a:solidFill>
                <a:latin typeface="Tahoma"/>
                <a:ea typeface="Tahoma"/>
                <a:cs typeface="Tahoma"/>
              </a:rPr>
              <a:t>ตรวจอีกครั้งก่อนยืนยัน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23601AA-CAF7-4B7D-B8FB-80E516EFEF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57850"/>
            <a:ext cx="9906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650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1650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ถามตัวเองก่อนกดส่ง: “ผู้ประเมินเห็นข้อมูลครบหรือยัง?”</a:t>
            </a:r>
          </a:p>
        </p:txBody>
      </p:sp>
      <p:sp>
        <p:nvSpPr>
          <p:cNvPr id="11" name="footer-rule-13">
            <a:extLst xmlns:a="http://schemas.openxmlformats.org/drawingml/2006/main">
              <a:ext uri="{FF2B5EF4-FFF2-40B4-BE49-F238E27FC236}">
                <a16:creationId xmlns:a16="http://schemas.microsoft.com/office/drawing/2014/main" id="{4122ECB1-9EEA-4F70-BFA1-E7227DF040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484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footer-label-13">
            <a:extLst xmlns:a="http://schemas.openxmlformats.org/drawingml/2006/main">
              <a:ext uri="{FF2B5EF4-FFF2-40B4-BE49-F238E27FC236}">
                <a16:creationId xmlns:a16="http://schemas.microsoft.com/office/drawing/2014/main" id="{80E60410-29D8-4AD2-BACC-5C5C9F1346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53200"/>
            <a:ext cx="5238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97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MSU EVA  •  ภาคบ่าย สายสนับสนุน</a:t>
            </a:r>
          </a:p>
        </p:txBody>
      </p:sp>
      <p:sp>
        <p:nvSpPr>
          <p:cNvPr id="13" name="footer-page-13">
            <a:extLst xmlns:a="http://schemas.openxmlformats.org/drawingml/2006/main">
              <a:ext uri="{FF2B5EF4-FFF2-40B4-BE49-F238E27FC236}">
                <a16:creationId xmlns:a16="http://schemas.microsoft.com/office/drawing/2014/main" id="{FA230287-4ECB-4082-84AE-3E168BA578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553200"/>
            <a:ext cx="11049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75" b="1">
                <a:solidFill>
                  <a:srgbClr val="008C86"/>
                </a:solidFill>
                <a:latin typeface="Tahoma"/>
                <a:ea typeface="Tahoma"/>
                <a:cs typeface="Tahoma"/>
              </a:defRPr>
            </a:pPr>
            <a:r>
              <a:rPr sz="975" b="1">
                <a:solidFill>
                  <a:srgbClr val="008C86"/>
                </a:solidFill>
                <a:latin typeface="Tahoma"/>
                <a:ea typeface="Tahoma"/>
                <a:cs typeface="Tahoma"/>
              </a:rPr>
              <a:t>13 / 18</a:t>
            </a:r>
          </a:p>
        </p:txBody>
      </p:sp>
    </p:spTree>
    <p:extLst>
      <p:ext uri="{BB962C8B-B14F-4D97-AF65-F5344CB8AC3E}">
        <p14:creationId xmlns:p14="http://schemas.microsoft.com/office/powerpoint/2010/main" val="29577949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side-accent-14">
            <a:extLst xmlns:a="http://schemas.openxmlformats.org/drawingml/2006/main">
              <a:ext uri="{FF2B5EF4-FFF2-40B4-BE49-F238E27FC236}">
                <a16:creationId xmlns:a16="http://schemas.microsoft.com/office/drawing/2014/main" id="{BA7C986B-FA8B-48C4-AE41-6F5C91E7BA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C8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kicker-14">
            <a:extLst xmlns:a="http://schemas.openxmlformats.org/drawingml/2006/main">
              <a:ext uri="{FF2B5EF4-FFF2-40B4-BE49-F238E27FC236}">
                <a16:creationId xmlns:a16="http://schemas.microsoft.com/office/drawing/2014/main" id="{01BA2321-7729-48A7-90A3-372FEBCF20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4953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008C86"/>
                </a:solidFill>
                <a:latin typeface="Tahoma"/>
                <a:ea typeface="Tahoma"/>
                <a:cs typeface="Tahoma"/>
              </a:defRPr>
            </a:pPr>
            <a:r>
              <a:rPr sz="1125" b="1">
                <a:solidFill>
                  <a:srgbClr val="008C86"/>
                </a:solidFill>
                <a:latin typeface="Tahoma"/>
                <a:ea typeface="Tahoma"/>
                <a:cs typeface="Tahoma"/>
              </a:rPr>
              <a:t>หลังจากส่ง  /  สายสนับสนุน</a:t>
            </a:r>
          </a:p>
        </p:txBody>
      </p:sp>
      <p:sp>
        <p:nvSpPr>
          <p:cNvPr id="3" name="title-14">
            <a:extLst xmlns:a="http://schemas.openxmlformats.org/drawingml/2006/main">
              <a:ext uri="{FF2B5EF4-FFF2-40B4-BE49-F238E27FC236}">
                <a16:creationId xmlns:a16="http://schemas.microsoft.com/office/drawing/2014/main" id="{65EF2494-E1AB-486C-B1D7-9322CA1773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668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307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307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หลังส่งแบบประเมิน ระบบจะส่งงานตามลำดับผู้ประเมิน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AA7DDBC-ECF1-42EB-9E96-4694BFB7C0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3486150"/>
            <a:ext cx="88011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57417BE-BB14-42D1-8AE6-6A388EE657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3048000"/>
            <a:ext cx="895350" cy="895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8C8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8B608AB-5841-4CC8-A06F-7F9AF51042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3295650"/>
            <a:ext cx="8953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100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2100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2078962-AC50-471B-901F-D1ACD4E312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210050"/>
            <a:ext cx="21145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100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2100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ตรวจ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31AADFE-9E53-4A11-B77F-471CA2D1D5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705350"/>
            <a:ext cx="22288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42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42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ข้อมูลและหลักฐาน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19352AF-4036-400B-88EF-A5BAA45C1F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3048000"/>
            <a:ext cx="895350" cy="895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8C8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B4579A6-DEE6-47B5-B493-41103816E3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3295650"/>
            <a:ext cx="8953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100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2100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156F867-BFFA-4F5A-A1F9-ACF0C45C66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4210050"/>
            <a:ext cx="21145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100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2100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ให้ผล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C39112D-FBC0-498C-865E-FBAA89B2D0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5200" y="4705350"/>
            <a:ext cx="22288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42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42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คะแนนหรือความเห็น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BA0C79B-166B-449D-AEC8-B29C810D81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3048000"/>
            <a:ext cx="895350" cy="895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8C8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ACECEFB-DD81-48A0-92E3-89CD631C70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3295650"/>
            <a:ext cx="8953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100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2100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3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BC822FC-678F-4701-A341-6C677D84A5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4210050"/>
            <a:ext cx="21145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100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2100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ส่งต่อ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5B0617A-D9F1-444E-B11E-2068E52C21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4705350"/>
            <a:ext cx="22288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42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42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ไปยังผู้ประเมินลำดับถัดไป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DC5B87A-8569-472A-AAD7-8DE3987A5E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34550" y="3048000"/>
            <a:ext cx="895350" cy="895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79A2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D20AF2F-4DE6-4C34-9729-7E8CF55FC6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34550" y="3295650"/>
            <a:ext cx="8953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100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2100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4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C8B4A9D-7AE4-4F91-9C06-038444A79B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4210050"/>
            <a:ext cx="21145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100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2100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ปิดงาน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6FB53F4-D6DE-4FF4-944C-B8F6C5BF77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67800" y="4705350"/>
            <a:ext cx="22288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42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42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เมื่อเป็นผู้ประเมินคนสุดท้าย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7139262-AC7E-402F-9B5B-2658966534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95950"/>
            <a:ext cx="8382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75" b="1">
                <a:solidFill>
                  <a:srgbClr val="00615E"/>
                </a:solidFill>
                <a:latin typeface="Tahoma"/>
                <a:ea typeface="Tahoma"/>
                <a:cs typeface="Tahoma"/>
              </a:defRPr>
            </a:pPr>
            <a:r>
              <a:rPr sz="1575" b="1">
                <a:solidFill>
                  <a:srgbClr val="00615E"/>
                </a:solidFill>
                <a:latin typeface="Tahoma"/>
                <a:ea typeface="Tahoma"/>
                <a:cs typeface="Tahoma"/>
              </a:rPr>
              <a:t>จำนวนและบทบาทของผู้ประเมินอาจต่างกันในแต่ละงาน</a:t>
            </a:r>
          </a:p>
        </p:txBody>
      </p:sp>
      <p:sp>
        <p:nvSpPr>
          <p:cNvPr id="22" name="footer-rule-14">
            <a:extLst xmlns:a="http://schemas.openxmlformats.org/drawingml/2006/main">
              <a:ext uri="{FF2B5EF4-FFF2-40B4-BE49-F238E27FC236}">
                <a16:creationId xmlns:a16="http://schemas.microsoft.com/office/drawing/2014/main" id="{AED11EBE-9955-4981-872B-25157B9829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484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footer-label-14">
            <a:extLst xmlns:a="http://schemas.openxmlformats.org/drawingml/2006/main">
              <a:ext uri="{FF2B5EF4-FFF2-40B4-BE49-F238E27FC236}">
                <a16:creationId xmlns:a16="http://schemas.microsoft.com/office/drawing/2014/main" id="{FE84F95A-1E92-4677-9AD5-2D0BDEC653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53200"/>
            <a:ext cx="5238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97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MSU EVA  •  ภาคบ่าย สายสนับสนุน</a:t>
            </a:r>
          </a:p>
        </p:txBody>
      </p:sp>
      <p:sp>
        <p:nvSpPr>
          <p:cNvPr id="24" name="footer-page-14">
            <a:extLst xmlns:a="http://schemas.openxmlformats.org/drawingml/2006/main">
              <a:ext uri="{FF2B5EF4-FFF2-40B4-BE49-F238E27FC236}">
                <a16:creationId xmlns:a16="http://schemas.microsoft.com/office/drawing/2014/main" id="{29CC6B34-D2F2-4510-9A1E-9EDF7E5C29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553200"/>
            <a:ext cx="11049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75" b="1">
                <a:solidFill>
                  <a:srgbClr val="008C86"/>
                </a:solidFill>
                <a:latin typeface="Tahoma"/>
                <a:ea typeface="Tahoma"/>
                <a:cs typeface="Tahoma"/>
              </a:defRPr>
            </a:pPr>
            <a:r>
              <a:rPr sz="975" b="1">
                <a:solidFill>
                  <a:srgbClr val="008C86"/>
                </a:solidFill>
                <a:latin typeface="Tahoma"/>
                <a:ea typeface="Tahoma"/>
                <a:cs typeface="Tahoma"/>
              </a:rPr>
              <a:t>14 / 18</a:t>
            </a:r>
          </a:p>
        </p:txBody>
      </p:sp>
    </p:spTree>
    <p:extLst>
      <p:ext uri="{BB962C8B-B14F-4D97-AF65-F5344CB8AC3E}">
        <p14:creationId xmlns:p14="http://schemas.microsoft.com/office/powerpoint/2010/main" val="1821714290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side-accent-15">
            <a:extLst xmlns:a="http://schemas.openxmlformats.org/drawingml/2006/main">
              <a:ext uri="{FF2B5EF4-FFF2-40B4-BE49-F238E27FC236}">
                <a16:creationId xmlns:a16="http://schemas.microsoft.com/office/drawing/2014/main" id="{6512CD62-DA3A-497B-9BDC-B56E4B659C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C8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kicker-15">
            <a:extLst xmlns:a="http://schemas.openxmlformats.org/drawingml/2006/main">
              <a:ext uri="{FF2B5EF4-FFF2-40B4-BE49-F238E27FC236}">
                <a16:creationId xmlns:a16="http://schemas.microsoft.com/office/drawing/2014/main" id="{C4FA4DD0-E73C-44BA-AF2B-2FA4F198D3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4953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008C86"/>
                </a:solidFill>
                <a:latin typeface="Tahoma"/>
                <a:ea typeface="Tahoma"/>
                <a:cs typeface="Tahoma"/>
              </a:defRPr>
            </a:pPr>
            <a:r>
              <a:rPr sz="1125" b="1">
                <a:solidFill>
                  <a:srgbClr val="008C86"/>
                </a:solidFill>
                <a:latin typeface="Tahoma"/>
                <a:ea typeface="Tahoma"/>
                <a:cs typeface="Tahoma"/>
              </a:rPr>
              <a:t>สำหรับผู้ประเมิน  /  สายสนับสนุน</a:t>
            </a:r>
          </a:p>
        </p:txBody>
      </p:sp>
      <p:sp>
        <p:nvSpPr>
          <p:cNvPr id="3" name="title-15">
            <a:extLst xmlns:a="http://schemas.openxmlformats.org/drawingml/2006/main">
              <a:ext uri="{FF2B5EF4-FFF2-40B4-BE49-F238E27FC236}">
                <a16:creationId xmlns:a16="http://schemas.microsoft.com/office/drawing/2014/main" id="{F4C2F7D9-B14E-442C-9525-638AE4EDB8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668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307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307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ผู้ประเมินตรวจผลกิจกรรม คะแนน และหลักฐาน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C662DCF-BA20-4681-A290-E17832F0D1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76450"/>
            <a:ext cx="5905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008C86"/>
                </a:solidFill>
                <a:latin typeface="Tahoma"/>
                <a:ea typeface="Tahoma"/>
                <a:cs typeface="Tahoma"/>
              </a:defRPr>
            </a:pPr>
            <a:r>
              <a:rPr sz="1350" b="1">
                <a:solidFill>
                  <a:srgbClr val="008C86"/>
                </a:solidFill>
                <a:latin typeface="Tahoma"/>
                <a:ea typeface="Tahoma"/>
                <a:cs typeface="Tahoma"/>
              </a:rPr>
              <a:t>01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DFC4F7E-1298-4EAB-8FA4-FCC66BA53C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2038350"/>
            <a:ext cx="2667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02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202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ตรวจข้อมูล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F83A673-3A2C-4E96-9AED-3BB75CEB9E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2076450"/>
            <a:ext cx="6858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7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57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ผลกิจกรรมและรายละเอียดตรงกับเกณฑ์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60B7E90-6C76-40B3-A9AD-DBF31B09AE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2667000"/>
            <a:ext cx="97345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7C4F8E1-4B8A-427F-B08C-76584BC40D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71800"/>
            <a:ext cx="5905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008C86"/>
                </a:solidFill>
                <a:latin typeface="Tahoma"/>
                <a:ea typeface="Tahoma"/>
                <a:cs typeface="Tahoma"/>
              </a:defRPr>
            </a:pPr>
            <a:r>
              <a:rPr sz="1350" b="1">
                <a:solidFill>
                  <a:srgbClr val="008C86"/>
                </a:solidFill>
                <a:latin typeface="Tahoma"/>
                <a:ea typeface="Tahoma"/>
                <a:cs typeface="Tahoma"/>
              </a:rPr>
              <a:t>02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91A5A30-7B91-467A-AB51-CFD245CF64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2933700"/>
            <a:ext cx="2667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02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202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ตรวจคะแนน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37905AC-9464-4D49-A1F3-BC6D727C46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2971800"/>
            <a:ext cx="6858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7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57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น้ำหนัก คะแนนที่ทำได้ และผลคำนวณสอดคล้องกัน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A9D4C13-A175-4157-8E43-D870BA3C1D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3562350"/>
            <a:ext cx="97345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B56D607-8B26-4F68-BBA5-34667D4C17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67150"/>
            <a:ext cx="5905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008C86"/>
                </a:solidFill>
                <a:latin typeface="Tahoma"/>
                <a:ea typeface="Tahoma"/>
                <a:cs typeface="Tahoma"/>
              </a:defRPr>
            </a:pPr>
            <a:r>
              <a:rPr sz="1350" b="1">
                <a:solidFill>
                  <a:srgbClr val="008C86"/>
                </a:solidFill>
                <a:latin typeface="Tahoma"/>
                <a:ea typeface="Tahoma"/>
                <a:cs typeface="Tahoma"/>
              </a:rPr>
              <a:t>03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A2C1751-70F0-45F7-ABEE-3EC99A6AD8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3829050"/>
            <a:ext cx="2667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02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202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เปิดหลักฐาน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82291BE-3BD1-415E-A220-FB6F91208D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3867150"/>
            <a:ext cx="6858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7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57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ลิงก์เข้าถึงได้และยืนยันกิจกรรม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EF4D6CA-9D74-45E4-88DE-C80C5C7976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457700"/>
            <a:ext cx="97345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19DB9B2-FA72-4D16-87C0-570D7AAF84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62500"/>
            <a:ext cx="5905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C79A2B"/>
                </a:solidFill>
                <a:latin typeface="Tahoma"/>
                <a:ea typeface="Tahoma"/>
                <a:cs typeface="Tahoma"/>
              </a:defRPr>
            </a:pPr>
            <a:r>
              <a:rPr sz="1350" b="1">
                <a:solidFill>
                  <a:srgbClr val="C79A2B"/>
                </a:solidFill>
                <a:latin typeface="Tahoma"/>
                <a:ea typeface="Tahoma"/>
                <a:cs typeface="Tahoma"/>
              </a:rPr>
              <a:t>04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E5DDEEA-8984-4865-81EE-61582EFC20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724400"/>
            <a:ext cx="2667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02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202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ส่งต่องาน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5E30600-C311-4054-AE40-4DFEBA1FA1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4762500"/>
            <a:ext cx="6858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7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57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ให้ผลและดำเนินการเมื่อข้อมูลครบตามสิทธิ์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340433A-B160-41C9-B332-5FD23884E6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15000"/>
            <a:ext cx="10972800" cy="476250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E2F4F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B940223-265A-4653-A0F5-B3ECF015EE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838825"/>
            <a:ext cx="105156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>
                <a:solidFill>
                  <a:srgbClr val="00615E"/>
                </a:solidFill>
                <a:latin typeface="Tahoma"/>
                <a:ea typeface="Tahoma"/>
                <a:cs typeface="Tahoma"/>
              </a:defRPr>
            </a:pPr>
            <a:r>
              <a:rPr sz="1500" b="1">
                <a:solidFill>
                  <a:srgbClr val="00615E"/>
                </a:solidFill>
                <a:latin typeface="Tahoma"/>
                <a:ea typeface="Tahoma"/>
                <a:cs typeface="Tahoma"/>
              </a:rPr>
              <a:t>ผู้ประเมินควรตัดสินใจจากข้อมูลและหลักฐานที่เปิดตรวจได้</a:t>
            </a:r>
          </a:p>
        </p:txBody>
      </p:sp>
      <p:sp>
        <p:nvSpPr>
          <p:cNvPr id="21" name="footer-rule-15">
            <a:extLst xmlns:a="http://schemas.openxmlformats.org/drawingml/2006/main">
              <a:ext uri="{FF2B5EF4-FFF2-40B4-BE49-F238E27FC236}">
                <a16:creationId xmlns:a16="http://schemas.microsoft.com/office/drawing/2014/main" id="{1FA6C614-447E-4C10-A77A-7D5704F6E6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484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footer-label-15">
            <a:extLst xmlns:a="http://schemas.openxmlformats.org/drawingml/2006/main">
              <a:ext uri="{FF2B5EF4-FFF2-40B4-BE49-F238E27FC236}">
                <a16:creationId xmlns:a16="http://schemas.microsoft.com/office/drawing/2014/main" id="{7C1725D0-7611-4899-A461-D34FDDC6A0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53200"/>
            <a:ext cx="5238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97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MSU EVA  •  ภาคบ่าย สายสนับสนุน</a:t>
            </a:r>
          </a:p>
        </p:txBody>
      </p:sp>
      <p:sp>
        <p:nvSpPr>
          <p:cNvPr id="23" name="footer-page-15">
            <a:extLst xmlns:a="http://schemas.openxmlformats.org/drawingml/2006/main">
              <a:ext uri="{FF2B5EF4-FFF2-40B4-BE49-F238E27FC236}">
                <a16:creationId xmlns:a16="http://schemas.microsoft.com/office/drawing/2014/main" id="{AA610044-CCB9-4E06-8691-212F349567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553200"/>
            <a:ext cx="11049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75" b="1">
                <a:solidFill>
                  <a:srgbClr val="008C86"/>
                </a:solidFill>
                <a:latin typeface="Tahoma"/>
                <a:ea typeface="Tahoma"/>
                <a:cs typeface="Tahoma"/>
              </a:defRPr>
            </a:pPr>
            <a:r>
              <a:rPr sz="975" b="1">
                <a:solidFill>
                  <a:srgbClr val="008C86"/>
                </a:solidFill>
                <a:latin typeface="Tahoma"/>
                <a:ea typeface="Tahoma"/>
                <a:cs typeface="Tahoma"/>
              </a:rPr>
              <a:t>15 / 18</a:t>
            </a:r>
          </a:p>
        </p:txBody>
      </p:sp>
    </p:spTree>
    <p:extLst>
      <p:ext uri="{BB962C8B-B14F-4D97-AF65-F5344CB8AC3E}">
        <p14:creationId xmlns:p14="http://schemas.microsoft.com/office/powerpoint/2010/main" val="1451021541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side-accent-16">
            <a:extLst xmlns:a="http://schemas.openxmlformats.org/drawingml/2006/main">
              <a:ext uri="{FF2B5EF4-FFF2-40B4-BE49-F238E27FC236}">
                <a16:creationId xmlns:a16="http://schemas.microsoft.com/office/drawing/2014/main" id="{850AE852-DB25-47B1-8E8D-25541883F8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C8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kicker-16">
            <a:extLst xmlns:a="http://schemas.openxmlformats.org/drawingml/2006/main">
              <a:ext uri="{FF2B5EF4-FFF2-40B4-BE49-F238E27FC236}">
                <a16:creationId xmlns:a16="http://schemas.microsoft.com/office/drawing/2014/main" id="{520432CC-5409-48B9-9CB1-6E65F090B9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4953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008C86"/>
                </a:solidFill>
                <a:latin typeface="Tahoma"/>
                <a:ea typeface="Tahoma"/>
                <a:cs typeface="Tahoma"/>
              </a:defRPr>
            </a:pPr>
            <a:r>
              <a:rPr sz="1125" b="1">
                <a:solidFill>
                  <a:srgbClr val="008C86"/>
                </a:solidFill>
                <a:latin typeface="Tahoma"/>
                <a:ea typeface="Tahoma"/>
                <a:cs typeface="Tahoma"/>
              </a:rPr>
              <a:t>ลำดับการประเมิน  /  สายสนับสนุน</a:t>
            </a:r>
          </a:p>
        </p:txBody>
      </p:sp>
      <p:sp>
        <p:nvSpPr>
          <p:cNvPr id="3" name="title-16">
            <a:extLst xmlns:a="http://schemas.openxmlformats.org/drawingml/2006/main">
              <a:ext uri="{FF2B5EF4-FFF2-40B4-BE49-F238E27FC236}">
                <a16:creationId xmlns:a16="http://schemas.microsoft.com/office/drawing/2014/main" id="{0A3D7B22-C3EC-42AD-9D9F-8D1482D794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668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307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307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ผู้ประเมินแต่ละคนส่งต่องานตามลำดับ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1EB387C-006A-475B-BFD7-56B727FCF0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5450" y="3457575"/>
            <a:ext cx="76581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07D8F52-E103-415B-A962-F63D9BAB21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7350" y="2914650"/>
            <a:ext cx="1104900" cy="1104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8C8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A7C9A03-8897-4B36-AAA2-2ED327D75D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7350" y="3219450"/>
            <a:ext cx="11049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325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2325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F09AC8C-B1C5-4931-8193-F55A4C884F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43400"/>
            <a:ext cx="3048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02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202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ผู้ประเมินคนที่ 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3E29236-70C6-4A40-B590-360C29EC7D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14900"/>
            <a:ext cx="3048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7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57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ตรวจและให้ผล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472C71F-6BCC-4631-94DC-4E55FDF42E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2914650"/>
            <a:ext cx="1104900" cy="1104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8C8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FE60B9B-CD3E-486D-9DD8-84356C240A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3219450"/>
            <a:ext cx="11049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325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2325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66CA1F2-113C-4BEF-8CEC-3F10795727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4343400"/>
            <a:ext cx="3048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02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202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ผู้ประเมินคนถัดไป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61FC929-741C-44E5-B1C8-D93B806C57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4914900"/>
            <a:ext cx="3048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7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57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รับงานตามลำดับ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50D6E6A-EC0E-4E7B-B34E-1BF0E761AC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2914650"/>
            <a:ext cx="1104900" cy="1104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79A2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738067A-D88F-4F38-8677-B74E2E4205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3219450"/>
            <a:ext cx="11049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325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2325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3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24FE272-32CC-4A7D-9D54-71D9DC62D9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4343400"/>
            <a:ext cx="3048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02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202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ผู้ประเมินคนสุดท้าย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60A2DA3-E713-4ADF-B85E-8875EB9F60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4914900"/>
            <a:ext cx="3048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7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57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ยืนยันขั้นสุดท้าย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1D3382A-E5B8-4968-B9ED-3A8DE55C9E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75" b="1">
                <a:solidFill>
                  <a:srgbClr val="00615E"/>
                </a:solidFill>
                <a:latin typeface="Tahoma"/>
                <a:ea typeface="Tahoma"/>
                <a:cs typeface="Tahoma"/>
              </a:defRPr>
            </a:pPr>
            <a:r>
              <a:rPr sz="1575" b="1">
                <a:solidFill>
                  <a:srgbClr val="00615E"/>
                </a:solidFill>
                <a:latin typeface="Tahoma"/>
                <a:ea typeface="Tahoma"/>
                <a:cs typeface="Tahoma"/>
              </a:rPr>
              <a:t>ผู้ประเมินคนสุดท้ายยืนยันแล้ว สถานะจะเป็น ประเมินเสร็จสิ้น (Completed)</a:t>
            </a:r>
          </a:p>
        </p:txBody>
      </p:sp>
      <p:sp>
        <p:nvSpPr>
          <p:cNvPr id="18" name="footer-rule-16">
            <a:extLst xmlns:a="http://schemas.openxmlformats.org/drawingml/2006/main">
              <a:ext uri="{FF2B5EF4-FFF2-40B4-BE49-F238E27FC236}">
                <a16:creationId xmlns:a16="http://schemas.microsoft.com/office/drawing/2014/main" id="{38921732-F854-4DA4-8F05-A834110B88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484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footer-label-16">
            <a:extLst xmlns:a="http://schemas.openxmlformats.org/drawingml/2006/main">
              <a:ext uri="{FF2B5EF4-FFF2-40B4-BE49-F238E27FC236}">
                <a16:creationId xmlns:a16="http://schemas.microsoft.com/office/drawing/2014/main" id="{49732D90-0661-4DC0-A406-4776C03E31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53200"/>
            <a:ext cx="5238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97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MSU EVA  •  ภาคบ่าย สายสนับสนุน</a:t>
            </a:r>
          </a:p>
        </p:txBody>
      </p:sp>
      <p:sp>
        <p:nvSpPr>
          <p:cNvPr id="20" name="footer-page-16">
            <a:extLst xmlns:a="http://schemas.openxmlformats.org/drawingml/2006/main">
              <a:ext uri="{FF2B5EF4-FFF2-40B4-BE49-F238E27FC236}">
                <a16:creationId xmlns:a16="http://schemas.microsoft.com/office/drawing/2014/main" id="{D1FD73CD-193E-4559-A756-260A984F97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553200"/>
            <a:ext cx="11049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75" b="1">
                <a:solidFill>
                  <a:srgbClr val="008C86"/>
                </a:solidFill>
                <a:latin typeface="Tahoma"/>
                <a:ea typeface="Tahoma"/>
                <a:cs typeface="Tahoma"/>
              </a:defRPr>
            </a:pPr>
            <a:r>
              <a:rPr sz="975" b="1">
                <a:solidFill>
                  <a:srgbClr val="008C86"/>
                </a:solidFill>
                <a:latin typeface="Tahoma"/>
                <a:ea typeface="Tahoma"/>
                <a:cs typeface="Tahoma"/>
              </a:rPr>
              <a:t>16 / 18</a:t>
            </a:r>
          </a:p>
        </p:txBody>
      </p:sp>
    </p:spTree>
    <p:extLst>
      <p:ext uri="{BB962C8B-B14F-4D97-AF65-F5344CB8AC3E}">
        <p14:creationId xmlns:p14="http://schemas.microsoft.com/office/powerpoint/2010/main" val="989540095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side-accent-17">
            <a:extLst xmlns:a="http://schemas.openxmlformats.org/drawingml/2006/main">
              <a:ext uri="{FF2B5EF4-FFF2-40B4-BE49-F238E27FC236}">
                <a16:creationId xmlns:a16="http://schemas.microsoft.com/office/drawing/2014/main" id="{5874CDC2-2814-49F5-B1CC-0CDCA4EACB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C8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kicker-17">
            <a:extLst xmlns:a="http://schemas.openxmlformats.org/drawingml/2006/main">
              <a:ext uri="{FF2B5EF4-FFF2-40B4-BE49-F238E27FC236}">
                <a16:creationId xmlns:a16="http://schemas.microsoft.com/office/drawing/2014/main" id="{9BA6637E-131E-4CFD-81E9-68D6C9A3C3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4953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008C86"/>
                </a:solidFill>
                <a:latin typeface="Tahoma"/>
                <a:ea typeface="Tahoma"/>
                <a:cs typeface="Tahoma"/>
              </a:defRPr>
            </a:pPr>
            <a:r>
              <a:rPr sz="1125" b="1">
                <a:solidFill>
                  <a:srgbClr val="008C86"/>
                </a:solidFill>
                <a:latin typeface="Tahoma"/>
                <a:ea typeface="Tahoma"/>
                <a:cs typeface="Tahoma"/>
              </a:rPr>
              <a:t>ภารกิจฝึกปฏิบัติ  /  สายสนับสนุน</a:t>
            </a:r>
          </a:p>
        </p:txBody>
      </p:sp>
      <p:sp>
        <p:nvSpPr>
          <p:cNvPr id="3" name="title-17">
            <a:extLst xmlns:a="http://schemas.openxmlformats.org/drawingml/2006/main">
              <a:ext uri="{FF2B5EF4-FFF2-40B4-BE49-F238E27FC236}">
                <a16:creationId xmlns:a16="http://schemas.microsoft.com/office/drawing/2014/main" id="{91AF98D1-1379-4BF1-852C-936277DFB6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668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307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307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ลองบันทึกกิจกรรม 1 รายการให้ครบ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5A3D44E-61D7-4B1A-A92C-A973D2ECD6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47850"/>
            <a:ext cx="8382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72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72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ทำตามลำดับ แล้วเรียกวิทยากรตรวจเมื่อครบ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D8A5629-B873-4314-97F0-F5F1534F57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24150"/>
            <a:ext cx="514350" cy="514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8C8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687BA64-C40E-43EC-BE4E-AD881FC4B1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09875"/>
            <a:ext cx="514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650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1650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5D48545-A482-43E5-AB4D-86DB5FB4CC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2705100"/>
            <a:ext cx="4191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800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1800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เลือกกิจกรรมที่กำหนด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F083304-588F-44AF-9FF3-4557098291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724150"/>
            <a:ext cx="514350" cy="514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8C8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2112760-AFB7-4768-AE19-CBBD19C5B4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809875"/>
            <a:ext cx="514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650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1650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2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6FB4668-BB53-4312-8B2D-F23811C09D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7050" y="2705100"/>
            <a:ext cx="4191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800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1800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กรอกเป้าหมายและผล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B6C57FB-A908-45F8-B8EB-0B75C16944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924300"/>
            <a:ext cx="514350" cy="514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8C8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CA97E19-7689-4189-AEF3-B974624A38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10025"/>
            <a:ext cx="514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650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1650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3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13BD32A-8B80-44AA-9283-90E8784C23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3905250"/>
            <a:ext cx="4191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800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1800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ตรวจคะแนนถ่วงน้ำหนัก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8756910-961B-49BF-B25F-E1BAEBC2F8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3924300"/>
            <a:ext cx="514350" cy="514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79A2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4A7BF4E-BBD4-40F4-9E81-7BFF07733C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4010025"/>
            <a:ext cx="514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650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1650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4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D79197D-9D19-4B1E-AE3B-59BAA4D988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7050" y="3905250"/>
            <a:ext cx="4191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800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1800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แนบหลักฐานและบันทึกร่าง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2BC49A0-3D11-4A0A-B584-EDD768004B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67350"/>
            <a:ext cx="10972800" cy="57150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E2F4F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663B496-0C34-444B-834B-FFEC091721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619750"/>
            <a:ext cx="10515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75" b="1">
                <a:solidFill>
                  <a:srgbClr val="00615E"/>
                </a:solidFill>
                <a:latin typeface="Tahoma"/>
                <a:ea typeface="Tahoma"/>
                <a:cs typeface="Tahoma"/>
              </a:defRPr>
            </a:pPr>
            <a:r>
              <a:rPr sz="1575" b="1">
                <a:solidFill>
                  <a:srgbClr val="00615E"/>
                </a:solidFill>
                <a:latin typeface="Tahoma"/>
                <a:ea typeface="Tahoma"/>
                <a:cs typeface="Tahoma"/>
              </a:rPr>
              <a:t>ผ่านเมื่อ: ข้อมูลครบ • หลักฐานเปิดได้ • พร้อมอธิบายที่มาของคะแนน</a:t>
            </a:r>
          </a:p>
        </p:txBody>
      </p:sp>
      <p:sp>
        <p:nvSpPr>
          <p:cNvPr id="19" name="footer-rule-17">
            <a:extLst xmlns:a="http://schemas.openxmlformats.org/drawingml/2006/main">
              <a:ext uri="{FF2B5EF4-FFF2-40B4-BE49-F238E27FC236}">
                <a16:creationId xmlns:a16="http://schemas.microsoft.com/office/drawing/2014/main" id="{751A410C-7CC7-4EB3-91DF-D5E5C635D9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484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footer-label-17">
            <a:extLst xmlns:a="http://schemas.openxmlformats.org/drawingml/2006/main">
              <a:ext uri="{FF2B5EF4-FFF2-40B4-BE49-F238E27FC236}">
                <a16:creationId xmlns:a16="http://schemas.microsoft.com/office/drawing/2014/main" id="{4D07DC89-3FB3-4285-85CE-0BFCA0F7B2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53200"/>
            <a:ext cx="5238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97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MSU EVA  •  ภาคบ่าย สายสนับสนุน</a:t>
            </a:r>
          </a:p>
        </p:txBody>
      </p:sp>
      <p:sp>
        <p:nvSpPr>
          <p:cNvPr id="21" name="footer-page-17">
            <a:extLst xmlns:a="http://schemas.openxmlformats.org/drawingml/2006/main">
              <a:ext uri="{FF2B5EF4-FFF2-40B4-BE49-F238E27FC236}">
                <a16:creationId xmlns:a16="http://schemas.microsoft.com/office/drawing/2014/main" id="{70580EDE-6A68-4C1F-97D3-663D30EF8E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553200"/>
            <a:ext cx="11049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75" b="1">
                <a:solidFill>
                  <a:srgbClr val="008C86"/>
                </a:solidFill>
                <a:latin typeface="Tahoma"/>
                <a:ea typeface="Tahoma"/>
                <a:cs typeface="Tahoma"/>
              </a:defRPr>
            </a:pPr>
            <a:r>
              <a:rPr sz="975" b="1">
                <a:solidFill>
                  <a:srgbClr val="008C86"/>
                </a:solidFill>
                <a:latin typeface="Tahoma"/>
                <a:ea typeface="Tahoma"/>
                <a:cs typeface="Tahoma"/>
              </a:rPr>
              <a:t>17 / 18</a:t>
            </a:r>
          </a:p>
        </p:txBody>
      </p:sp>
    </p:spTree>
    <p:extLst>
      <p:ext uri="{BB962C8B-B14F-4D97-AF65-F5344CB8AC3E}">
        <p14:creationId xmlns:p14="http://schemas.microsoft.com/office/powerpoint/2010/main" val="987645612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side-accent-18">
            <a:extLst xmlns:a="http://schemas.openxmlformats.org/drawingml/2006/main">
              <a:ext uri="{FF2B5EF4-FFF2-40B4-BE49-F238E27FC236}">
                <a16:creationId xmlns:a16="http://schemas.microsoft.com/office/drawing/2014/main" id="{4DFEB07B-B090-4887-99CB-6CF07481D2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C8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kicker-18">
            <a:extLst xmlns:a="http://schemas.openxmlformats.org/drawingml/2006/main">
              <a:ext uri="{FF2B5EF4-FFF2-40B4-BE49-F238E27FC236}">
                <a16:creationId xmlns:a16="http://schemas.microsoft.com/office/drawing/2014/main" id="{BBC533D7-F4B8-4ADB-BDF4-DB85000311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4953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008C86"/>
                </a:solidFill>
                <a:latin typeface="Tahoma"/>
                <a:ea typeface="Tahoma"/>
                <a:cs typeface="Tahoma"/>
              </a:defRPr>
            </a:pPr>
            <a:r>
              <a:rPr sz="1125" b="1">
                <a:solidFill>
                  <a:srgbClr val="008C86"/>
                </a:solidFill>
                <a:latin typeface="Tahoma"/>
                <a:ea typeface="Tahoma"/>
                <a:cs typeface="Tahoma"/>
              </a:rPr>
              <a:t>แก้ปัญหาเบื้องต้น  /  สายสนับสนุน</a:t>
            </a:r>
          </a:p>
        </p:txBody>
      </p:sp>
      <p:sp>
        <p:nvSpPr>
          <p:cNvPr id="3" name="title-18">
            <a:extLst xmlns:a="http://schemas.openxmlformats.org/drawingml/2006/main">
              <a:ext uri="{FF2B5EF4-FFF2-40B4-BE49-F238E27FC236}">
                <a16:creationId xmlns:a16="http://schemas.microsoft.com/office/drawing/2014/main" id="{62662B87-5D1E-4DA2-99DB-B6997E18BF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668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307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307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หากใช้งานไม่ได้ ให้ตรวจสอบ 4 จุดนี้ก่อน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16C54B0-2DF9-4696-819E-ED96D0515A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14550"/>
            <a:ext cx="6096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008C86"/>
                </a:solidFill>
                <a:latin typeface="Tahoma"/>
                <a:ea typeface="Tahoma"/>
                <a:cs typeface="Tahoma"/>
              </a:defRPr>
            </a:pPr>
            <a:r>
              <a:rPr sz="1350" b="1">
                <a:solidFill>
                  <a:srgbClr val="008C86"/>
                </a:solidFill>
                <a:latin typeface="Tahoma"/>
                <a:ea typeface="Tahoma"/>
                <a:cs typeface="Tahoma"/>
              </a:rPr>
              <a:t>01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9D0DFA6-E36B-4BA6-A379-324CB71E38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2076450"/>
            <a:ext cx="28003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02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202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งานไม่ปรากฏ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3A5D011-13B9-4B95-937F-04DA213407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2114550"/>
            <a:ext cx="6858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7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57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ตรวจงานที่ได้รับมอบหมาย และแจ้งผู้ดูแลระบบหากรอบไม่ถูกต้อง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E22FE7C-FD97-4854-B58F-49B4CF9B84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2705100"/>
            <a:ext cx="9867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6BFBC38-884D-42C3-8370-1C6FF52586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90850"/>
            <a:ext cx="6096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008C86"/>
                </a:solidFill>
                <a:latin typeface="Tahoma"/>
                <a:ea typeface="Tahoma"/>
                <a:cs typeface="Tahoma"/>
              </a:defRPr>
            </a:pPr>
            <a:r>
              <a:rPr sz="1350" b="1">
                <a:solidFill>
                  <a:srgbClr val="008C86"/>
                </a:solidFill>
                <a:latin typeface="Tahoma"/>
                <a:ea typeface="Tahoma"/>
                <a:cs typeface="Tahoma"/>
              </a:rPr>
              <a:t>02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55264AF-8767-435D-89DD-B54235CF15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2952750"/>
            <a:ext cx="28003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02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202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ปุ่มใช้งานไม่ได้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D019F20-42CD-4D47-9A5E-760137D5BC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2990850"/>
            <a:ext cx="6858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7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57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ตรวจสถานะปัจจุบันและสิทธิ์ของบทบาท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F230137-9563-4BE8-90BA-1130F784E8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3581400"/>
            <a:ext cx="9867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BDB46DE-C0E1-4700-AA11-F6493050C6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67150"/>
            <a:ext cx="6096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008C86"/>
                </a:solidFill>
                <a:latin typeface="Tahoma"/>
                <a:ea typeface="Tahoma"/>
                <a:cs typeface="Tahoma"/>
              </a:defRPr>
            </a:pPr>
            <a:r>
              <a:rPr sz="1350" b="1">
                <a:solidFill>
                  <a:srgbClr val="008C86"/>
                </a:solidFill>
                <a:latin typeface="Tahoma"/>
                <a:ea typeface="Tahoma"/>
                <a:cs typeface="Tahoma"/>
              </a:rPr>
              <a:t>03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CC58F9B-E377-4690-80A5-C110DD2717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3829050"/>
            <a:ext cx="28003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02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202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บันทึกหรือส่งไม่ได้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3FD4F2C-C165-4DB9-8EED-9EFE74C5C7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3867150"/>
            <a:ext cx="6858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7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57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ตรวจข้อมูลบังคับ คะแนน และลิงก์หลักฐาน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7E8C90C-CFA4-4FD7-9DD6-76E2450E25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4457700"/>
            <a:ext cx="9867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C4A1AEC-A757-4D03-9A9B-2256611680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43450"/>
            <a:ext cx="6096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C79A2B"/>
                </a:solidFill>
                <a:latin typeface="Tahoma"/>
                <a:ea typeface="Tahoma"/>
                <a:cs typeface="Tahoma"/>
              </a:defRPr>
            </a:pPr>
            <a:r>
              <a:rPr sz="1350" b="1">
                <a:solidFill>
                  <a:srgbClr val="C79A2B"/>
                </a:solidFill>
                <a:latin typeface="Tahoma"/>
                <a:ea typeface="Tahoma"/>
                <a:cs typeface="Tahoma"/>
              </a:rPr>
              <a:t>04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44FF67E-E7FC-4004-8E94-5503A388E2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4705350"/>
            <a:ext cx="28003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02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202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ยังแก้ไม่ได้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3A7F93C-2F46-4A8B-BEB8-540764064E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4743450"/>
            <a:ext cx="6858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7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57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จดชื่อรายการและสถานะ แล้วติดต่อผู้ดูแลระบบ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D8489B0-A68B-484B-8446-7066A6C22E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34050"/>
            <a:ext cx="723900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E2F4F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5A83517-873A-4E19-AB82-0C7672BE9B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838825"/>
            <a:ext cx="6858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1">
                <a:solidFill>
                  <a:srgbClr val="00615E"/>
                </a:solidFill>
                <a:latin typeface="Tahoma"/>
                <a:ea typeface="Tahoma"/>
                <a:cs typeface="Tahoma"/>
              </a:defRPr>
            </a:pPr>
            <a:r>
              <a:rPr sz="1425" b="1">
                <a:solidFill>
                  <a:srgbClr val="00615E"/>
                </a:solidFill>
                <a:latin typeface="Tahoma"/>
                <a:ea typeface="Tahoma"/>
                <a:cs typeface="Tahoma"/>
              </a:rPr>
              <a:t>คู่มือผู้ใช้ • ผู้ดูแลระบบของหน่วยงาน</a:t>
            </a:r>
          </a:p>
        </p:txBody>
      </p:sp>
      <p:pic>
        <p:nvPicPr>
          <p:cNvPr id="4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40b59ebce364ffd"/>
          <a:stretch xmlns:a="http://schemas.openxmlformats.org/drawingml/2006/main"/>
        </p:blipFill>
        <p:spPr>
          <a:xfrm xmlns:a="http://schemas.openxmlformats.org/drawingml/2006/main">
            <a:off x="9018037" y="5638800"/>
            <a:ext cx="2309327" cy="628650"/>
          </a:xfrm>
          <a:prstGeom xmlns:a="http://schemas.openxmlformats.org/drawingml/2006/main" prst="rect">
            <a:avLst/>
          </a:prstGeom>
        </p:spPr>
      </p:pic>
      <p:sp>
        <p:nvSpPr>
          <p:cNvPr id="22" name="footer-rule-18">
            <a:extLst xmlns:a="http://schemas.openxmlformats.org/drawingml/2006/main">
              <a:ext uri="{FF2B5EF4-FFF2-40B4-BE49-F238E27FC236}">
                <a16:creationId xmlns:a16="http://schemas.microsoft.com/office/drawing/2014/main" id="{A60CCDB7-8192-4C2B-BECE-74385F1EEB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484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footer-label-18">
            <a:extLst xmlns:a="http://schemas.openxmlformats.org/drawingml/2006/main">
              <a:ext uri="{FF2B5EF4-FFF2-40B4-BE49-F238E27FC236}">
                <a16:creationId xmlns:a16="http://schemas.microsoft.com/office/drawing/2014/main" id="{16F7F4E2-58F1-4502-9886-13DB0EE007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53200"/>
            <a:ext cx="5238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97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MSU EVA  •  ภาคบ่าย สายสนับสนุน</a:t>
            </a:r>
          </a:p>
        </p:txBody>
      </p:sp>
      <p:sp>
        <p:nvSpPr>
          <p:cNvPr id="24" name="footer-page-18">
            <a:extLst xmlns:a="http://schemas.openxmlformats.org/drawingml/2006/main">
              <a:ext uri="{FF2B5EF4-FFF2-40B4-BE49-F238E27FC236}">
                <a16:creationId xmlns:a16="http://schemas.microsoft.com/office/drawing/2014/main" id="{35C42300-8ED7-4A37-A6EF-21FEFA29F4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553200"/>
            <a:ext cx="11049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75" b="1">
                <a:solidFill>
                  <a:srgbClr val="008C86"/>
                </a:solidFill>
                <a:latin typeface="Tahoma"/>
                <a:ea typeface="Tahoma"/>
                <a:cs typeface="Tahoma"/>
              </a:defRPr>
            </a:pPr>
            <a:r>
              <a:rPr sz="975" b="1">
                <a:solidFill>
                  <a:srgbClr val="008C86"/>
                </a:solidFill>
                <a:latin typeface="Tahoma"/>
                <a:ea typeface="Tahoma"/>
                <a:cs typeface="Tahoma"/>
              </a:rPr>
              <a:t>18 / 18</a:t>
            </a:r>
          </a:p>
        </p:txBody>
      </p:sp>
    </p:spTree>
    <p:extLst>
      <p:ext uri="{BB962C8B-B14F-4D97-AF65-F5344CB8AC3E}">
        <p14:creationId xmlns:p14="http://schemas.microsoft.com/office/powerpoint/2010/main" val="1502537650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2026-07-30T05:58:53.0500000Z</dcterms:created>
  <dcterms:modified xsi:type="dcterms:W3CDTF">2026-07-30T05:58:53.0500000Z</dcterms:modified>
</coreProperties>
</file>