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ea2269e47747df" /><Relationship Type="http://schemas.openxmlformats.org/officeDocument/2006/relationships/extended-properties" Target="/docProps/app.xml" Id="R240c1b68101544f3" /><Relationship Type="http://schemas.openxmlformats.org/officeDocument/2006/relationships/officeDocument" Target="/ppt/presentation.xml" Id="R552ca59c19cd4d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4d28daa68b4541"/>
  </p:sldMasterIdLst>
  <p:notesMasterIdLst>
    <p:notesMasterId xmlns:r="http://schemas.openxmlformats.org/officeDocument/2006/relationships" r:id="R08860f1f19104dcf"/>
  </p:notesMasterIdLst>
  <p:sldIdLst>
    <p:sldId xmlns:r="http://schemas.openxmlformats.org/officeDocument/2006/relationships" id="256" r:id="R32c4444fe080448e"/>
    <p:sldId xmlns:r="http://schemas.openxmlformats.org/officeDocument/2006/relationships" id="257" r:id="Re130338252404ac1"/>
    <p:sldId xmlns:r="http://schemas.openxmlformats.org/officeDocument/2006/relationships" id="258" r:id="R1b65659df2a44a21"/>
    <p:sldId xmlns:r="http://schemas.openxmlformats.org/officeDocument/2006/relationships" id="259" r:id="R627da5f63fb94af1"/>
    <p:sldId xmlns:r="http://schemas.openxmlformats.org/officeDocument/2006/relationships" id="260" r:id="R549e549350724ee7"/>
    <p:sldId xmlns:r="http://schemas.openxmlformats.org/officeDocument/2006/relationships" id="261" r:id="R0a7f2f74331f4efd"/>
    <p:sldId xmlns:r="http://schemas.openxmlformats.org/officeDocument/2006/relationships" id="262" r:id="R7d3456ab7ddb4042"/>
    <p:sldId xmlns:r="http://schemas.openxmlformats.org/officeDocument/2006/relationships" id="263" r:id="Rb34313a05c1741a3"/>
    <p:sldId xmlns:r="http://schemas.openxmlformats.org/officeDocument/2006/relationships" id="264" r:id="Rd11c4ef00f9943e6"/>
    <p:sldId xmlns:r="http://schemas.openxmlformats.org/officeDocument/2006/relationships" id="265" r:id="R8309b37730f148bb"/>
    <p:sldId xmlns:r="http://schemas.openxmlformats.org/officeDocument/2006/relationships" id="266" r:id="R011b9bbe255f4908"/>
    <p:sldId xmlns:r="http://schemas.openxmlformats.org/officeDocument/2006/relationships" id="267" r:id="Rc7fa449752014db1"/>
    <p:sldId xmlns:r="http://schemas.openxmlformats.org/officeDocument/2006/relationships" id="268" r:id="Rd69ff265ce7946b0"/>
    <p:sldId xmlns:r="http://schemas.openxmlformats.org/officeDocument/2006/relationships" id="269" r:id="Rce96eb67928f401a"/>
    <p:sldId xmlns:r="http://schemas.openxmlformats.org/officeDocument/2006/relationships" id="270" r:id="Rfcb4e59003a149f1"/>
    <p:sldId xmlns:r="http://schemas.openxmlformats.org/officeDocument/2006/relationships" id="271" r:id="R7cbfaa0aa0d7414c"/>
    <p:sldId xmlns:r="http://schemas.openxmlformats.org/officeDocument/2006/relationships" id="272" r:id="R1181d4b9781f4377"/>
    <p:sldId xmlns:r="http://schemas.openxmlformats.org/officeDocument/2006/relationships" id="273" r:id="R83e918546a704fe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7984e11f9f4f24" /><Relationship Type="http://schemas.openxmlformats.org/officeDocument/2006/relationships/slideMaster" Target="/ppt/slideMasters/slideMaster1.xml" Id="R3e4d28daa68b4541" /><Relationship Type="http://schemas.openxmlformats.org/officeDocument/2006/relationships/notesMaster" Target="/ppt/notesMasters/notesMaster1.xml" Id="R08860f1f19104dcf" /><Relationship Type="http://schemas.openxmlformats.org/officeDocument/2006/relationships/presProps" Target="/ppt/presProps.xml" Id="R7939e1ab048048bc" /><Relationship Type="http://schemas.openxmlformats.org/officeDocument/2006/relationships/tableStyles" Target="/ppt/tableStyles.xml" Id="R1b9d9a7934a64c3e" /><Relationship Type="http://schemas.openxmlformats.org/officeDocument/2006/relationships/slide" Target="/ppt/slides/slide1.xml" Id="R32c4444fe080448e" /><Relationship Type="http://schemas.openxmlformats.org/officeDocument/2006/relationships/slide" Target="/ppt/slides/slide2.xml" Id="Re130338252404ac1" /><Relationship Type="http://schemas.openxmlformats.org/officeDocument/2006/relationships/slide" Target="/ppt/slides/slide3.xml" Id="R1b65659df2a44a21" /><Relationship Type="http://schemas.openxmlformats.org/officeDocument/2006/relationships/slide" Target="/ppt/slides/slide4.xml" Id="R627da5f63fb94af1" /><Relationship Type="http://schemas.openxmlformats.org/officeDocument/2006/relationships/slide" Target="/ppt/slides/slide5.xml" Id="R549e549350724ee7" /><Relationship Type="http://schemas.openxmlformats.org/officeDocument/2006/relationships/slide" Target="/ppt/slides/slide6.xml" Id="R0a7f2f74331f4efd" /><Relationship Type="http://schemas.openxmlformats.org/officeDocument/2006/relationships/slide" Target="/ppt/slides/slide7.xml" Id="R7d3456ab7ddb4042" /><Relationship Type="http://schemas.openxmlformats.org/officeDocument/2006/relationships/slide" Target="/ppt/slides/slide8.xml" Id="Rb34313a05c1741a3" /><Relationship Type="http://schemas.openxmlformats.org/officeDocument/2006/relationships/slide" Target="/ppt/slides/slide9.xml" Id="Rd11c4ef00f9943e6" /><Relationship Type="http://schemas.openxmlformats.org/officeDocument/2006/relationships/slide" Target="/ppt/slides/slide10.xml" Id="R8309b37730f148bb" /><Relationship Type="http://schemas.openxmlformats.org/officeDocument/2006/relationships/slide" Target="/ppt/slides/slide11.xml" Id="R011b9bbe255f4908" /><Relationship Type="http://schemas.openxmlformats.org/officeDocument/2006/relationships/slide" Target="/ppt/slides/slide12.xml" Id="Rc7fa449752014db1" /><Relationship Type="http://schemas.openxmlformats.org/officeDocument/2006/relationships/slide" Target="/ppt/slides/slide13.xml" Id="Rd69ff265ce7946b0" /><Relationship Type="http://schemas.openxmlformats.org/officeDocument/2006/relationships/slide" Target="/ppt/slides/slide14.xml" Id="Rce96eb67928f401a" /><Relationship Type="http://schemas.openxmlformats.org/officeDocument/2006/relationships/slide" Target="/ppt/slides/slide15.xml" Id="Rfcb4e59003a149f1" /><Relationship Type="http://schemas.openxmlformats.org/officeDocument/2006/relationships/slide" Target="/ppt/slides/slide16.xml" Id="R7cbfaa0aa0d7414c" /><Relationship Type="http://schemas.openxmlformats.org/officeDocument/2006/relationships/slide" Target="/ppt/slides/slide17.xml" Id="R1181d4b9781f4377" /><Relationship Type="http://schemas.openxmlformats.org/officeDocument/2006/relationships/slide" Target="/ppt/slides/slide18.xml" Id="R83e918546a704f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ff247ed44844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a4d0194e7e49d7" /><Relationship Type="http://schemas.openxmlformats.org/officeDocument/2006/relationships/notesMaster" Target="/ppt/notesMasters/notesMaster1.xml" Id="R53b3dbb9b9a641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e413c81bfa4aa9" /><Relationship Type="http://schemas.openxmlformats.org/officeDocument/2006/relationships/notesMaster" Target="/ppt/notesMasters/notesMaster1.xml" Id="R22adc53b343e4ba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3de4325a544f7b" /><Relationship Type="http://schemas.openxmlformats.org/officeDocument/2006/relationships/notesMaster" Target="/ppt/notesMasters/notesMaster1.xml" Id="R8a81df3a8e6d4d2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e085deecc14632" /><Relationship Type="http://schemas.openxmlformats.org/officeDocument/2006/relationships/notesMaster" Target="/ppt/notesMasters/notesMaster1.xml" Id="R1af9f1946ee74d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55346c7cae04cb5" /><Relationship Type="http://schemas.openxmlformats.org/officeDocument/2006/relationships/notesMaster" Target="/ppt/notesMasters/notesMaster1.xml" Id="R3eedfb7a40514f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28298ebd9a84c66" /><Relationship Type="http://schemas.openxmlformats.org/officeDocument/2006/relationships/notesMaster" Target="/ppt/notesMasters/notesMaster1.xml" Id="R3de94798a72f45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b7530e19f2948af" /><Relationship Type="http://schemas.openxmlformats.org/officeDocument/2006/relationships/notesMaster" Target="/ppt/notesMasters/notesMaster1.xml" Id="Rf90bb862a4ca45e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ac912c15dc64be9" /><Relationship Type="http://schemas.openxmlformats.org/officeDocument/2006/relationships/notesMaster" Target="/ppt/notesMasters/notesMaster1.xml" Id="R74278cbb12f94c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c0f4971825244cb" /><Relationship Type="http://schemas.openxmlformats.org/officeDocument/2006/relationships/notesMaster" Target="/ppt/notesMasters/notesMaster1.xml" Id="R0391e14e7e9f4e5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0a9cc7c0b23497b" /><Relationship Type="http://schemas.openxmlformats.org/officeDocument/2006/relationships/notesMaster" Target="/ppt/notesMasters/notesMaster1.xml" Id="Ra5e87415fa7545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f849e4502954c19" /><Relationship Type="http://schemas.openxmlformats.org/officeDocument/2006/relationships/notesMaster" Target="/ppt/notesMasters/notesMaster1.xml" Id="Re1edf54c982f441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ce9a7536aa540b7" /><Relationship Type="http://schemas.openxmlformats.org/officeDocument/2006/relationships/notesMaster" Target="/ppt/notesMasters/notesMaster1.xml" Id="R73d3edcfffa5491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0822812099940ae" /><Relationship Type="http://schemas.openxmlformats.org/officeDocument/2006/relationships/notesMaster" Target="/ppt/notesMasters/notesMaster1.xml" Id="R0590bb8084a142d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10d99dd61b44830" /><Relationship Type="http://schemas.openxmlformats.org/officeDocument/2006/relationships/notesMaster" Target="/ppt/notesMasters/notesMaster1.xml" Id="Rb21cf03aeaa3488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7db994cdefc424b" /><Relationship Type="http://schemas.openxmlformats.org/officeDocument/2006/relationships/notesMaster" Target="/ppt/notesMasters/notesMaster1.xml" Id="R17ee8911f6084f7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bef11cbcbb64d2f" /><Relationship Type="http://schemas.openxmlformats.org/officeDocument/2006/relationships/notesMaster" Target="/ppt/notesMasters/notesMaster1.xml" Id="R9805875fbe92404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722346306064183" /><Relationship Type="http://schemas.openxmlformats.org/officeDocument/2006/relationships/notesMaster" Target="/ppt/notesMasters/notesMaster1.xml" Id="R43cc3626a7384f4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d2032f1c18743c7" /><Relationship Type="http://schemas.openxmlformats.org/officeDocument/2006/relationships/notesMaster" Target="/ppt/notesMasters/notesMaster1.xml" Id="Ra456acb0944440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สวัสดีทุกท่านครับ สำหรับช่วงบ่ายนี้เราจะมาดูการใช้งานระบบประเมินผลการปฏิบัติงานบุคลากร หรือ MSU EVA สำหรับบุคลากรสายสนับสนุนกันนะครับ บางท่านอาจอยู่ต่อจากช่วงเช้า บางท่านเพิ่งเข้ามาใหม่ และมีทั้งผู้รับการประเมิน ผู้ประเมิน ผู้บริหาร รวมถึงผู้ประเมินระบบ ไม่ต้องกังวลครับ เราจะเริ่มจากภาพรวมสั้น ๆ ก่อน แล้วผมจะสาธิตหนึ่งรายการให้ดู หลังจากนั้นทุกท่านจะได้ทดลองกับบัญชีที่เตรียมไว้ครับ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เป้าหมายของช่วงบ่ายนี้ชัดเจนครับ เราจะทำกิจกรรมหนึ่งรายการให้ครบ ตั้งแต่เลือกกิจกรรม กรอกเป้าหมายและผล ตรวจคะแนน แนบหลักฐาน ไปจนถึงบันทึกร่าง ที่สำคัญคือเราต้องอธิบายได้ว่าคะแนนเกิดจากข้อมูลใด รอบประเมินเป็นสิ่งที่ผู้ดูแลระบบกำหนดไว้แล้วนะครับ ผู้ใช้งานมีหน้าที่ตรวจรอบกับรายการที่ได้รับมอบหมาย เมื่อพร้อมแล้ว ทีนี้เรามาดูว่าระบบช่วยงานส่วนไหนบ้างครับ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ระบบไม่ได้มีเฉพาะหน้ากรอกกิจกรรมครับ ก่อนเริ่มใช้งาน Admin จะจัดการผู้ใช้ สิทธิ์ เกณฑ์ รอบประเมิน และการมอบหมายงานให้เรียบร้อย ส่วนผู้ใช้งานจะทำงานตามรายการที่ได้รับ ตั้งแต่การกรอกข้อมูล การประเมิน การติดตามสถานะ จนถึงการออกรายงาน ดังนั้นผู้เข้าอบรมไม่ต้องสร้างหรือเลือกรอบประเมินเองครับ เพียงตรวจว่ารอบและรายการถูกต้อง แล้วทำหน้าที่ตามสิทธิ์ของตนเอง ต่อไปเรามาดูผู้ใช้งานแต่ละกลุ่มกันครับ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ในระบบมีห้าบทบาทหลักครับ ได้แก่ Admin ผู้รับการประเมิน ผู้ประเมิน กรรมการ และผู้บริหาร แต่ละบทบาทจะเห็นเมนูต่างกัน ตรงนี้ขอเน้นครับ Admin เป็นผู้กำหนดผู้ใช้ เกณฑ์ รอบประเมิน การมอบหมาย และลำดับผู้ประเมิน ส่วนบทบาทผู้ประเมิน กรรมการ และผู้บริหารจะถูกใช้ตามขั้นที่ Admin จัดไว้ บางงานอาจใช้ไม่ครบทุกบทบาท และงานจะเสร็จสมบูรณ์เมื่อผู้ประเมินลำดับสุดท้ายกดยืนยันผลครับ เมื่อรู้ว่าใครทำอะไรแล้ว เรามาดูเส้นทางของงานทั้งกระบวนการกันครับ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ลองดูภาพนี้จากซ้ายไปขวาครับ ผู้รับการประเมินเปิดงาน เลือกกิจกรรม กรอกผล ตรวจคะแนนและหลักฐาน แล้วจึงส่งแบบประเมิน หลังจากนั้นระบบส่งงานให้ผู้ประเมินทีละคนตามลำดับ คนสุดท้ายยืนยันเมื่อใด งานจึงเป็นประเมินเสร็จสิ้น หรือ Completed ครับ จำไว้ว่าแต่ละปุ่มมีผลกับคนถัดไป เมื่อเห็นภาพรวมแล้ว ต่อไปเราจะเริ่มจากบทบาทของผู้กรอกข้อมูลครับ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ผู้รับการประเมินมีหน้าที่กรอกข้อมูลกิจกรรมให้ครบครับ ในแต่ละกิจกรรมต้องระบุว่า ทำอะไร ตั้งเป้าหมายไว้เท่าไร ผลจริงเป็นอย่างไร และใช้หลักฐานใดยืนยัน หากข้อมูลยังไม่ครบ ให้บันทึกร่างไว้ก่อน ยังไม่ต้องส่งแบบประเมิน เพราะผู้ประเมินจะใช้ข้อมูลส่วนนี้ประกอบการให้ผลครับ ต่อไปเรามาดูจุดเริ่มต้นบนแดชบอร์ดครับ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ต่อไปมาที่แดชบอร์ดของฉันครับ ก่อนเปิดงานให้ตรวจรอบประเมินที่ผู้ดูแลระบบกำหนด รายการที่ได้รับมอบหมาย และสถานะปัจจุบัน ผู้ใช้งานไม่ต้องเลือกรอบเองนะครับ ถ้ารายการไม่ตรงให้หยุดและแจ้งผู้ดูแลระบบก่อน บนแดชบอร์ดให้สังเกตชื่อรอบ ชื่อรายการ และปุ่มเปิดงานครับ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เมื่อเปิดรายการแล้ว ให้ตรวจว่าข้อมูล 4 ส่วนสอดคล้องกันครับ หนึ่ง โครงการบอกว่างานนี้อยู่ภายใต้เรื่องใด สอง กิจกรรมบอกว่างานที่ทำคืออะไร สาม ตัวชี้วัดบอกว่าจะวัดผลอย่างไร และสี่ หลักฐานใช้ยืนยันผลที่กรอก หากข้อมูลส่วนใดไม่ตรงกัน ผู้ประเมินอาจต้องขอข้อมูลเพิ่มครับ ดังนั้นให้เลือกกิจกรรมที่ตรงกับงานจริงก่อน แล้วจึงกรอกเป้าหมายและผลครับ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ในหน้าบันทึกกิจกรรม มีสามส่วนที่อยากให้ดูครับ คือเป้าหมาย ผลที่ทำได้ และรายละเอียดกิจกรรม เป้าหมายคือค่าที่ตั้งไว้ ส่วนผลที่ทำได้คือสิ่งที่เกิดขึ้นจริง อย่าสลับสองช่องนี้นะครับ รายละเอียดกิจกรรมควรเขียนสั้น ๆ แต่บอกได้ว่าทำอะไรและเกิดผลอย่างไร เมื่อข้อมูลครบ ระบบจะนำไปคำนวณคะแนน ทีนี้เรามาดูสูตรแบบง่าย ๆ 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สูตรนี้ดูเหมือนมีหลายตัว แต่หลักคิดไม่ซับซ้อน คะแนนถ่วงน้ำหนักเท่ากับน้ำหนักคูณคะแนนที่ทำได้ แล้วหารหนึ่งร้อย น้ำหนักบอกความสำคัญของรายการ ส่วนคะแนนที่ทำได้มาจากผลเทียบกับเกณฑ์ ตรงนี้อย่ากรอกคะแนนถ่วงน้ำหนักเองนะครับ ระบบคำนวณให้ หน้าที่ของเราคือตรวจว่าค่าต้นทางถูกต้อง ต่อไปลองคำนวณจากตัวอย่างจริงกันครับ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ลองช่วยกันคิดนะครับ ถ้าน้ำหนักเท่ากับยี่สิบ และคะแนนที่ทำได้เท่ากับแปดสิบ ผลจะเป็นเท่าไรครับ ใช่ครับ คำตอบคือสิบหกคะแนน เพราะยี่สิบคูณแปดสิบแล้วหารหนึ่งร้อย ตัวอย่างนี้ช่วยให้เราตรวจคร่าว ๆ ได้ว่าคะแนนบนหน้าจอสมเหตุสมผลหรือไม่ ถ้าคะแนนไม่ตรง ให้ย้อนดูน้ำหนัก คะแนนที่ทำได้ และหน่วยข้อมูลก่อนครับ</a:t>
            </a:r>
          </a:p>
          <a:p xmlns:a="http://schemas.openxmlformats.org/drawingml/2006/main">
            <a:r>
              <a:t>[ถามผู้เข้าอบรม] ถ้าน้ำหนักเป็น 30 และคะแนนที่ทำได้เป็น 70 คะแนนถ่วงน้ำหนักควรเป็นเท่าไรครับ</a:t>
            </a:r>
          </a:p>
          <a:p xmlns:a="http://schemas.openxmlformats.org/drawingml/2006/main">
            <a:r>
              <a:t>[พูด] คำตอบคือ 21 คะแนนครับ ต่อไปเราจะดูหลักฐานที่ใช้รองรับผลกิจกรรม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ก่อนส่ง ให้ตรวจ 3 เรื่องครับ หนึ่ง คะแนนที่ระบบคำนวณสมเหตุสมผลหรือไม่ สอง ลิงก์หลักฐานเปิดได้จากบัญชีผู้ประเมินหรือไม่ และสาม หลักฐานตรงกับกิจกรรมหรือไม่ ควรตั้งชื่อไฟล์ให้รู้ว่าเป็นหลักฐานของรายการใดครับ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ถ้าข้อมูลยังไม่ครบ ให้บันทึกร่างไว้ก่อน เมื่อข้อมูลและหลักฐานครบแล้วจึงส่งแบบประเมินครับ ก่อนยืนยัน ลองหยุดตรวจอีกครั้งว่าผลที่ทำได้สอดคล้องกับรายละเอียดกิจกรรมและหลักฐานหรือไม่ วันนี้ตอนทดลองเราจะหยุดที่บันทึกร่างนะครับ ส่วนต่อไปผมจะอธิบายให้เห็นว่าเมื่อส่งจริง งานเดินต่ออย่างไร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หลังส่งแบบประเมิน ระบบจะส่งงานไปยังผู้ประเมินตามลำดับที่ Admin กำหนดครับ ผู้ประเมินแต่ละคนตรวจ บันทึกผล และส่งต่อให้คนถัดไป จำนวนขั้นอาจต่างกันในแต่ละงาน เวลาตรวจว่างานอยู่ที่ใคร ให้ดูสถานะและลำดับของรายการ ไม่ต้องคาดเดาจากชื่อตำแหน่งครับ ต่อไปเรามาดูหน้าที่ของผู้ประเมินครับ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ตอนนี้เรามาดูฝั่งผู้ประเมินครับ เมื่อได้รับงาน ให้ตรวจ 4 เรื่องตามลำดับ คือ กิจกรรมตรงกับเกณฑ์หรือไม่ เป้าหมายกับผลที่ทำได้สอดคล้องกันหรือไม่ คะแนนถูกต้องหรือไม่ และหลักฐานเปิดได้และตรงกับข้อมูลหรือไม่ หากข้อมูลยังไม่ครบ ยังไม่ต้องบันทึกผล ให้แจ้งผู้เกี่ยวข้องตามขั้นตอนที่หน่วยงานกำหนดครับ บนหน้าจอให้สังเกตด้วยว่า ส่วนใดเป็นข้อมูลที่ผู้รับการประเมินกรอก และส่วนใดเป็นผลที่ผู้ประเมินต้องบันทึกครับ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ผู้ประเมินแต่ละคนทำงานเฉพาะขั้นของตัวเองครับ เมื่อตรวจครบแล้วจึงส่งต่อ คนถัดไปจึงจะรับงาน และเมื่อถึงคนสุดท้าย บุคคลนั้นจะยืนยันขั้นสุดท้ายจนสถานะเป็น Completed คนสุดท้ายอาจเป็นบทบาทใดก็ได้ตามลำดับที่ Admin กำหนดนะครับ เมื่อส่งต่องาน สถานะและผู้รับผิดชอบจะเปลี่ยนไปตามลำดับ จนผู้ประเมินลำดับสุดท้ายยืนยันผลครับ</a:t>
            </a:r>
          </a:p>
          <a:p xmlns:a="http://schemas.openxmlformats.org/drawingml/2006/main">
            <a:r>
              <a:t>[เริ่มสาธิตระบบ] ต่อไปผมจะสาธิตขั้นตอนทั้งหมดบนระบบให้ดู ตั้งแต่เริ่มต้นจนงานเสร็จครับ ทุกท่านยังไม่ต้องกดตาม ให้สังเกตลำดับการทำงานก่อน</a:t>
            </a:r>
          </a:p>
          <a:p xmlns:a="http://schemas.openxmlformats.org/drawingml/2006/main">
            <a:r>
              <a:t>[สาธิตต่อเนื่อง]</a:t>
            </a:r>
          </a:p>
          <a:p xmlns:a="http://schemas.openxmlformats.org/drawingml/2006/main">
            <a:r>
              <a:t>1. เปิดแดชบอร์ดและรายการที่ได้รับมอบหมาย</a:t>
            </a:r>
          </a:p>
          <a:p xmlns:a="http://schemas.openxmlformats.org/drawingml/2006/main">
            <a:r>
              <a:t>2. กรอกกิจกรรม เป้าหมาย และผล</a:t>
            </a:r>
          </a:p>
          <a:p xmlns:a="http://schemas.openxmlformats.org/drawingml/2006/main">
            <a:r>
              <a:t>3. ตรวจคะแนนที่ระบบคำนวณ</a:t>
            </a:r>
          </a:p>
          <a:p xmlns:a="http://schemas.openxmlformats.org/drawingml/2006/main">
            <a:r>
              <a:t>4. แนบและเปิดหลักฐาน</a:t>
            </a:r>
          </a:p>
          <a:p xmlns:a="http://schemas.openxmlformats.org/drawingml/2006/main">
            <a:r>
              <a:t>5. บันทึกร่าง</a:t>
            </a:r>
          </a:p>
          <a:p xmlns:a="http://schemas.openxmlformats.org/drawingml/2006/main">
            <a:r>
              <a:t>6. ตรวจความพร้อมและส่งแบบประเมิน</a:t>
            </a:r>
          </a:p>
          <a:p xmlns:a="http://schemas.openxmlformats.org/drawingml/2006/main">
            <a:r>
              <a:t>7. เปิดมุมผู้ประเมิน</a:t>
            </a:r>
          </a:p>
          <a:p xmlns:a="http://schemas.openxmlformats.org/drawingml/2006/main">
            <a:r>
              <a:t>8. ตรวจข้อมูล ให้ผล และส่งต่อ</a:t>
            </a:r>
          </a:p>
          <a:p xmlns:a="http://schemas.openxmlformats.org/drawingml/2006/main">
            <a:r>
              <a:t>9. เปิดบัญชีผู้ประเมินลำดับสุดท้าย</a:t>
            </a:r>
          </a:p>
          <a:p xmlns:a="http://schemas.openxmlformats.org/drawingml/2006/main">
            <a:r>
              <a:t>10. ยืนยันผลจนสถานะเป็น ประเมินเสร็จสิ้น (Completed)</a:t>
            </a:r>
          </a:p>
          <a:p xmlns:a="http://schemas.openxmlformats.org/drawingml/2006/main">
            <a:r>
              <a:t>[กลับมานำเสนอ] เมื่อเห็นขั้นตอนทั้งหมดแล้ว ต่อไปทุกท่านจะได้ทดลองทำด้วยบัญชีที่เตรียมไว้ครับ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ต่อไปเป็นเวลาทดลองใช้งานครับ ลิงก์ที่แสดงบนหน้าจอใช้สำหรับทดสอบระบบ ให้เปิด http://149.28.142.186/login แล้วเข้าสู่ระบบด้วยบัญชีที่เตรียมไว้ ลิงก์นี้ใช้สำหรับทดสอบระบบ เมื่อทุกท่านตรวจสอบแล้วและไม่มีประเด็นที่ต้องปรับแก้เพิ่มเติม ทีมงานจะนำระบบไปติดตั้งบนเซิร์ฟเวอร์ของคณะทันทีครับ สำหรับการทดลอง ให้เลือกกิจกรรม กรอกเป้าหมายและผล ตรวจคะแนน แนบหลักฐาน แล้วบันทึกร่างครับ ผู้ที่เคยทดสอบแล้วให้ช่วยตรวจคะแนนและหลักฐาน ส่วนผู้ที่เพิ่งเริ่มให้ทำทีละขั้น หากติดขัดให้ยกมือเรียกผมหรือทีมงานได้เลย ยังไม่ต้องกดส่งแบบประเมินนะครับ เราจะตรวจความพร้อมร่วมกันก่อน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ก่อนจบ ขอฝากวิธีตรวจปัญหาเบื้องต้นไว้สี่จุดครับ ดูรอบและรายการ สิทธิ์ของบัญชี สถานะงาน และข้อมูลบังคับรวมถึงลิงก์หลักฐาน ถ้าคะแนนไม่เป็นไปตามที่คิด ให้ย้อนดูน้ำหนัก คะแนนที่ทำได้ และหน่วยก่อน หากยังแก้ไม่ได้ ให้จดชื่อรายการ สถานะ และข้อความที่พบ แล้วแจ้งผู้ดูแลระบบครับ</a:t>
            </a:r>
          </a:p>
          <a:p xmlns:a="http://schemas.openxmlformats.org/drawingml/2006/main">
            <a:r>
              <a:t>[ถามผู้เข้าอบรม] ตอนนี้มีใครติดที่การเลือกกิจกรรม การคำนวณคะแนน หรือการเปิดหลักฐานไหมครับ</a:t>
            </a:r>
          </a:p>
          <a:p xmlns:a="http://schemas.openxmlformats.org/drawingml/2006/main">
            <a:r>
              <a:t>[พูด] ถ้าไม่มีคำถามเพิ่มเติม ขอให้จำไว้ครับ ตรวจงานให้ถูก กรอกข้อมูลให้ครบ และบันทึกร่างก่อนส่งจริง ขอบคุณทุกท่านครับ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c943723f9948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96fc575e9e41d3" /><Relationship Type="http://schemas.openxmlformats.org/officeDocument/2006/relationships/slideLayout" Target="/ppt/slideLayouts/slideLayout1.xml" Id="R134d9e2d5b404f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4d9e2d5b404f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5d4a716eea4b6e" /><Relationship Type="http://schemas.openxmlformats.org/officeDocument/2006/relationships/image" Target="/ppt/media/image.jpeg" Id="R5a7e041991344b65" /><Relationship Type="http://schemas.openxmlformats.org/officeDocument/2006/relationships/image" Target="/ppt/media/image.png" Id="R30d616b56ac94790" /><Relationship Type="http://schemas.openxmlformats.org/officeDocument/2006/relationships/image" Target="/ppt/media/image2.png" Id="Rc2fd24c1943340b5" /><Relationship Type="http://schemas.openxmlformats.org/officeDocument/2006/relationships/notesSlide" Target="/ppt/notesSlides/notesSlide1.xml" Id="R45c9cfd8fb104e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299c68a6fd49f2" /><Relationship Type="http://schemas.openxmlformats.org/officeDocument/2006/relationships/notesSlide" Target="/ppt/notesSlides/notesSlide2.xml" Id="Rb5a2091c2d21462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6dbd3284fd42bc" /><Relationship Type="http://schemas.openxmlformats.org/officeDocument/2006/relationships/notesSlide" Target="/ppt/notesSlides/notesSlide3.xml" Id="Ra633f5d0e6454c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1eac008a74549" /><Relationship Type="http://schemas.openxmlformats.org/officeDocument/2006/relationships/notesSlide" Target="/ppt/notesSlides/notesSlide4.xml" Id="R5c86707e8be6458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9952577ae74bea" /><Relationship Type="http://schemas.openxmlformats.org/officeDocument/2006/relationships/notesSlide" Target="/ppt/notesSlides/notesSlide5.xml" Id="Rf9f435b416f545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2dbb377da4e88" /><Relationship Type="http://schemas.openxmlformats.org/officeDocument/2006/relationships/notesSlide" Target="/ppt/notesSlides/notesSlide6.xml" Id="Rf84d6e96a4c145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c80fdf477c4394" /><Relationship Type="http://schemas.openxmlformats.org/officeDocument/2006/relationships/notesSlide" Target="/ppt/notesSlides/notesSlide7.xml" Id="R7b7a0e4827dd41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eb67ed15b34db2" /><Relationship Type="http://schemas.openxmlformats.org/officeDocument/2006/relationships/notesSlide" Target="/ppt/notesSlides/notesSlide8.xml" Id="R70e21590dd44426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eb2d75c638441b" /><Relationship Type="http://schemas.openxmlformats.org/officeDocument/2006/relationships/notesSlide" Target="/ppt/notesSlides/notesSlide9.xml" Id="R14aa9411e8b44c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f3e5a194443dd" /><Relationship Type="http://schemas.openxmlformats.org/officeDocument/2006/relationships/notesSlide" Target="/ppt/notesSlides/notesSlide10.xml" Id="Rbc56cd3a03c642d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7aaf645b749b1" /><Relationship Type="http://schemas.openxmlformats.org/officeDocument/2006/relationships/notesSlide" Target="/ppt/notesSlides/notesSlide11.xml" Id="Rf51e2c5bda2d432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206b4672b74827" /><Relationship Type="http://schemas.openxmlformats.org/officeDocument/2006/relationships/notesSlide" Target="/ppt/notesSlides/notesSlide12.xml" Id="Ra42e435d0f564f2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cdd180599547e7" /><Relationship Type="http://schemas.openxmlformats.org/officeDocument/2006/relationships/notesSlide" Target="/ppt/notesSlides/notesSlide13.xml" Id="R15c0a5cddb31491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ec72620761495d" /><Relationship Type="http://schemas.openxmlformats.org/officeDocument/2006/relationships/notesSlide" Target="/ppt/notesSlides/notesSlide14.xml" Id="R6c5347d0e42c405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b70ec9396641af" /><Relationship Type="http://schemas.openxmlformats.org/officeDocument/2006/relationships/notesSlide" Target="/ppt/notesSlides/notesSlide15.xml" Id="Rfbc5f0c7cfb8418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5d10ee0794f3d" /><Relationship Type="http://schemas.openxmlformats.org/officeDocument/2006/relationships/notesSlide" Target="/ppt/notesSlides/notesSlide16.xml" Id="R5f28564424204a9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b16d6f492430d" /><Relationship Type="http://schemas.openxmlformats.org/officeDocument/2006/relationships/hyperlink" Target="http://149.28.142.186/login" TargetMode="External" Id="R8512ee1847234c2b" /><Relationship Type="http://schemas.openxmlformats.org/officeDocument/2006/relationships/notesSlide" Target="/ppt/notesSlides/notesSlide17.xml" Id="R00ea7a910ae44c6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bb2fa1c8e04e4e" /><Relationship Type="http://schemas.openxmlformats.org/officeDocument/2006/relationships/image" Target="/ppt/media/image3.png" Id="R75da0b16dd4a4c9b" /><Relationship Type="http://schemas.openxmlformats.org/officeDocument/2006/relationships/notesSlide" Target="/ppt/notesSlides/notesSlide18.xml" Id="Rec1c3664bc8c49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7e041991344b65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C886FFCE-30C1-411B-98D9-5BF0C7144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3DB6192F-8404-4CB8-AED7-52CF6550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616b56ac94790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AB9AD569-D731-42E7-B2D6-322C9CD26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BE97368B-84C9-4BDA-8F25-5EF3EE20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ภาคบ่าย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D634CD6-65E3-44C0-9368-3DD5AC697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477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5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5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ระบบประเมินผลการปฏิบัติงานบุคลากร</a:t>
            </a:r>
          </a:p>
        </p:txBody>
      </p:sp>
      <p:sp>
        <p:nvSpPr>
          <p:cNvPr id="8" name="cover-system-short-name">
            <a:extLst xmlns:a="http://schemas.openxmlformats.org/drawingml/2006/main">
              <a:ext uri="{FF2B5EF4-FFF2-40B4-BE49-F238E27FC236}">
                <a16:creationId xmlns:a16="http://schemas.microsoft.com/office/drawing/2014/main" id="{B624A514-1409-4B68-9772-C2FCFDC2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(MSU EVA)  •  สายสนับสนุน</a:t>
            </a:r>
          </a:p>
        </p:txBody>
      </p:sp>
      <p:sp>
        <p:nvSpPr>
          <p:cNvPr id="9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C00A61CA-EA99-4F69-88D7-53CC4F01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B02FEA91-1203-4020-B53E-A7008D99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บันทึกกิจกรรม เข้าใจที่มาของคะแนน และแนบหลักฐานให้พร้อมตรวจ</a:t>
            </a:r>
          </a:p>
        </p:txBody>
      </p:sp>
      <p:sp>
        <p:nvSpPr>
          <p:cNvPr id="11" name="cover-style">
            <a:extLst xmlns:a="http://schemas.openxmlformats.org/drawingml/2006/main">
              <a:ext uri="{FF2B5EF4-FFF2-40B4-BE49-F238E27FC236}">
                <a16:creationId xmlns:a16="http://schemas.microsoft.com/office/drawing/2014/main" id="{ED9A19D0-6970-4679-8E93-6C17E82B0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สายสนับสนุน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fd24c1943340b5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7778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90C913AB-D02E-4A81-B8E6-52631815F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79F52DDD-1208-4533-B70A-F63DB118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เป้าหมายการอบรม  /  สายสนับสนุน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EB9D5F0C-80F0-49CD-A30B-18A99C16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ช่วงบ่ายนี้ เราจะทดลองบันทึกกิจกรรมและตรวจคะแนน 1 รายการ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1B3F3E-AB6B-4C3B-88AB-639643E5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4D2EE5-964C-41D5-B6F4-3D9FF625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85190-6672-4A24-AAA1-B9AF36DD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EB11B-1A86-4994-9C3C-D9D0E03B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เปิดงานและเลือกกิจกรรมได้ถูกต้อง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EB030F-7188-4E4B-91CB-816E7241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E3EBE2-3A00-4599-8E5C-50A9A99E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EFF9BD-36AE-4F08-90D0-E0290824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 คำนวณคะแนน และแนบหลักฐานได้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6139E8-8201-4B44-9177-783F62BD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90FD1-5290-4A15-B281-347D9765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64BFA5-53DC-448E-B40D-49DB3E95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ตรวจความพร้อมก่อนส่งแบบประเมิน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A2EB1299-A122-4124-B9C1-A4EE94D0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83B69E-5E1D-426F-93D0-1A6D97F2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1D4458-5D35-436B-89C5-B5EF44CD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B91F8989-07C4-4E89-9F66-6A262331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B59D0F33-7C62-447B-A999-AD5434611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3145BB64-874E-4007-B367-1B02B8FB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 / 18</a:t>
            </a:r>
          </a:p>
        </p:txBody>
      </p:sp>
    </p:spTree>
    <p:extLst>
      <p:ext uri="{BB962C8B-B14F-4D97-AF65-F5344CB8AC3E}">
        <p14:creationId xmlns:p14="http://schemas.microsoft.com/office/powerpoint/2010/main" val="12514092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2CA21708-A7F2-4AC6-AF02-486E7F5D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C9B4A20E-B8C9-4BB5-ABD0-635A00C8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รู้จักระบบ  /  สายสนับสนุน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5B3F2F41-C9EE-4ECB-8BEE-FE03BA82A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18F919-5465-4192-AB78-BFF34936C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 xmlns:a="http://schemas.openxmlformats.org/drawingml/2006/main">
              <a:ext uri="{FF2B5EF4-FFF2-40B4-BE49-F238E27FC236}">
                <a16:creationId xmlns:a16="http://schemas.microsoft.com/office/drawing/2014/main" id="{3432AE87-C2EF-4150-86E5-EBEE3B8E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8705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0D9423-2D24-478B-87FC-33314258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7EC0CD-AE28-4FC7-B443-EA02DBB5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0587F6-51FB-4F4B-98B0-46881C00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FD4E91-7596-4A7C-BC41-73E2BAC2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1C606F-7CD5-4B35-9348-B3293C66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D1A03A-1494-4CCA-B2D4-F439C6F8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5F4CBA-9B25-4546-919D-A6E72D5B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5EF50C-5014-4296-805A-DF84DA80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D350B7-902E-433B-A5A9-ED02AB9F4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F367C0-A700-4CEF-931C-53A7980B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C50CB8-EB7B-46B0-B1D6-5E0306D9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C8707F-4BA3-4CC3-99E4-57947100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8A18F8-999A-4484-9A62-6C6E96C6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740CF4-A738-48F1-B441-BB7AB565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4F63E3-E31C-4E5F-9C95-13A97CCC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91856D-B741-43A2-8A5C-9CE6AE8E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CFE5B4-8A74-43AA-AFF0-6B529E15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BD9445-4FB8-476E-A7AE-815715F4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C3F508-8C66-467B-B225-89338E25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AEC43B-3D96-4BAB-8C37-90577AF69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FD9F10-FF35-4C24-A388-8CBEFAF4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F3A1CE-FDF9-45B6-95C3-2DC9959F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BEF90C3C-A455-4FF1-9DB9-919973D3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EE5816C2-B1DF-4BC4-AA2C-E48F149F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45337452-9BAC-4539-BA8C-D816AEFF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 / 18</a:t>
            </a:r>
          </a:p>
        </p:txBody>
      </p:sp>
    </p:spTree>
    <p:extLst>
      <p:ext uri="{BB962C8B-B14F-4D97-AF65-F5344CB8AC3E}">
        <p14:creationId xmlns:p14="http://schemas.microsoft.com/office/powerpoint/2010/main" val="16214655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AE78482B-612F-4F8F-B66C-5869C03A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FFE4E09A-0C41-4055-B527-C3A90B1E4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ผู้ใช้งานระบบ  /  สายสนับสนุน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99A87F67-BD24-4E07-9D11-E9545AFC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90C9F2-9B15-42B9-B753-02E796EC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43E6E8-FD95-4669-AC5C-2C65CD77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288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257C1E-202B-4DFB-A254-51AC8F4C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15891D-E1CB-4457-A45B-47FD8A61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812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A285DE-557E-4F7E-B92F-622BDB3A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159A70-B682-4AA2-BD4D-6DF24EE1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62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DA271D-3A8B-49F1-AD7B-9773572D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03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55C673-B68F-42E5-89DD-280C0F83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1467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DA36E-690D-4523-9AB5-CED121E07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200368-2B20-45BE-B9C5-D130084D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BEC7C6-98F2-47E4-8B11-06B21D3EB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3375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09C41B-5A41-4EE9-81C7-D8DDB7A53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6130D2-627F-4DA3-9FBC-2AC0A1AE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7992D4-51EC-4BA5-B87A-8C8CF604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290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0F525C-1F3C-4FB9-9286-19A21BF0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6717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FC7CF1-02BE-49EF-A9E8-FB60FB820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8152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F5D003-0DB1-4AE0-8996-6FCB5209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22D8D0-3F3D-4E47-B7B8-1B540E6A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62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A37B58-7028-411D-AB72-B6CC4B12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B1B1B4-8003-4E4C-A2C4-ACEE6708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D2B9DC-C207-4CFA-B643-4BC1B801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97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CDA410ED-7358-4E98-A512-0C29A0A4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5C4C41A6-9B19-46CD-ABB1-28B4FA35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1E6D820E-C9AE-4F9E-B968-550B4724E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 / 18</a:t>
            </a:r>
          </a:p>
        </p:txBody>
      </p:sp>
    </p:spTree>
    <p:extLst>
      <p:ext uri="{BB962C8B-B14F-4D97-AF65-F5344CB8AC3E}">
        <p14:creationId xmlns:p14="http://schemas.microsoft.com/office/powerpoint/2010/main" val="11696934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AEAA27EA-9FD9-4048-8912-96EC8CC7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C1608434-62F1-4532-81D9-E182CD566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ภาพรวมกระบวนการ  /  สายสนับสนุน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438A674A-92F6-44D5-B274-0356DABF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31F865-580F-421F-9304-F78359DB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ตั้งแต่เลือกกิจกรรม กรอกผล ตรวจคะแนน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A89D0494-BCBD-4AA5-A28F-66BEF13A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2E66CF12-5FE1-4934-9AD0-2AE1B495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29D7A2-96E1-481E-B3AE-5ABC48AD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27B722-133D-4094-88D1-D9C6A9EF7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AA4B82-D05B-4D33-A35E-059A31C49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C82807-A8EC-448F-91ED-036C0A32F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8D9F96-3FA3-4772-A984-089089E6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4FDE8-725A-413D-A2C3-722D2806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9C5B5E-2179-4499-8564-B9E7AC7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ED8D9D-3135-4AEE-874D-2C4E57411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• ตัวชี้วัด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BA21CD-8CAB-407C-A44E-10660828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D57A60-7A6D-4E7D-B457-148831D52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B9A98E-5BC0-4B46-9109-79CB1690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F7BD84-F694-44F1-B20F-6224F945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D7113A-7028-44F6-8271-47A13603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C1E39C-997D-4EFC-8D45-1E93B317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9822ED-C6B5-4990-BB80-9F6480A1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4AC212-DBD9-421F-962A-374EAD71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A3CBCA-120B-40BD-8B81-77A46DA4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AF1131-EA0A-4896-A56E-89EC3E38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582505-289F-4A0D-8FE5-32B4AB60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D8D6AC-E1A5-40D8-A344-0EF80A72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78139A-A072-416D-B693-6A5BE129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D40F6282-CB85-4CD7-BB5F-705D1FE9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776F6721-42C2-429A-9804-BD7F6E60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28B6BD5C-C6F4-4F13-BCFF-2C3A56E1B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 / 18</a:t>
            </a:r>
          </a:p>
        </p:txBody>
      </p:sp>
    </p:spTree>
    <p:extLst>
      <p:ext uri="{BB962C8B-B14F-4D97-AF65-F5344CB8AC3E}">
        <p14:creationId xmlns:p14="http://schemas.microsoft.com/office/powerpoint/2010/main" val="4810914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3AC2F957-B458-4B08-8D83-6DE2AB33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CA89F679-8E54-4BAE-9D1C-94942FF4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บทบาทของคุณ  /  สายสนับสนุน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CF113D73-0B52-4497-96D8-0C862A1D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กรอกผลการดำเนินงานให้ครบ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BE3871-F586-455C-A930-E9D816B9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ผู้รับการประเมินกรอกผลกิจกรรมและแนบหลักฐานให้ครบ เพื่อให้ผู้ประเมินตรวจข้อมูลได้ชัดเจน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1A836-FEEF-4405-8F66-9371C5B7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4FC17D-6B8D-4CEF-BFFA-0A9E73DA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97532F-CAD2-4BB9-B5A6-8ACBE232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90045F-18D1-4569-AE4A-771DEABD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ผลที่ทำได้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และรายละเอียดประกอบ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03339D-400A-42D6-8D4F-21A7E67C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F55289-A7AB-4A3B-BAAF-45934D90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01537-3FB7-47AE-9B4E-FCBCBBE0B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E92F6-3866-42E8-9F43-492CC8D4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85B6D0-0B61-4918-9938-539DE2B79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BDEE8B-8423-4DD9-B98A-CFFBC41A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FB2814-0903-4F6F-9425-9BAB7689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F9E3EC-5166-4C76-BBC3-8BADA53C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38706D-524C-4C62-A140-B1C98FA5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18A077-D3E2-4105-803E-5782FF32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งานเสร็จเมื่อผู้ประเมิน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ลำดับสุดท้ายยืนยันผล</a:t>
            </a:r>
          </a:p>
        </p:txBody>
      </p:sp>
      <p:sp>
        <p:nvSpPr>
          <p:cNvPr id="19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E926B618-3A77-4A1E-B045-5F94E32B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A9797985-5142-4E59-8B9C-86D26767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00D90B63-7854-4EE3-B4A4-C1FE8D93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06 / 18</a:t>
            </a:r>
          </a:p>
        </p:txBody>
      </p:sp>
    </p:spTree>
    <p:extLst>
      <p:ext uri="{BB962C8B-B14F-4D97-AF65-F5344CB8AC3E}">
        <p14:creationId xmlns:p14="http://schemas.microsoft.com/office/powerpoint/2010/main" val="7361904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4BEE93AE-4873-4DCA-B4F0-0DE7A7B7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4FECEFBD-BFD3-4BA1-9F98-7B54B95C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จุดเริ่มต้น  /  สายสนับสนุน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96F55B0D-F54F-4DC5-81EA-5EFE60F8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C5E6B0-4E5F-4DDC-B4F3-05B24277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91247-92BE-4723-9BE7-C6F8D55B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E6755A-AA55-4776-91CA-8AF5282A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8DC45A-6CF5-43ED-BC63-E9D83663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6CCE28-90F8-46F2-B726-29D9BAE2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7C5687-F098-4E44-87BE-ABA02EB1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FCB626-28BC-47AB-A91F-2B7CFF7DE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DA69CD-7D4C-4069-984A-32DE2D5B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7142AB-2625-45B7-9D83-E71939E0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19BC3F-6B3C-49E9-9D6B-6FF970DA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25B1C0-26C9-4186-9955-6D09EEBD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ADFCDB-D53A-4506-9746-F3213073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C7DE8B-FD81-47B0-8B0F-6008C534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3F340D44-3551-43B9-9664-E3A64A18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AD3749-8A8F-4C0F-89F7-9A99A082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63613B-AEA8-4781-BB38-02D0FCC5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536300-14D9-4334-B4AE-A3D9E909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สายสนับสนุน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C3157C-A79F-42AC-8088-BA0A0094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9773EB-1376-43E4-A3A2-94EF3DBB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9B6A95-40CA-43F1-9EBE-6D908816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673389-FCFA-47CB-B3BA-9E50BB40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3DDF69C8-4FB0-43FD-8813-2A29B4A7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7B2DDBCD-1110-490A-97C6-D221083C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E685792A-163D-49FA-9C39-73C32ABA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07 / 18</a:t>
            </a:r>
          </a:p>
        </p:txBody>
      </p:sp>
    </p:spTree>
    <p:extLst>
      <p:ext uri="{BB962C8B-B14F-4D97-AF65-F5344CB8AC3E}">
        <p14:creationId xmlns:p14="http://schemas.microsoft.com/office/powerpoint/2010/main" val="6351928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8E66207F-EEDF-44AD-81BF-F8FFCC1F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4E13B1CF-9BC2-4B41-810C-56293A15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โครงสร้างข้อมูล  /  สายสนับสนุน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BA9ADC61-6A93-40C3-9592-86D7AD72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ตรวจให้แน่ใจว่าโครงการ กิจกรรม ตัวชี้วัด และหลักฐานตรงกัน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D34F7F-776D-40ED-BBA1-5985678F6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E26341-0451-40AF-8355-67DF6DA0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BD8D41-5E63-4CDF-A08F-2334A1B2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21F932-D873-40D7-8449-F4848F46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4065F7-6B06-4B39-A719-9DD05F77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โครงการ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B70890-1822-4B3B-94D1-E0899C0E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บริบทและเป้าหมาย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835E76-8A87-4A4E-830E-7F2ED1D1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937BA6-07B9-4DA5-BD84-A232767A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81EE3C-1C82-4F97-A5F1-68A22F2E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กิจกรรม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3C2F89-C6EC-4991-85D8-097F2665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งานที่ดำเนินการ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D00FBB-6377-43AE-8743-A48E98D6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D548F8-3961-40CE-9A86-C404AE74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23361B-A969-48DF-A848-E591A01F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ตัวชี้วัด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41EE1C-C6BC-4C7D-AAEB-4308B49E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เกณฑ์ที่ใช้วัดผล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08DE10-119B-445D-95C4-3C11FDC5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90FD12-68E1-4B58-A793-745D80E1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F1163A-E762-4B74-8D35-58C6586AA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F6C588-F09D-4134-BDA9-50838D720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สิ่งที่ยืนยันผล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26A860-BB6D-440E-A7DC-BEE717B1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ทุกคะแนนต้องย้อนกลับไปอธิบายได้ว่าเกิดจากกิจกรรมใด</a:t>
            </a:r>
          </a:p>
        </p:txBody>
      </p:sp>
      <p:sp>
        <p:nvSpPr>
          <p:cNvPr id="2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AD61DDED-5184-4FBC-8304-224A7F6D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71FC0FDC-0476-428C-8928-7A38580B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BAFC5AFF-719A-4CA4-B694-FECC382B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08 / 18</a:t>
            </a:r>
          </a:p>
        </p:txBody>
      </p:sp>
    </p:spTree>
    <p:extLst>
      <p:ext uri="{BB962C8B-B14F-4D97-AF65-F5344CB8AC3E}">
        <p14:creationId xmlns:p14="http://schemas.microsoft.com/office/powerpoint/2010/main" val="20639130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C3ED2AFB-8FA4-44D7-B9EC-61E33B72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ECBD3193-20B1-4F34-8554-75BB30AB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บันทึกผลกิจกรรม  /  สายสนับสนุน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50E195F7-32B1-40FA-A1A9-BBBCA8CD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 ผลที่ทำได้ และรายละเอียดกิจกรรมให้ครบ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B6DEA-C412-44F5-8B3A-9FCF9052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3 ส่วนนี้ทำให้คะแนนมีที่มา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B89627-282F-46D4-A411-E4E83FA8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8572C-2C4B-49D0-9B8C-DAE574AF7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เป้าหมาย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2040C6-6FF2-4A48-81AA-F20B28E0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สิ่งที่เกณฑ์คาดหวัง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9A0AD7-F433-4F8B-BBFF-1493D94F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กำหนดจุดอ้างอิง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9FDEF1-E33B-43F9-BB77-113A79F12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9F9F88-7E02-4E36-9DF8-3DA6EF22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ผลที่ทำได้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EA6CFB-F9E5-4CC6-8943-F043F594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ค่าหรือระดับผลงานจริง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D97D75-8A3E-4C99-9F60-B4B8E013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ใช้คำนวณคะแนน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1E8AF9-B63E-42E3-ABAD-07CFC71E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3E653F-C371-4AE9-A060-CBEE43D73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รายละเอียดกิจกรรม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7900E2-D344-4FF1-A113-3CBF47CA8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อธิบายงานที่เกิดขึ้น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ED3AEB-F6DA-45FA-B105-7BB58DEB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เชื่อมกับหลักฐาน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D02096-53F8-4F90-BEEA-185A101B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หากเกณฑ์อนุญาต คุณสามารถเพิ่มรายการกิจกรรม/โครงการได้</a:t>
            </a:r>
          </a:p>
        </p:txBody>
      </p:sp>
      <p:sp>
        <p:nvSpPr>
          <p:cNvPr id="18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F3043D58-D58A-484B-ABD0-A14F488C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91E632A4-B2DD-4AF8-8D34-C3938BEE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D6FE0F49-F300-4A1B-9687-9FD157CD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09 / 18</a:t>
            </a:r>
          </a:p>
        </p:txBody>
      </p:sp>
    </p:spTree>
    <p:extLst>
      <p:ext uri="{BB962C8B-B14F-4D97-AF65-F5344CB8AC3E}">
        <p14:creationId xmlns:p14="http://schemas.microsoft.com/office/powerpoint/2010/main" val="19031825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80A7E8E8-9DC3-4AE1-AC49-1017FAB8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46D0FBA4-6459-42BB-A103-41F12376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สูตรคะแนน  /  สายสนับสนุน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CC3E5ECE-6DD4-4834-9ED0-C558FA7B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ระบบคำนวณคะแนนถ่วงน้ำหนักจากน้ำหนักและคะแนนที่ทำได้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30C16F-59A1-4C5B-87D8-47758A96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857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5B636A-5F10-4469-B2BF-19ABBC6F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33700"/>
            <a:ext cx="72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9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39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=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F46C46-99E0-4568-B8A2-60F9126F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95550"/>
            <a:ext cx="2000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8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C04602-85F4-4348-B491-92130615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33700"/>
            <a:ext cx="552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7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37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B3D2F4-07B0-4B05-87D3-3E910167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95550"/>
            <a:ext cx="24955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7EAB99-E354-4472-AEFF-DD0D26DC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43350"/>
            <a:ext cx="527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AB0031-BD6B-4545-B38F-3F6C3D2E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71950"/>
            <a:ext cx="5276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1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C437BF-E7A7-4E35-B14D-95AC67A8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 = น้ำหนัก × คะแนนที่ทำได้ ÷ 100</a:t>
            </a:r>
          </a:p>
        </p:txBody>
      </p:sp>
      <p:sp>
        <p:nvSpPr>
          <p:cNvPr id="12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AF3C5FE1-97D5-4034-9213-25612450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51CC703F-F07C-4E91-8891-A12599EAC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4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C28B5D5F-36EE-4B50-B948-A9BC3976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19706754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4CBDF5AB-785D-4363-8159-9C2D1B2B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5E5078DE-8511-4E84-B879-60D076AF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ตัวอย่างคำนวณ  /  สายสนับสนุน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6560E194-78C6-46A1-A2F9-CB812D5B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ลองคำนวณคะแนนจากตัวอย่างนี้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2158A-7DC6-4315-AB34-C097B785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67EA34-EE9C-4037-B579-1F66C2C8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0CB0C7-E364-462B-94AD-85EBFF22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92B08A-38AA-45FD-987A-7C1E69B9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3BEDCF-3681-48F2-9B94-EEB6642A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80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EFC062-E97A-414F-89BF-05893924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9E0298-051C-493F-AB09-1F87D8A8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AE6D05-8D7B-43F5-B90D-B5366CD8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905FD-B379-482B-AAF6-0FDE0E31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7B32F1-8068-4A90-958D-3440FE77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20 × 80 ÷ 100 = 16 คะแนน</a:t>
            </a:r>
          </a:p>
        </p:txBody>
      </p:sp>
      <p:sp>
        <p:nvSpPr>
          <p:cNvPr id="14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F3090729-BAB6-4D8A-A7DA-5114FDCE0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0473AFC5-F32B-4428-A91C-BC695D75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6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B074B0B2-E53B-400E-9128-E26547D5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18830625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774F588D-718F-4C1A-AB50-D2D7CB31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1C88936A-359D-44CE-9A50-8A833A5D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หลักฐาน  /  สายสนับสนุน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BF6075AA-C3EB-420F-AF57-15A2F82F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แนบหลักฐานที่เปิดดูได้และตรงกับกิจกรรม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4FDFF-1270-425E-95CB-EDFB3539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ผู้ประเมินควรเห็นได้ทันทีว่าหลักฐานรองรับกิจกรรมใด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51E6F-28CA-42B5-8A10-1DF6D797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96147-2119-4828-99A6-17991B02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BB885B-8C53-4AAC-9422-0051575F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E139A-35B5-4DA5-8328-76FB3934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9F68CF-3804-4E27-8A9F-D3F2777DB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4816D-4744-4EF8-967E-54078249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563B69-40C6-4B00-B78F-41CEDE9A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E92B99-DBC3-476A-82F4-ACB27130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เห็นความเชื่อมโยงกับกิจกรรมหรือโครงการ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26CF9D-3BF6-4EFE-8C49-52658077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AF4EA0-ABC2-4039-AA75-DA330FC4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3E5397-D2E9-4E86-8869-65CEFE7C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C2906D-7085-4113-9E4B-AE75B390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193292-2BCE-41A8-86F1-44F0D687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EA1D7A-E6E5-41FD-899C-284F6C4E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5376FFF0-D9C7-431C-B62B-336F41573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2D314064-F30A-448D-A626-25246ACD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046C9C1C-0035-471B-B400-26709182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99500479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6ACD322E-F7C9-41DA-B0FB-448F4E5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971CE5D2-5D34-48E9-91FD-55778E72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ก่อนกดปุ่ม  /  สายสนับสนุน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C595590A-48AD-4B58-9232-1CA92A53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76A02B19-53C1-4072-B31C-237F2C7AD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32420B-8C85-4670-A311-B77410A5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853BFA-C9FB-44DF-9038-AF4AAC1B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5D3AF40A-B8E5-4182-910C-819FD684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19050">
            <a:solidFill>
              <a:srgbClr val="008C8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BB0146-782F-48EA-AB01-5B5733B94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54E7BD-024C-4EB7-AF67-70F03B63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ระบบตรวจข้อมูลบังคับและหลักฐาน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ตรวจอีกครั้งก่อนยืนยัน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76E246-CCA7-432C-9971-A20210EF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76E50F84-C5CD-4FBD-8DBA-E287DB03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B917C159-1B0F-4475-8BFF-441232AD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3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8BE3112F-0451-4279-B6B2-441362F49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31185246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59797215-5F9E-438C-BF48-0C9E1593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45C613D0-59A0-4C86-B7DB-0FAB85CC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หลังจากส่ง  /  สายสนับสนุน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183D990D-CD3A-4E6C-B3E5-95DAB3BE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58590B-A235-4B32-AE04-62B46C7D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D19E74-9914-4692-AEEC-DCB7228D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CCA141-95E8-4805-A089-D035ED66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A9405A-9EC5-4E17-8217-A2062975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1B961B-7752-49A2-A743-7909E54A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12EFB0-0631-4E77-BDB2-7A9243A7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5E82FC-3E90-4734-A5FA-DE129E07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223AD8-A0DF-4B2E-B819-C673B868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D501FD-D02D-4A88-951E-5BFABCD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8182B6-C3F4-45BC-A25C-DD8D1680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A090A8-A785-4D45-9FB8-FB07CB72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BF5B5B-55BB-4BAB-9560-6EA8FD4B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BD9AEC-90BB-47F3-B92F-025E27BA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10C6E8-8967-4ED2-A7FE-4983B62E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F1486F-6463-403D-BE14-12B3B368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0C7556-0A6C-483F-8625-E3F4A0EF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E3F863-A2DF-4AAF-B6FA-3B692660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เมื่ออยู่ในลำดับสุดท้าย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91A25-3529-4AD3-8969-5CB39740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A492511B-26DB-47FD-84BC-F64FEF09F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73B0143C-17A1-428B-818D-665EC4D9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62D2B047-6D5B-4233-8030-997F6EF7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141995109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3AFDEE22-02F8-4114-91B0-BBDDDD7F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CB4D85E5-54C5-4377-A175-A6520DC2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สำหรับผู้ประเมิน  /  สายสนับสนุน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B93ED3F9-EE41-4FF6-984C-6A1C4A6F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ผู้ประเมินตรวจผลกิจกรรม คะแนน และหลักฐาน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9DC43F-024F-464C-BC9A-3BCC56E5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693EE7-A07C-45CE-B3FB-BC4D0AAE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AF034-52CB-4DBC-8A63-80D97B26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ผลกิจกรรมและรายละเอียดตรงกับเกณฑ์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40CAAE-2C6D-4533-941F-704DDAA7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F397EE-D3F2-4187-860A-F18E87DD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660DF8-E9BF-41DD-8486-F3415110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DE89A-8D9B-4393-A502-09391570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 คะแนนที่ทำได้ และผลคำนวณสอดคล้องกัน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616D99-8C84-49AB-932F-A4C08D9F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9C8928-53B9-4654-A8DA-768E506F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966DE8-B702-4267-91E0-A3170B96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77C0F6-5D1A-4258-B106-53B4FB8E4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ลิงก์เข้าถึงได้และยืนยันกิจกรรม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963189-1FA9-44F5-889D-1E9E6DAB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5C6CAF-50EB-4C2D-BFEF-684C65DF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01BB1C-C75E-4681-AFC3-7C4C2D22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434084-37FA-4AB7-97F8-52BA24DB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ให้ผลและดำเนินการเมื่อข้อมูลครบตามสิทธิ์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D60BC3-A3E8-476E-8947-2D0C1675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4D57F9-3F58-4463-9FB8-C8674272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4011F784-3731-4910-9378-D044B158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FD6CCF03-2A99-40A0-903F-E8E823DA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3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EB2AB947-ECEA-4249-ACBC-F6B39157F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8159912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6">
            <a:extLst xmlns:a="http://schemas.openxmlformats.org/drawingml/2006/main">
              <a:ext uri="{FF2B5EF4-FFF2-40B4-BE49-F238E27FC236}">
                <a16:creationId xmlns:a16="http://schemas.microsoft.com/office/drawing/2014/main" id="{A7EB2F72-E6C5-4B89-974D-86420B4A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6">
            <a:extLst xmlns:a="http://schemas.openxmlformats.org/drawingml/2006/main">
              <a:ext uri="{FF2B5EF4-FFF2-40B4-BE49-F238E27FC236}">
                <a16:creationId xmlns:a16="http://schemas.microsoft.com/office/drawing/2014/main" id="{A2F832BE-6FB0-4679-A890-DEDC88CE6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ลำดับการประเมิน  /  สายสนับสนุน</a:t>
            </a:r>
          </a:p>
        </p:txBody>
      </p:sp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36CEA801-846F-40F1-9F8A-F42B9F5B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0FDF6C-F8A4-45AE-9523-58C280D4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575DBD-FC49-4906-BDEA-B6F716AC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DA6E7-92C3-4CA0-B4B9-B1B0AEDBE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DE6E92-17C7-4221-ADE4-8EDA43AF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CAAD0A-0206-4AF6-9BA2-CBE95435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5DE303-B112-4871-BFAA-ED1550EC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2A239D-B8C1-40B4-9896-B2F3D999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4E4B90-1FFA-4F4D-AB6C-2401E98C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02F1C-D8ED-4629-A0D2-65C27D71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CC2A6A-C26F-43F3-8AF7-6F8C86B7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B46B38-E1EA-4036-828B-18E3A3128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AD5D97-799C-4A62-A1EB-7018DA9E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2439C-2BA5-43DE-948A-2B2F39A5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29BC11-C4AD-49BA-80DD-8BF306A79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6">
            <a:extLst xmlns:a="http://schemas.openxmlformats.org/drawingml/2006/main">
              <a:ext uri="{FF2B5EF4-FFF2-40B4-BE49-F238E27FC236}">
                <a16:creationId xmlns:a16="http://schemas.microsoft.com/office/drawing/2014/main" id="{5471E639-56A2-4FAE-A224-E2B64680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6">
            <a:extLst xmlns:a="http://schemas.openxmlformats.org/drawingml/2006/main">
              <a:ext uri="{FF2B5EF4-FFF2-40B4-BE49-F238E27FC236}">
                <a16:creationId xmlns:a16="http://schemas.microsoft.com/office/drawing/2014/main" id="{EC8B61CA-8F0C-4D18-A20A-C87CFD9A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16">
            <a:extLst xmlns:a="http://schemas.openxmlformats.org/drawingml/2006/main">
              <a:ext uri="{FF2B5EF4-FFF2-40B4-BE49-F238E27FC236}">
                <a16:creationId xmlns:a16="http://schemas.microsoft.com/office/drawing/2014/main" id="{C15F852A-2369-427E-9C14-6EE7FCE2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71168220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ide-accent-17">
            <a:extLst xmlns:a="http://schemas.openxmlformats.org/drawingml/2006/main">
              <a:ext uri="{FF2B5EF4-FFF2-40B4-BE49-F238E27FC236}">
                <a16:creationId xmlns:a16="http://schemas.microsoft.com/office/drawing/2014/main" id="{D86FC767-8C61-44DC-98E3-A293910E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7">
            <a:extLst xmlns:a="http://schemas.openxmlformats.org/drawingml/2006/main">
              <a:ext uri="{FF2B5EF4-FFF2-40B4-BE49-F238E27FC236}">
                <a16:creationId xmlns:a16="http://schemas.microsoft.com/office/drawing/2014/main" id="{BC71DF0B-FDA5-4ECA-9E08-3B2A0D47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ภารกิจฝึกปฏิบัติ  /  สายสนับสนุน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7A8E80BD-731A-46B5-AA6B-39F7D9CF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ลองบันทึกกิจกรรม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879CE2-C2DD-44D6-B8F6-EEC28F0F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ลิงก์นี้ใช้สำหรับทดสอบระบบ เมื่อทุกท่านตรวจสอบแล้วและไม่มีข้อเสนอให้ปรับแก้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ทีมงานจะนำระบบไปติดตั้งบนเซิร์ฟเวอร์ของคณะทันทีครับ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1D1F4-AB06-41EC-AD98-16A2C8A0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u="sng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100" b="1" u="sng">
                <a:solidFill>
                  <a:srgbClr val="00615E"/>
                </a:solidFill>
                <a:latin typeface="Tahoma"/>
                <a:ea typeface="Tahoma"/>
                <a:cs typeface="Tahoma"/>
                <a:hlinkClick xmlns:r="http://schemas.openxmlformats.org/officeDocument/2006/relationships" r:id="R8512ee1847234c2b"/>
              </a:rPr>
              <a:t>http://149.28.142.186/login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5BFDC6-9BB7-4266-B325-BBFCCC08C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7CA03C-85ED-4DC4-B347-C48B4656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C8E9E4-4DCD-4C66-94D8-4FBDBFE4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เลือกกิจกรรมที่กำหนด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F51E88-C193-4741-A167-475B8D4C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670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CD4564-A037-4CDD-B18A-CAAD2C4E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527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A09992-8231-426A-9E3F-CB6EE9DA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480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กรอกเป้าหมายและผล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13AD94-DD6D-40C3-B421-AFA806D5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7E2125-E7F4-4BCD-AF9C-053F9E4CF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ED7669-BEE1-4049-A101-52FF9495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1148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ตรวจคะแนนถ่วงน้ำหนัก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F980C8-8660-4B27-A178-CF5292A7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338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541319-F7EA-490F-B0C8-2FF22FFD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95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6EE057-8D14-4684-939B-77860EDF8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1148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แนบหลักฐานและบันทึกร่าง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4A8DFD-93DA-43E4-816A-D75AFDBE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72A242-7A63-4186-A2F6-6DE7C76A5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20" name="footer-rule-17">
            <a:extLst xmlns:a="http://schemas.openxmlformats.org/drawingml/2006/main">
              <a:ext uri="{FF2B5EF4-FFF2-40B4-BE49-F238E27FC236}">
                <a16:creationId xmlns:a16="http://schemas.microsoft.com/office/drawing/2014/main" id="{5FF57804-9594-4E64-AEBE-A31829C9D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footer-label-17">
            <a:extLst xmlns:a="http://schemas.openxmlformats.org/drawingml/2006/main">
              <a:ext uri="{FF2B5EF4-FFF2-40B4-BE49-F238E27FC236}">
                <a16:creationId xmlns:a16="http://schemas.microsoft.com/office/drawing/2014/main" id="{9381FE6E-6DB8-4993-98FB-7C6A71AE7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2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C7918D79-50E0-44A8-9E97-9A46E9B7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161296459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8">
            <a:extLst xmlns:a="http://schemas.openxmlformats.org/drawingml/2006/main">
              <a:ext uri="{FF2B5EF4-FFF2-40B4-BE49-F238E27FC236}">
                <a16:creationId xmlns:a16="http://schemas.microsoft.com/office/drawing/2014/main" id="{8CF54407-44A9-41B1-929C-8C760815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8">
            <a:extLst xmlns:a="http://schemas.openxmlformats.org/drawingml/2006/main">
              <a:ext uri="{FF2B5EF4-FFF2-40B4-BE49-F238E27FC236}">
                <a16:creationId xmlns:a16="http://schemas.microsoft.com/office/drawing/2014/main" id="{342E7338-613C-4FB2-BF38-C58FA429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แก้ปัญหาเบื้องต้น  /  สายสนับสนุน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236E3134-2C70-4BF9-BFD7-0B36329E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21F94-1250-4984-A3C5-42EB398D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9305A7-5C23-4606-9A1C-6BC9F0D2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6EF07A-F095-4168-A6CE-ACC7FD791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9C1330-7428-472B-854A-F3B8C076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6A45F5-86CF-4F90-B5F9-39468959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72FE7A-DB83-4ABE-AA5B-2B9F44E1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86BB9D-0A77-4EC9-86BB-2A7B3C55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DD1B84-31A7-4BE9-8E35-8782F6B4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8D5B1F-23A0-4A76-9553-40CF3BB0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06750C-786B-45C5-9D5B-31C0034A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8A5520-2C7D-4829-9BC9-BE047459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ตรวจข้อมูลบังคับ คะแนน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C1DC7F-6450-498C-9B86-BFC86CFF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A73378-DE26-485C-A374-1690CFEE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8E5233-CF9F-4389-B96B-80C793F7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17EBCD-3F37-4640-8D7C-1E89C8CF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435878-8476-4B49-9D19-A959A757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A052CC-FA41-4961-BAC5-13B164A7E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da0b16dd4a4c9b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8">
            <a:extLst xmlns:a="http://schemas.openxmlformats.org/drawingml/2006/main">
              <a:ext uri="{FF2B5EF4-FFF2-40B4-BE49-F238E27FC236}">
                <a16:creationId xmlns:a16="http://schemas.microsoft.com/office/drawing/2014/main" id="{15DE2811-01B9-4079-B7DC-7482FC0EB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8">
            <a:extLst xmlns:a="http://schemas.openxmlformats.org/drawingml/2006/main">
              <a:ext uri="{FF2B5EF4-FFF2-40B4-BE49-F238E27FC236}">
                <a16:creationId xmlns:a16="http://schemas.microsoft.com/office/drawing/2014/main" id="{CC1FFF01-164B-4710-8295-06FF6D12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16516CE7-D8FA-4131-B496-FA32F708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138798699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2026-08-01T10:43:29.9800000Z</dcterms:created>
  <dcterms:modified xsi:type="dcterms:W3CDTF">2026-08-01T10:43:29.9800000Z</dcterms:modified>
</coreProperties>
</file>