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e59a7dfdf6742df" /><Relationship Type="http://schemas.openxmlformats.org/officeDocument/2006/relationships/extended-properties" Target="/docProps/app.xml" Id="Rbdb33e8505bb4424" /><Relationship Type="http://schemas.openxmlformats.org/officeDocument/2006/relationships/officeDocument" Target="/ppt/presentation.xml" Id="Rcf53217eab2140d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7212129460a43b4"/>
  </p:sldMasterIdLst>
  <p:notesMasterIdLst>
    <p:notesMasterId xmlns:r="http://schemas.openxmlformats.org/officeDocument/2006/relationships" r:id="Rbcdf9f8a9f0a4470"/>
  </p:notesMasterIdLst>
  <p:sldIdLst>
    <p:sldId xmlns:r="http://schemas.openxmlformats.org/officeDocument/2006/relationships" id="256" r:id="R9073e96396f347ad"/>
    <p:sldId xmlns:r="http://schemas.openxmlformats.org/officeDocument/2006/relationships" id="257" r:id="Rcb25647113d942c2"/>
    <p:sldId xmlns:r="http://schemas.openxmlformats.org/officeDocument/2006/relationships" id="258" r:id="R67e2127c7b8e4ae0"/>
    <p:sldId xmlns:r="http://schemas.openxmlformats.org/officeDocument/2006/relationships" id="259" r:id="Re46e6167582a40fb"/>
    <p:sldId xmlns:r="http://schemas.openxmlformats.org/officeDocument/2006/relationships" id="260" r:id="Rd650393421754b18"/>
    <p:sldId xmlns:r="http://schemas.openxmlformats.org/officeDocument/2006/relationships" id="261" r:id="Ra294a3fa97304ffe"/>
    <p:sldId xmlns:r="http://schemas.openxmlformats.org/officeDocument/2006/relationships" id="262" r:id="R3a559ca2c8d149c4"/>
    <p:sldId xmlns:r="http://schemas.openxmlformats.org/officeDocument/2006/relationships" id="263" r:id="Rafa9169c1a264f75"/>
    <p:sldId xmlns:r="http://schemas.openxmlformats.org/officeDocument/2006/relationships" id="264" r:id="Reb953a08af1043f1"/>
    <p:sldId xmlns:r="http://schemas.openxmlformats.org/officeDocument/2006/relationships" id="265" r:id="R376f49a1020d4af8"/>
    <p:sldId xmlns:r="http://schemas.openxmlformats.org/officeDocument/2006/relationships" id="266" r:id="R9d06a2e508ac4045"/>
    <p:sldId xmlns:r="http://schemas.openxmlformats.org/officeDocument/2006/relationships" id="267" r:id="R9ded3f7a9c66494f"/>
    <p:sldId xmlns:r="http://schemas.openxmlformats.org/officeDocument/2006/relationships" id="268" r:id="R13d28b52153641c1"/>
    <p:sldId xmlns:r="http://schemas.openxmlformats.org/officeDocument/2006/relationships" id="269" r:id="R3efe8f9546f143ff"/>
    <p:sldId xmlns:r="http://schemas.openxmlformats.org/officeDocument/2006/relationships" id="270" r:id="Rd97fe6a7f0b94bab"/>
    <p:sldId xmlns:r="http://schemas.openxmlformats.org/officeDocument/2006/relationships" id="271" r:id="Rbef6ced2a22948e5"/>
    <p:sldId xmlns:r="http://schemas.openxmlformats.org/officeDocument/2006/relationships" id="272" r:id="Rbd534936104547b3"/>
    <p:sldId xmlns:r="http://schemas.openxmlformats.org/officeDocument/2006/relationships" id="273" r:id="Rc9ad8a9ec8e24c8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cfa03ef362d4a1d" /><Relationship Type="http://schemas.openxmlformats.org/officeDocument/2006/relationships/slideMaster" Target="/ppt/slideMasters/slideMaster1.xml" Id="Rc7212129460a43b4" /><Relationship Type="http://schemas.openxmlformats.org/officeDocument/2006/relationships/notesMaster" Target="/ppt/notesMasters/notesMaster1.xml" Id="Rbcdf9f8a9f0a4470" /><Relationship Type="http://schemas.openxmlformats.org/officeDocument/2006/relationships/presProps" Target="/ppt/presProps.xml" Id="Ref147b55c0344df2" /><Relationship Type="http://schemas.openxmlformats.org/officeDocument/2006/relationships/tableStyles" Target="/ppt/tableStyles.xml" Id="Rebf790b4e2994098" /><Relationship Type="http://schemas.openxmlformats.org/officeDocument/2006/relationships/slide" Target="/ppt/slides/slide1.xml" Id="R9073e96396f347ad" /><Relationship Type="http://schemas.openxmlformats.org/officeDocument/2006/relationships/slide" Target="/ppt/slides/slide2.xml" Id="Rcb25647113d942c2" /><Relationship Type="http://schemas.openxmlformats.org/officeDocument/2006/relationships/slide" Target="/ppt/slides/slide3.xml" Id="R67e2127c7b8e4ae0" /><Relationship Type="http://schemas.openxmlformats.org/officeDocument/2006/relationships/slide" Target="/ppt/slides/slide4.xml" Id="Re46e6167582a40fb" /><Relationship Type="http://schemas.openxmlformats.org/officeDocument/2006/relationships/slide" Target="/ppt/slides/slide5.xml" Id="Rd650393421754b18" /><Relationship Type="http://schemas.openxmlformats.org/officeDocument/2006/relationships/slide" Target="/ppt/slides/slide6.xml" Id="Ra294a3fa97304ffe" /><Relationship Type="http://schemas.openxmlformats.org/officeDocument/2006/relationships/slide" Target="/ppt/slides/slide7.xml" Id="R3a559ca2c8d149c4" /><Relationship Type="http://schemas.openxmlformats.org/officeDocument/2006/relationships/slide" Target="/ppt/slides/slide8.xml" Id="Rafa9169c1a264f75" /><Relationship Type="http://schemas.openxmlformats.org/officeDocument/2006/relationships/slide" Target="/ppt/slides/slide9.xml" Id="Reb953a08af1043f1" /><Relationship Type="http://schemas.openxmlformats.org/officeDocument/2006/relationships/slide" Target="/ppt/slides/slide10.xml" Id="R376f49a1020d4af8" /><Relationship Type="http://schemas.openxmlformats.org/officeDocument/2006/relationships/slide" Target="/ppt/slides/slide11.xml" Id="R9d06a2e508ac4045" /><Relationship Type="http://schemas.openxmlformats.org/officeDocument/2006/relationships/slide" Target="/ppt/slides/slide12.xml" Id="R9ded3f7a9c66494f" /><Relationship Type="http://schemas.openxmlformats.org/officeDocument/2006/relationships/slide" Target="/ppt/slides/slide13.xml" Id="R13d28b52153641c1" /><Relationship Type="http://schemas.openxmlformats.org/officeDocument/2006/relationships/slide" Target="/ppt/slides/slide14.xml" Id="R3efe8f9546f143ff" /><Relationship Type="http://schemas.openxmlformats.org/officeDocument/2006/relationships/slide" Target="/ppt/slides/slide15.xml" Id="Rd97fe6a7f0b94bab" /><Relationship Type="http://schemas.openxmlformats.org/officeDocument/2006/relationships/slide" Target="/ppt/slides/slide16.xml" Id="Rbef6ced2a22948e5" /><Relationship Type="http://schemas.openxmlformats.org/officeDocument/2006/relationships/slide" Target="/ppt/slides/slide17.xml" Id="Rbd534936104547b3" /><Relationship Type="http://schemas.openxmlformats.org/officeDocument/2006/relationships/slide" Target="/ppt/slides/slide18.xml" Id="Rc9ad8a9ec8e24c8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880b0ef51364f0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d977ad671e4c25" /><Relationship Type="http://schemas.openxmlformats.org/officeDocument/2006/relationships/notesMaster" Target="/ppt/notesMasters/notesMaster1.xml" Id="R93e3d1d9bc3142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e5d7f70c9914d7e" /><Relationship Type="http://schemas.openxmlformats.org/officeDocument/2006/relationships/notesMaster" Target="/ppt/notesMasters/notesMaster1.xml" Id="R550528def3e94c1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629e4f9e3d24c41" /><Relationship Type="http://schemas.openxmlformats.org/officeDocument/2006/relationships/notesMaster" Target="/ppt/notesMasters/notesMaster1.xml" Id="R9553655af80f457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182709eae41b45d7" /><Relationship Type="http://schemas.openxmlformats.org/officeDocument/2006/relationships/notesMaster" Target="/ppt/notesMasters/notesMaster1.xml" Id="R1a898c81db864ab9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9063a55a7ad4b67" /><Relationship Type="http://schemas.openxmlformats.org/officeDocument/2006/relationships/notesMaster" Target="/ppt/notesMasters/notesMaster1.xml" Id="R40cd694299a04ef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a23d97fac8140d0" /><Relationship Type="http://schemas.openxmlformats.org/officeDocument/2006/relationships/notesMaster" Target="/ppt/notesMasters/notesMaster1.xml" Id="Ra262641e0c55464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f2777c97e9f47ef" /><Relationship Type="http://schemas.openxmlformats.org/officeDocument/2006/relationships/notesMaster" Target="/ppt/notesMasters/notesMaster1.xml" Id="R55fb6309241748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1e3ca9b15e64976" /><Relationship Type="http://schemas.openxmlformats.org/officeDocument/2006/relationships/notesMaster" Target="/ppt/notesMasters/notesMaster1.xml" Id="R349e6bea7daa404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2551c32d07c0446b" /><Relationship Type="http://schemas.openxmlformats.org/officeDocument/2006/relationships/notesMaster" Target="/ppt/notesMasters/notesMaster1.xml" Id="Reaa892c5868a430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177a19f9e2242e2" /><Relationship Type="http://schemas.openxmlformats.org/officeDocument/2006/relationships/notesMaster" Target="/ppt/notesMasters/notesMaster1.xml" Id="R077b9578992b4f6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e2e6b0113b4402d" /><Relationship Type="http://schemas.openxmlformats.org/officeDocument/2006/relationships/notesMaster" Target="/ppt/notesMasters/notesMaster1.xml" Id="R39e501a73957475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7c7e7905a2c46b0" /><Relationship Type="http://schemas.openxmlformats.org/officeDocument/2006/relationships/notesMaster" Target="/ppt/notesMasters/notesMaster1.xml" Id="R8aa529830d85470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5f2d3c1240f4c75" /><Relationship Type="http://schemas.openxmlformats.org/officeDocument/2006/relationships/notesMaster" Target="/ppt/notesMasters/notesMaster1.xml" Id="R8b397e793c414e7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a52fadfb7d7488c" /><Relationship Type="http://schemas.openxmlformats.org/officeDocument/2006/relationships/notesMaster" Target="/ppt/notesMasters/notesMaster1.xml" Id="R703073477ecf41a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41f834960ed44e7e" /><Relationship Type="http://schemas.openxmlformats.org/officeDocument/2006/relationships/notesMaster" Target="/ppt/notesMasters/notesMaster1.xml" Id="Rb85ce3c9cc6a4f58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6d4f8e2de774977" /><Relationship Type="http://schemas.openxmlformats.org/officeDocument/2006/relationships/notesMaster" Target="/ppt/notesMasters/notesMaster1.xml" Id="Rbf474371819b474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a10748cdc5f44ab2" /><Relationship Type="http://schemas.openxmlformats.org/officeDocument/2006/relationships/notesMaster" Target="/ppt/notesMasters/notesMaster1.xml" Id="R9a7ea4b664d1454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452499786784468" /><Relationship Type="http://schemas.openxmlformats.org/officeDocument/2006/relationships/notesMaster" Target="/ppt/notesMasters/notesMaster1.xml" Id="Rba003a4fa9b442f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สวัสดีทุกท่านครับ สำหรับช่วงบ่ายนี้เราจะมาดูการใช้งาน MSU EVA สำหรับบุคลากรสายสนับสนุนกันนะครับ บางท่านอาจอยู่ต่อจากช่วงเช้า บางท่านเพิ่งเข้ามาใหม่ และมีทั้งผู้รับการประเมิน ผู้ประเมิน ผู้บริหาร รวมถึงผู้ประเมินระบบ ไม่ต้องกังวลครับ เราจะเริ่มจากภาพรวมสั้น ๆ ก่อน แล้วผมจะสาธิตหนึ่งรายการให้ดู หลังจากนั้นทุกท่านจะได้ทดลองกับบัญชีที่เตรียมไว้ครับ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public/favicon-msu.png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- public/images/workload-background.jpg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เป้าหมายของช่วงบ่ายนี้ชัดเจนครับ เราจะทำกิจกรรมหนึ่งรายการให้ครบ ตั้งแต่เลือกกิจกรรม กรอกเป้าหมายและผล ตรวจคะแนน แนบหลักฐาน ไปจนถึงบันทึกร่าง ที่สำคัญคือเราต้องอธิบายได้ว่าคะแนนเกิดจากข้อมูลใด รอบประเมินเป็นสิ่งที่ผู้ดูแลระบบกำหนดไว้แล้วนะครับ ผู้ใช้งานมีหน้าที่ตรวจรอบกับรายการที่ได้รับมอบหมาย เมื่อพร้อมแล้ว ทีนี้เรามาดูว่าระบบช่วยงานส่วนไหนบ้างครับ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MSU EVA ไม่ได้มีแค่หน้ากรอกกิจกรรมนะครับ ระบบครอบคลุมตั้งแต่การจัดการผู้ใช้และสิทธิ์ การสร้างเกณฑ์ การกำหนดรอบและมอบหมายงาน ไปจนถึงการกรอกข้อมูล การประเมิน ติดตามสถานะ และส่งออกรายงาน ส่วนงานเตรียมระบบเป็นหน้าที่ของ Admin ผู้เข้าอบรมทั่วไปจึงไม่ต้องสร้างหรือเลือกรอบประเมินเองครับ เราตรวจเฉพาะงานที่ได้รับ แล้วดำเนินการตามสิทธิ์ของเรา ต่อไปมาทำความรู้จักผู้ใช้งานแต่ละกลุ่มกันครับ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ในระบบมีห้าบทบาทหลักครับ ได้แก่ Admin ผู้รับการประเมิน ผู้ประเมิน กรรมการ และผู้บริหาร แต่ละบทบาทจะเห็นเมนูต่างกัน ตรงนี้ขอเน้นครับ Admin เป็นผู้กำหนดผู้ใช้ เกณฑ์ รอบประเมิน การมอบหมาย และลำดับผู้ประเมิน ส่วนบทบาทผู้ประเมิน กรรมการ และผู้บริหารจะถูกใช้ตามขั้นที่ Admin จัดไว้ บางงานอาจใช้ไม่ครบทุกบทบาท และคนปิดงานคือคนสุดท้ายในลำดับของงานนั้นครับ เมื่อรู้ว่าใครทำอะไรแล้ว เรามาดูเส้นทางของงานทั้งกระบวนการกันครับ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database/seeders/RoleSeeder.php</a:t>
            </a:r>
          </a:p>
          <a:p xmlns:a="http://schemas.openxmlformats.org/drawingml/2006/main">
            <a:r>
              <a:t>- app/Http/Controllers/AssignmentDataController.php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ลองดูภาพนี้จากซ้ายไปขวาครับ ผู้รับการประเมินเปิดงาน เลือกกิจกรรม กรอกผล ตรวจคะแนนและหลักฐาน แล้วจึงส่งแบบประเมิน หลังจากนั้นระบบส่งงานให้ผู้ประเมินทีละคนตามลำดับ คนสุดท้ายยืนยันเมื่อใด งานจึงเป็นประเมินเสร็จสิ้น หรือ Completed ครับ จำไว้ว่าแต่ละปุ่มมีผลกับคนถัดไป เมื่อเห็นภาพรวมแล้ว ต่อไปเราจะเริ่มจากบทบาทของผู้กรอกข้อมูลครับ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ผู้รับการประเมินเป็นคนเตรียมเรื่องราวของกิจกรรมให้ครบครับ เราต้องบอกให้ได้ว่าทำกิจกรรมอะไร ตั้งเป้าหมายไว้เท่าไร ผลจริงเป็นอย่างไร และมีหลักฐานใดยืนยัน ถ้าข้อมูลยังไม่พร้อมก็ใช้บันทึกร่างก่อนได้ ไม่ต้องรีบส่งครับ เพราะข้อมูลที่เราเตรียมตรงนี้จะเป็นฐานให้ผู้ประเมินตัดสินใจ ทีนี้เดี๋ยวผมพาไปดูว่าควรเริ่มจากตรงไหนบนหน้าจอ</a:t>
            </a:r>
          </a:p>
          <a:p xmlns:a="http://schemas.openxmlformats.org/drawingml/2006/main">
            <a:r>
              <a:t>[เตรียมสาธิต] ตั้งแต่สไลด์ถัดไป ผมจะเปิดระบบให้ดูเป็นช่วง ๆ ครับ ทุกท่านยังไม่ต้องกดตาม จนกว่าจะถึงช่วงทดลองใช้งาน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ต่อไปมาที่แดชบอร์ดของฉันครับ ก่อนเปิดงานให้ตรวจรอบประเมินที่ผู้ดูแลระบบกำหนด รายการที่ได้รับมอบหมาย และสถานะปัจจุบัน ผู้ใช้งานไม่ต้องเลือกรอบเองนะครับ ถ้ารายการไม่ตรงให้หยุดและแจ้งผู้ดูแลระบบก่อน เดี๋ยวผมทำให้ดูก่อน ทุกท่านยังไม่ต้องกดตามครับ ให้สังเกตชื่อรอบ ชื่อรายการ และปุ่มเปิดงาน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เปิดแดชบอร์ด ตรวจสอบรอบประเมินที่ได้รับมอบหมาย แล้วเปิดรายการสายสนับสนุนที่เตรียมไว้</a:t>
            </a:r>
          </a:p>
          <a:p xmlns:a="http://schemas.openxmlformats.org/drawingml/2006/main">
            <a:r>
              <a:t>[กลับมานำเสนอ] เมื่อเห็นจุดเริ่มต้นบนระบบแล้ว ต่อไปเรามาดูความสัมพันธ์ระหว่างโครงการ กิจกรรม ตัวชี้วัด และหลักฐานครับ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เมื่อเปิดรายการแล้ว ลองสังเกตความเชื่อมโยงนะครับ โครงการบอกบริบท กิจกรรมบอกว่างานที่ทำคืออะไร ตัวชี้วัดบอกว่าจะวัดผลแบบไหน และหลักฐานยืนยันผลนั้น ถ้าข้อมูลเหล่านี้ไปคนละทิศ ผู้ประเมินจะอ่านแล้วไม่เห็นภาพครับ เพราะฉะนั้นให้เริ่มจากเลือกกิจกรรมที่ตรงกับงานจริงก่อน แล้วค่อยกรอกเป้าหมายกับผล ต่อไปเราจะดูช่องที่ต้องกรอกกันครับ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ในหน้าบันทึกกิจกรรม มีสามส่วนที่อยากให้ดูครับ คือเป้าหมาย ผลที่ทำได้ และรายละเอียดกิจกรรม เป้าหมายคือค่าที่ตั้งไว้ ส่วนผลที่ทำได้คือสิ่งที่เกิดขึ้นจริง อย่าสลับสองช่องนี้นะครับ รายละเอียดกิจกรรมควรเขียนสั้น ๆ แต่บอกได้ว่าทำอะไรและเกิดผลอย่างไร เมื่อข้อมูลครบ ระบบจะนำไปคำนวณคะแนน ทีนี้เรามาดูสูตรแบบง่าย ๆ 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ใช่ครับ สูตรนี้ดูเหมือนมีหลายตัว แต่หลักคิดไม่ซับซ้อน คะแนนถ่วงน้ำหนักเท่ากับน้ำหนักคูณคะแนนที่ทำได้ แล้วหารหนึ่งร้อย น้ำหนักบอกความสำคัญของรายการ ส่วนคะแนนที่ทำได้มาจากผลเทียบกับเกณฑ์ ตรงนี้อย่ากรอกคะแนนถ่วงน้ำหนักเองนะครับ ระบบคำนวณให้ หน้าที่ของเราคือตรวจว่าค่าต้นทางถูกต้อง ต่อไปลองคำนวณจากตัวอย่างจริงกันครับ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ลองช่วยกันคิดนะครับ ถ้าน้ำหนักเท่ากับยี่สิบ และคะแนนที่ทำได้เท่ากับแปดสิบ ผลจะเป็นเท่าไรครับ ใช่ครับ คำตอบคือสิบหกคะแนน เพราะยี่สิบคูณแปดสิบแล้วหารหนึ่งร้อย ตัวอย่างนี้ช่วยให้เราตรวจคร่าว ๆ ได้ว่าคะแนนบนหน้าจอสมเหตุสมผลหรือไม่ ถ้าคะแนนไม่ตรง ให้ย้อนดูน้ำหนัก คะแนนที่ทำได้ และหน่วยข้อมูลก่อนครับ</a:t>
            </a:r>
          </a:p>
          <a:p xmlns:a="http://schemas.openxmlformats.org/drawingml/2006/main">
            <a:r>
              <a:t>[ถามผู้เข้าอบรม] ถ้าน้ำหนักเป็น 30 และคะแนนที่ทำได้เป็น 70 คะแนนถ่วงน้ำหนักควรเป็นเท่าไรครับ</a:t>
            </a:r>
          </a:p>
          <a:p xmlns:a="http://schemas.openxmlformats.org/drawingml/2006/main">
            <a:r>
              <a:t>[พูด] คำตอบคือ 21 คะแนนครับ ต่อไปเราจะดูหลักฐานที่ใช้รองรับผลกิจกรรม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หลักฐานที่ดีต้องเปิดได้ ตรงกับกิจกรรม และรู้ว่าเป็นเอกสารของรายการใดครับ ลิงก์ควรเปิดได้จากบัญชีของผู้ประเมิน ไม่ใช่เปิดได้เฉพาะเจ้าของไฟล์ และควรตั้งชื่อไฟล์ให้ค้นหาได้ง่าย เดี๋ยวผมกรอกกิจกรรมหนึ่งรายการและแนบหลักฐานให้ดูก่อนครับ ทุกท่านสังเกตทั้งคะแนนที่ระบบคำนวณและการทดลองเปิดลิงก์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กรอกกิจกรรมหนึ่งรายการ ตรวจคะแนน แนบหลักฐาน และทดลองเปิดลิงก์</a:t>
            </a:r>
          </a:p>
          <a:p xmlns:a="http://schemas.openxmlformats.org/drawingml/2006/main">
            <a:r>
              <a:t>[กลับมานำเสนอ] เมื่อเห็นการกรอกกิจกรรมและเปิดหลักฐานแล้ว ต่อไปเรามาแยกบันทึกร่างกับส่งแบบประเมินให้ชัดครับ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resources/views/criteria_config/partials/support-criteria-template.blade.php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เมื่อข้อมูลยังไม่ครบ ให้บันทึกร่างไว้ก่อนครับ เรากลับมาแก้ไขได้และงานยังไม่ถูกส่งให้ผู้ประเมิน ส่วนส่งแบบประเมินใช้เมื่อข้อมูลบังคับ คะแนน และหลักฐานครบแล้ว ก่อนยืนยัน ลองหยุดตรวจอีกครั้งว่าผลที่ทำได้สอดคล้องกับรายละเอียดกิจกรรมและหลักฐานหรือไม่ วันนี้ตอนทดลองเราจะหยุดที่บันทึกร่างนะครับ ส่วนต่อไปผมจะอธิบายให้เห็นว่าเมื่อส่งจริง งานเดินต่ออย่างไร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หลังส่งแบบประเมิน ระบบจะส่งงานตามลำดับผู้ประเมินที่ Admin กำหนดไว้ครับ ผู้ประเมินแต่ละคนตรวจ ให้ผล และส่งต่อไปยังคนถัดไป จำนวนขั้นและสิทธิ์อาจไม่เหมือนกันในทุกงาน เพราะฉะนั้นอย่าคาดเดาจากชื่อตำแหน่ง ให้ดูสถานะและลำดับของรายการนั้นเป็นหลัก เมื่อเข้าใจตรงนี้แล้ว เดี๋ยวเราสลับไปดูหน้าของผู้ประเมินกันครับ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ตอนนี้เราอยู่ในมุมผู้ประเมินครับ สิ่งที่ต้องตรวจคือผลกิจกรรม เป้าหมาย คะแนนที่ระบบคำนวณ และหลักฐานว่าตรงกับเกณฑ์หรือไม่ ควรเปิดหลักฐานจริงก่อนให้ผลนะครับ ไม่ควรดูเฉพาะชื่อไฟล์ เดี๋ยวผมทำให้ดูหนึ่งรายการ ให้สังเกตว่าข้อมูลใดมาจากผู้รับการประเมิน และตรงไหนเป็นส่วนที่ผู้ประเมินต้องตัดสินใจ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เปิดบัญชีผู้ประเมิน ตรวจผลกิจกรรม คะแนน และหลักฐาน แล้วบันทึกผล</a:t>
            </a:r>
          </a:p>
          <a:p xmlns:a="http://schemas.openxmlformats.org/drawingml/2006/main">
            <a:r>
              <a:t>[กลับมานำเสนอ] เมื่อเห็นมุมของผู้ประเมินแล้ว ต่อไปเรามาดูการส่งต่อและการยืนยันขั้นสุดท้ายครับ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ผู้ประเมินแต่ละคนทำงานเฉพาะขั้นของตัวเองครับ เมื่อตรวจครบแล้วจึงส่งต่อ คนถัดไปจึงจะรับงาน และเมื่อถึงคนสุดท้าย บุคคลนั้นจะยืนยันขั้นสุดท้ายจนสถานะเป็น Completed คนสุดท้ายอาจเป็นบทบาทใดก็ได้ตามลำดับที่ Admin กำหนดนะครับ เดี๋ยวผมส่งต่องานและเปิดบัญชีคนสุดท้ายให้ดู เพื่อให้เห็นการเปลี่ยนสถานะจริงครับ</a:t>
            </a:r>
          </a:p>
          <a:p xmlns:a="http://schemas.openxmlformats.org/drawingml/2006/main">
            <a:r>
              <a:t>[เปลี่ยนไปสาธิตระบบ] ต่อไปผมจะเปิดระบบตามหัวข้อนี้ให้ดูครับ ทุกท่านยังไม่ต้องกดตาม ให้สังเกตขั้นตอนบนหน้าจอก่อน</a:t>
            </a:r>
          </a:p>
          <a:p xmlns:a="http://schemas.openxmlformats.org/drawingml/2006/main">
            <a:r>
              <a:t>[สาธิต] ส่งต่องานหนึ่งลำดับ เปิดด้วยบัญชีผู้ประเมินคนสุดท้าย และยืนยันจนสถานะเป็น Completed</a:t>
            </a:r>
          </a:p>
          <a:p xmlns:a="http://schemas.openxmlformats.org/drawingml/2006/main">
            <a:r>
              <a:t>[กลับมานำเสนอ] เมื่อเห็นสถานะ Completed แล้ว ต่อไปจะเป็นช่วงที่ทุกท่านได้ทดลองใช้งานครับ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ทีนี้ถึงเวลาลองทำด้วยตัวเองแล้วครับ ให้ทุกท่านเปิดบัญชีที่เตรียมไว้ ผู้ที่เคยทดสอบระบบแล้วลองเน้นตรวจคะแนนและความสัมพันธ์ของหลักฐาน ส่วนผู้ที่เพิ่งเริ่มให้ทำทีละขั้น เลือกกิจกรรม กรอกเป้าหมายและผล ตรวจคะแนน แนบหลักฐาน แล้วบันทึกร่าง ถ้าติดตรงไหนยกมือได้เลยครับ ยังไม่ต้องกดส่งแบบประเมิน เพราะเราจะตรวจความพร้อมร่วมกันก่อน</a:t>
            </a:r>
          </a:p>
          <a:p xmlns:a="http://schemas.openxmlformats.org/drawingml/2006/main">
            <a:r>
              <a:t>[เริ่มทดลองใช้งาน — 30 นาที]</a:t>
            </a:r>
          </a:p>
          <a:p xmlns:a="http://schemas.openxmlformats.org/drawingml/2006/main">
            <a:r>
              <a:t>[ให้ผู้เข้าอบรมหยุดที่บันทึกร่าง]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docs/superpowers/specs/2026-07-24-split-role-training-decks-design.md</a:t>
            </a:r>
          </a:p>
          <a:p xmlns:a="http://schemas.openxmlformats.org/drawingml/2006/main">
            <a:r>
              <a:t>- docs/user-guide-th.md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[พูด] ก่อนจบ ขอฝากวิธีตรวจปัญหาเบื้องต้นไว้สี่จุดครับ ดูรอบและรายการ สิทธิ์ของบัญชี สถานะงาน และข้อมูลบังคับรวมถึงลิงก์หลักฐาน ถ้าคะแนนไม่เป็นไปตามที่คิด ให้ย้อนดูน้ำหนัก คะแนนที่ทำได้ และหน่วยก่อน หากยังแก้ไม่ได้ ให้จดชื่อรายการ สถานะ และข้อความที่พบ แล้วแจ้งผู้ดูแลระบบครับ</a:t>
            </a:r>
          </a:p>
          <a:p xmlns:a="http://schemas.openxmlformats.org/drawingml/2006/main">
            <a:r>
              <a:t>[ถามผู้เข้าอบรม] ตอนนี้มีใครติดที่การเลือกกิจกรรม การคำนวณคะแนน หรือการเปิดหลักฐานไหมครับ</a:t>
            </a:r>
          </a:p>
          <a:p xmlns:a="http://schemas.openxmlformats.org/drawingml/2006/main">
            <a:r>
              <a:t>[พูด] ถ้าไม่มีคำถามเพิ่มเติม ขอให้จำไว้ครับ ตรวจงานให้ถูก กรอกข้อมูลให้ครบ และบันทึกร่างก่อนส่งจริง ขอบคุณทุกท่านครับ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resources/views/partials/evaluation-form-action-buttons.blade.php</a:t>
            </a:r>
          </a:p>
          <a:p xmlns:a="http://schemas.openxmlformats.org/drawingml/2006/main">
            <a:r>
              <a:t>- resources/views/partials/evaluatee-evaluation-script.blade.php</a:t>
            </a:r>
          </a:p>
          <a:p xmlns:a="http://schemas.openxmlformats.org/drawingml/2006/main">
            <a:r>
              <a:t>- app/Support/AssignmentFlow.php</a:t>
            </a:r>
          </a:p>
          <a:p xmlns:a="http://schemas.openxmlformats.org/drawingml/2006/main">
            <a:r>
              <a:t>- C:\Users\pisut\Downloads\logoบริษัท.svg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58d87804ac41d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2f3ee6c6717446f" /><Relationship Type="http://schemas.openxmlformats.org/officeDocument/2006/relationships/slideLayout" Target="/ppt/slideLayouts/slideLayout1.xml" Id="R682ca8d30654498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82ca8d30654498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456acdb600a4ac2" /><Relationship Type="http://schemas.openxmlformats.org/officeDocument/2006/relationships/image" Target="/ppt/media/image.jpeg" Id="R6800e5295b2e4f7d" /><Relationship Type="http://schemas.openxmlformats.org/officeDocument/2006/relationships/image" Target="/ppt/media/image.png" Id="R9e22daad932543ad" /><Relationship Type="http://schemas.openxmlformats.org/officeDocument/2006/relationships/image" Target="/ppt/media/image2.png" Id="R760615a8baf14e8d" /><Relationship Type="http://schemas.openxmlformats.org/officeDocument/2006/relationships/notesSlide" Target="/ppt/notesSlides/notesSlide1.xml" Id="R09f1d099ca454a7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91f5741a094a6e" /><Relationship Type="http://schemas.openxmlformats.org/officeDocument/2006/relationships/notesSlide" Target="/ppt/notesSlides/notesSlide2.xml" Id="Rb457be80e2374fa9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8b0577ce73458a" /><Relationship Type="http://schemas.openxmlformats.org/officeDocument/2006/relationships/notesSlide" Target="/ppt/notesSlides/notesSlide3.xml" Id="R4b9a03f2dc32461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dae43103b64fd1" /><Relationship Type="http://schemas.openxmlformats.org/officeDocument/2006/relationships/notesSlide" Target="/ppt/notesSlides/notesSlide4.xml" Id="R0f705905fca7443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5a8f76a976a46db" /><Relationship Type="http://schemas.openxmlformats.org/officeDocument/2006/relationships/notesSlide" Target="/ppt/notesSlides/notesSlide5.xml" Id="R1b06298af5544f4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1dc7b134a14604" /><Relationship Type="http://schemas.openxmlformats.org/officeDocument/2006/relationships/notesSlide" Target="/ppt/notesSlides/notesSlide6.xml" Id="R345f9c9745e242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3da93f9afe4015" /><Relationship Type="http://schemas.openxmlformats.org/officeDocument/2006/relationships/notesSlide" Target="/ppt/notesSlides/notesSlide7.xml" Id="R5823f0e274014ed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8f26065a19461d" /><Relationship Type="http://schemas.openxmlformats.org/officeDocument/2006/relationships/notesSlide" Target="/ppt/notesSlides/notesSlide8.xml" Id="R3526256a6e004a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3430992b984cf6" /><Relationship Type="http://schemas.openxmlformats.org/officeDocument/2006/relationships/notesSlide" Target="/ppt/notesSlides/notesSlide9.xml" Id="Rc7f8fbf7274e497d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54b013725c496d" /><Relationship Type="http://schemas.openxmlformats.org/officeDocument/2006/relationships/notesSlide" Target="/ppt/notesSlides/notesSlide10.xml" Id="Rbead20a2ba3b40c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1b2ee9dc294bc7" /><Relationship Type="http://schemas.openxmlformats.org/officeDocument/2006/relationships/notesSlide" Target="/ppt/notesSlides/notesSlide11.xml" Id="Rb669e02728ce459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83a4aab2384c76" /><Relationship Type="http://schemas.openxmlformats.org/officeDocument/2006/relationships/notesSlide" Target="/ppt/notesSlides/notesSlide12.xml" Id="R0b2b4890f17e472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ed43389aae424a" /><Relationship Type="http://schemas.openxmlformats.org/officeDocument/2006/relationships/notesSlide" Target="/ppt/notesSlides/notesSlide13.xml" Id="R7c2e930d24dc4d04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8f0aa40a2649d8" /><Relationship Type="http://schemas.openxmlformats.org/officeDocument/2006/relationships/notesSlide" Target="/ppt/notesSlides/notesSlide14.xml" Id="Rbdec320423484d4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9e01a31b1649c2" /><Relationship Type="http://schemas.openxmlformats.org/officeDocument/2006/relationships/notesSlide" Target="/ppt/notesSlides/notesSlide15.xml" Id="R92cc750bdd69489b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ec1508b50c48e6" /><Relationship Type="http://schemas.openxmlformats.org/officeDocument/2006/relationships/notesSlide" Target="/ppt/notesSlides/notesSlide16.xml" Id="R02fc1a70c2a84717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201c03c31494d37" /><Relationship Type="http://schemas.openxmlformats.org/officeDocument/2006/relationships/notesSlide" Target="/ppt/notesSlides/notesSlide17.xml" Id="Rb0b11424f4254ca1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a786d4b00e4de8" /><Relationship Type="http://schemas.openxmlformats.org/officeDocument/2006/relationships/image" Target="/ppt/media/image3.png" Id="R071f9bae71684cf7" /><Relationship Type="http://schemas.openxmlformats.org/officeDocument/2006/relationships/notesSlide" Target="/ppt/notesSlides/notesSlide18.xml" Id="Rcb7aecf973b7499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800e5295b2e4f7d"/>
          <a:srcRect xmlns:a="http://schemas.openxmlformats.org/drawingml/2006/main" l="2579" t="0" r="257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cover-panel">
            <a:extLst xmlns:a="http://schemas.openxmlformats.org/drawingml/2006/main">
              <a:ext uri="{FF2B5EF4-FFF2-40B4-BE49-F238E27FC236}">
                <a16:creationId xmlns:a16="http://schemas.microsoft.com/office/drawing/2014/main" id="{615D1E8B-1021-4369-85B6-8D4F4EF8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75247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FA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cover-accent">
            <a:extLst xmlns:a="http://schemas.openxmlformats.org/drawingml/2006/main">
              <a:ext uri="{FF2B5EF4-FFF2-40B4-BE49-F238E27FC236}">
                <a16:creationId xmlns:a16="http://schemas.microsoft.com/office/drawing/2014/main" id="{FA1AC356-091F-4FBB-8EA7-1D9A2E6FD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22daad932543ad"/>
          <a:stretch xmlns:a="http://schemas.openxmlformats.org/drawingml/2006/main"/>
        </p:blipFill>
        <p:spPr>
          <a:xfrm xmlns:a="http://schemas.openxmlformats.org/drawingml/2006/main">
            <a:off x="628650" y="419100"/>
            <a:ext cx="800100" cy="800100"/>
          </a:xfrm>
          <a:prstGeom xmlns:a="http://schemas.openxmlformats.org/drawingml/2006/main" prst="rect">
            <a:avLst/>
          </a:prstGeom>
        </p:spPr>
      </p:pic>
      <p:sp>
        <p:nvSpPr>
          <p:cNvPr id="5" name="cover-institution">
            <a:extLst xmlns:a="http://schemas.openxmlformats.org/drawingml/2006/main">
              <a:ext uri="{FF2B5EF4-FFF2-40B4-BE49-F238E27FC236}">
                <a16:creationId xmlns:a16="http://schemas.microsoft.com/office/drawing/2014/main" id="{07A4B357-60B6-4790-8EAB-D14A541D1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4350"/>
            <a:ext cx="5286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5F2A84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5F2A84"/>
                </a:solidFill>
                <a:latin typeface="Tahoma"/>
                <a:ea typeface="Tahoma"/>
                <a:cs typeface="Tahoma"/>
              </a:rPr>
              <a:t>คณะสาธารณสุขศาสตร์  •  มหาวิทยาลัยมหาสารคาม</a:t>
            </a:r>
          </a:p>
        </p:txBody>
      </p:sp>
      <p:sp>
        <p:nvSpPr>
          <p:cNvPr id="6" name="cover-session">
            <a:extLst xmlns:a="http://schemas.openxmlformats.org/drawingml/2006/main">
              <a:ext uri="{FF2B5EF4-FFF2-40B4-BE49-F238E27FC236}">
                <a16:creationId xmlns:a16="http://schemas.microsoft.com/office/drawing/2014/main" id="{88D6F5F3-B97B-4D7F-89F7-401A67B0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ภาคบ่าย</a:t>
            </a:r>
          </a:p>
        </p:txBody>
      </p:sp>
      <p:sp>
        <p:nvSpPr>
          <p:cNvPr id="7" name="cover-title">
            <a:extLst xmlns:a="http://schemas.openxmlformats.org/drawingml/2006/main">
              <a:ext uri="{FF2B5EF4-FFF2-40B4-BE49-F238E27FC236}">
                <a16:creationId xmlns:a16="http://schemas.microsoft.com/office/drawing/2014/main" id="{38103830-5A7A-481E-83F9-BECE34088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95500"/>
            <a:ext cx="619125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การใช้งานระบบ MSU EVA</a:t>
            </a:r>
          </a:p>
          <a:p xmlns:a="http://schemas.openxmlformats.org/drawingml/2006/main">
            <a:pPr algn="l">
              <a:lnSpc>
                <a:spcPct val="92000"/>
              </a:lnSpc>
              <a:buNone/>
              <a:defRPr sz="39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9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สำหรับบุคลากรสายสนับสนุน</a:t>
            </a:r>
          </a:p>
        </p:txBody>
      </p:sp>
      <p:sp>
        <p:nvSpPr>
          <p:cNvPr id="8" name="cover-gold-rule">
            <a:extLst xmlns:a="http://schemas.openxmlformats.org/drawingml/2006/main">
              <a:ext uri="{FF2B5EF4-FFF2-40B4-BE49-F238E27FC236}">
                <a16:creationId xmlns:a16="http://schemas.microsoft.com/office/drawing/2014/main" id="{EF69F4EF-A8A6-4BAA-8343-DE3EDBCAF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095750"/>
            <a:ext cx="8763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over-promise">
            <a:extLst xmlns:a="http://schemas.openxmlformats.org/drawingml/2006/main">
              <a:ext uri="{FF2B5EF4-FFF2-40B4-BE49-F238E27FC236}">
                <a16:creationId xmlns:a16="http://schemas.microsoft.com/office/drawing/2014/main" id="{54A2FC46-9A84-455D-A581-E5625102F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45770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00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บันทึกกิจกรรม เข้าใจที่มาของคะแนน และแนบหลักฐานให้พร้อมตรวจ</a:t>
            </a:r>
          </a:p>
        </p:txBody>
      </p:sp>
      <p:sp>
        <p:nvSpPr>
          <p:cNvPr id="10" name="cover-style">
            <a:extLst xmlns:a="http://schemas.openxmlformats.org/drawingml/2006/main">
              <a:ext uri="{FF2B5EF4-FFF2-40B4-BE49-F238E27FC236}">
                <a16:creationId xmlns:a16="http://schemas.microsoft.com/office/drawing/2014/main" id="{DA3ED1E2-1887-4D02-BFBE-E0499188C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0075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1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Professional Training  •  สายสนับสนุน</a:t>
            </a:r>
          </a:p>
        </p:txBody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0615a8baf14e8d"/>
          <a:stretch xmlns:a="http://schemas.openxmlformats.org/drawingml/2006/main"/>
        </p:blipFill>
        <p:spPr>
          <a:xfrm xmlns:a="http://schemas.openxmlformats.org/drawingml/2006/main">
            <a:off x="9186571" y="5962650"/>
            <a:ext cx="2029408" cy="552450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812270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side-accent-2">
            <a:extLst xmlns:a="http://schemas.openxmlformats.org/drawingml/2006/main">
              <a:ext uri="{FF2B5EF4-FFF2-40B4-BE49-F238E27FC236}">
                <a16:creationId xmlns:a16="http://schemas.microsoft.com/office/drawing/2014/main" id="{465D30A5-7C76-4BFF-A0D6-9F0BD4562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2">
            <a:extLst xmlns:a="http://schemas.openxmlformats.org/drawingml/2006/main">
              <a:ext uri="{FF2B5EF4-FFF2-40B4-BE49-F238E27FC236}">
                <a16:creationId xmlns:a16="http://schemas.microsoft.com/office/drawing/2014/main" id="{9E3DFC52-18AC-425C-A7F9-071E2FB03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เป้าหมายการอบรม  /  สายสนับสนุน</a:t>
            </a:r>
          </a:p>
        </p:txBody>
      </p:sp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81FEE5F5-B5E9-4533-825A-218F91391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ช่วงบ่ายนี้ เราจะทดลองบันทึกกิจกรรมและตรวจคะแนน 1 รายการ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31AEB5-CACA-4960-AFC9-7289E468B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43100"/>
            <a:ext cx="571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เมื่อจบช่วงนี้ คุณจะทำได้ด้วยตัวเอง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7B3086-F50E-4B96-9E15-F922CC0F4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289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BF9AF8-9DC0-4FDC-9017-18AF88CA0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6765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DC68D3-24DB-49D0-A6B8-718BFF757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26289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เปิดงานและเลือกกิจกรรมได้ถูกต้อง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E45EAE-C59B-4C49-B7E1-FB6EC3CB6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3D02A19-FA94-479C-8254-5CEACE7BE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64807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052FA30-4A46-4782-961F-6B3EB611F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60045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0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0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 คำนวณคะแนน และแนบหลักฐานได้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5EDE7A-237F-487F-9462-E95AEB7C8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72000"/>
            <a:ext cx="723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3D1C591-3180-414D-B75B-0C576AF59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619625"/>
            <a:ext cx="381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01E46A-62CD-47D4-8AAA-F76E68BCD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4572000"/>
            <a:ext cx="8858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ตรวจความพร้อมก่อนส่งแบบประเมิน</a:t>
            </a:r>
          </a:p>
        </p:txBody>
      </p:sp>
      <p:sp>
        <p:nvSpPr>
          <p:cNvPr id="14" name="outcome-mark">
            <a:extLst xmlns:a="http://schemas.openxmlformats.org/drawingml/2006/main">
              <a:ext uri="{FF2B5EF4-FFF2-40B4-BE49-F238E27FC236}">
                <a16:creationId xmlns:a16="http://schemas.microsoft.com/office/drawing/2014/main" id="{5D4274C6-4B1D-47BD-9B27-1E90430AD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2324100" cy="3295650"/>
          </a:xfrm>
          <a:prstGeom xmlns:a="http://schemas.openxmlformats.org/drawingml/2006/main" prst="roundRect">
            <a:avLst>
              <a:gd name="adj" fmla="val 3279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908DE75-B7CD-4C0B-AC02-F085B167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324100"/>
            <a:ext cx="1790700" cy="1371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0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780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E1B7DC2-CDD7-4F26-B84E-EC22C0864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752850"/>
            <a:ext cx="1790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พร้อมส่ง</a:t>
            </a:r>
          </a:p>
        </p:txBody>
      </p:sp>
      <p:sp>
        <p:nvSpPr>
          <p:cNvPr id="17" name="footer-rule-2">
            <a:extLst xmlns:a="http://schemas.openxmlformats.org/drawingml/2006/main">
              <a:ext uri="{FF2B5EF4-FFF2-40B4-BE49-F238E27FC236}">
                <a16:creationId xmlns:a16="http://schemas.microsoft.com/office/drawing/2014/main" id="{C1F4F8E7-1E66-4922-A02C-028079CD2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footer-label-2">
            <a:extLst xmlns:a="http://schemas.openxmlformats.org/drawingml/2006/main">
              <a:ext uri="{FF2B5EF4-FFF2-40B4-BE49-F238E27FC236}">
                <a16:creationId xmlns:a16="http://schemas.microsoft.com/office/drawing/2014/main" id="{C8CE120B-242B-4F17-8318-660991470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9" name="footer-page-2">
            <a:extLst xmlns:a="http://schemas.openxmlformats.org/drawingml/2006/main">
              <a:ext uri="{FF2B5EF4-FFF2-40B4-BE49-F238E27FC236}">
                <a16:creationId xmlns:a16="http://schemas.microsoft.com/office/drawing/2014/main" id="{461E792F-D940-4B08-A692-5C261CD7D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 / 18</a:t>
            </a:r>
          </a:p>
        </p:txBody>
      </p:sp>
    </p:spTree>
    <p:extLst>
      <p:ext uri="{BB962C8B-B14F-4D97-AF65-F5344CB8AC3E}">
        <p14:creationId xmlns:p14="http://schemas.microsoft.com/office/powerpoint/2010/main" val="26705124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3">
            <a:extLst xmlns:a="http://schemas.openxmlformats.org/drawingml/2006/main">
              <a:ext uri="{FF2B5EF4-FFF2-40B4-BE49-F238E27FC236}">
                <a16:creationId xmlns:a16="http://schemas.microsoft.com/office/drawing/2014/main" id="{496E59E0-B60E-461B-AAA5-EB02EB993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3">
            <a:extLst xmlns:a="http://schemas.openxmlformats.org/drawingml/2006/main">
              <a:ext uri="{FF2B5EF4-FFF2-40B4-BE49-F238E27FC236}">
                <a16:creationId xmlns:a16="http://schemas.microsoft.com/office/drawing/2014/main" id="{18B35FC9-46A4-43E9-86AB-C43507FD3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รู้จักระบบ  /  สายสนับสนุน</a:t>
            </a:r>
          </a:p>
        </p:txBody>
      </p:sp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6109A841-1D09-4928-90F8-FE804DD88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MSU EVA ช่วยจัดการงานประเมินตั้งแต่เตรียมรอบจนถึงรายงานผล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92C5B3-B777-4304-B022-C6690B4B8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ฟังก์ชันหลัก 5 ด้าน เชื่อมต่อกันเป็นกระบวนการเดียว</a:t>
            </a:r>
          </a:p>
        </p:txBody>
      </p:sp>
      <p:sp>
        <p:nvSpPr>
          <p:cNvPr id="5" name="system-function-line">
            <a:extLst xmlns:a="http://schemas.openxmlformats.org/drawingml/2006/main">
              <a:ext uri="{FF2B5EF4-FFF2-40B4-BE49-F238E27FC236}">
                <a16:creationId xmlns:a16="http://schemas.microsoft.com/office/drawing/2014/main" id="{DE23B66A-8CFE-47DE-A5A6-32313B457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3467100"/>
            <a:ext cx="87058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29FBFE-95F6-4C35-ABE4-9629DB7F0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42F77C-3879-43E8-88C7-FC1ECB62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0A2580-A4D2-46D0-B378-76FD238A7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ผู้ใช้และสิทธิ์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AC6A2AF-ED5D-4550-87D2-87C12108E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จัดการบัญชีและบทบาท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A66979-B85F-4B0E-8892-CF1850D9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D2AC88-1942-4F94-BDD9-4B2E3B769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094F60-F453-468C-AC92-4126EF5BB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เกณฑ์ประเมิน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77C98A-3A7A-479C-8A72-5B50073CD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จัดการแบบและเกณฑ์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75350D6-A7CA-4FE8-9B47-C9AB790F1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B12DD4-7926-442A-9D43-FCA6D825D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DD5D6A-E1C5-446D-803A-7F56E64FB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รอบและงาน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40C428-263D-43E9-A0F0-7D78A1ECC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สร้างรอบและมอบหมาย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D30F30-F0C6-47B5-A2B7-A8EEF65A5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AD3E82-9126-4CAB-A174-5DB3E3DEE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7A1D29-9867-42A4-B132-663B2301C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กรอกและประเมิน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D4540B-FDC0-4C3D-BBD6-0EC81901D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 ตรวจ และส่งต่อ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4F6CE88-6B68-4713-A1D8-EA408E597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009900"/>
            <a:ext cx="876300" cy="876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6EB6A6C-176E-4163-ADFA-7F7BE253F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3257550"/>
            <a:ext cx="876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A47180C-CD4E-4C8A-B777-BE01425049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4210050"/>
            <a:ext cx="17907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ติดตาม/รายงาน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0D67E1-0504-4E7E-B186-E0757C704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4819650"/>
            <a:ext cx="19431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2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ติดตามสถานะและส่งออก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393E0DD-F11B-4EF8-83E1-D8AC2BEC9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10972800" cy="514350"/>
          </a:xfrm>
          <a:prstGeom xmlns:a="http://schemas.openxmlformats.org/drawingml/2006/main" prst="roundRect">
            <a:avLst>
              <a:gd name="adj" fmla="val 1481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B41E675-5990-4305-A043-C9318B04C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791200"/>
            <a:ext cx="1051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Admin เตรียมระบบและมอบหมายงาน ก่อนผู้ใช้งานเริ่มดำเนินการ</a:t>
            </a:r>
          </a:p>
        </p:txBody>
      </p:sp>
      <p:sp>
        <p:nvSpPr>
          <p:cNvPr id="28" name="footer-rule-3">
            <a:extLst xmlns:a="http://schemas.openxmlformats.org/drawingml/2006/main">
              <a:ext uri="{FF2B5EF4-FFF2-40B4-BE49-F238E27FC236}">
                <a16:creationId xmlns:a16="http://schemas.microsoft.com/office/drawing/2014/main" id="{A3F82E5D-2A7A-491B-AFF8-E4D3F71C1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3">
            <a:extLst xmlns:a="http://schemas.openxmlformats.org/drawingml/2006/main">
              <a:ext uri="{FF2B5EF4-FFF2-40B4-BE49-F238E27FC236}">
                <a16:creationId xmlns:a16="http://schemas.microsoft.com/office/drawing/2014/main" id="{E8F640F7-027E-4CF3-BC6A-9528F093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3">
            <a:extLst xmlns:a="http://schemas.openxmlformats.org/drawingml/2006/main">
              <a:ext uri="{FF2B5EF4-FFF2-40B4-BE49-F238E27FC236}">
                <a16:creationId xmlns:a16="http://schemas.microsoft.com/office/drawing/2014/main" id="{94492E2C-D8F6-41FE-B3D1-4263B0DE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 / 18</a:t>
            </a:r>
          </a:p>
        </p:txBody>
      </p:sp>
    </p:spTree>
    <p:extLst>
      <p:ext uri="{BB962C8B-B14F-4D97-AF65-F5344CB8AC3E}">
        <p14:creationId xmlns:p14="http://schemas.microsoft.com/office/powerpoint/2010/main" val="90397643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4">
            <a:extLst xmlns:a="http://schemas.openxmlformats.org/drawingml/2006/main">
              <a:ext uri="{FF2B5EF4-FFF2-40B4-BE49-F238E27FC236}">
                <a16:creationId xmlns:a16="http://schemas.microsoft.com/office/drawing/2014/main" id="{398E57C6-CEC4-40CD-B3E0-16BDE582C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4">
            <a:extLst xmlns:a="http://schemas.openxmlformats.org/drawingml/2006/main">
              <a:ext uri="{FF2B5EF4-FFF2-40B4-BE49-F238E27FC236}">
                <a16:creationId xmlns:a16="http://schemas.microsoft.com/office/drawing/2014/main" id="{E80CB312-DC78-4B64-BE36-2146470A5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ผู้ใช้งานระบบ  /  สายสนับสนุน</a:t>
            </a:r>
          </a:p>
        </p:txBody>
      </p:sp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7117763A-E9B4-4515-8FCF-CA6A6349D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ระบบมี 5 บทบาท และแต่ละคนเห็นงานต่างกัน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DF2A70-0BB8-4C55-94B5-8B6AB5D8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10141E-C8F5-4AF3-A728-296BC60FB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18288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Admin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BF0BF2-AD83-4BFD-8A2A-5DD5C1BD4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18669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ผู้ใช้ • สิทธิ์ • เกณฑ์ • รอบประเมิน • งาน • ลำดับผู้ประเมิน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6A108F-A363-4790-8D0F-589669B227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8125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E4D90-FA5A-4A87-8B9F-3939B65B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0032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4812A5-C732-4268-A151-DE3B4F35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56222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ผู้รับการประเมิน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808075-CCC1-4778-AB02-F55EA1FEF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60032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กรอกข้อมูล • แนบหลักฐาน • บันทึกร่าง • ส่งแบบประเมิน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920FEB-7829-4BFB-91CE-492F7A6DD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11467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A473D8-BB30-44AF-86DF-FF30B3917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9DCE846-9340-4A50-84DA-5D0492267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29565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A6193A-8DC3-4FCD-94B8-AAF47548F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33375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 • ให้คะแนนหรือความเห็น • ส่งต่องาน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3ED521-0673-461E-98BA-7D8C65F3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48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D5DCAC6-858A-402F-B81B-296136F8F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67175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058C61-807B-47A9-B1D1-91256795A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029075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กรรมการ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5F44F2-6C6F-4BBC-9260-59ABA06E2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067175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ตรวจและรับรองผลตามขั้นที่ได้รับมอบหมาย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02A08F-D94E-45BD-B3B3-4BC50F44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581525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4EE33E-41EC-4820-ACEA-04D215C45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590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06B0288-C12F-4C05-AA63-31EA7A2A1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62500"/>
            <a:ext cx="2571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ผู้บริหาร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2F46C4-A49D-4052-8B46-9E637E4EA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800600"/>
            <a:ext cx="71056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ตรวจหรือยืนยันตามลำดับ • ดูรายงานตามสิทธิ์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79EEE7-69BA-4DD2-8065-2527639EE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93F998-D706-4286-B930-B175A9284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1977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แต่ละรอบอาจใช้ผู้ประเมินไม่ครบทุกบทบาท ให้ยึดลำดับที่ Admin กำหนด</a:t>
            </a:r>
          </a:p>
        </p:txBody>
      </p:sp>
      <p:sp>
        <p:nvSpPr>
          <p:cNvPr id="25" name="footer-rule-4">
            <a:extLst xmlns:a="http://schemas.openxmlformats.org/drawingml/2006/main">
              <a:ext uri="{FF2B5EF4-FFF2-40B4-BE49-F238E27FC236}">
                <a16:creationId xmlns:a16="http://schemas.microsoft.com/office/drawing/2014/main" id="{13E9F5DF-08AB-4F2E-8A7E-33B6F8505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4">
            <a:extLst xmlns:a="http://schemas.openxmlformats.org/drawingml/2006/main">
              <a:ext uri="{FF2B5EF4-FFF2-40B4-BE49-F238E27FC236}">
                <a16:creationId xmlns:a16="http://schemas.microsoft.com/office/drawing/2014/main" id="{F9500E04-6055-4334-B76F-717D510AF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4">
            <a:extLst xmlns:a="http://schemas.openxmlformats.org/drawingml/2006/main">
              <a:ext uri="{FF2B5EF4-FFF2-40B4-BE49-F238E27FC236}">
                <a16:creationId xmlns:a16="http://schemas.microsoft.com/office/drawing/2014/main" id="{CFE72236-1834-44AE-9EC1-F23C82D94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04 / 18</a:t>
            </a:r>
          </a:p>
        </p:txBody>
      </p:sp>
    </p:spTree>
    <p:extLst>
      <p:ext uri="{BB962C8B-B14F-4D97-AF65-F5344CB8AC3E}">
        <p14:creationId xmlns:p14="http://schemas.microsoft.com/office/powerpoint/2010/main" val="42540320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side-accent-5">
            <a:extLst xmlns:a="http://schemas.openxmlformats.org/drawingml/2006/main">
              <a:ext uri="{FF2B5EF4-FFF2-40B4-BE49-F238E27FC236}">
                <a16:creationId xmlns:a16="http://schemas.microsoft.com/office/drawing/2014/main" id="{7D908226-3A03-44B6-B7AA-AAF3272E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5">
            <a:extLst xmlns:a="http://schemas.openxmlformats.org/drawingml/2006/main">
              <a:ext uri="{FF2B5EF4-FFF2-40B4-BE49-F238E27FC236}">
                <a16:creationId xmlns:a16="http://schemas.microsoft.com/office/drawing/2014/main" id="{3D89A5CB-B5A4-4A07-8178-FF819FEA9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ภาพรวมกระบวนการ  /  สายสนับสนุน</a:t>
            </a:r>
          </a:p>
        </p:txBody>
      </p:sp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E250BEF7-8025-413E-9963-CB3DBB656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มาดูขั้นตอนทั้งหมดก่อนเริ่มกรอกข้อมูล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646622-FA9B-4B57-8727-6866335F7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28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ตั้งแต่เลือกกิจกรรม กรอกผล ตรวจคะแนน จนถึงผู้ประเมินคนสุดท้าย</a:t>
            </a:r>
          </a:p>
        </p:txBody>
      </p:sp>
      <p:sp>
        <p:nvSpPr>
          <p:cNvPr id="5" name="workflow-line">
            <a:extLst xmlns:a="http://schemas.openxmlformats.org/drawingml/2006/main">
              <a:ext uri="{FF2B5EF4-FFF2-40B4-BE49-F238E27FC236}">
                <a16:creationId xmlns:a16="http://schemas.microsoft.com/office/drawing/2014/main" id="{C0E402A0-DCBF-41E1-8835-414689C4C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457575"/>
            <a:ext cx="86677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workflow-arrow">
            <a:extLst xmlns:a="http://schemas.openxmlformats.org/drawingml/2006/main">
              <a:ext uri="{FF2B5EF4-FFF2-40B4-BE49-F238E27FC236}">
                <a16:creationId xmlns:a16="http://schemas.microsoft.com/office/drawing/2014/main" id="{5EE5ADE9-22DA-4941-A6D5-7744198F6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3150" y="3343275"/>
            <a:ext cx="45720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4B60C4-A827-48A9-9ADF-8FA30723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1842D8-2599-4E95-A4D4-8F09FF27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90DC9B5-13EB-4AF4-AA3D-B1F11C9C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รับงาน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877F88-3BB4-4E3A-B0CB-1F9CF3598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ตรวจรอบและรายการ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A296BB-897B-4CC5-BBC3-489DE2F05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977E22-FB6C-4392-8846-A85CAD940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7F06EE-DB40-4978-B782-52E1BFFF0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กรอกข้อมูล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6745F7-A4EC-40E9-95DB-E116784B5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• ตัวชี้วัด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E09458-5AA6-48B8-B204-A3A3284EF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C7AE8C6-C621-4962-B3B1-688728B29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C15303-77C1-4E72-9D69-02C8A913E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ตรวจความพร้อม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884829E-4829-4882-85FA-0E5530062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• หลักฐาน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012738C-6E89-4093-B4BB-7C2C034C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EC85B4B-D162-429B-B32B-F503278C9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306BE5F-32D9-4043-B4D0-D86849422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3B1B63-E056-44B4-B353-BED74824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เข้าสู่ลำดับผู้ประเมิน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160196F-0995-453F-8FF5-95449F988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105150"/>
            <a:ext cx="7429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57961A-1027-4D73-90EA-833DEE12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3305175"/>
            <a:ext cx="7429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05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A3238B4-0537-4293-B90F-C28AA7DCF2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4095750"/>
            <a:ext cx="1466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13D599A-83DB-47A3-ADD8-1A35271FF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591050"/>
            <a:ext cx="16573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3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สถานะ Completed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36BF3B-9D0B-4C37-8C99-7075EFA0A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7429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งานเดินตามลำดับผู้ประเมินที่ผู้ดูแลระบบกำหนด</a:t>
            </a:r>
          </a:p>
        </p:txBody>
      </p:sp>
      <p:sp>
        <p:nvSpPr>
          <p:cNvPr id="28" name="footer-rule-5">
            <a:extLst xmlns:a="http://schemas.openxmlformats.org/drawingml/2006/main">
              <a:ext uri="{FF2B5EF4-FFF2-40B4-BE49-F238E27FC236}">
                <a16:creationId xmlns:a16="http://schemas.microsoft.com/office/drawing/2014/main" id="{8F404831-D043-45FF-8CA6-E8E444936D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footer-label-5">
            <a:extLst xmlns:a="http://schemas.openxmlformats.org/drawingml/2006/main">
              <a:ext uri="{FF2B5EF4-FFF2-40B4-BE49-F238E27FC236}">
                <a16:creationId xmlns:a16="http://schemas.microsoft.com/office/drawing/2014/main" id="{36AFDBB6-7488-4131-A9C8-DBC7DB8BE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30" name="footer-page-5">
            <a:extLst xmlns:a="http://schemas.openxmlformats.org/drawingml/2006/main">
              <a:ext uri="{FF2B5EF4-FFF2-40B4-BE49-F238E27FC236}">
                <a16:creationId xmlns:a16="http://schemas.microsoft.com/office/drawing/2014/main" id="{FC784354-8B0D-492D-B4F1-CF31929CE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05 / 18</a:t>
            </a:r>
          </a:p>
        </p:txBody>
      </p:sp>
    </p:spTree>
    <p:extLst>
      <p:ext uri="{BB962C8B-B14F-4D97-AF65-F5344CB8AC3E}">
        <p14:creationId xmlns:p14="http://schemas.microsoft.com/office/powerpoint/2010/main" val="56437788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6">
            <a:extLst xmlns:a="http://schemas.openxmlformats.org/drawingml/2006/main">
              <a:ext uri="{FF2B5EF4-FFF2-40B4-BE49-F238E27FC236}">
                <a16:creationId xmlns:a16="http://schemas.microsoft.com/office/drawing/2014/main" id="{48926D11-3FE8-4BF4-8951-6ED60266D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6">
            <a:extLst xmlns:a="http://schemas.openxmlformats.org/drawingml/2006/main">
              <a:ext uri="{FF2B5EF4-FFF2-40B4-BE49-F238E27FC236}">
                <a16:creationId xmlns:a16="http://schemas.microsoft.com/office/drawing/2014/main" id="{00B1575E-AA41-434E-BE74-6F63CC5EE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บทบาทของคุณ  /  สายสนับสนุน</a:t>
            </a:r>
          </a:p>
        </p:txBody>
      </p:sp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0623E43D-C193-4915-A3CF-4C3E6CD1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กรอกผลการดำเนินงานให้ครบ แล้วส่งให้ผู้ประเมิน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B91710-7441-49C8-AF27-DDDFCEB58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096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87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คุณเป็นเจ้าของข้อมูลผลกิจกรรมในขั้นแรก คะแนนที่น่าเชื่อถือต้องมีรายละเอียดและหลักฐานรองรับ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7FA5491-A57B-45A4-99A4-D984DAE8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BB7B60-FA48-44FC-B3EE-E5E8FB8A4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เตรียม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1FB4C6-2F7A-414E-96FA-EE57990807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046D05-DB82-44A6-ABBB-ECF3EFCB61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กิจกรรม ผลที่ทำได้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และรายละเอียดประกอบ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B30A76-047D-47C2-977A-C1C4A6CF5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9683D37-10D3-4A02-B36F-28AFD24C5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DF27DF-0CCE-40FA-A9A5-04F613A7C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83D6F38-103A-44A4-9BC2-7CA1759F7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ค่าที่กรอก สูตรคำนวณ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และลิงก์หลักฐาน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FAC5A8-6DC4-4BF2-BE6D-2EBF1FA78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723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597145-8FAC-460D-9420-DBF23A8BC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638550"/>
            <a:ext cx="3028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ตัดสินใจ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2DFF7A-8956-40E8-A4A3-8B6BA0B86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191000"/>
            <a:ext cx="30289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0259892-BAEF-4F20-9D0F-FEDD75C3D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476750"/>
            <a:ext cx="30289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  <a:p xmlns:a="http://schemas.openxmlformats.org/drawingml/2006/main">
            <a:pPr algn="l">
              <a:lnSpc>
                <a:spcPct val="11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หรือส่งแบบประเมิน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2E0853-1499-4C79-B46D-27A446B0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1866900"/>
            <a:ext cx="300990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7F9448-8AC7-43A1-BF21-639145BA4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1990725"/>
            <a:ext cx="2476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เป็นผู้ปิดงาน</a:t>
            </a:r>
          </a:p>
        </p:txBody>
      </p:sp>
      <p:sp>
        <p:nvSpPr>
          <p:cNvPr id="19" name="footer-rule-6">
            <a:extLst xmlns:a="http://schemas.openxmlformats.org/drawingml/2006/main">
              <a:ext uri="{FF2B5EF4-FFF2-40B4-BE49-F238E27FC236}">
                <a16:creationId xmlns:a16="http://schemas.microsoft.com/office/drawing/2014/main" id="{45EEBE49-997E-4A41-9541-BEFB263C7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6">
            <a:extLst xmlns:a="http://schemas.openxmlformats.org/drawingml/2006/main">
              <a:ext uri="{FF2B5EF4-FFF2-40B4-BE49-F238E27FC236}">
                <a16:creationId xmlns:a16="http://schemas.microsoft.com/office/drawing/2014/main" id="{5005E295-1080-437B-B36A-109E2AF38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6">
            <a:extLst xmlns:a="http://schemas.openxmlformats.org/drawingml/2006/main">
              <a:ext uri="{FF2B5EF4-FFF2-40B4-BE49-F238E27FC236}">
                <a16:creationId xmlns:a16="http://schemas.microsoft.com/office/drawing/2014/main" id="{D752CAD0-C48B-405F-86DC-CF5A9660A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06 / 18</a:t>
            </a:r>
          </a:p>
        </p:txBody>
      </p:sp>
    </p:spTree>
    <p:extLst>
      <p:ext uri="{BB962C8B-B14F-4D97-AF65-F5344CB8AC3E}">
        <p14:creationId xmlns:p14="http://schemas.microsoft.com/office/powerpoint/2010/main" val="204243187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ide-accent-7">
            <a:extLst xmlns:a="http://schemas.openxmlformats.org/drawingml/2006/main">
              <a:ext uri="{FF2B5EF4-FFF2-40B4-BE49-F238E27FC236}">
                <a16:creationId xmlns:a16="http://schemas.microsoft.com/office/drawing/2014/main" id="{FA179097-084E-4318-A908-475A5B6A5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7">
            <a:extLst xmlns:a="http://schemas.openxmlformats.org/drawingml/2006/main">
              <a:ext uri="{FF2B5EF4-FFF2-40B4-BE49-F238E27FC236}">
                <a16:creationId xmlns:a16="http://schemas.microsoft.com/office/drawing/2014/main" id="{23BBC077-8627-4D92-8540-ED88DEC67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จุดเริ่มต้น  /  สายสนับสนุน</a:t>
            </a:r>
          </a:p>
        </p:txBody>
      </p:sp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08EC3A07-5F28-4061-AF27-BEB99A81CA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ตรวจสอบรอบประเมินและรายการที่ได้รับมอบหมาย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388005-708D-4D40-8B0A-0BF6D4AB5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5334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ก่อนเปิดงาน ให้ตรวจ 3 อย่างนี้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AE764E-4FF5-4ECA-B35B-6FC89BE57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977BABB-4F46-4ED9-AB69-15DDB505F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1B76292-61CF-4CF9-B7EB-2169D00B0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289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รอบประเมิน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F8C54FF-80EE-43E6-A981-1CCC5CB62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26670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ผู้ดูแลระบบกำหนดไว้ถูกต้อง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CCF9E-7E29-40E7-8BCD-3C9BD8403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338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639703-01FC-4735-A58C-1A1CD82DF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004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C21F4F2-9C84-4461-8951-C939CC029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6957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รายการงาน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0DFFB2-0B7B-4CDD-ABE3-42F3F8A8A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37338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เป็นงานของคุณและตรงประเภท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E774FB-51D9-4DEC-BEE0-17A77241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0060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1DDF83-6ADA-4D7E-A115-17CFFC8F9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457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76731FF-8A9F-486A-A9FA-12D006DC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625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สถานะ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96051B5-A370-4CEF-860A-1857FE9EF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8100" y="480060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ยังอยู่ในขั้นที่คุณดำเนินการได้</a:t>
            </a:r>
          </a:p>
        </p:txBody>
      </p:sp>
      <p:sp>
        <p:nvSpPr>
          <p:cNvPr id="17" name="dashboard-preview">
            <a:extLst xmlns:a="http://schemas.openxmlformats.org/drawingml/2006/main">
              <a:ext uri="{FF2B5EF4-FFF2-40B4-BE49-F238E27FC236}">
                <a16:creationId xmlns:a16="http://schemas.microsoft.com/office/drawing/2014/main" id="{1640D8C3-813A-43EF-BB7B-C95B8E39E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209800"/>
            <a:ext cx="3124200" cy="3352800"/>
          </a:xfrm>
          <a:prstGeom xmlns:a="http://schemas.openxmlformats.org/drawingml/2006/main" prst="roundRect">
            <a:avLst>
              <a:gd name="adj" fmla="val 243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DB6D2E-9A1F-4A0D-B457-D7A442EA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95550"/>
            <a:ext cx="2514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9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แดชบอร์ดของฉัน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1D36940-0FEF-458B-A60A-C69CBCEA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105150"/>
            <a:ext cx="251460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069272-1847-48BB-A9D3-3993E6191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209925"/>
            <a:ext cx="2171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2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สายสนับสนุน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F76859C-08D1-464C-8A9D-8812D9C5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752850"/>
            <a:ext cx="19431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D4C086-C169-4DD1-91D4-B1DB9F446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114800"/>
            <a:ext cx="22669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1C712F7-C9F8-4D9B-BE26-5A54B5276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705350"/>
            <a:ext cx="154305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A0922F1-B789-41EE-968C-F4852D8FA4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82917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เปิดรายการ</a:t>
            </a:r>
          </a:p>
        </p:txBody>
      </p:sp>
      <p:sp>
        <p:nvSpPr>
          <p:cNvPr id="25" name="footer-rule-7">
            <a:extLst xmlns:a="http://schemas.openxmlformats.org/drawingml/2006/main">
              <a:ext uri="{FF2B5EF4-FFF2-40B4-BE49-F238E27FC236}">
                <a16:creationId xmlns:a16="http://schemas.microsoft.com/office/drawing/2014/main" id="{D32A6E59-55E5-49D6-A0FA-1CCE2D09D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footer-label-7">
            <a:extLst xmlns:a="http://schemas.openxmlformats.org/drawingml/2006/main">
              <a:ext uri="{FF2B5EF4-FFF2-40B4-BE49-F238E27FC236}">
                <a16:creationId xmlns:a16="http://schemas.microsoft.com/office/drawing/2014/main" id="{E8923B5B-C15E-475F-90D7-A1407F16B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7" name="footer-page-7">
            <a:extLst xmlns:a="http://schemas.openxmlformats.org/drawingml/2006/main">
              <a:ext uri="{FF2B5EF4-FFF2-40B4-BE49-F238E27FC236}">
                <a16:creationId xmlns:a16="http://schemas.microsoft.com/office/drawing/2014/main" id="{E2C2B7B6-5F5E-44D4-8D6C-CD21496FB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07 / 18</a:t>
            </a:r>
          </a:p>
        </p:txBody>
      </p:sp>
    </p:spTree>
    <p:extLst>
      <p:ext uri="{BB962C8B-B14F-4D97-AF65-F5344CB8AC3E}">
        <p14:creationId xmlns:p14="http://schemas.microsoft.com/office/powerpoint/2010/main" val="38373212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side-accent-8">
            <a:extLst xmlns:a="http://schemas.openxmlformats.org/drawingml/2006/main">
              <a:ext uri="{FF2B5EF4-FFF2-40B4-BE49-F238E27FC236}">
                <a16:creationId xmlns:a16="http://schemas.microsoft.com/office/drawing/2014/main" id="{B278883E-C962-4B89-8DB5-248AD146F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8">
            <a:extLst xmlns:a="http://schemas.openxmlformats.org/drawingml/2006/main">
              <a:ext uri="{FF2B5EF4-FFF2-40B4-BE49-F238E27FC236}">
                <a16:creationId xmlns:a16="http://schemas.microsoft.com/office/drawing/2014/main" id="{AE2D84CE-798F-4A98-BB28-909FE1A9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โครงสร้างข้อมูล  /  สายสนับสนุน</a:t>
            </a:r>
          </a:p>
        </p:txBody>
      </p:sp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2E02B2FB-FF12-481C-8B4F-D8949648E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ตรวจให้แน่ใจว่าโครงการ กิจกรรม ตัวชี้วัด และหลักฐานตรงกัน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F52B13-A0A3-45D8-832B-369C609C6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ตรวจความเชื่อมโยงของข้อมูลทุกส่วน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E34C0F-7F92-4EAB-853A-36FAF092D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505200"/>
            <a:ext cx="7696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13DCF1B-BA65-4CAB-9ECD-505F1E8A5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422665-05CC-4401-9B27-8366B852A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7F02026-4B11-42EF-B3BC-206FE6907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โครงการ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54BC909-C56D-42CA-B8A0-65AB21EE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บริบทและเป้าหมาย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302261-F755-47F4-A245-55341B4B5C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AD4C52-7848-4C42-B53F-6FF1B148B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6063ED9-B8D4-4021-AC6F-665490071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กิจกรรม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04F16C-5EFE-4975-8CAC-D9826E11C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งานที่ดำเนินการ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B74F10-052F-49B8-A43D-35A48B963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0861D56-D90A-4A53-873E-A418B0B29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5CFEA2E-07D7-43C3-BA9E-13B9468C7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ตัวชี้วัด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CAFAD6E-0AD1-4D42-8897-B16F23AC3E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เกณฑ์ที่ใช้วัดผล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4930F2C-02ED-40E0-93B6-E6B1F96241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009900"/>
            <a:ext cx="1028700" cy="1028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11F2002-7486-409E-9E4B-E2D0139B10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72700" y="3295650"/>
            <a:ext cx="10287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2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5D7A1E5-BB1B-43D9-A2BE-632929592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05300"/>
            <a:ext cx="2590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หลักฐาน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A806673-A56A-4600-AD05-2C364E17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4800600"/>
            <a:ext cx="25146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สิ่งที่ยืนยันผล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9A45B58-C506-4A93-A953-7828B9FE4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ทุกคะแนนต้องย้อนกลับไปอธิบายได้ว่าเกิดจากกิจกรรมใด</a:t>
            </a:r>
          </a:p>
        </p:txBody>
      </p:sp>
      <p:sp>
        <p:nvSpPr>
          <p:cNvPr id="23" name="footer-rule-8">
            <a:extLst xmlns:a="http://schemas.openxmlformats.org/drawingml/2006/main">
              <a:ext uri="{FF2B5EF4-FFF2-40B4-BE49-F238E27FC236}">
                <a16:creationId xmlns:a16="http://schemas.microsoft.com/office/drawing/2014/main" id="{879A4409-ABFC-4974-808F-8D422E57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footer-label-8">
            <a:extLst xmlns:a="http://schemas.openxmlformats.org/drawingml/2006/main">
              <a:ext uri="{FF2B5EF4-FFF2-40B4-BE49-F238E27FC236}">
                <a16:creationId xmlns:a16="http://schemas.microsoft.com/office/drawing/2014/main" id="{B931FE9C-72CB-4638-8CA3-94B4477DB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5" name="footer-page-8">
            <a:extLst xmlns:a="http://schemas.openxmlformats.org/drawingml/2006/main">
              <a:ext uri="{FF2B5EF4-FFF2-40B4-BE49-F238E27FC236}">
                <a16:creationId xmlns:a16="http://schemas.microsoft.com/office/drawing/2014/main" id="{31FB8D3A-7C8F-4D69-943E-BACE4ED87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08 / 18</a:t>
            </a:r>
          </a:p>
        </p:txBody>
      </p:sp>
    </p:spTree>
    <p:extLst>
      <p:ext uri="{BB962C8B-B14F-4D97-AF65-F5344CB8AC3E}">
        <p14:creationId xmlns:p14="http://schemas.microsoft.com/office/powerpoint/2010/main" val="21775533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9">
            <a:extLst xmlns:a="http://schemas.openxmlformats.org/drawingml/2006/main">
              <a:ext uri="{FF2B5EF4-FFF2-40B4-BE49-F238E27FC236}">
                <a16:creationId xmlns:a16="http://schemas.microsoft.com/office/drawing/2014/main" id="{99DB06FD-8711-4798-ADEE-439A7CBDB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9">
            <a:extLst xmlns:a="http://schemas.openxmlformats.org/drawingml/2006/main">
              <a:ext uri="{FF2B5EF4-FFF2-40B4-BE49-F238E27FC236}">
                <a16:creationId xmlns:a16="http://schemas.microsoft.com/office/drawing/2014/main" id="{7329BADF-E725-49DD-8097-CF39587C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บันทึกผลกิจกรรม  /  สายสนับสนุน</a:t>
            </a:r>
          </a:p>
        </p:txBody>
      </p:sp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B2457273-89A4-48EA-BE71-ADE3E55F5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 ผลที่ทำได้ และรายละเอียดกิจกรรมให้ครบ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861956-3A17-4447-9C91-6441FFD87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685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 3 ส่วนนี้ทำให้คะแนนมีที่มา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B71E92-6527-408F-9219-4362F4B44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A73212-43A3-41F7-9487-ABE5B21E4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เป้าหมาย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50B4B46-D3B8-4FE4-AE0E-7157B2491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สิ่งที่เกณฑ์คาดหวัง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E2296CB-6962-4A9A-91F1-C48ABEC67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กำหนดจุดอ้างอิง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D81057-60A0-40B5-8A38-880501616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D1068B-0A72-40F6-9D21-7FCD45880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ผลที่ทำได้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CAAB4B-ABD5-4D26-A8A6-A9077977A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ค่าหรือระดับผลงานจริง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AA70734-DD1E-47CD-A91C-7CF6334B6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ใช้คำนวณคะแนน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832DA8-E088-4191-9952-F078507E9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724150"/>
            <a:ext cx="31242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F31604-BA98-4CDC-8EC8-BEF67CDE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05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3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รายละเอียดกิจกรรม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D60F04E-A30E-40DD-AF7B-924A0A2C8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829050"/>
            <a:ext cx="3124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23384D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23384D"/>
                </a:solidFill>
                <a:latin typeface="Tahoma"/>
                <a:ea typeface="Tahoma"/>
                <a:cs typeface="Tahoma"/>
              </a:rPr>
              <a:t>อธิบายงานที่เกิดขึ้น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2FCF1A-5BA9-43ED-A8E8-06D61AB8F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4667250"/>
            <a:ext cx="3124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เชื่อมกับหลักฐาน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491AEEA-4444-481D-A169-A39E79218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048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หากเกณฑ์อนุญาต คุณสามารถเพิ่มรายการกิจกรรม/โครงการได้</a:t>
            </a:r>
          </a:p>
        </p:txBody>
      </p:sp>
      <p:sp>
        <p:nvSpPr>
          <p:cNvPr id="18" name="footer-rule-9">
            <a:extLst xmlns:a="http://schemas.openxmlformats.org/drawingml/2006/main">
              <a:ext uri="{FF2B5EF4-FFF2-40B4-BE49-F238E27FC236}">
                <a16:creationId xmlns:a16="http://schemas.microsoft.com/office/drawing/2014/main" id="{C6D730F8-FA39-4BF7-A733-04F480469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9">
            <a:extLst xmlns:a="http://schemas.openxmlformats.org/drawingml/2006/main">
              <a:ext uri="{FF2B5EF4-FFF2-40B4-BE49-F238E27FC236}">
                <a16:creationId xmlns:a16="http://schemas.microsoft.com/office/drawing/2014/main" id="{6A5EF091-5B6F-496C-A958-786CEBC30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9">
            <a:extLst xmlns:a="http://schemas.openxmlformats.org/drawingml/2006/main">
              <a:ext uri="{FF2B5EF4-FFF2-40B4-BE49-F238E27FC236}">
                <a16:creationId xmlns:a16="http://schemas.microsoft.com/office/drawing/2014/main" id="{2E7F5A70-FA24-408D-B01C-DFAC59F9C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09 / 18</a:t>
            </a:r>
          </a:p>
        </p:txBody>
      </p:sp>
    </p:spTree>
    <p:extLst>
      <p:ext uri="{BB962C8B-B14F-4D97-AF65-F5344CB8AC3E}">
        <p14:creationId xmlns:p14="http://schemas.microsoft.com/office/powerpoint/2010/main" val="941291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side-accent-10">
            <a:extLst xmlns:a="http://schemas.openxmlformats.org/drawingml/2006/main">
              <a:ext uri="{FF2B5EF4-FFF2-40B4-BE49-F238E27FC236}">
                <a16:creationId xmlns:a16="http://schemas.microsoft.com/office/drawing/2014/main" id="{A67ABE3A-0584-48CC-A8EF-94F6F4A6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0">
            <a:extLst xmlns:a="http://schemas.openxmlformats.org/drawingml/2006/main">
              <a:ext uri="{FF2B5EF4-FFF2-40B4-BE49-F238E27FC236}">
                <a16:creationId xmlns:a16="http://schemas.microsoft.com/office/drawing/2014/main" id="{1E5EC6C0-C83A-4CC0-B18E-B9E2C62E0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สูตรคะแนน  /  สายสนับสนุน</a:t>
            </a:r>
          </a:p>
        </p:txBody>
      </p:sp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4411304C-C279-445B-9FD6-036C823C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ระบบคำนวณคะแนนถ่วงน้ำหนักจากน้ำหนักและคะแนนที่ทำได้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F555189-DEEB-4180-A0B6-7158FE4C9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52650"/>
            <a:ext cx="4857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4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5A6EEE-4BF8-4E55-A9BF-13E80FE96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933700"/>
            <a:ext cx="7239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90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390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=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FA4433-CE70-49CB-886D-67383C6ED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495550"/>
            <a:ext cx="20002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8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8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ED3000D-DA8E-44C8-98C0-C28FEAC7B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933700"/>
            <a:ext cx="552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7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37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×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110CFD-0E7F-40E8-93DF-A9EEF6600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95550"/>
            <a:ext cx="249555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349C5E-B0BD-411E-B59F-65DCDE56B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943350"/>
            <a:ext cx="52768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02A4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BC565F9-6FF7-4FB8-8A1E-6905ACDDF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171950"/>
            <a:ext cx="52768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31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1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100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4BB935C-396A-4FEE-ADC4-8045A96EC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8953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คะแนนถ่วงน้ำหนัก = น้ำหนัก × คะแนนที่ทำได้ ÷ 100</a:t>
            </a:r>
          </a:p>
        </p:txBody>
      </p:sp>
      <p:sp>
        <p:nvSpPr>
          <p:cNvPr id="12" name="footer-rule-10">
            <a:extLst xmlns:a="http://schemas.openxmlformats.org/drawingml/2006/main">
              <a:ext uri="{FF2B5EF4-FFF2-40B4-BE49-F238E27FC236}">
                <a16:creationId xmlns:a16="http://schemas.microsoft.com/office/drawing/2014/main" id="{26641480-FC90-475C-AC8A-8EB251161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footer-label-10">
            <a:extLst xmlns:a="http://schemas.openxmlformats.org/drawingml/2006/main">
              <a:ext uri="{FF2B5EF4-FFF2-40B4-BE49-F238E27FC236}">
                <a16:creationId xmlns:a16="http://schemas.microsoft.com/office/drawing/2014/main" id="{1D369ADB-92D8-459F-BC59-A8A627E01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4" name="footer-page-10">
            <a:extLst xmlns:a="http://schemas.openxmlformats.org/drawingml/2006/main">
              <a:ext uri="{FF2B5EF4-FFF2-40B4-BE49-F238E27FC236}">
                <a16:creationId xmlns:a16="http://schemas.microsoft.com/office/drawing/2014/main" id="{5C143EC0-8BD3-4C03-AA98-0B877EE5C7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10 / 18</a:t>
            </a:r>
          </a:p>
        </p:txBody>
      </p:sp>
    </p:spTree>
    <p:extLst>
      <p:ext uri="{BB962C8B-B14F-4D97-AF65-F5344CB8AC3E}">
        <p14:creationId xmlns:p14="http://schemas.microsoft.com/office/powerpoint/2010/main" val="17831274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ide-accent-11">
            <a:extLst xmlns:a="http://schemas.openxmlformats.org/drawingml/2006/main">
              <a:ext uri="{FF2B5EF4-FFF2-40B4-BE49-F238E27FC236}">
                <a16:creationId xmlns:a16="http://schemas.microsoft.com/office/drawing/2014/main" id="{85F93D57-DDFE-4EF9-9EA7-7F81A0139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1">
            <a:extLst xmlns:a="http://schemas.openxmlformats.org/drawingml/2006/main">
              <a:ext uri="{FF2B5EF4-FFF2-40B4-BE49-F238E27FC236}">
                <a16:creationId xmlns:a16="http://schemas.microsoft.com/office/drawing/2014/main" id="{BF03499C-B928-4294-96AB-359DD9A4B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ตัวอย่างคำนวณ  /  สายสนับสนุน</a:t>
            </a:r>
          </a:p>
        </p:txBody>
      </p:sp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6DB5D0AC-40EE-4946-AADD-B35479D48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ลองคำนวณคะแนนจากตัวอย่างนี้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8B4CB7-D4DB-4D97-9CF4-F7DEAA88B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61D447-EA85-4043-BFCD-2FF0E67B1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20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CA3616-7E19-4155-9141-13AA28BD6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644B00-F536-4F96-A54E-A755E1D70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C0C501-3E24-4CAD-8D93-833FEBEA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80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329F5C-9439-402A-925C-DC536CA85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คะแนนที่ทำได้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6A2518-5609-44AF-A6BB-1E139DF0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400300"/>
            <a:ext cx="3143250" cy="2343150"/>
          </a:xfrm>
          <a:prstGeom xmlns:a="http://schemas.openxmlformats.org/drawingml/2006/main" prst="roundRect">
            <a:avLst>
              <a:gd name="adj" fmla="val 3252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289715-847E-4EDE-94DE-1B746C7A0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647950"/>
            <a:ext cx="268605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55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555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16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6E201F-51C5-4F35-B33F-5C17F6C09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05250"/>
            <a:ext cx="26860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1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คะแนนถ่วงน้ำหนัก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A2AA60-9018-4F22-A7D8-CF3D5FD49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19700"/>
            <a:ext cx="109728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7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20 × 80 ÷ 100 = 16 คะแนน</a:t>
            </a:r>
          </a:p>
        </p:txBody>
      </p:sp>
      <p:sp>
        <p:nvSpPr>
          <p:cNvPr id="14" name="footer-rule-11">
            <a:extLst xmlns:a="http://schemas.openxmlformats.org/drawingml/2006/main">
              <a:ext uri="{FF2B5EF4-FFF2-40B4-BE49-F238E27FC236}">
                <a16:creationId xmlns:a16="http://schemas.microsoft.com/office/drawing/2014/main" id="{79B37FAD-CD6A-48F4-8500-85EDB0442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footer-label-11">
            <a:extLst xmlns:a="http://schemas.openxmlformats.org/drawingml/2006/main">
              <a:ext uri="{FF2B5EF4-FFF2-40B4-BE49-F238E27FC236}">
                <a16:creationId xmlns:a16="http://schemas.microsoft.com/office/drawing/2014/main" id="{DA412FE4-437E-4FAE-B01C-97FE8EAC4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6" name="footer-page-11">
            <a:extLst xmlns:a="http://schemas.openxmlformats.org/drawingml/2006/main">
              <a:ext uri="{FF2B5EF4-FFF2-40B4-BE49-F238E27FC236}">
                <a16:creationId xmlns:a16="http://schemas.microsoft.com/office/drawing/2014/main" id="{71E5F4FA-D675-4B18-A261-356EC91FC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11 / 18</a:t>
            </a:r>
          </a:p>
        </p:txBody>
      </p:sp>
    </p:spTree>
    <p:extLst>
      <p:ext uri="{BB962C8B-B14F-4D97-AF65-F5344CB8AC3E}">
        <p14:creationId xmlns:p14="http://schemas.microsoft.com/office/powerpoint/2010/main" val="108186760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2">
            <a:extLst xmlns:a="http://schemas.openxmlformats.org/drawingml/2006/main">
              <a:ext uri="{FF2B5EF4-FFF2-40B4-BE49-F238E27FC236}">
                <a16:creationId xmlns:a16="http://schemas.microsoft.com/office/drawing/2014/main" id="{0D821C34-3EF9-439A-A597-6BAEFA731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2">
            <a:extLst xmlns:a="http://schemas.openxmlformats.org/drawingml/2006/main">
              <a:ext uri="{FF2B5EF4-FFF2-40B4-BE49-F238E27FC236}">
                <a16:creationId xmlns:a16="http://schemas.microsoft.com/office/drawing/2014/main" id="{9B3A8811-5111-4B61-A782-780B1D342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หลักฐาน  /  สายสนับสนุน</a:t>
            </a:r>
          </a:p>
        </p:txBody>
      </p:sp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5E079619-E1BB-4071-88D0-7DD6ADAAC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แนบหลักฐานที่เปิดดูได้และตรงกับกิจกรรม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E65BA9-75B8-427C-ABE0-FBE4F9EB0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477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ผู้ประเมินควรเห็นได้ทันทีว่าหลักฐานรองรับกิจกรรมใด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0D4EBE-B65C-478B-8532-84D83CB61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C8211F-1CCB-4DBA-98A2-14486B8D8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479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69B7432-6988-4937-A25B-F804076C8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622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เปิดได้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59EC2B-9501-4CE2-A8FA-E41DA5AFD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7813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ใช้ลิงก์ http/https ที่เข้าถึงได้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AD5C153-1726-4B60-A800-BD45DBF03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1475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7EBE49-CF7F-4B80-BE40-041862067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8142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957306E-75B0-465D-8093-78EA54BF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695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ตรงรายการ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182462-236E-43F4-BBD6-2450BE526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1475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เห็นความเชื่อมโยงกับกิจกรรมหรือโครงการ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E69BCE-5652-416B-AAED-170967256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48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A85A45-0362-4997-8A6C-29697378C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14875"/>
            <a:ext cx="4953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87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B04431D-DAA6-46B0-A359-DE354B05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462915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ระบุตัวตนได้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0280E4B-29E2-4673-BA0C-9F294AE7B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648200"/>
            <a:ext cx="666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650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ตั้งชื่อไฟล์หรือเอกสารให้เข้าใจง่าย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CD47399-455F-4D0B-9381-321ED943E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5124450"/>
            <a:ext cx="35242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9525">
            <a:solidFill>
              <a:srgbClr val="008C8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376330-523E-4B30-A821-A8966DD93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5219700"/>
            <a:ext cx="3028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รายการที่บังคับหลักฐาน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ต้องมีลิงก์ก่อนส่ง</a:t>
            </a:r>
          </a:p>
        </p:txBody>
      </p:sp>
      <p:sp>
        <p:nvSpPr>
          <p:cNvPr id="19" name="footer-rule-12">
            <a:extLst xmlns:a="http://schemas.openxmlformats.org/drawingml/2006/main">
              <a:ext uri="{FF2B5EF4-FFF2-40B4-BE49-F238E27FC236}">
                <a16:creationId xmlns:a16="http://schemas.microsoft.com/office/drawing/2014/main" id="{145AAC77-ACAE-4D59-919A-8EADB75C6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2">
            <a:extLst xmlns:a="http://schemas.openxmlformats.org/drawingml/2006/main">
              <a:ext uri="{FF2B5EF4-FFF2-40B4-BE49-F238E27FC236}">
                <a16:creationId xmlns:a16="http://schemas.microsoft.com/office/drawing/2014/main" id="{ABE0C7D7-286E-4B63-A75A-38887100B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2">
            <a:extLst xmlns:a="http://schemas.openxmlformats.org/drawingml/2006/main">
              <a:ext uri="{FF2B5EF4-FFF2-40B4-BE49-F238E27FC236}">
                <a16:creationId xmlns:a16="http://schemas.microsoft.com/office/drawing/2014/main" id="{90CC7DEF-370A-4ECA-BF4B-85B1C1054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12 / 18</a:t>
            </a:r>
          </a:p>
        </p:txBody>
      </p:sp>
    </p:spTree>
    <p:extLst>
      <p:ext uri="{BB962C8B-B14F-4D97-AF65-F5344CB8AC3E}">
        <p14:creationId xmlns:p14="http://schemas.microsoft.com/office/powerpoint/2010/main" val="119259516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ide-accent-13">
            <a:extLst xmlns:a="http://schemas.openxmlformats.org/drawingml/2006/main">
              <a:ext uri="{FF2B5EF4-FFF2-40B4-BE49-F238E27FC236}">
                <a16:creationId xmlns:a16="http://schemas.microsoft.com/office/drawing/2014/main" id="{400C55BD-CE13-4F53-8653-B24D4C42C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3">
            <a:extLst xmlns:a="http://schemas.openxmlformats.org/drawingml/2006/main">
              <a:ext uri="{FF2B5EF4-FFF2-40B4-BE49-F238E27FC236}">
                <a16:creationId xmlns:a16="http://schemas.microsoft.com/office/drawing/2014/main" id="{8EE32B9F-8CE3-4DA0-8EAD-D7EA2C9C0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ก่อนกดปุ่ม  /  สายสนับสนุน</a:t>
            </a:r>
          </a:p>
        </p:txBody>
      </p:sp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F3B3B501-C93C-4FEC-B44D-8DC4111E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หากข้อมูลยังไม่ครบ ให้บันทึกร่างไว้ก่อน</a:t>
            </a:r>
          </a:p>
        </p:txBody>
      </p:sp>
      <p:sp>
        <p:nvSpPr>
          <p:cNvPr id="4" name="draft-panel">
            <a:extLst xmlns:a="http://schemas.openxmlformats.org/drawingml/2006/main">
              <a:ext uri="{FF2B5EF4-FFF2-40B4-BE49-F238E27FC236}">
                <a16:creationId xmlns:a16="http://schemas.microsoft.com/office/drawing/2014/main" id="{9BB79C49-F611-479F-9727-DB3B6811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49530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8E0E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BD079D0-024B-46E2-A558-D573C13F6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686050"/>
            <a:ext cx="4191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บันทึกร่าง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1DB654-213E-4765-A8B2-16644375E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486150"/>
            <a:ext cx="40386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กลับมาแก้ไขได้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เหมาะเมื่อข้อมูลยังไม่ครบ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งานยังไม่ส่งให้ผู้ประเมิน</a:t>
            </a:r>
          </a:p>
        </p:txBody>
      </p:sp>
      <p:sp>
        <p:nvSpPr>
          <p:cNvPr id="7" name="submit-panel">
            <a:extLst xmlns:a="http://schemas.openxmlformats.org/drawingml/2006/main">
              <a:ext uri="{FF2B5EF4-FFF2-40B4-BE49-F238E27FC236}">
                <a16:creationId xmlns:a16="http://schemas.microsoft.com/office/drawing/2014/main" id="{9FA7E12E-6DE9-4828-89D7-278C8C951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343150"/>
            <a:ext cx="5562600" cy="2914650"/>
          </a:xfrm>
          <a:prstGeom xmlns:a="http://schemas.openxmlformats.org/drawingml/2006/main" prst="roundRect">
            <a:avLst>
              <a:gd name="adj" fmla="val 2614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19050">
            <a:solidFill>
              <a:srgbClr val="008C8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DDB318-FA28-4553-885D-48A008E6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86050"/>
            <a:ext cx="476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7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27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ส่งแบบประเมิน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813F3DC-B793-4D02-A473-F29A8E754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486150"/>
            <a:ext cx="46863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ระบบตรวจข้อมูลบังคับและหลักฐาน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งานเข้าสู่ลำดับผู้ประเมิน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725" b="0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ตรวจอีกครั้งก่อนยืนยัน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49CB11-5785-4733-8774-3339F5894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578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ถามตัวเองก่อนกดส่ง: “ผู้ประเมินเห็นข้อมูลครบหรือยัง?”</a:t>
            </a:r>
          </a:p>
        </p:txBody>
      </p:sp>
      <p:sp>
        <p:nvSpPr>
          <p:cNvPr id="11" name="footer-rule-13">
            <a:extLst xmlns:a="http://schemas.openxmlformats.org/drawingml/2006/main">
              <a:ext uri="{FF2B5EF4-FFF2-40B4-BE49-F238E27FC236}">
                <a16:creationId xmlns:a16="http://schemas.microsoft.com/office/drawing/2014/main" id="{F1AE642A-EF26-478F-9CE0-6A49DE23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footer-label-13">
            <a:extLst xmlns:a="http://schemas.openxmlformats.org/drawingml/2006/main">
              <a:ext uri="{FF2B5EF4-FFF2-40B4-BE49-F238E27FC236}">
                <a16:creationId xmlns:a16="http://schemas.microsoft.com/office/drawing/2014/main" id="{2641A00B-48E6-4FB3-9E7B-C8DDE0B49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13" name="footer-page-13">
            <a:extLst xmlns:a="http://schemas.openxmlformats.org/drawingml/2006/main">
              <a:ext uri="{FF2B5EF4-FFF2-40B4-BE49-F238E27FC236}">
                <a16:creationId xmlns:a16="http://schemas.microsoft.com/office/drawing/2014/main" id="{8A6AB699-C62A-422B-942D-092E176DD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13 / 18</a:t>
            </a:r>
          </a:p>
        </p:txBody>
      </p:sp>
    </p:spTree>
    <p:extLst>
      <p:ext uri="{BB962C8B-B14F-4D97-AF65-F5344CB8AC3E}">
        <p14:creationId xmlns:p14="http://schemas.microsoft.com/office/powerpoint/2010/main" val="1482434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4">
            <a:extLst xmlns:a="http://schemas.openxmlformats.org/drawingml/2006/main">
              <a:ext uri="{FF2B5EF4-FFF2-40B4-BE49-F238E27FC236}">
                <a16:creationId xmlns:a16="http://schemas.microsoft.com/office/drawing/2014/main" id="{A604764E-5438-4F17-AC51-445217C0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4">
            <a:extLst xmlns:a="http://schemas.openxmlformats.org/drawingml/2006/main">
              <a:ext uri="{FF2B5EF4-FFF2-40B4-BE49-F238E27FC236}">
                <a16:creationId xmlns:a16="http://schemas.microsoft.com/office/drawing/2014/main" id="{5256C69A-8639-4B75-8A3A-1FBDC6211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หลังจากส่ง  /  สายสนับสนุน</a:t>
            </a:r>
          </a:p>
        </p:txBody>
      </p:sp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121AA853-FC73-4124-ACDE-95DE0084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หลังส่งแบบประเมิน ระบบจะส่งงานตามลำดับผู้ประเมิน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82064D-68CA-4D79-B326-70BBF216F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486150"/>
            <a:ext cx="8801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BAB4A0-2FE2-4368-BF34-6C26E8C2B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DF89456-9BD8-4457-A291-B163CB0F7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65B2FC4-CAC0-4F08-8090-5C93B03DF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A84788-9B6B-4D69-9E3F-7B329CACB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ข้อมูลและหลักฐาน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2173FF-55BE-4731-9627-E3E476CB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86D0A4-6356-47FD-BCAA-97737C4F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FE41AB1-D5D0-4163-A4A0-25750D094C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ให้ผล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D7EA0E9-3E33-4684-A7A9-82102CD2C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คะแนนหรือความเห็น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1B7341-A9EC-4470-B6B9-247BC6E55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ED68A9B-191F-407E-84D0-D21FB9DC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1AE7B9D-FBE1-491F-9CAD-6D3F7C549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E1C628A-9934-46B5-AB3E-4953430D3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ไปยังผู้ประเมินลำดับถัดไป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22FFC1-1FE1-470B-A562-1B0E1C820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048000"/>
            <a:ext cx="895350" cy="895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5A68B2-9C83-40A5-A9B4-32F51DE04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4550" y="3295650"/>
            <a:ext cx="895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9E06143-882E-4F51-85FB-1617B44F8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210050"/>
            <a:ext cx="2114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1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ปิดงาน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1BC079-CEBF-4D07-965C-470C94ECE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4705350"/>
            <a:ext cx="22288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4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เมื่อเป็นผู้ประเมินคนสุดท้าย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07A3C-DD37-47C3-B455-EEEA8EEA7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95950"/>
            <a:ext cx="8382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จำนวนและบทบาทของผู้ประเมินอาจต่างกันในแต่ละงาน</a:t>
            </a:r>
          </a:p>
        </p:txBody>
      </p:sp>
      <p:sp>
        <p:nvSpPr>
          <p:cNvPr id="22" name="footer-rule-14">
            <a:extLst xmlns:a="http://schemas.openxmlformats.org/drawingml/2006/main">
              <a:ext uri="{FF2B5EF4-FFF2-40B4-BE49-F238E27FC236}">
                <a16:creationId xmlns:a16="http://schemas.microsoft.com/office/drawing/2014/main" id="{9DF98508-7B01-401B-A2B7-D187CEBC3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4">
            <a:extLst xmlns:a="http://schemas.openxmlformats.org/drawingml/2006/main">
              <a:ext uri="{FF2B5EF4-FFF2-40B4-BE49-F238E27FC236}">
                <a16:creationId xmlns:a16="http://schemas.microsoft.com/office/drawing/2014/main" id="{A6E5A01C-920E-4466-A7CB-D90AEDA25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4">
            <a:extLst xmlns:a="http://schemas.openxmlformats.org/drawingml/2006/main">
              <a:ext uri="{FF2B5EF4-FFF2-40B4-BE49-F238E27FC236}">
                <a16:creationId xmlns:a16="http://schemas.microsoft.com/office/drawing/2014/main" id="{A53E5C2E-9143-47DC-9FDE-35C1292DD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14 / 18</a:t>
            </a:r>
          </a:p>
        </p:txBody>
      </p:sp>
    </p:spTree>
    <p:extLst>
      <p:ext uri="{BB962C8B-B14F-4D97-AF65-F5344CB8AC3E}">
        <p14:creationId xmlns:p14="http://schemas.microsoft.com/office/powerpoint/2010/main" val="202502436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side-accent-15">
            <a:extLst xmlns:a="http://schemas.openxmlformats.org/drawingml/2006/main">
              <a:ext uri="{FF2B5EF4-FFF2-40B4-BE49-F238E27FC236}">
                <a16:creationId xmlns:a16="http://schemas.microsoft.com/office/drawing/2014/main" id="{951DFE8C-AD56-483F-B0E9-2E1813272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5">
            <a:extLst xmlns:a="http://schemas.openxmlformats.org/drawingml/2006/main">
              <a:ext uri="{FF2B5EF4-FFF2-40B4-BE49-F238E27FC236}">
                <a16:creationId xmlns:a16="http://schemas.microsoft.com/office/drawing/2014/main" id="{42027A6D-627F-47E9-9C69-11B2FF6D8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สำหรับผู้ประเมิน  /  สายสนับสนุน</a:t>
            </a:r>
          </a:p>
        </p:txBody>
      </p:sp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DA132E2B-B5D0-4969-8E46-2BC2C5029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ผู้ประเมินตรวจผลกิจกรรม คะแนน และหลักฐาน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5120013-5813-4342-AFC7-4BE4FAF6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BE01FE-0A57-4054-B5F9-189705C4E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0383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ตรวจข้อมูล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50D38CF-4912-4F0E-B469-9F0703BB2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076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ผลกิจกรรมและรายละเอียดตรงกับเกณฑ์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00AA9E-1843-496B-B4FC-6A7B2E53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6670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B59673-EC8F-47C5-BC43-164499498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1BE50F1-D947-417F-BAF7-FB79CF8E5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9337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B544EC8-8AFB-4545-B1C7-E98EC0B99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9718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น้ำหนัก คะแนนที่ทำได้ และผลคำนวณสอดคล้องกัน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566BE2-7AFD-4F57-BA58-E999C0576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56235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A507E9-58D6-44C1-8FD7-BD2389029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58C347-C23A-4EEE-AFAB-2AA497B3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2905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เปิดหลักฐาน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A869A72-E7A4-4E59-ADFE-596EFC6A8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ลิงก์เข้าถึงได้และยืนยันกิจกรรม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ABED787-D38F-4E90-ACF0-B74AEECAF7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457700"/>
            <a:ext cx="97345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94F6E0F-6E72-4AC6-898B-41322E6F4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62500"/>
            <a:ext cx="5905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59A8F9-4AF6-453D-8F05-5E5C98E3B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24400"/>
            <a:ext cx="2667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ส่งต่องาน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C58902-77BB-437B-8ECA-A77C6926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6250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ให้ผลและดำเนินการเมื่อข้อมูลครบตามสิทธิ์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0E7C7E2-9064-40F9-85FA-DB2333EF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72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455F86-865D-410E-9B14-3FFB60FD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838825"/>
            <a:ext cx="1051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00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ผู้ประเมินควรตัดสินใจจากข้อมูลและหลักฐานที่เปิดตรวจได้</a:t>
            </a:r>
          </a:p>
        </p:txBody>
      </p:sp>
      <p:sp>
        <p:nvSpPr>
          <p:cNvPr id="21" name="footer-rule-15">
            <a:extLst xmlns:a="http://schemas.openxmlformats.org/drawingml/2006/main">
              <a:ext uri="{FF2B5EF4-FFF2-40B4-BE49-F238E27FC236}">
                <a16:creationId xmlns:a16="http://schemas.microsoft.com/office/drawing/2014/main" id="{C047B2CD-B91C-42D3-9D4A-6EE6A1B3B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footer-label-15">
            <a:extLst xmlns:a="http://schemas.openxmlformats.org/drawingml/2006/main">
              <a:ext uri="{FF2B5EF4-FFF2-40B4-BE49-F238E27FC236}">
                <a16:creationId xmlns:a16="http://schemas.microsoft.com/office/drawing/2014/main" id="{B3C8C34A-1668-4D13-8B41-D7403FED3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3" name="footer-page-15">
            <a:extLst xmlns:a="http://schemas.openxmlformats.org/drawingml/2006/main">
              <a:ext uri="{FF2B5EF4-FFF2-40B4-BE49-F238E27FC236}">
                <a16:creationId xmlns:a16="http://schemas.microsoft.com/office/drawing/2014/main" id="{6B4DC357-9C32-4F54-856C-613D93C0B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15 / 18</a:t>
            </a:r>
          </a:p>
        </p:txBody>
      </p:sp>
    </p:spTree>
    <p:extLst>
      <p:ext uri="{BB962C8B-B14F-4D97-AF65-F5344CB8AC3E}">
        <p14:creationId xmlns:p14="http://schemas.microsoft.com/office/powerpoint/2010/main" val="1971429130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side-accent-16">
            <a:extLst xmlns:a="http://schemas.openxmlformats.org/drawingml/2006/main">
              <a:ext uri="{FF2B5EF4-FFF2-40B4-BE49-F238E27FC236}">
                <a16:creationId xmlns:a16="http://schemas.microsoft.com/office/drawing/2014/main" id="{AD362A5B-48D6-4EE5-8712-3331B44CB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6">
            <a:extLst xmlns:a="http://schemas.openxmlformats.org/drawingml/2006/main">
              <a:ext uri="{FF2B5EF4-FFF2-40B4-BE49-F238E27FC236}">
                <a16:creationId xmlns:a16="http://schemas.microsoft.com/office/drawing/2014/main" id="{69C650D3-39AA-48F0-A435-AB9466679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ลำดับการประเมิน  /  สายสนับสนุน</a:t>
            </a:r>
          </a:p>
        </p:txBody>
      </p:sp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3F041E87-56ED-43CA-9DBC-9C1B87D9B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ผู้ประเมินแต่ละคนส่งต่องานตามลำดับ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D269BF-50B4-4E60-8C76-0FE1913C3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3457575"/>
            <a:ext cx="765810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F9DEF2-59B9-415A-9E8A-B4AD62733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5322A2-DFB2-47D9-A366-167D58D83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801AFCC-073F-4366-B534-0B6CFE78A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ผู้ประเมินคนที่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2D02833-6DCE-4D3D-8749-271DE431A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ตรวจและให้ผล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11E6E5-F96D-47A3-B963-BC65E840C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D580A5-129C-4B46-AD65-4941C6759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A37C42-4073-4AFE-8639-B38AD1A86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ผู้ประเมินคนถัดไป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89D5CC5-FB10-498A-9873-F66EE9365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รับงานตามลำดับ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71A4CA-2F6A-4021-BCD9-88E71243F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2914650"/>
            <a:ext cx="1104900" cy="1104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03294CC-A47F-47CD-B4E5-499944D92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3219450"/>
            <a:ext cx="1104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325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2325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B54234-A8A8-4984-A149-4CD146199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3434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ผู้ประเมินคนสุดท้าย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3C3B7DB-5B8D-4EA0-9BF3-1049749C6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914900"/>
            <a:ext cx="3048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ยืนยันขั้นสุดท้าย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26090E-AEF9-4DAF-9151-D04C3AB76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91200"/>
            <a:ext cx="10972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ผู้ประเมินคนสุดท้ายยืนยันแล้ว สถานะจะเป็น ประเมินเสร็จสิ้น (Completed)</a:t>
            </a:r>
          </a:p>
        </p:txBody>
      </p:sp>
      <p:sp>
        <p:nvSpPr>
          <p:cNvPr id="18" name="footer-rule-16">
            <a:extLst xmlns:a="http://schemas.openxmlformats.org/drawingml/2006/main">
              <a:ext uri="{FF2B5EF4-FFF2-40B4-BE49-F238E27FC236}">
                <a16:creationId xmlns:a16="http://schemas.microsoft.com/office/drawing/2014/main" id="{8DEFA011-89FF-41C2-B937-52F66B26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footer-label-16">
            <a:extLst xmlns:a="http://schemas.openxmlformats.org/drawingml/2006/main">
              <a:ext uri="{FF2B5EF4-FFF2-40B4-BE49-F238E27FC236}">
                <a16:creationId xmlns:a16="http://schemas.microsoft.com/office/drawing/2014/main" id="{43068CD7-D981-4302-AEE3-716B0A02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0" name="footer-page-16">
            <a:extLst xmlns:a="http://schemas.openxmlformats.org/drawingml/2006/main">
              <a:ext uri="{FF2B5EF4-FFF2-40B4-BE49-F238E27FC236}">
                <a16:creationId xmlns:a16="http://schemas.microsoft.com/office/drawing/2014/main" id="{8743F296-8AD3-40EC-AEC2-D61F898DB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16 / 18</a:t>
            </a:r>
          </a:p>
        </p:txBody>
      </p:sp>
    </p:spTree>
    <p:extLst>
      <p:ext uri="{BB962C8B-B14F-4D97-AF65-F5344CB8AC3E}">
        <p14:creationId xmlns:p14="http://schemas.microsoft.com/office/powerpoint/2010/main" val="608655186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side-accent-17">
            <a:extLst xmlns:a="http://schemas.openxmlformats.org/drawingml/2006/main">
              <a:ext uri="{FF2B5EF4-FFF2-40B4-BE49-F238E27FC236}">
                <a16:creationId xmlns:a16="http://schemas.microsoft.com/office/drawing/2014/main" id="{17855AA0-67E0-4861-8B1E-4846C23D0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7">
            <a:extLst xmlns:a="http://schemas.openxmlformats.org/drawingml/2006/main">
              <a:ext uri="{FF2B5EF4-FFF2-40B4-BE49-F238E27FC236}">
                <a16:creationId xmlns:a16="http://schemas.microsoft.com/office/drawing/2014/main" id="{DFEDB746-F853-4B9A-8E82-0FD6BAAE26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ภารกิจฝึกปฏิบัติ  /  สายสนับสนุน</a:t>
            </a:r>
          </a:p>
        </p:txBody>
      </p:sp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42630506-3AF0-4D9E-BF9A-2F0346D78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ลองบันทึกกิจกรรม 1 รายการให้ครบ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D6C8BF-0C27-47DC-A0AB-BD7E30AEC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47850"/>
            <a:ext cx="8382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72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ทำตามลำดับ แล้วเรียกวิทยากรตรวจเมื่อครบ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83114C-B584-47C2-A6AB-DEA0DD53B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457043-7E3B-49A5-BA76-507038F70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922D69-0F12-42C3-B117-C5241C9BB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เลือกกิจกรรมที่กำหนด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FE6E2A-C411-4220-B2F1-B34835658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72415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3FF2025-3C1D-4533-B15D-53ADBB8D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8098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2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54F6D3F-AE9A-48B6-873A-C6D8A721E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270510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กรอกเป้าหมายและผล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0BFB19-8F9F-4502-A1B7-26307F7F7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8E892A-BFA7-459C-947B-7E68BF6F2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D9FA242-427B-4FF4-9C53-82D0C5D15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906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ตรวจคะแนนถ่วงน้ำหนัก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08AD32-167E-4BFA-83B3-CE72B38C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924300"/>
            <a:ext cx="514350" cy="514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79A2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B7A1ED9-E42D-4E36-8243-90B5EB1BD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01002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Tahoma"/>
                <a:ea typeface="Tahoma"/>
                <a:cs typeface="Tahoma"/>
              </a:defRPr>
            </a:pPr>
            <a:r>
              <a:rPr sz="1650" b="1">
                <a:solidFill>
                  <a:srgbClr val="FFFFFF"/>
                </a:solidFill>
                <a:latin typeface="Tahoma"/>
                <a:ea typeface="Tahoma"/>
                <a:cs typeface="Tahoma"/>
              </a:rPr>
              <a:t>4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1BDDA5-7E7C-4B7D-A8AD-77B6D7FC6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3905250"/>
            <a:ext cx="4191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1800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แนบหลักฐานและบันทึกร่าง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F65892D-474B-4311-9A86-368EF6AAA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67350"/>
            <a:ext cx="10972800" cy="57150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634E42-51CB-44E0-87FB-A052CC221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5619750"/>
            <a:ext cx="10515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57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ผ่านเมื่อ: ข้อมูลครบ • หลักฐานเปิดได้ • พร้อมอธิบายที่มาของคะแนน</a:t>
            </a:r>
          </a:p>
        </p:txBody>
      </p:sp>
      <p:sp>
        <p:nvSpPr>
          <p:cNvPr id="19" name="footer-rule-17">
            <a:extLst xmlns:a="http://schemas.openxmlformats.org/drawingml/2006/main">
              <a:ext uri="{FF2B5EF4-FFF2-40B4-BE49-F238E27FC236}">
                <a16:creationId xmlns:a16="http://schemas.microsoft.com/office/drawing/2014/main" id="{7D68B00D-EEB6-4FB8-AFDE-0EEAF5A08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footer-label-17">
            <a:extLst xmlns:a="http://schemas.openxmlformats.org/drawingml/2006/main">
              <a:ext uri="{FF2B5EF4-FFF2-40B4-BE49-F238E27FC236}">
                <a16:creationId xmlns:a16="http://schemas.microsoft.com/office/drawing/2014/main" id="{C571D35C-2717-4B93-A6EF-EBE3E24F1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1" name="footer-page-17">
            <a:extLst xmlns:a="http://schemas.openxmlformats.org/drawingml/2006/main">
              <a:ext uri="{FF2B5EF4-FFF2-40B4-BE49-F238E27FC236}">
                <a16:creationId xmlns:a16="http://schemas.microsoft.com/office/drawing/2014/main" id="{FB09646B-FADB-42F9-9556-6F595D7563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17 / 18</a:t>
            </a:r>
          </a:p>
        </p:txBody>
      </p:sp>
    </p:spTree>
    <p:extLst>
      <p:ext uri="{BB962C8B-B14F-4D97-AF65-F5344CB8AC3E}">
        <p14:creationId xmlns:p14="http://schemas.microsoft.com/office/powerpoint/2010/main" val="173866481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ide-accent-18">
            <a:extLst xmlns:a="http://schemas.openxmlformats.org/drawingml/2006/main">
              <a:ext uri="{FF2B5EF4-FFF2-40B4-BE49-F238E27FC236}">
                <a16:creationId xmlns:a16="http://schemas.microsoft.com/office/drawing/2014/main" id="{D75023DD-328E-4523-883D-6532E2358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524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8C8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kicker-18">
            <a:extLst xmlns:a="http://schemas.openxmlformats.org/drawingml/2006/main">
              <a:ext uri="{FF2B5EF4-FFF2-40B4-BE49-F238E27FC236}">
                <a16:creationId xmlns:a16="http://schemas.microsoft.com/office/drawing/2014/main" id="{1E1BA783-C435-4F2C-8246-86154503C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"/>
            <a:ext cx="495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12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แก้ปัญหาเบื้องต้น  /  สายสนับสนุน</a:t>
            </a:r>
          </a:p>
        </p:txBody>
      </p:sp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D7B23558-054B-4CAD-B8B3-8D80EE32A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42950"/>
            <a:ext cx="10668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307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307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หากใช้งานไม่ได้ ให้ตรวจสอบ 4 จุดนี้ก่อน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19A05A3-F0A9-4733-A1C2-0375AADBB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145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233145-82E1-46FF-B64D-818CAF94E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764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งานไม่ปรากฏ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EC3F059-6AE3-420C-B14A-D6FC7F353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1145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ตรวจงานที่ได้รับมอบหมาย และแจ้งผู้ดูแลระบบหากรอบไม่ถูกต้อง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B8595E-46B1-4FCE-BA40-A1D3A7D33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7051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6323F8-E5E1-4904-81B5-CA7262081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908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C8A111-7DAF-47F1-A389-F74B42BE9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9527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ปุ่มใช้งานไม่ได้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0F1B01-E19D-4C0C-A8EF-DA90D499F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9908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ตรวจสถานะปัจจุบันและสิทธิ์ของบทบาท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5E55682-25D2-415F-B57F-B57C84B65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5814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3E044A-C5FB-4AF3-A008-54A9471E9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2B02A2-892C-4873-A2ED-089C6E669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8290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บันทึกหรือส่งไม่ได้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93B3A37-F3FF-4C2A-B9A6-8C4AA8A43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8671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ตรวจข้อมูลบังคับ คะแนน และลิงก์หลักฐาน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25A921D-3F19-444E-BBD1-10FB20F1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457700"/>
            <a:ext cx="98679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A2963E2-6E59-4FAD-B409-47071915D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609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C79A2B"/>
                </a:solidFill>
                <a:latin typeface="Tahoma"/>
                <a:ea typeface="Tahoma"/>
                <a:cs typeface="Tahoma"/>
              </a:defRPr>
            </a:pPr>
            <a:r>
              <a:rPr sz="1350" b="1">
                <a:solidFill>
                  <a:srgbClr val="C79A2B"/>
                </a:solidFill>
                <a:latin typeface="Tahoma"/>
                <a:ea typeface="Tahoma"/>
                <a:cs typeface="Tahoma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2B8214-101C-4A20-B481-E2B226EE7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705350"/>
            <a:ext cx="28003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02A43"/>
                </a:solidFill>
                <a:latin typeface="Tahoma"/>
                <a:ea typeface="Tahoma"/>
                <a:cs typeface="Tahoma"/>
              </a:defRPr>
            </a:pPr>
            <a:r>
              <a:rPr sz="2025" b="1">
                <a:solidFill>
                  <a:srgbClr val="102A43"/>
                </a:solidFill>
                <a:latin typeface="Tahoma"/>
                <a:ea typeface="Tahoma"/>
                <a:cs typeface="Tahoma"/>
              </a:rPr>
              <a:t>ยังแก้ไม่ได้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1BCEB7-84B8-473A-BDB4-426BD7918C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43450"/>
            <a:ext cx="685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15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จดชื่อรายการและสถานะ แล้วติดต่อผู้ดูแลระบบ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4BAB67-D346-4EF2-AE54-752C7D496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34050"/>
            <a:ext cx="7239000" cy="4572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E2F4F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A66852-CA96-4052-B66D-467ACECBE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838825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00615E"/>
                </a:solidFill>
                <a:latin typeface="Tahoma"/>
                <a:ea typeface="Tahoma"/>
                <a:cs typeface="Tahoma"/>
              </a:defRPr>
            </a:pPr>
            <a:r>
              <a:rPr sz="1425" b="1">
                <a:solidFill>
                  <a:srgbClr val="00615E"/>
                </a:solidFill>
                <a:latin typeface="Tahoma"/>
                <a:ea typeface="Tahoma"/>
                <a:cs typeface="Tahoma"/>
              </a:rPr>
              <a:t>คู่มือผู้ใช้ • ผู้ดูแลระบบของหน่วยงาน</a:t>
            </a:r>
          </a:p>
        </p:txBody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1f9bae71684cf7"/>
          <a:stretch xmlns:a="http://schemas.openxmlformats.org/drawingml/2006/main"/>
        </p:blipFill>
        <p:spPr>
          <a:xfrm xmlns:a="http://schemas.openxmlformats.org/drawingml/2006/main">
            <a:off x="9018037" y="5638800"/>
            <a:ext cx="2309327" cy="628650"/>
          </a:xfrm>
          <a:prstGeom xmlns:a="http://schemas.openxmlformats.org/drawingml/2006/main" prst="rect">
            <a:avLst/>
          </a:prstGeom>
        </p:spPr>
      </p:pic>
      <p:sp>
        <p:nvSpPr>
          <p:cNvPr id="22" name="footer-rule-18">
            <a:extLst xmlns:a="http://schemas.openxmlformats.org/drawingml/2006/main">
              <a:ext uri="{FF2B5EF4-FFF2-40B4-BE49-F238E27FC236}">
                <a16:creationId xmlns:a16="http://schemas.microsoft.com/office/drawing/2014/main" id="{92F2EB8C-0314-4F1A-BCF3-89A6E6D8A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48425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8E0E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footer-label-18">
            <a:extLst xmlns:a="http://schemas.openxmlformats.org/drawingml/2006/main">
              <a:ext uri="{FF2B5EF4-FFF2-40B4-BE49-F238E27FC236}">
                <a16:creationId xmlns:a16="http://schemas.microsoft.com/office/drawing/2014/main" id="{60571DB8-11C0-458B-919F-01BD9C95C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523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>
                <a:solidFill>
                  <a:srgbClr val="61758A"/>
                </a:solidFill>
                <a:latin typeface="Tahoma"/>
                <a:ea typeface="Tahoma"/>
                <a:cs typeface="Tahoma"/>
              </a:defRPr>
            </a:pPr>
            <a:r>
              <a:rPr sz="975" b="0">
                <a:solidFill>
                  <a:srgbClr val="61758A"/>
                </a:solidFill>
                <a:latin typeface="Tahoma"/>
                <a:ea typeface="Tahoma"/>
                <a:cs typeface="Tahoma"/>
              </a:rPr>
              <a:t>MSU EVA  •  ภาคบ่าย สายสนับสนุน</a:t>
            </a:r>
          </a:p>
        </p:txBody>
      </p:sp>
      <p:sp>
        <p:nvSpPr>
          <p:cNvPr id="24" name="footer-page-18">
            <a:extLst xmlns:a="http://schemas.openxmlformats.org/drawingml/2006/main">
              <a:ext uri="{FF2B5EF4-FFF2-40B4-BE49-F238E27FC236}">
                <a16:creationId xmlns:a16="http://schemas.microsoft.com/office/drawing/2014/main" id="{D6913B6F-C5BE-4661-8F9B-BBA176DD6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553200"/>
            <a:ext cx="11049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75" b="1">
                <a:solidFill>
                  <a:srgbClr val="008C86"/>
                </a:solidFill>
                <a:latin typeface="Tahoma"/>
                <a:ea typeface="Tahoma"/>
                <a:cs typeface="Tahoma"/>
              </a:defRPr>
            </a:pPr>
            <a:r>
              <a:rPr sz="975" b="1">
                <a:solidFill>
                  <a:srgbClr val="008C86"/>
                </a:solidFill>
                <a:latin typeface="Tahoma"/>
                <a:ea typeface="Tahoma"/>
                <a:cs typeface="Tahoma"/>
              </a:rPr>
              <a:t>18 / 18</a:t>
            </a:r>
          </a:p>
        </p:txBody>
      </p:sp>
    </p:spTree>
    <p:extLst>
      <p:ext uri="{BB962C8B-B14F-4D97-AF65-F5344CB8AC3E}">
        <p14:creationId xmlns:p14="http://schemas.microsoft.com/office/powerpoint/2010/main" val="96007678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2026-07-30T07:59:55.1030000Z</dcterms:created>
  <dcterms:modified xsi:type="dcterms:W3CDTF">2026-07-30T07:59:55.1030000Z</dcterms:modified>
</coreProperties>
</file>