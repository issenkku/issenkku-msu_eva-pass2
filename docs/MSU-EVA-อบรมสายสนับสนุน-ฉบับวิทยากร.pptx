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2f7eefe07264304" /><Relationship Type="http://schemas.openxmlformats.org/officeDocument/2006/relationships/extended-properties" Target="/docProps/app.xml" Id="Rd3332efd47a54066" /><Relationship Type="http://schemas.openxmlformats.org/officeDocument/2006/relationships/officeDocument" Target="/ppt/presentation.xml" Id="R29e06d6e4df2484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a38ee24cce64450"/>
  </p:sldMasterIdLst>
  <p:notesMasterIdLst>
    <p:notesMasterId xmlns:r="http://schemas.openxmlformats.org/officeDocument/2006/relationships" r:id="R1beff4bfe0254dc0"/>
  </p:notesMasterIdLst>
  <p:sldIdLst>
    <p:sldId xmlns:r="http://schemas.openxmlformats.org/officeDocument/2006/relationships" id="256" r:id="R0abaa2487c074399"/>
    <p:sldId xmlns:r="http://schemas.openxmlformats.org/officeDocument/2006/relationships" id="257" r:id="Rf1dd62338d7740e0"/>
    <p:sldId xmlns:r="http://schemas.openxmlformats.org/officeDocument/2006/relationships" id="258" r:id="R79ab4c9f42124747"/>
    <p:sldId xmlns:r="http://schemas.openxmlformats.org/officeDocument/2006/relationships" id="259" r:id="Rde2e384c841c4943"/>
    <p:sldId xmlns:r="http://schemas.openxmlformats.org/officeDocument/2006/relationships" id="260" r:id="R8309f4f9140d41d9"/>
    <p:sldId xmlns:r="http://schemas.openxmlformats.org/officeDocument/2006/relationships" id="261" r:id="Re3765f9d37494818"/>
    <p:sldId xmlns:r="http://schemas.openxmlformats.org/officeDocument/2006/relationships" id="262" r:id="Rd59e28097b664324"/>
    <p:sldId xmlns:r="http://schemas.openxmlformats.org/officeDocument/2006/relationships" id="263" r:id="R637491a060d3444a"/>
    <p:sldId xmlns:r="http://schemas.openxmlformats.org/officeDocument/2006/relationships" id="264" r:id="R59fb711ce03a44aa"/>
    <p:sldId xmlns:r="http://schemas.openxmlformats.org/officeDocument/2006/relationships" id="265" r:id="Rb8730a1d44e0469a"/>
    <p:sldId xmlns:r="http://schemas.openxmlformats.org/officeDocument/2006/relationships" id="266" r:id="R074440736eb14698"/>
    <p:sldId xmlns:r="http://schemas.openxmlformats.org/officeDocument/2006/relationships" id="267" r:id="R1c2230f0abf04797"/>
    <p:sldId xmlns:r="http://schemas.openxmlformats.org/officeDocument/2006/relationships" id="268" r:id="R357a4798d02e429a"/>
    <p:sldId xmlns:r="http://schemas.openxmlformats.org/officeDocument/2006/relationships" id="269" r:id="Ra6f3bb1a12314644"/>
    <p:sldId xmlns:r="http://schemas.openxmlformats.org/officeDocument/2006/relationships" id="270" r:id="R063766a108724c5e"/>
    <p:sldId xmlns:r="http://schemas.openxmlformats.org/officeDocument/2006/relationships" id="271" r:id="R00d3506f62e44a4e"/>
    <p:sldId xmlns:r="http://schemas.openxmlformats.org/officeDocument/2006/relationships" id="272" r:id="Rb8d3545f7b294212"/>
    <p:sldId xmlns:r="http://schemas.openxmlformats.org/officeDocument/2006/relationships" id="273" r:id="Rd51b1030e66946e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4515251063741ab" /><Relationship Type="http://schemas.openxmlformats.org/officeDocument/2006/relationships/slideMaster" Target="/ppt/slideMasters/slideMaster1.xml" Id="Rca38ee24cce64450" /><Relationship Type="http://schemas.openxmlformats.org/officeDocument/2006/relationships/notesMaster" Target="/ppt/notesMasters/notesMaster1.xml" Id="R1beff4bfe0254dc0" /><Relationship Type="http://schemas.openxmlformats.org/officeDocument/2006/relationships/presProps" Target="/ppt/presProps.xml" Id="Rd9043eb4540b4d1e" /><Relationship Type="http://schemas.openxmlformats.org/officeDocument/2006/relationships/tableStyles" Target="/ppt/tableStyles.xml" Id="Rcd729cd0b660483c" /><Relationship Type="http://schemas.openxmlformats.org/officeDocument/2006/relationships/slide" Target="/ppt/slides/slide1.xml" Id="R0abaa2487c074399" /><Relationship Type="http://schemas.openxmlformats.org/officeDocument/2006/relationships/slide" Target="/ppt/slides/slide2.xml" Id="Rf1dd62338d7740e0" /><Relationship Type="http://schemas.openxmlformats.org/officeDocument/2006/relationships/slide" Target="/ppt/slides/slide3.xml" Id="R79ab4c9f42124747" /><Relationship Type="http://schemas.openxmlformats.org/officeDocument/2006/relationships/slide" Target="/ppt/slides/slide4.xml" Id="Rde2e384c841c4943" /><Relationship Type="http://schemas.openxmlformats.org/officeDocument/2006/relationships/slide" Target="/ppt/slides/slide5.xml" Id="R8309f4f9140d41d9" /><Relationship Type="http://schemas.openxmlformats.org/officeDocument/2006/relationships/slide" Target="/ppt/slides/slide6.xml" Id="Re3765f9d37494818" /><Relationship Type="http://schemas.openxmlformats.org/officeDocument/2006/relationships/slide" Target="/ppt/slides/slide7.xml" Id="Rd59e28097b664324" /><Relationship Type="http://schemas.openxmlformats.org/officeDocument/2006/relationships/slide" Target="/ppt/slides/slide8.xml" Id="R637491a060d3444a" /><Relationship Type="http://schemas.openxmlformats.org/officeDocument/2006/relationships/slide" Target="/ppt/slides/slide9.xml" Id="R59fb711ce03a44aa" /><Relationship Type="http://schemas.openxmlformats.org/officeDocument/2006/relationships/slide" Target="/ppt/slides/slide10.xml" Id="Rb8730a1d44e0469a" /><Relationship Type="http://schemas.openxmlformats.org/officeDocument/2006/relationships/slide" Target="/ppt/slides/slide11.xml" Id="R074440736eb14698" /><Relationship Type="http://schemas.openxmlformats.org/officeDocument/2006/relationships/slide" Target="/ppt/slides/slide12.xml" Id="R1c2230f0abf04797" /><Relationship Type="http://schemas.openxmlformats.org/officeDocument/2006/relationships/slide" Target="/ppt/slides/slide13.xml" Id="R357a4798d02e429a" /><Relationship Type="http://schemas.openxmlformats.org/officeDocument/2006/relationships/slide" Target="/ppt/slides/slide14.xml" Id="Ra6f3bb1a12314644" /><Relationship Type="http://schemas.openxmlformats.org/officeDocument/2006/relationships/slide" Target="/ppt/slides/slide15.xml" Id="R063766a108724c5e" /><Relationship Type="http://schemas.openxmlformats.org/officeDocument/2006/relationships/slide" Target="/ppt/slides/slide16.xml" Id="R00d3506f62e44a4e" /><Relationship Type="http://schemas.openxmlformats.org/officeDocument/2006/relationships/slide" Target="/ppt/slides/slide17.xml" Id="Rb8d3545f7b294212" /><Relationship Type="http://schemas.openxmlformats.org/officeDocument/2006/relationships/slide" Target="/ppt/slides/slide18.xml" Id="Rd51b1030e66946e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71c129fb3524d9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07f07e2fbc04568" /><Relationship Type="http://schemas.openxmlformats.org/officeDocument/2006/relationships/notesMaster" Target="/ppt/notesMasters/notesMaster1.xml" Id="Rf427c451afb2410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bb298d1ca914b20" /><Relationship Type="http://schemas.openxmlformats.org/officeDocument/2006/relationships/notesMaster" Target="/ppt/notesMasters/notesMaster1.xml" Id="R4f9433492e114b1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7b29fd3fa9f4d29" /><Relationship Type="http://schemas.openxmlformats.org/officeDocument/2006/relationships/notesMaster" Target="/ppt/notesMasters/notesMaster1.xml" Id="Rd7942209aad64b7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370a16026474dcd" /><Relationship Type="http://schemas.openxmlformats.org/officeDocument/2006/relationships/notesMaster" Target="/ppt/notesMasters/notesMaster1.xml" Id="R61407dde4e394e3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6789c607d31422a" /><Relationship Type="http://schemas.openxmlformats.org/officeDocument/2006/relationships/notesMaster" Target="/ppt/notesMasters/notesMaster1.xml" Id="Re002dd1e2a94447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22866305d0448ce" /><Relationship Type="http://schemas.openxmlformats.org/officeDocument/2006/relationships/notesMaster" Target="/ppt/notesMasters/notesMaster1.xml" Id="R514bc0907aed40d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b25ee1d340347ba" /><Relationship Type="http://schemas.openxmlformats.org/officeDocument/2006/relationships/notesMaster" Target="/ppt/notesMasters/notesMaster1.xml" Id="R675527fb9a17411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55cc9b50cf745a2" /><Relationship Type="http://schemas.openxmlformats.org/officeDocument/2006/relationships/notesMaster" Target="/ppt/notesMasters/notesMaster1.xml" Id="R825cf7663ead499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57e96b265184b01" /><Relationship Type="http://schemas.openxmlformats.org/officeDocument/2006/relationships/notesMaster" Target="/ppt/notesMasters/notesMaster1.xml" Id="R2f5e9b1e245e479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7b60753a3784bc3" /><Relationship Type="http://schemas.openxmlformats.org/officeDocument/2006/relationships/notesMaster" Target="/ppt/notesMasters/notesMaster1.xml" Id="Rd242d4f78d134d6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786e6c9c7fa4362" /><Relationship Type="http://schemas.openxmlformats.org/officeDocument/2006/relationships/notesMaster" Target="/ppt/notesMasters/notesMaster1.xml" Id="Rf87d06c3e7484b4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f3cd615700f4fa7" /><Relationship Type="http://schemas.openxmlformats.org/officeDocument/2006/relationships/notesMaster" Target="/ppt/notesMasters/notesMaster1.xml" Id="R705b542becb8480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7169aa509134047" /><Relationship Type="http://schemas.openxmlformats.org/officeDocument/2006/relationships/notesMaster" Target="/ppt/notesMasters/notesMaster1.xml" Id="Rd15bae620f554c0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ed8ab4f30df449a" /><Relationship Type="http://schemas.openxmlformats.org/officeDocument/2006/relationships/notesMaster" Target="/ppt/notesMasters/notesMaster1.xml" Id="Rc7fd794316674d6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030a60558834ff2" /><Relationship Type="http://schemas.openxmlformats.org/officeDocument/2006/relationships/notesMaster" Target="/ppt/notesMasters/notesMaster1.xml" Id="R67ac243a518f4d2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a22cdc38e40474c" /><Relationship Type="http://schemas.openxmlformats.org/officeDocument/2006/relationships/notesMaster" Target="/ppt/notesMasters/notesMaster1.xml" Id="Rbca8786d307b422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13cbb3d5cff4857" /><Relationship Type="http://schemas.openxmlformats.org/officeDocument/2006/relationships/notesMaster" Target="/ppt/notesMasters/notesMaster1.xml" Id="R9198754a0cbc484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450435a57014736" /><Relationship Type="http://schemas.openxmlformats.org/officeDocument/2006/relationships/notesMaster" Target="/ppt/notesMasters/notesMaster1.xml" Id="R98b285af3b8b438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สวัสดีทุกท่านครับ สำหรับช่วงบ่ายนี้เราจะมาดูการใช้งานระบบประเมินผลการปฏิบัติงานบุคลากร หรือ MSU EVA สำหรับบุคลากรสายสนับสนุนกันนะครับ บางท่านอาจอยู่ต่อจากช่วงเช้า บางท่านเพิ่งเข้ามาใหม่ และมีทั้งผู้รับการประเมิน ผู้ประเมิน ผู้บริหาร รวมถึงผู้ประเมินระบบ ไม่ต้องกังวลครับ เราจะเริ่มจากภาพรวมสั้น ๆ ก่อน แล้วผมจะสาธิตหนึ่งรายการให้ดู หลังจากนั้นทุกท่านจะได้ทดลองกับบัญชีที่เตรียมไว้ครับ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docs/superpowers/specs/2026-07-24-split-role-training-decks-design.md</a:t>
            </a:r>
          </a:p>
          <a:p xmlns:a="http://schemas.openxmlformats.org/drawingml/2006/main">
            <a:r>
              <a:t>- public/favicon-msu.png</a:t>
            </a:r>
          </a:p>
          <a:p xmlns:a="http://schemas.openxmlformats.org/drawingml/2006/main">
            <a:r>
              <a:t>- C:\Users\pisut\Downloads\logoบริษัท.svg</a:t>
            </a:r>
          </a:p>
          <a:p xmlns:a="http://schemas.openxmlformats.org/drawingml/2006/main">
            <a:r>
              <a:t>- public/images/workload-background.jpg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เป้าหมายของช่วงบ่ายนี้ชัดเจนครับ เราจะทำกิจกรรมหนึ่งรายการให้ครบ ตั้งแต่เลือกกิจกรรม กรอกเป้าหมายและผล ตรวจคะแนน แนบหลักฐาน ไปจนถึงบันทึกร่าง ที่สำคัญคือเราต้องอธิบายได้ว่าคะแนนเกิดจากข้อมูลใด รอบประเมินเป็นสิ่งที่ผู้ดูแลระบบกำหนดไว้แล้วนะครับ ผู้ใช้งานมีหน้าที่ตรวจรอบกับรายการที่ได้รับมอบหมาย เมื่อพร้อมแล้ว ทีนี้เรามาดูว่าระบบช่วยงานส่วนไหนบ้างครับ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docs/superpowers/specs/2026-07-24-split-role-training-decks-design.md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ระบบไม่ได้มีแค่หน้ากรอกกิจกรรมนะครับ ระบบครอบคลุมตั้งแต่การจัดการผู้ใช้และสิทธิ์ การสร้างเกณฑ์ การกำหนดรอบและมอบหมายงาน ไปจนถึงการกรอกข้อมูล การประเมิน ติดตามสถานะ และส่งออกรายงาน ส่วนงานเตรียมระบบเป็นหน้าที่ของ Admin ผู้เข้าอบรมทั่วไปจึงไม่ต้องสร้างหรือเลือกรอบประเมินเองครับ เราตรวจเฉพาะงานที่ได้รับ แล้วดำเนินการตามสิทธิ์ของเรา ต่อไปมาทำความรู้จักผู้ใช้งานแต่ละกลุ่มกันครับ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database/seeders/RoleSeeder.php</a:t>
            </a:r>
          </a:p>
          <a:p xmlns:a="http://schemas.openxmlformats.org/drawingml/2006/main">
            <a:r>
              <a:t>- app/Http/Controllers/AssignmentDataController.php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ในระบบมีห้าบทบาทหลักครับ ได้แก่ Admin ผู้รับการประเมิน ผู้ประเมิน กรรมการ และผู้บริหาร แต่ละบทบาทจะเห็นเมนูต่างกัน ตรงนี้ขอเน้นครับ Admin เป็นผู้กำหนดผู้ใช้ เกณฑ์ รอบประเมิน การมอบหมาย และลำดับผู้ประเมิน ส่วนบทบาทผู้ประเมิน กรรมการ และผู้บริหารจะถูกใช้ตามขั้นที่ Admin จัดไว้ บางงานอาจใช้ไม่ครบทุกบทบาท และงานจะเสร็จสมบูรณ์เมื่อผู้ประเมินลำดับสุดท้ายกดยืนยันผลครับ เมื่อรู้ว่าใครทำอะไรแล้ว เรามาดูเส้นทางของงานทั้งกระบวนการกันครับ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database/seeders/RoleSeeder.php</a:t>
            </a:r>
          </a:p>
          <a:p xmlns:a="http://schemas.openxmlformats.org/drawingml/2006/main">
            <a:r>
              <a:t>- app/Http/Controllers/AssignmentDataController.php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ลองดูภาพนี้จากซ้ายไปขวาครับ ผู้รับการประเมินเปิดงาน เลือกกิจกรรม กรอกผล ตรวจคะแนนและหลักฐาน แล้วจึงส่งแบบประเมิน หลังจากนั้นระบบส่งงานให้ผู้ประเมินทีละคนตามลำดับ คนสุดท้ายยืนยันเมื่อใด งานจึงเป็นประเมินเสร็จสิ้น หรือ Completed ครับ จำไว้ว่าแต่ละปุ่มมีผลกับคนถัดไป เมื่อเห็นภาพรวมแล้ว ต่อไปเราจะเริ่มจากบทบาทของผู้กรอกข้อมูลครับ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ผู้รับการประเมินเป็นคนเตรียมเรื่องราวของกิจกรรมให้ครบครับ เราต้องบอกให้ได้ว่าทำกิจกรรมอะไร ตั้งเป้าหมายไว้เท่าไร ผลจริงเป็นอย่างไร และมีหลักฐานใดยืนยัน ถ้าข้อมูลยังไม่พร้อมก็ใช้บันทึกร่างก่อนได้ ไม่ต้องรีบส่งครับ เพราะข้อมูลที่เราเตรียมตรงนี้จะเป็นฐานให้ผู้ประเมินตัดสินใจ ทีนี้เดี๋ยวผมพาไปดูว่าควรเริ่มจากตรงไหนบนหน้าจอ</a:t>
            </a:r>
          </a:p>
          <a:p xmlns:a="http://schemas.openxmlformats.org/drawingml/2006/main">
            <a:r>
              <a:t>[เตรียมสาธิต] ตั้งแต่สไลด์ถัดไป ผมจะเปิดระบบให้ดูเป็นช่วง ๆ ครับ ทุกท่านยังไม่ต้องกดตาม จนกว่าจะถึงช่วงทดลองใช้งาน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ต่อไปมาที่แดชบอร์ดของฉันครับ ก่อนเปิดงานให้ตรวจรอบประเมินที่ผู้ดูแลระบบกำหนด รายการที่ได้รับมอบหมาย และสถานะปัจจุบัน ผู้ใช้งานไม่ต้องเลือกรอบเองนะครับ ถ้ารายการไม่ตรงให้หยุดและแจ้งผู้ดูแลระบบก่อน เดี๋ยวผมทำให้ดูก่อน ทุกท่านยังไม่ต้องกดตามครับ ให้สังเกตชื่อรอบ ชื่อรายการ และปุ่มเปิดงาน</a:t>
            </a:r>
          </a:p>
          <a:p xmlns:a="http://schemas.openxmlformats.org/drawingml/2006/main">
            <a:r>
              <a:t>[เปลี่ยนไปสาธิตระบบ] ต่อไปผมจะเปิดระบบตามหัวข้อนี้ให้ดูครับ ทุกท่านยังไม่ต้องกดตาม ให้สังเกตขั้นตอนบนหน้าจอก่อน</a:t>
            </a:r>
          </a:p>
          <a:p xmlns:a="http://schemas.openxmlformats.org/drawingml/2006/main">
            <a:r>
              <a:t>[สาธิต] เปิดแดชบอร์ด ตรวจสอบรอบประเมินที่ได้รับมอบหมาย แล้วเปิดรายการสายสนับสนุนที่เตรียมไว้</a:t>
            </a:r>
          </a:p>
          <a:p xmlns:a="http://schemas.openxmlformats.org/drawingml/2006/main">
            <a:r>
              <a:t>[กลับมานำเสนอ] เมื่อเห็นจุดเริ่มต้นบนระบบแล้ว ต่อไปเรามาดูความสัมพันธ์ระหว่างโครงการ กิจกรรม ตัวชี้วัด และหลักฐานครับ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เมื่อเปิดรายการแล้ว ลองสังเกตความเชื่อมโยงนะครับ โครงการบอกบริบท กิจกรรมบอกว่างานที่ทำคืออะไร ตัวชี้วัดบอกว่าจะวัดผลแบบไหน และหลักฐานยืนยันผลนั้น ถ้าข้อมูลเหล่านี้ไปคนละทิศ ผู้ประเมินจะอ่านแล้วไม่เห็นภาพครับ เพราะฉะนั้นให้เริ่มจากเลือกกิจกรรมที่ตรงกับงานจริงก่อน แล้วค่อยกรอกเป้าหมายกับผล ต่อไปเราจะดูช่องที่ต้องกรอกกันครับ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resources/views/criteria_config/partials/support-criteria-template.blade.php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ในหน้าบันทึกกิจกรรม มีสามส่วนที่อยากให้ดูครับ คือเป้าหมาย ผลที่ทำได้ และรายละเอียดกิจกรรม เป้าหมายคือค่าที่ตั้งไว้ ส่วนผลที่ทำได้คือสิ่งที่เกิดขึ้นจริง อย่าสลับสองช่องนี้นะครับ รายละเอียดกิจกรรมควรเขียนสั้น ๆ แต่บอกได้ว่าทำอะไรและเกิดผลอย่างไร เมื่อข้อมูลครบ ระบบจะนำไปคำนวณคะแนน ทีนี้เรามาดูสูตรแบบง่าย ๆ กันครับ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resources/views/criteria_config/partials/support-criteria-template.blade.php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ใช่ครับ สูตรนี้ดูเหมือนมีหลายตัว แต่หลักคิดไม่ซับซ้อน คะแนนถ่วงน้ำหนักเท่ากับน้ำหนักคูณคะแนนที่ทำได้ แล้วหารหนึ่งร้อย น้ำหนักบอกความสำคัญของรายการ ส่วนคะแนนที่ทำได้มาจากผลเทียบกับเกณฑ์ ตรงนี้อย่ากรอกคะแนนถ่วงน้ำหนักเองนะครับ ระบบคำนวณให้ หน้าที่ของเราคือตรวจว่าค่าต้นทางถูกต้อง ต่อไปลองคำนวณจากตัวอย่างจริงกันครับ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resources/views/criteria_config/partials/support-criteria-template.blade.php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ลองช่วยกันคิดนะครับ ถ้าน้ำหนักเท่ากับยี่สิบ และคะแนนที่ทำได้เท่ากับแปดสิบ ผลจะเป็นเท่าไรครับ ใช่ครับ คำตอบคือสิบหกคะแนน เพราะยี่สิบคูณแปดสิบแล้วหารหนึ่งร้อย ตัวอย่างนี้ช่วยให้เราตรวจคร่าว ๆ ได้ว่าคะแนนบนหน้าจอสมเหตุสมผลหรือไม่ ถ้าคะแนนไม่ตรง ให้ย้อนดูน้ำหนัก คะแนนที่ทำได้ และหน่วยข้อมูลก่อนครับ</a:t>
            </a:r>
          </a:p>
          <a:p xmlns:a="http://schemas.openxmlformats.org/drawingml/2006/main">
            <a:r>
              <a:t>[ถามผู้เข้าอบรม] ถ้าน้ำหนักเป็น 30 และคะแนนที่ทำได้เป็น 70 คะแนนถ่วงน้ำหนักควรเป็นเท่าไรครับ</a:t>
            </a:r>
          </a:p>
          <a:p xmlns:a="http://schemas.openxmlformats.org/drawingml/2006/main">
            <a:r>
              <a:t>[พูด] คำตอบคือ 21 คะแนนครับ ต่อไปเราจะดูหลักฐานที่ใช้รองรับผลกิจกรรม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resources/views/criteria_config/partials/support-criteria-template.blade.php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หลักฐานที่ดีต้องเปิดได้ ตรงกับกิจกรรม และรู้ว่าเป็นเอกสารของรายการใดครับ ลิงก์ควรเปิดได้จากบัญชีของผู้ประเมิน ไม่ใช่เปิดได้เฉพาะเจ้าของไฟล์ และควรตั้งชื่อไฟล์ให้ค้นหาได้ง่าย เดี๋ยวผมกรอกกิจกรรมหนึ่งรายการและแนบหลักฐานให้ดูก่อนครับ ทุกท่านสังเกตทั้งคะแนนที่ระบบคำนวณและการทดลองเปิดลิงก์</a:t>
            </a:r>
          </a:p>
          <a:p xmlns:a="http://schemas.openxmlformats.org/drawingml/2006/main">
            <a:r>
              <a:t>[เปลี่ยนไปสาธิตระบบ] ต่อไปผมจะเปิดระบบตามหัวข้อนี้ให้ดูครับ ทุกท่านยังไม่ต้องกดตาม ให้สังเกตขั้นตอนบนหน้าจอก่อน</a:t>
            </a:r>
          </a:p>
          <a:p xmlns:a="http://schemas.openxmlformats.org/drawingml/2006/main">
            <a:r>
              <a:t>[สาธิต] กรอกกิจกรรมหนึ่งรายการ ตรวจคะแนน แนบหลักฐาน และทดลองเปิดลิงก์</a:t>
            </a:r>
          </a:p>
          <a:p xmlns:a="http://schemas.openxmlformats.org/drawingml/2006/main">
            <a:r>
              <a:t>[กลับมานำเสนอ] เมื่อเห็นการกรอกกิจกรรมและเปิดหลักฐานแล้ว ต่อไปเรามาแยกบันทึกร่างกับส่งแบบประเมินให้ชัดครับ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- resources/views/criteria_config/partials/support-criteria-template.blade.php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ถ้าข้อมูลยังไม่ครบ ให้บันทึกร่างไว้ก่อน เมื่อข้อมูลและหลักฐานครบแล้วจึงส่งแบบประเมินครับ ก่อนยืนยัน ลองหยุดตรวจอีกครั้งว่าผลที่ทำได้สอดคล้องกับรายละเอียดกิจกรรมและหลักฐานหรือไม่ วันนี้ตอนทดลองเราจะหยุดที่บันทึกร่างนะครับ ส่วนต่อไปผมจะอธิบายให้เห็นว่าเมื่อส่งจริง งานเดินต่ออย่างไร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resources/views/partials/evaluation-form-action-buttons.blade.php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หลังส่งแบบประเมิน ระบบจะส่งงานตามลำดับผู้ประเมินที่ Admin กำหนดไว้ครับ ผู้ประเมินแต่ละคนตรวจ ให้ผล และส่งต่อไปยังคนถัดไป จำนวนขั้นและสิทธิ์อาจไม่เหมือนกันในทุกงาน เพราะฉะนั้นอย่าคาดเดาจากชื่อตำแหน่ง ให้ดูสถานะและลำดับของรายการนั้นเป็นหลัก เมื่อเข้าใจตรงนี้แล้ว เดี๋ยวเราสลับไปดูหน้าของผู้ประเมินกันครับ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ตอนนี้เราอยู่ในมุมผู้ประเมินครับ สิ่งที่ต้องตรวจคือผลกิจกรรม เป้าหมาย คะแนนที่ระบบคำนวณ และหลักฐานว่าตรงกับเกณฑ์หรือไม่ ควรเปิดหลักฐานจริงก่อนให้ผลนะครับ ไม่ควรดูเฉพาะชื่อไฟล์ เดี๋ยวผมทำให้ดูหนึ่งรายการ ให้สังเกตว่าข้อมูลใดมาจากผู้รับการประเมิน และตรงไหนเป็นส่วนที่ผู้ประเมินต้องตัดสินใจ</a:t>
            </a:r>
          </a:p>
          <a:p xmlns:a="http://schemas.openxmlformats.org/drawingml/2006/main">
            <a:r>
              <a:t>[เปลี่ยนไปสาธิตระบบ] ต่อไปผมจะเปิดระบบตามหัวข้อนี้ให้ดูครับ ทุกท่านยังไม่ต้องกดตาม ให้สังเกตขั้นตอนบนหน้าจอก่อน</a:t>
            </a:r>
          </a:p>
          <a:p xmlns:a="http://schemas.openxmlformats.org/drawingml/2006/main">
            <a:r>
              <a:t>[สาธิต] เปิดบัญชีผู้ประเมิน ตรวจผลกิจกรรม คะแนน และหลักฐาน แล้วบันทึกผล</a:t>
            </a:r>
          </a:p>
          <a:p xmlns:a="http://schemas.openxmlformats.org/drawingml/2006/main">
            <a:r>
              <a:t>[กลับมานำเสนอ] เมื่อเห็นมุมของผู้ประเมินแล้ว ต่อไปเรามาดูการส่งต่อและการยืนยันขั้นสุดท้ายครับ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ผู้ประเมินแต่ละคนทำงานเฉพาะขั้นของตัวเองครับ เมื่อตรวจครบแล้วจึงส่งต่อ คนถัดไปจึงจะรับงาน และเมื่อถึงคนสุดท้าย บุคคลนั้นจะยืนยันขั้นสุดท้ายจนสถานะเป็น Completed คนสุดท้ายอาจเป็นบทบาทใดก็ได้ตามลำดับที่ Admin กำหนดนะครับ เดี๋ยวผมส่งต่องานและเปิดบัญชีคนสุดท้ายให้ดู เพื่อให้เห็นการเปลี่ยนสถานะจริงครับ</a:t>
            </a:r>
          </a:p>
          <a:p xmlns:a="http://schemas.openxmlformats.org/drawingml/2006/main">
            <a:r>
              <a:t>[เปลี่ยนไปสาธิตระบบ] ต่อไปผมจะเปิดระบบตามหัวข้อนี้ให้ดูครับ ทุกท่านยังไม่ต้องกดตาม ให้สังเกตขั้นตอนบนหน้าจอก่อน</a:t>
            </a:r>
          </a:p>
          <a:p xmlns:a="http://schemas.openxmlformats.org/drawingml/2006/main">
            <a:r>
              <a:t>[สาธิต] ส่งต่องานหนึ่งลำดับ เปิดด้วยบัญชีผู้ประเมินคนสุดท้าย และยืนยันจนสถานะเป็น Completed</a:t>
            </a:r>
          </a:p>
          <a:p xmlns:a="http://schemas.openxmlformats.org/drawingml/2006/main">
            <a:r>
              <a:t>[กลับมานำเสนอ] เมื่อเห็นสถานะ Completed แล้ว ต่อไปจะเป็นช่วงที่ทุกท่านได้ทดลองใช้งานครับ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ทีนี้ถึงเวลาลองทำด้วยตัวเองแล้วครับ ให้ทุกท่านเปิดบัญชีที่เตรียมไว้ ผู้ที่เคยทดสอบระบบแล้วลองเน้นตรวจคะแนนและความสัมพันธ์ของหลักฐาน ส่วนผู้ที่เพิ่งเริ่มให้ทำทีละขั้น เลือกกิจกรรม กรอกเป้าหมายและผล ตรวจคะแนน แนบหลักฐาน แล้วบันทึกร่าง ถ้าติดตรงไหนยกมือได้เลยครับ ยังไม่ต้องกดส่งแบบประเมิน เพราะเราจะตรวจความพร้อมร่วมกันก่อน</a:t>
            </a:r>
          </a:p>
          <a:p xmlns:a="http://schemas.openxmlformats.org/drawingml/2006/main">
            <a:r>
              <a:t>[เริ่มทดลองใช้งาน — 30 นาที]</a:t>
            </a:r>
          </a:p>
          <a:p xmlns:a="http://schemas.openxmlformats.org/drawingml/2006/main">
            <a:r>
              <a:t>[ให้ผู้เข้าอบรมหยุดที่บันทึกร่าง]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docs/superpowers/specs/2026-07-24-split-role-training-decks-design.md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ก่อนจบ ขอฝากวิธีตรวจปัญหาเบื้องต้นไว้สี่จุดครับ ดูรอบและรายการ สิทธิ์ของบัญชี สถานะงาน และข้อมูลบังคับรวมถึงลิงก์หลักฐาน ถ้าคะแนนไม่เป็นไปตามที่คิด ให้ย้อนดูน้ำหนัก คะแนนที่ทำได้ และหน่วยก่อน หากยังแก้ไม่ได้ ให้จดชื่อรายการ สถานะ และข้อความที่พบ แล้วแจ้งผู้ดูแลระบบครับ</a:t>
            </a:r>
          </a:p>
          <a:p xmlns:a="http://schemas.openxmlformats.org/drawingml/2006/main">
            <a:r>
              <a:t>[ถามผู้เข้าอบรม] ตอนนี้มีใครติดที่การเลือกกิจกรรม การคำนวณคะแนน หรือการเปิดหลักฐานไหมครับ</a:t>
            </a:r>
          </a:p>
          <a:p xmlns:a="http://schemas.openxmlformats.org/drawingml/2006/main">
            <a:r>
              <a:t>[พูด] ถ้าไม่มีคำถามเพิ่มเติม ขอให้จำไว้ครับ ตรวจงานให้ถูก กรอกข้อมูลให้ครบ และบันทึกร่างก่อนส่งจริง ขอบคุณทุกท่านครับ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resources/views/partials/evaluation-form-action-buttons.blade.php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C:\Users\pisut\Downloads\logoบริษัท.svg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45cff73f0a466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e00b5efa75643c3" /><Relationship Type="http://schemas.openxmlformats.org/officeDocument/2006/relationships/slideLayout" Target="/ppt/slideLayouts/slideLayout1.xml" Id="Rbe318a677f8e43f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e318a677f8e43f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37a266e2c94f96" /><Relationship Type="http://schemas.openxmlformats.org/officeDocument/2006/relationships/image" Target="/ppt/media/image.jpeg" Id="Rfd28a947962e4aa2" /><Relationship Type="http://schemas.openxmlformats.org/officeDocument/2006/relationships/image" Target="/ppt/media/image.png" Id="Rb03719f3d2154348" /><Relationship Type="http://schemas.openxmlformats.org/officeDocument/2006/relationships/image" Target="/ppt/media/image2.png" Id="R3c7b39f88c374072" /><Relationship Type="http://schemas.openxmlformats.org/officeDocument/2006/relationships/notesSlide" Target="/ppt/notesSlides/notesSlide1.xml" Id="R360f341bcd51424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095204456343c5" /><Relationship Type="http://schemas.openxmlformats.org/officeDocument/2006/relationships/notesSlide" Target="/ppt/notesSlides/notesSlide2.xml" Id="R9b6c002c5a6846e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46de3cf7954fcb" /><Relationship Type="http://schemas.openxmlformats.org/officeDocument/2006/relationships/notesSlide" Target="/ppt/notesSlides/notesSlide3.xml" Id="R17bf9a6c34da40c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63edd23fe54dd1" /><Relationship Type="http://schemas.openxmlformats.org/officeDocument/2006/relationships/notesSlide" Target="/ppt/notesSlides/notesSlide4.xml" Id="R6a94c1bcca9d4fb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789788c4144b79" /><Relationship Type="http://schemas.openxmlformats.org/officeDocument/2006/relationships/notesSlide" Target="/ppt/notesSlides/notesSlide5.xml" Id="R695af67d009f4ae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a70f4f40fc4b9e" /><Relationship Type="http://schemas.openxmlformats.org/officeDocument/2006/relationships/notesSlide" Target="/ppt/notesSlides/notesSlide6.xml" Id="Rf3a8bb57b07a451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63a3827ea14298" /><Relationship Type="http://schemas.openxmlformats.org/officeDocument/2006/relationships/notesSlide" Target="/ppt/notesSlides/notesSlide7.xml" Id="R9cacfe96aa3d4bc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474d64eb7b4b88" /><Relationship Type="http://schemas.openxmlformats.org/officeDocument/2006/relationships/notesSlide" Target="/ppt/notesSlides/notesSlide8.xml" Id="R32dd09c8978142b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cffcfeeab84e3d" /><Relationship Type="http://schemas.openxmlformats.org/officeDocument/2006/relationships/notesSlide" Target="/ppt/notesSlides/notesSlide9.xml" Id="Rdcdc99ba9bbe46b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c6d0ce5192440f" /><Relationship Type="http://schemas.openxmlformats.org/officeDocument/2006/relationships/notesSlide" Target="/ppt/notesSlides/notesSlide10.xml" Id="Rfb0facef7cb64a3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586b23ee9f46dc" /><Relationship Type="http://schemas.openxmlformats.org/officeDocument/2006/relationships/notesSlide" Target="/ppt/notesSlides/notesSlide11.xml" Id="R75ece6c4660149b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0c80e2b6704405" /><Relationship Type="http://schemas.openxmlformats.org/officeDocument/2006/relationships/notesSlide" Target="/ppt/notesSlides/notesSlide12.xml" Id="R5881f85fbf65458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1780a07d514597" /><Relationship Type="http://schemas.openxmlformats.org/officeDocument/2006/relationships/notesSlide" Target="/ppt/notesSlides/notesSlide13.xml" Id="R412fdd10bcf046f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5543963add46d8" /><Relationship Type="http://schemas.openxmlformats.org/officeDocument/2006/relationships/notesSlide" Target="/ppt/notesSlides/notesSlide14.xml" Id="Rcb73e8e416c04ab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af64d2a491487c" /><Relationship Type="http://schemas.openxmlformats.org/officeDocument/2006/relationships/notesSlide" Target="/ppt/notesSlides/notesSlide15.xml" Id="R1a51f1015fd6450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519db9e08a4cb6" /><Relationship Type="http://schemas.openxmlformats.org/officeDocument/2006/relationships/notesSlide" Target="/ppt/notesSlides/notesSlide16.xml" Id="R64560e2912884cd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9dc18e38c54444" /><Relationship Type="http://schemas.openxmlformats.org/officeDocument/2006/relationships/notesSlide" Target="/ppt/notesSlides/notesSlide17.xml" Id="Rbeaaf3352c51416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c294eb97144c08" /><Relationship Type="http://schemas.openxmlformats.org/officeDocument/2006/relationships/image" Target="/ppt/media/image3.png" Id="R27089341f3f341ef" /><Relationship Type="http://schemas.openxmlformats.org/officeDocument/2006/relationships/notesSlide" Target="/ppt/notesSlides/notesSlide18.xml" Id="R53203ae50808468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28a947962e4aa2"/>
          <a:srcRect xmlns:a="http://schemas.openxmlformats.org/drawingml/2006/main" l="2579" t="0" r="257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panel">
            <a:extLst xmlns:a="http://schemas.openxmlformats.org/drawingml/2006/main">
              <a:ext uri="{FF2B5EF4-FFF2-40B4-BE49-F238E27FC236}">
                <a16:creationId xmlns:a16="http://schemas.microsoft.com/office/drawing/2014/main" id="{4BD920DD-3FBA-46AA-AFA6-410B13FC3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524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7B3A8A63-4259-4E88-BDCC-6C9864C88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3719f3d2154348"/>
          <a:stretch xmlns:a="http://schemas.openxmlformats.org/drawingml/2006/main"/>
        </p:blipFill>
        <p:spPr>
          <a:xfrm xmlns:a="http://schemas.openxmlformats.org/drawingml/2006/main">
            <a:off x="628650" y="419100"/>
            <a:ext cx="800100" cy="800100"/>
          </a:xfrm>
          <a:prstGeom xmlns:a="http://schemas.openxmlformats.org/drawingml/2006/main" prst="rect">
            <a:avLst/>
          </a:prstGeom>
        </p:spPr>
      </p:pic>
      <p:sp>
        <p:nvSpPr>
          <p:cNvPr id="5" name="cover-institution">
            <a:extLst xmlns:a="http://schemas.openxmlformats.org/drawingml/2006/main">
              <a:ext uri="{FF2B5EF4-FFF2-40B4-BE49-F238E27FC236}">
                <a16:creationId xmlns:a16="http://schemas.microsoft.com/office/drawing/2014/main" id="{CDB00FE0-CF47-4949-9002-D0655C6DD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143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5F2A84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5F2A84"/>
                </a:solidFill>
                <a:latin typeface="Tahoma"/>
                <a:ea typeface="Tahoma"/>
                <a:cs typeface="Tahoma"/>
              </a:rPr>
              <a:t>คณะสาธารณสุขศาสตร์  •  มหาวิทยาลัยมหาสารคาม</a:t>
            </a:r>
          </a:p>
        </p:txBody>
      </p:sp>
      <p:sp>
        <p:nvSpPr>
          <p:cNvPr id="6" name="cover-session">
            <a:extLst xmlns:a="http://schemas.openxmlformats.org/drawingml/2006/main">
              <a:ext uri="{FF2B5EF4-FFF2-40B4-BE49-F238E27FC236}">
                <a16:creationId xmlns:a16="http://schemas.microsoft.com/office/drawing/2014/main" id="{4D83D276-F8C0-4EAB-AE03-582C83F0A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573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ภาคบ่าย</a:t>
            </a:r>
          </a:p>
        </p:txBody>
      </p:sp>
      <p:sp>
        <p:nvSpPr>
          <p:cNvPr id="7" name="cover-title">
            <a:extLst xmlns:a="http://schemas.openxmlformats.org/drawingml/2006/main">
              <a:ext uri="{FF2B5EF4-FFF2-40B4-BE49-F238E27FC236}">
                <a16:creationId xmlns:a16="http://schemas.microsoft.com/office/drawing/2014/main" id="{A470D213-6405-4028-A0EB-03023D6D1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64770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5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5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ระบบประเมินผลการปฏิบัติงานบุคลากร</a:t>
            </a:r>
          </a:p>
        </p:txBody>
      </p:sp>
      <p:sp>
        <p:nvSpPr>
          <p:cNvPr id="8" name="cover-system-short-name">
            <a:extLst xmlns:a="http://schemas.openxmlformats.org/drawingml/2006/main">
              <a:ext uri="{FF2B5EF4-FFF2-40B4-BE49-F238E27FC236}">
                <a16:creationId xmlns:a16="http://schemas.microsoft.com/office/drawing/2014/main" id="{328C5F3D-8462-4234-B733-C1237C76F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14750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(MSU EVA)  •  สายสนับสนุน</a:t>
            </a:r>
          </a:p>
        </p:txBody>
      </p:sp>
      <p:sp>
        <p:nvSpPr>
          <p:cNvPr id="9" name="cover-gold-rule">
            <a:extLst xmlns:a="http://schemas.openxmlformats.org/drawingml/2006/main">
              <a:ext uri="{FF2B5EF4-FFF2-40B4-BE49-F238E27FC236}">
                <a16:creationId xmlns:a16="http://schemas.microsoft.com/office/drawing/2014/main" id="{A2AA34B2-C68C-4970-8246-D749623C2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05300"/>
            <a:ext cx="876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cover-promise">
            <a:extLst xmlns:a="http://schemas.openxmlformats.org/drawingml/2006/main">
              <a:ext uri="{FF2B5EF4-FFF2-40B4-BE49-F238E27FC236}">
                <a16:creationId xmlns:a16="http://schemas.microsoft.com/office/drawing/2014/main" id="{63683B48-4FBD-42AC-83E8-7F1A986EC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0"/>
            <a:ext cx="590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บันทึกกิจกรรม เข้าใจที่มาของคะแนน และแนบหลักฐานให้พร้อมตรวจ</a:t>
            </a:r>
          </a:p>
        </p:txBody>
      </p:sp>
      <p:sp>
        <p:nvSpPr>
          <p:cNvPr id="11" name="cover-style">
            <a:extLst xmlns:a="http://schemas.openxmlformats.org/drawingml/2006/main">
              <a:ext uri="{FF2B5EF4-FFF2-40B4-BE49-F238E27FC236}">
                <a16:creationId xmlns:a16="http://schemas.microsoft.com/office/drawing/2014/main" id="{8CF27664-C6EA-40F1-8652-B777A36C0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0007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1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Professional Training  •  สายสนับสนุน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7b39f88c374072"/>
          <a:stretch xmlns:a="http://schemas.openxmlformats.org/drawingml/2006/main"/>
        </p:blipFill>
        <p:spPr>
          <a:xfrm xmlns:a="http://schemas.openxmlformats.org/drawingml/2006/main">
            <a:off x="9186571" y="5962650"/>
            <a:ext cx="2029408" cy="5524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945374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ide-accent-2">
            <a:extLst xmlns:a="http://schemas.openxmlformats.org/drawingml/2006/main">
              <a:ext uri="{FF2B5EF4-FFF2-40B4-BE49-F238E27FC236}">
                <a16:creationId xmlns:a16="http://schemas.microsoft.com/office/drawing/2014/main" id="{FAFF347C-A37C-40FA-8F79-E27A26A92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2">
            <a:extLst xmlns:a="http://schemas.openxmlformats.org/drawingml/2006/main">
              <a:ext uri="{FF2B5EF4-FFF2-40B4-BE49-F238E27FC236}">
                <a16:creationId xmlns:a16="http://schemas.microsoft.com/office/drawing/2014/main" id="{1E31CBE9-30A5-4D4A-8284-31294D0A6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เป้าหมายการอบรม  /  สายสนับสนุน</a:t>
            </a:r>
          </a:p>
        </p:txBody>
      </p:sp>
      <p:sp>
        <p:nvSpPr>
          <p:cNvPr id="3" name="title-2">
            <a:extLst xmlns:a="http://schemas.openxmlformats.org/drawingml/2006/main">
              <a:ext uri="{FF2B5EF4-FFF2-40B4-BE49-F238E27FC236}">
                <a16:creationId xmlns:a16="http://schemas.microsoft.com/office/drawing/2014/main" id="{0D62D390-9736-4534-A49B-AF0497C0B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ช่วงบ่ายนี้ เราจะทดลองบันทึกกิจกรรมและตรวจคะแนน 1 รายการ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282996-E667-4592-90C0-F41EDC9E9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571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เมื่อจบช่วงนี้ คุณจะทำได้ด้วยตัวเอง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360D5A-452C-4D5E-AEFD-2527005FF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72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069BD4-001E-4289-8518-7C666D111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67652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AA0E8E-8517-49B6-B6F0-322682963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62890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0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0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เปิดงานและเลือกกิจกรรมได้ถูกต้อง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7E81AC-1DA1-42C4-82E4-D1C855E67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72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7F13C5-B633-4C3B-B5B7-8F5728C8C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64807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4B3D64-02A5-406E-BDF4-AF410021E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60045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0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0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กรอกผล คำนวณคะแนน และแนบหลักฐานได้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ABB61B-AEB9-44CA-80EC-C1320402E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72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BF113E-4CCD-423C-9DB7-206973A97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61962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4659D2-51AA-41F7-B1A9-AAAEB1C80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57200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ตรวจความพร้อมก่อนส่งแบบประเมิน</a:t>
            </a:r>
          </a:p>
        </p:txBody>
      </p:sp>
      <p:sp>
        <p:nvSpPr>
          <p:cNvPr id="14" name="outcome-mark">
            <a:extLst xmlns:a="http://schemas.openxmlformats.org/drawingml/2006/main">
              <a:ext uri="{FF2B5EF4-FFF2-40B4-BE49-F238E27FC236}">
                <a16:creationId xmlns:a16="http://schemas.microsoft.com/office/drawing/2014/main" id="{836559AE-B069-4EC8-911C-6808A6FAB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076450"/>
            <a:ext cx="2324100" cy="3295650"/>
          </a:xfrm>
          <a:prstGeom xmlns:a="http://schemas.openxmlformats.org/drawingml/2006/main" prst="roundRect">
            <a:avLst>
              <a:gd name="adj" fmla="val 3279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9525">
            <a:solidFill>
              <a:srgbClr val="008C8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3B2B4F-56E5-4BE0-9068-824FDCF75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324100"/>
            <a:ext cx="17907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0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780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96BFF6-67C2-4F96-A42F-31983A58B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752850"/>
            <a:ext cx="1790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รายการ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พร้อมส่ง</a:t>
            </a:r>
          </a:p>
        </p:txBody>
      </p:sp>
      <p:sp>
        <p:nvSpPr>
          <p:cNvPr id="17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5666037C-5764-44FC-918E-86549D777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footer-label-2">
            <a:extLst xmlns:a="http://schemas.openxmlformats.org/drawingml/2006/main">
              <a:ext uri="{FF2B5EF4-FFF2-40B4-BE49-F238E27FC236}">
                <a16:creationId xmlns:a16="http://schemas.microsoft.com/office/drawing/2014/main" id="{F5920002-7894-4FB2-8FBA-3C7C00E46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19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FF4F9183-0BBD-4E31-95D3-D7226E086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 / 18</a:t>
            </a:r>
          </a:p>
        </p:txBody>
      </p:sp>
    </p:spTree>
    <p:extLst>
      <p:ext uri="{BB962C8B-B14F-4D97-AF65-F5344CB8AC3E}">
        <p14:creationId xmlns:p14="http://schemas.microsoft.com/office/powerpoint/2010/main" val="102756387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side-accent-3">
            <a:extLst xmlns:a="http://schemas.openxmlformats.org/drawingml/2006/main">
              <a:ext uri="{FF2B5EF4-FFF2-40B4-BE49-F238E27FC236}">
                <a16:creationId xmlns:a16="http://schemas.microsoft.com/office/drawing/2014/main" id="{FBBFEEB7-FA01-474B-8D0B-B80EAB800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3">
            <a:extLst xmlns:a="http://schemas.openxmlformats.org/drawingml/2006/main">
              <a:ext uri="{FF2B5EF4-FFF2-40B4-BE49-F238E27FC236}">
                <a16:creationId xmlns:a16="http://schemas.microsoft.com/office/drawing/2014/main" id="{9DCB312A-052E-4AD3-BB20-BA0F27A12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รู้จักระบบ  /  สายสนับสนุน</a:t>
            </a:r>
          </a:p>
        </p:txBody>
      </p:sp>
      <p:sp>
        <p:nvSpPr>
          <p:cNvPr id="3" name="title-3">
            <a:extLst xmlns:a="http://schemas.openxmlformats.org/drawingml/2006/main">
              <a:ext uri="{FF2B5EF4-FFF2-40B4-BE49-F238E27FC236}">
                <a16:creationId xmlns:a16="http://schemas.microsoft.com/office/drawing/2014/main" id="{17C76F05-ED3D-48C5-A81F-B1A1C698A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ระบบช่วยจัดการงานประเมินตั้งแต่เตรียมรอบจนถึงรายงานผล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B96D2E-B317-4AFC-B610-AEC6A9626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ฟังก์ชันหลัก 5 ด้าน เชื่อมต่อกันเป็นกระบวนการเดียว</a:t>
            </a:r>
          </a:p>
        </p:txBody>
      </p:sp>
      <p:sp>
        <p:nvSpPr>
          <p:cNvPr id="5" name="system-function-line">
            <a:extLst xmlns:a="http://schemas.openxmlformats.org/drawingml/2006/main">
              <a:ext uri="{FF2B5EF4-FFF2-40B4-BE49-F238E27FC236}">
                <a16:creationId xmlns:a16="http://schemas.microsoft.com/office/drawing/2014/main" id="{ABE6F67C-6C78-4267-9B94-F5C02D314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467100"/>
            <a:ext cx="87058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228F5A-AC70-4DC3-88F3-E0AB57FD1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B6A1A2-5449-4449-9C20-48E902314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129CD3-DB77-4CF4-85B1-F8C12B5DD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ผู้ใช้และสิทธิ์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B1C34C-F2EB-48F6-A9B5-39AECC9D9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จัดการบัญชีและบทบาท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C23CFC-8362-464D-B3F6-83B43437D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046AEF-1D77-4AE9-89B7-B5B40E4E8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E73D7B-00D5-4510-80FF-F928BDAD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เกณฑ์ประเมิน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422D82-D4A6-4A1C-910A-FE065D037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จัดการแบบและเกณฑ์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BFCBE3-607C-4798-8EC7-A7F4DEA21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B66DCA-72F1-4FD7-8D8A-03C34E4B5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E79EAE-C26A-4E5B-B118-F9AF91684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รอบและงาน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46BA98-AE44-425F-A634-A7DBD2F71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สร้างรอบและมอบหมาย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5983D9-4D3A-4A7D-8C49-9B8BCF154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F0F598-3220-4024-A50A-84BD72490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DC7A92-2F25-4BA4-8233-010368C17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กรอกและประเมิน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6C6C21-38D7-47DF-AD2B-3191462B4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บันทึก ตรวจ และส่งต่อ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F60F6F-4521-4AF6-B22E-3679DA00F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717C3C-D674-4CA1-85DC-E6C2EBC2C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88390F8-2CE0-405F-97E9-3BD21CD9E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ติดตาม/รายงาน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6E74B7-83A5-4E3C-A514-C3E68D765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ติดตามสถานะและส่งออก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AECB81C-3B09-4DCA-968B-C24E4A351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964A36F-D210-40C0-8089-DE445A159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91200"/>
            <a:ext cx="1051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Admin เตรียมระบบและมอบหมายงาน ก่อนผู้ใช้งานเริ่มดำเนินการ</a:t>
            </a:r>
          </a:p>
        </p:txBody>
      </p:sp>
      <p:sp>
        <p:nvSpPr>
          <p:cNvPr id="28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7DB551C0-06F9-49A3-8E46-4A1FD97B1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footer-label-3">
            <a:extLst xmlns:a="http://schemas.openxmlformats.org/drawingml/2006/main">
              <a:ext uri="{FF2B5EF4-FFF2-40B4-BE49-F238E27FC236}">
                <a16:creationId xmlns:a16="http://schemas.microsoft.com/office/drawing/2014/main" id="{058CECFF-B5FB-4684-B9EF-B209D8F7D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30" name="footer-page-3">
            <a:extLst xmlns:a="http://schemas.openxmlformats.org/drawingml/2006/main">
              <a:ext uri="{FF2B5EF4-FFF2-40B4-BE49-F238E27FC236}">
                <a16:creationId xmlns:a16="http://schemas.microsoft.com/office/drawing/2014/main" id="{A0FCB849-153C-42A5-941B-9D274B830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 / 18</a:t>
            </a:r>
          </a:p>
        </p:txBody>
      </p:sp>
    </p:spTree>
    <p:extLst>
      <p:ext uri="{BB962C8B-B14F-4D97-AF65-F5344CB8AC3E}">
        <p14:creationId xmlns:p14="http://schemas.microsoft.com/office/powerpoint/2010/main" val="130694032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side-accent-4">
            <a:extLst xmlns:a="http://schemas.openxmlformats.org/drawingml/2006/main">
              <a:ext uri="{FF2B5EF4-FFF2-40B4-BE49-F238E27FC236}">
                <a16:creationId xmlns:a16="http://schemas.microsoft.com/office/drawing/2014/main" id="{AA472FF9-79F5-465E-88F8-0685A25CC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4">
            <a:extLst xmlns:a="http://schemas.openxmlformats.org/drawingml/2006/main">
              <a:ext uri="{FF2B5EF4-FFF2-40B4-BE49-F238E27FC236}">
                <a16:creationId xmlns:a16="http://schemas.microsoft.com/office/drawing/2014/main" id="{6F7C6190-1749-4FEE-BEC4-DD4734ADF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ผู้ใช้งานระบบ  /  สายสนับสนุน</a:t>
            </a:r>
          </a:p>
        </p:txBody>
      </p:sp>
      <p:sp>
        <p:nvSpPr>
          <p:cNvPr id="3" name="title-4">
            <a:extLst xmlns:a="http://schemas.openxmlformats.org/drawingml/2006/main">
              <a:ext uri="{FF2B5EF4-FFF2-40B4-BE49-F238E27FC236}">
                <a16:creationId xmlns:a16="http://schemas.microsoft.com/office/drawing/2014/main" id="{FDDC8A0B-BF68-49F1-81BB-3A7C1ACF5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ระบบมี 5 บทบาท และแต่ละคนเห็นงานต่างกัน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F36A18-4247-4B0C-A298-613CD354D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4AC0AF-F400-453A-A7D4-AAD3A173B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8288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Admin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17ED35-1E36-4788-86A6-A282EF248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866900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ผู้ใช้ • สิทธิ์ • เกณฑ์ • รอบประเมิน • งาน • ลำดับผู้ประเมิน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D0778E-07EF-4346-ACAC-27F8BEE49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38125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6F7428-8E54-494C-868D-D686653AA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0325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6A2ED6-F39B-4E7B-B091-B7B2D4596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562225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ผู้รับการประเมิน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79467E-7A98-47B1-9AD9-F88BECA3F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600325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กรอกข้อมูล • แนบหลักฐาน • บันทึกร่าง • ส่งแบบประเมิน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0C4D5B-9531-4093-8849-A9DADB6DD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114675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E327C9-01DE-40F9-A74A-62C5EFF6E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3D5DA0-4B5A-4346-95C5-318BE5B1C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29565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E25979-6CB5-4557-A6A6-8DC564D4F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333750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ตรวจข้อมูล • ให้คะแนนหรือความเห็น • ส่งต่องาน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21DFA1-91CD-41E0-931C-25AA8C81F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8481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4F2A61-97AE-4CDA-9D5C-F6B34CDB5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325FC2-4353-4DBF-B070-3EAC3AC82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29075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กรรมการ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DE0325-2702-4440-8E07-C5450AB24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067175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ตรวจและรับรองผลตามขั้นที่ได้รับมอบหมาย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65CF17-9083-4638-8960-DD4907234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581525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C3322E-D4D0-419F-830D-2F1610A2F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219E4CF-CA12-403D-883E-B1FD2D2BB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7625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ผู้บริหาร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0AFF95-CF90-4412-84F0-3638DF98B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800600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ตรวจหรือยืนยันตามลำดับ • ดูรายงานตามสิทธิ์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B8DA5D-7DA2-45F8-822E-4F26A1A69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4756C8-F3DC-4ADC-B5A8-D801F2881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19775"/>
            <a:ext cx="10515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แต่ละรอบอาจใช้ผู้ประเมินไม่ครบทุกบทบาท ให้ยึดลำดับที่ Admin กำหนด</a:t>
            </a:r>
          </a:p>
        </p:txBody>
      </p:sp>
      <p:sp>
        <p:nvSpPr>
          <p:cNvPr id="25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3F498152-BBAC-4019-9E43-83A9D8AD7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footer-label-4">
            <a:extLst xmlns:a="http://schemas.openxmlformats.org/drawingml/2006/main">
              <a:ext uri="{FF2B5EF4-FFF2-40B4-BE49-F238E27FC236}">
                <a16:creationId xmlns:a16="http://schemas.microsoft.com/office/drawing/2014/main" id="{0E5E749E-7244-4225-9F62-E66D09FB1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7" name="footer-page-4">
            <a:extLst xmlns:a="http://schemas.openxmlformats.org/drawingml/2006/main">
              <a:ext uri="{FF2B5EF4-FFF2-40B4-BE49-F238E27FC236}">
                <a16:creationId xmlns:a16="http://schemas.microsoft.com/office/drawing/2014/main" id="{E7CF2CB1-9957-4BA1-9A81-3A83AE46F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04 / 18</a:t>
            </a:r>
          </a:p>
        </p:txBody>
      </p:sp>
    </p:spTree>
    <p:extLst>
      <p:ext uri="{BB962C8B-B14F-4D97-AF65-F5344CB8AC3E}">
        <p14:creationId xmlns:p14="http://schemas.microsoft.com/office/powerpoint/2010/main" val="209954332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side-accent-5">
            <a:extLst xmlns:a="http://schemas.openxmlformats.org/drawingml/2006/main">
              <a:ext uri="{FF2B5EF4-FFF2-40B4-BE49-F238E27FC236}">
                <a16:creationId xmlns:a16="http://schemas.microsoft.com/office/drawing/2014/main" id="{50D8DD8C-5DEC-4D4F-96B9-20023564F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5">
            <a:extLst xmlns:a="http://schemas.openxmlformats.org/drawingml/2006/main">
              <a:ext uri="{FF2B5EF4-FFF2-40B4-BE49-F238E27FC236}">
                <a16:creationId xmlns:a16="http://schemas.microsoft.com/office/drawing/2014/main" id="{AD01D278-1E1A-4CAE-AD52-B446C4ECE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ภาพรวมกระบวนการ  /  สายสนับสนุน</a:t>
            </a:r>
          </a:p>
        </p:txBody>
      </p:sp>
      <p:sp>
        <p:nvSpPr>
          <p:cNvPr id="3" name="title-5">
            <a:extLst xmlns:a="http://schemas.openxmlformats.org/drawingml/2006/main">
              <a:ext uri="{FF2B5EF4-FFF2-40B4-BE49-F238E27FC236}">
                <a16:creationId xmlns:a16="http://schemas.microsoft.com/office/drawing/2014/main" id="{6E7EB246-713B-4358-813B-5DB38FFAD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มาดูขั้นตอนทั้งหมดก่อนเริ่มกรอกข้อมูล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4B014E-64E2-4C87-BF72-C25596571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ตั้งแต่เลือกกิจกรรม กรอกผล ตรวจคะแนน จนถึงผู้ประเมินคนสุดท้าย</a:t>
            </a:r>
          </a:p>
        </p:txBody>
      </p:sp>
      <p:sp>
        <p:nvSpPr>
          <p:cNvPr id="5" name="workflow-line">
            <a:extLst xmlns:a="http://schemas.openxmlformats.org/drawingml/2006/main">
              <a:ext uri="{FF2B5EF4-FFF2-40B4-BE49-F238E27FC236}">
                <a16:creationId xmlns:a16="http://schemas.microsoft.com/office/drawing/2014/main" id="{CD471E77-2926-4462-B3B7-D668B37C8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57575"/>
            <a:ext cx="866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workflow-arrow">
            <a:extLst xmlns:a="http://schemas.openxmlformats.org/drawingml/2006/main">
              <a:ext uri="{FF2B5EF4-FFF2-40B4-BE49-F238E27FC236}">
                <a16:creationId xmlns:a16="http://schemas.microsoft.com/office/drawing/2014/main" id="{C50F2337-73CF-472D-BD19-DD3D1427A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343275"/>
            <a:ext cx="4572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AA66E9-E505-4B8A-AC2F-8E746800A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7C6187-2F4E-4F73-8A01-553AE8488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A33A2B-50C3-4BD0-A80C-A2052D956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รับงาน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C43158-4413-4CB8-BCDD-BB756CDA9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ตรวจรอบและรายการ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3396FC-3F32-4875-9409-BBF76E942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11052E-8271-40A3-880C-C50902500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C2E01D-A0C8-4BCC-A472-2980C3554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กรอกข้อมูล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EF48B6-CCA8-432B-BFC2-47FC7F896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กิจกรรม • ตัวชี้วัด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A9FB9F-AF02-4905-80AB-868E34476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DBDED9-0354-4C32-9356-EE273ED74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A18AC7-BE09-40DD-8EFF-EEC24A567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ตรวจความพร้อม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789A31-87EB-4322-879A-90E40925C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 • หลักฐาน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47887C-5AEB-44CE-A06A-8887645A9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582176-A0A5-4C21-8E47-8952AFCC9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F192A0-CFE5-4B0A-9BF1-9E4BF02FB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ส่งแบบประเมิน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0674B75-82B4-4937-BB1C-A4E36151F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เข้าสู่ลำดับผู้ประเมิน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9D17F7-163C-4A97-AF5B-EBD098668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3C29DC6-E286-4B48-B5A6-1F2F28DBB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E28062A-34BA-45E3-A4D4-B0EDA5611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ปิดงาน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4FAE24E-8D46-4F15-8717-568E7C467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สถานะ Completed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BF819B9-0008-4A50-85B2-1FAD162A0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742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งานเดินตามลำดับผู้ประเมินที่ผู้ดูแลระบบกำหนด</a:t>
            </a:r>
          </a:p>
        </p:txBody>
      </p:sp>
      <p:sp>
        <p:nvSpPr>
          <p:cNvPr id="28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CDC72168-0026-433C-9FC0-3418C16B9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footer-label-5">
            <a:extLst xmlns:a="http://schemas.openxmlformats.org/drawingml/2006/main">
              <a:ext uri="{FF2B5EF4-FFF2-40B4-BE49-F238E27FC236}">
                <a16:creationId xmlns:a16="http://schemas.microsoft.com/office/drawing/2014/main" id="{CD5073D6-0B2C-4508-8894-EE19AEE18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30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92F6D8AF-997C-4B95-9426-FF7ED3EDB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05 / 18</a:t>
            </a:r>
          </a:p>
        </p:txBody>
      </p:sp>
    </p:spTree>
    <p:extLst>
      <p:ext uri="{BB962C8B-B14F-4D97-AF65-F5344CB8AC3E}">
        <p14:creationId xmlns:p14="http://schemas.microsoft.com/office/powerpoint/2010/main" val="185744274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ide-accent-6">
            <a:extLst xmlns:a="http://schemas.openxmlformats.org/drawingml/2006/main">
              <a:ext uri="{FF2B5EF4-FFF2-40B4-BE49-F238E27FC236}">
                <a16:creationId xmlns:a16="http://schemas.microsoft.com/office/drawing/2014/main" id="{2D27267A-F148-44F9-AFED-C77CE076F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6">
            <a:extLst xmlns:a="http://schemas.openxmlformats.org/drawingml/2006/main">
              <a:ext uri="{FF2B5EF4-FFF2-40B4-BE49-F238E27FC236}">
                <a16:creationId xmlns:a16="http://schemas.microsoft.com/office/drawing/2014/main" id="{F5C1D67F-0769-4E69-B640-67AF55294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บทบาทของคุณ  /  สายสนับสนุน</a:t>
            </a:r>
          </a:p>
        </p:txBody>
      </p:sp>
      <p:sp>
        <p:nvSpPr>
          <p:cNvPr id="3" name="title-6">
            <a:extLst xmlns:a="http://schemas.openxmlformats.org/drawingml/2006/main">
              <a:ext uri="{FF2B5EF4-FFF2-40B4-BE49-F238E27FC236}">
                <a16:creationId xmlns:a16="http://schemas.microsoft.com/office/drawing/2014/main" id="{D6159078-8765-479E-BD3D-C5E4B44CD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กรอกผลการดำเนินงานให้ครบ แล้วส่งให้ผู้ประเมิน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8AC566-021D-45D6-9A8E-3FAB118E8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609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875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ผู้รับการประเมินกรอกผลกิจกรรมและแนบหลักฐานให้ครบ เพื่อให้ผู้ประเมินตรวจข้อมูลได้ชัดเจน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E7B8F1-62C7-4A07-BF77-294F1E2C1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9F5D1D-42A2-43A0-B95C-E90654632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เตรียม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E6955A-1F03-40E3-9926-A89442158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3028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80FA90-E348-4EA6-8992-2F1CD9353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กิจกรรม ผลที่ทำได้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และรายละเอียดประกอบ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948735-9EB5-4E51-9561-4F84E36A9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1051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9C3C26-42E5-4EC1-800C-E7D11BC6D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638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86C614-5FBD-45B5-BB87-0688AC41C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191000"/>
            <a:ext cx="3028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E645D2-D3E8-484F-98ED-B8C3D1164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47675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ค่าที่กรอก สูตรคำนวณ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และลิงก์หลักฐาน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974FD9-18FD-4E08-9020-59CB81DC3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051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5CE6AC-462F-4F5B-8931-4EE0A975A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638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ตัดสินใจ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2ABEA6-C73D-4DA4-BDA3-4766F8DB0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191000"/>
            <a:ext cx="3028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F22CEC-97A7-4529-8D16-8B8CE8462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47675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บันทึกร่าง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หรือส่งแบบประเมิน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55DE5A-EB65-4F1D-9992-F2DB90BDE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866900"/>
            <a:ext cx="30099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6B104B-833F-4D18-921C-0CF99E3B6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990725"/>
            <a:ext cx="2476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งานเสร็จเมื่อผู้ประเมิน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ลำดับสุดท้ายยืนยันผล</a:t>
            </a:r>
          </a:p>
        </p:txBody>
      </p:sp>
      <p:sp>
        <p:nvSpPr>
          <p:cNvPr id="19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7C2A3F7A-B4AD-41B8-89DD-B8F23AD0B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ooter-label-6">
            <a:extLst xmlns:a="http://schemas.openxmlformats.org/drawingml/2006/main">
              <a:ext uri="{FF2B5EF4-FFF2-40B4-BE49-F238E27FC236}">
                <a16:creationId xmlns:a16="http://schemas.microsoft.com/office/drawing/2014/main" id="{B48654E5-A69B-4FAB-A4FD-054BEFEE9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1" name="footer-page-6">
            <a:extLst xmlns:a="http://schemas.openxmlformats.org/drawingml/2006/main">
              <a:ext uri="{FF2B5EF4-FFF2-40B4-BE49-F238E27FC236}">
                <a16:creationId xmlns:a16="http://schemas.microsoft.com/office/drawing/2014/main" id="{8DAA9D32-7B0A-4037-B4A7-6FCFAEDD9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06 / 18</a:t>
            </a:r>
          </a:p>
        </p:txBody>
      </p:sp>
    </p:spTree>
    <p:extLst>
      <p:ext uri="{BB962C8B-B14F-4D97-AF65-F5344CB8AC3E}">
        <p14:creationId xmlns:p14="http://schemas.microsoft.com/office/powerpoint/2010/main" val="125319646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side-accent-7">
            <a:extLst xmlns:a="http://schemas.openxmlformats.org/drawingml/2006/main">
              <a:ext uri="{FF2B5EF4-FFF2-40B4-BE49-F238E27FC236}">
                <a16:creationId xmlns:a16="http://schemas.microsoft.com/office/drawing/2014/main" id="{ECD74EB9-E3B3-4C12-9FA3-66BB9F228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7">
            <a:extLst xmlns:a="http://schemas.openxmlformats.org/drawingml/2006/main">
              <a:ext uri="{FF2B5EF4-FFF2-40B4-BE49-F238E27FC236}">
                <a16:creationId xmlns:a16="http://schemas.microsoft.com/office/drawing/2014/main" id="{B757731A-4062-43C3-82F7-8516C0DF7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จุดเริ่มต้น  /  สายสนับสนุน</a:t>
            </a:r>
          </a:p>
        </p:txBody>
      </p:sp>
      <p:sp>
        <p:nvSpPr>
          <p:cNvPr id="3" name="title-7">
            <a:extLst xmlns:a="http://schemas.openxmlformats.org/drawingml/2006/main">
              <a:ext uri="{FF2B5EF4-FFF2-40B4-BE49-F238E27FC236}">
                <a16:creationId xmlns:a16="http://schemas.microsoft.com/office/drawing/2014/main" id="{B9A32FB4-E020-47AE-844F-A6508AFD7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ตรวจสอบรอบประเมินและรายการที่ได้รับมอบหมาย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9F41BA-F28A-4221-907A-EB9A59719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ก่อนเปิดงาน ให้ตรวจ 3 อย่างนี้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AE2145-071D-4EAF-BC7A-0981AB9B8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2DFC4B-757F-47D5-B352-009934CDD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F58407-7AFB-4601-B90F-27BAA7EB3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6289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รอบประเมิน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CA72C7-486F-4891-AC4A-DE0C52F25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6670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ผู้ดูแลระบบกำหนดไว้ถูกต้อง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7BE122-35B6-4CD6-A9EB-028728985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665040-43DC-443A-92E7-7E783F7E9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050EEE-3014-44C3-A141-8EA36C073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6957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รายการงาน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E89D19-5171-40E3-ABE6-01B736871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7338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เป็นงานของคุณและตรงประเภท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0998D1-E200-4154-A31A-1F1DC09B6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8ED00E-7149-4416-B80D-15E8A73A0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6727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0DEB65-C33F-45CF-ADAB-2E5781630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7625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สถานะ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A03487-CB54-45C5-8485-6110C2FCF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8006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ยังอยู่ในขั้นที่คุณดำเนินการได้</a:t>
            </a:r>
          </a:p>
        </p:txBody>
      </p:sp>
      <p:sp>
        <p:nvSpPr>
          <p:cNvPr id="17" name="dashboard-preview">
            <a:extLst xmlns:a="http://schemas.openxmlformats.org/drawingml/2006/main">
              <a:ext uri="{FF2B5EF4-FFF2-40B4-BE49-F238E27FC236}">
                <a16:creationId xmlns:a16="http://schemas.microsoft.com/office/drawing/2014/main" id="{6CF712E3-A53C-4D17-B286-16F3815C9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09800"/>
            <a:ext cx="3124200" cy="3352800"/>
          </a:xfrm>
          <a:prstGeom xmlns:a="http://schemas.openxmlformats.org/drawingml/2006/main" prst="roundRect">
            <a:avLst>
              <a:gd name="adj" fmla="val 24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534F2E-95F5-43E2-8D39-583139436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495550"/>
            <a:ext cx="2514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9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แดชบอร์ดของฉัน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B2BE68-ABEE-481A-9FEF-EB8E0DDE2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05150"/>
            <a:ext cx="2514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178FFF-A641-41BB-A991-95B14760E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209925"/>
            <a:ext cx="2171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สายสนับสนุน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DBC6BF-806A-4B48-ABA4-873D5C74C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752850"/>
            <a:ext cx="1943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A42C74-156A-4AE9-9BA1-0DC4A6D8E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114800"/>
            <a:ext cx="2266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F868AD-2002-4088-8C54-1524687F8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705350"/>
            <a:ext cx="15430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355C58-C0CD-4B51-A549-B3C62ACC2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82917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เปิดรายการ</a:t>
            </a:r>
          </a:p>
        </p:txBody>
      </p:sp>
      <p:sp>
        <p:nvSpPr>
          <p:cNvPr id="25" name="footer-rule-7">
            <a:extLst xmlns:a="http://schemas.openxmlformats.org/drawingml/2006/main">
              <a:ext uri="{FF2B5EF4-FFF2-40B4-BE49-F238E27FC236}">
                <a16:creationId xmlns:a16="http://schemas.microsoft.com/office/drawing/2014/main" id="{570732CA-F8C2-4ADB-A9A7-98F037F7C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footer-label-7">
            <a:extLst xmlns:a="http://schemas.openxmlformats.org/drawingml/2006/main">
              <a:ext uri="{FF2B5EF4-FFF2-40B4-BE49-F238E27FC236}">
                <a16:creationId xmlns:a16="http://schemas.microsoft.com/office/drawing/2014/main" id="{9EA9DBF6-58E8-4755-9BBD-6AAD183DC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7" name="footer-page-7">
            <a:extLst xmlns:a="http://schemas.openxmlformats.org/drawingml/2006/main">
              <a:ext uri="{FF2B5EF4-FFF2-40B4-BE49-F238E27FC236}">
                <a16:creationId xmlns:a16="http://schemas.microsoft.com/office/drawing/2014/main" id="{DF7A09F1-652E-47B1-B89E-858085AAF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07 / 18</a:t>
            </a:r>
          </a:p>
        </p:txBody>
      </p:sp>
    </p:spTree>
    <p:extLst>
      <p:ext uri="{BB962C8B-B14F-4D97-AF65-F5344CB8AC3E}">
        <p14:creationId xmlns:p14="http://schemas.microsoft.com/office/powerpoint/2010/main" val="48161086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side-accent-8">
            <a:extLst xmlns:a="http://schemas.openxmlformats.org/drawingml/2006/main">
              <a:ext uri="{FF2B5EF4-FFF2-40B4-BE49-F238E27FC236}">
                <a16:creationId xmlns:a16="http://schemas.microsoft.com/office/drawing/2014/main" id="{9C53FF99-180A-44BA-93A5-15B9275B1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8">
            <a:extLst xmlns:a="http://schemas.openxmlformats.org/drawingml/2006/main">
              <a:ext uri="{FF2B5EF4-FFF2-40B4-BE49-F238E27FC236}">
                <a16:creationId xmlns:a16="http://schemas.microsoft.com/office/drawing/2014/main" id="{5652303E-E516-4622-82A4-EC8AC08EF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โครงสร้างข้อมูล  /  สายสนับสนุน</a:t>
            </a:r>
          </a:p>
        </p:txBody>
      </p:sp>
      <p:sp>
        <p:nvSpPr>
          <p:cNvPr id="3" name="title-8">
            <a:extLst xmlns:a="http://schemas.openxmlformats.org/drawingml/2006/main">
              <a:ext uri="{FF2B5EF4-FFF2-40B4-BE49-F238E27FC236}">
                <a16:creationId xmlns:a16="http://schemas.microsoft.com/office/drawing/2014/main" id="{9EE61D20-948C-4718-ACF5-BD91C363D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ตรวจให้แน่ใจว่าโครงการ กิจกรรม ตัวชี้วัด และหลักฐานตรงกัน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350BE6-286B-496B-97C7-A0E5E00FE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685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ตรวจความเชื่อมโยงของข้อมูลทุกส่วน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95D84E-5075-479A-BC20-351A3C93F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505200"/>
            <a:ext cx="7696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2A8EFF-1770-4E3F-815F-FE43D4FFB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CD17D2-ACA5-4672-BC39-D189CCF03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64CB94-3326-4AFF-BFF9-DD6B8A153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โครงการ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AE9D68-BC15-41F8-A1FA-476116CB1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บริบทและเป้าหมาย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E6BDC8-A7BE-42D7-B68E-8D19841D2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3B9018-DD28-412B-B47B-D1FDDABB2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ADEE15-1F5E-4EA8-BA2C-B5BBD564C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กิจกรรม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3937B6-E29A-4B18-994D-EFBB04ECC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งานที่ดำเนินการ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77674F-585B-4EA5-8F75-FCCF05A51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00CAAC-BEFF-4B08-B82A-74F4F8CC6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B149C0-3685-4B96-8723-DCA03CD24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ตัวชี้วัด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D65DA2-2199-4812-AD8B-78FDC9FB7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เกณฑ์ที่ใช้วัดผล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592BD9-45C9-44F4-A6C6-38B6FDA24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765997-8B9B-49EC-BB78-6CF86FC63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8815E4-26D0-4EC1-84CF-79B03723C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หลักฐาน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086895-BBAB-4204-B3CC-02C81651D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สิ่งที่ยืนยันผล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5E9E0C5-AFEC-4C02-8B36-915177EE7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ทุกคะแนนต้องย้อนกลับไปอธิบายได้ว่าเกิดจากกิจกรรมใด</a:t>
            </a:r>
          </a:p>
        </p:txBody>
      </p:sp>
      <p:sp>
        <p:nvSpPr>
          <p:cNvPr id="23" name="footer-rule-8">
            <a:extLst xmlns:a="http://schemas.openxmlformats.org/drawingml/2006/main">
              <a:ext uri="{FF2B5EF4-FFF2-40B4-BE49-F238E27FC236}">
                <a16:creationId xmlns:a16="http://schemas.microsoft.com/office/drawing/2014/main" id="{3546F610-A646-4DF7-8F9E-7EBF5CBD3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footer-label-8">
            <a:extLst xmlns:a="http://schemas.openxmlformats.org/drawingml/2006/main">
              <a:ext uri="{FF2B5EF4-FFF2-40B4-BE49-F238E27FC236}">
                <a16:creationId xmlns:a16="http://schemas.microsoft.com/office/drawing/2014/main" id="{CD0AB27D-8675-436E-AC09-1E27148DF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5" name="footer-page-8">
            <a:extLst xmlns:a="http://schemas.openxmlformats.org/drawingml/2006/main">
              <a:ext uri="{FF2B5EF4-FFF2-40B4-BE49-F238E27FC236}">
                <a16:creationId xmlns:a16="http://schemas.microsoft.com/office/drawing/2014/main" id="{AD60CFFE-44E3-45B7-AD16-1B079ADD2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08 / 18</a:t>
            </a:r>
          </a:p>
        </p:txBody>
      </p:sp>
    </p:spTree>
    <p:extLst>
      <p:ext uri="{BB962C8B-B14F-4D97-AF65-F5344CB8AC3E}">
        <p14:creationId xmlns:p14="http://schemas.microsoft.com/office/powerpoint/2010/main" val="129469010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ide-accent-9">
            <a:extLst xmlns:a="http://schemas.openxmlformats.org/drawingml/2006/main">
              <a:ext uri="{FF2B5EF4-FFF2-40B4-BE49-F238E27FC236}">
                <a16:creationId xmlns:a16="http://schemas.microsoft.com/office/drawing/2014/main" id="{49EFA9A9-B934-46B0-B598-15E1F659E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9">
            <a:extLst xmlns:a="http://schemas.openxmlformats.org/drawingml/2006/main">
              <a:ext uri="{FF2B5EF4-FFF2-40B4-BE49-F238E27FC236}">
                <a16:creationId xmlns:a16="http://schemas.microsoft.com/office/drawing/2014/main" id="{6194C4D0-998B-4950-8B3D-988D474E7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บันทึกผลกิจกรรม  /  สายสนับสนุน</a:t>
            </a:r>
          </a:p>
        </p:txBody>
      </p:sp>
      <p:sp>
        <p:nvSpPr>
          <p:cNvPr id="3" name="title-9">
            <a:extLst xmlns:a="http://schemas.openxmlformats.org/drawingml/2006/main">
              <a:ext uri="{FF2B5EF4-FFF2-40B4-BE49-F238E27FC236}">
                <a16:creationId xmlns:a16="http://schemas.microsoft.com/office/drawing/2014/main" id="{CEF35647-B091-4480-9F67-D318E18A4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กรอกเป้าหมาย ผลที่ทำได้ และรายละเอียดกิจกรรมให้ครบ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380D38-41DF-407F-B0D7-9D211919F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685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 3 ส่วนนี้ทำให้คะแนนมีที่มา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B728B5-DD6F-4C70-AF36-1B1E2AE02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3124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026531-5479-4338-8832-F6EA5C7D0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เป้าหมาย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2661E3-2A40-433B-B3D8-7AD1305A9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สิ่งที่เกณฑ์คาดหวัง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65E273-C92E-4A80-A24A-F1A1ADD47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3124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กำหนดจุดอ้างอิง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880F6C-5087-4E87-985B-00B164272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724150"/>
            <a:ext cx="3124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91A775-EC6E-4119-A722-100AB0942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105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ผลที่ทำได้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B2C8C9-3DC2-4A6C-8881-81E8C756F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8290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ค่าหรือระดับผลงานจริง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D65AEB-0C13-4983-90D7-4A01C9C54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667250"/>
            <a:ext cx="3124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ใช้คำนวณคะแนน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82A9DC-722B-492A-B572-0EA4FB3EB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724150"/>
            <a:ext cx="3124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89E5B5-EC9A-496D-AF22-C8BEE9853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05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รายละเอียดกิจกรรม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061172-9CDC-4DBA-A8B8-DED62FCB7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8290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อธิบายงานที่เกิดขึ้น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D589D3-93DB-45CC-BE73-755969912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667250"/>
            <a:ext cx="3124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เชื่อมกับหลักฐาน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FF342F-19E2-4A7E-9AD3-CC8DA831D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904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หากเกณฑ์อนุญาต คุณสามารถเพิ่มรายการกิจกรรม/โครงการได้</a:t>
            </a:r>
          </a:p>
        </p:txBody>
      </p:sp>
      <p:sp>
        <p:nvSpPr>
          <p:cNvPr id="18" name="footer-rule-9">
            <a:extLst xmlns:a="http://schemas.openxmlformats.org/drawingml/2006/main">
              <a:ext uri="{FF2B5EF4-FFF2-40B4-BE49-F238E27FC236}">
                <a16:creationId xmlns:a16="http://schemas.microsoft.com/office/drawing/2014/main" id="{A4FEB40B-5786-40A3-8702-D98714EC8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footer-label-9">
            <a:extLst xmlns:a="http://schemas.openxmlformats.org/drawingml/2006/main">
              <a:ext uri="{FF2B5EF4-FFF2-40B4-BE49-F238E27FC236}">
                <a16:creationId xmlns:a16="http://schemas.microsoft.com/office/drawing/2014/main" id="{933F7BDE-ADA4-4E56-814E-2193627A0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0" name="footer-page-9">
            <a:extLst xmlns:a="http://schemas.openxmlformats.org/drawingml/2006/main">
              <a:ext uri="{FF2B5EF4-FFF2-40B4-BE49-F238E27FC236}">
                <a16:creationId xmlns:a16="http://schemas.microsoft.com/office/drawing/2014/main" id="{04A02B82-9D23-4B99-8BFA-A167D7F20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09 / 18</a:t>
            </a:r>
          </a:p>
        </p:txBody>
      </p:sp>
    </p:spTree>
    <p:extLst>
      <p:ext uri="{BB962C8B-B14F-4D97-AF65-F5344CB8AC3E}">
        <p14:creationId xmlns:p14="http://schemas.microsoft.com/office/powerpoint/2010/main" val="144621671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ide-accent-10">
            <a:extLst xmlns:a="http://schemas.openxmlformats.org/drawingml/2006/main">
              <a:ext uri="{FF2B5EF4-FFF2-40B4-BE49-F238E27FC236}">
                <a16:creationId xmlns:a16="http://schemas.microsoft.com/office/drawing/2014/main" id="{ECC15DAA-BC26-4F82-B8CA-A07EFD9F2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0">
            <a:extLst xmlns:a="http://schemas.openxmlformats.org/drawingml/2006/main">
              <a:ext uri="{FF2B5EF4-FFF2-40B4-BE49-F238E27FC236}">
                <a16:creationId xmlns:a16="http://schemas.microsoft.com/office/drawing/2014/main" id="{6C46BE26-632F-4F45-97A1-061D0A56D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สูตรคะแนน  /  สายสนับสนุน</a:t>
            </a:r>
          </a:p>
        </p:txBody>
      </p:sp>
      <p:sp>
        <p:nvSpPr>
          <p:cNvPr id="3" name="title-10">
            <a:extLst xmlns:a="http://schemas.openxmlformats.org/drawingml/2006/main">
              <a:ext uri="{FF2B5EF4-FFF2-40B4-BE49-F238E27FC236}">
                <a16:creationId xmlns:a16="http://schemas.microsoft.com/office/drawing/2014/main" id="{57684424-75BB-498F-9044-578768DB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ระบบคำนวณคะแนนถ่วงน้ำหนักจากน้ำหนักและคะแนนที่ทำได้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0072D3-DAB5-4041-8242-3B0BC62EC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4857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24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คะแนนถ่วงน้ำหนัก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105AF9-41A9-4638-BCB6-4AA2CDA05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33700"/>
            <a:ext cx="723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90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390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=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72F7D2-65D0-472D-8724-C4A1E3211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95550"/>
            <a:ext cx="20002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8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8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น้ำหนัก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BF2620-8B84-4E6C-8FF5-509E52A2C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933700"/>
            <a:ext cx="552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7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37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×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7F8ECC-54D3-41E4-BDAC-14725692C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495550"/>
            <a:ext cx="24955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9525">
            <a:solidFill>
              <a:srgbClr val="008C86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5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5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คะแนนที่ทำได้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A7C6C4-F54C-485B-BD90-6CD5D7992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943350"/>
            <a:ext cx="5276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2E3C8A-60F5-4758-A122-15DF4786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171950"/>
            <a:ext cx="5276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1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1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100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C744E1-E87A-47DB-B5AC-138968E5E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895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คะแนนถ่วงน้ำหนัก = น้ำหนัก × คะแนนที่ทำได้ ÷ 100</a:t>
            </a:r>
          </a:p>
        </p:txBody>
      </p:sp>
      <p:sp>
        <p:nvSpPr>
          <p:cNvPr id="12" name="footer-rule-10">
            <a:extLst xmlns:a="http://schemas.openxmlformats.org/drawingml/2006/main">
              <a:ext uri="{FF2B5EF4-FFF2-40B4-BE49-F238E27FC236}">
                <a16:creationId xmlns:a16="http://schemas.microsoft.com/office/drawing/2014/main" id="{B6781F43-E0B7-4D5B-867B-46C1F5591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footer-label-10">
            <a:extLst xmlns:a="http://schemas.openxmlformats.org/drawingml/2006/main">
              <a:ext uri="{FF2B5EF4-FFF2-40B4-BE49-F238E27FC236}">
                <a16:creationId xmlns:a16="http://schemas.microsoft.com/office/drawing/2014/main" id="{A56B2616-7AB8-4D51-AD3F-1D03D05DE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14" name="footer-page-10">
            <a:extLst xmlns:a="http://schemas.openxmlformats.org/drawingml/2006/main">
              <a:ext uri="{FF2B5EF4-FFF2-40B4-BE49-F238E27FC236}">
                <a16:creationId xmlns:a16="http://schemas.microsoft.com/office/drawing/2014/main" id="{3BA9AC52-F897-4315-AD0E-F7365ADAD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10 / 18</a:t>
            </a:r>
          </a:p>
        </p:txBody>
      </p:sp>
    </p:spTree>
    <p:extLst>
      <p:ext uri="{BB962C8B-B14F-4D97-AF65-F5344CB8AC3E}">
        <p14:creationId xmlns:p14="http://schemas.microsoft.com/office/powerpoint/2010/main" val="64383065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ide-accent-11">
            <a:extLst xmlns:a="http://schemas.openxmlformats.org/drawingml/2006/main">
              <a:ext uri="{FF2B5EF4-FFF2-40B4-BE49-F238E27FC236}">
                <a16:creationId xmlns:a16="http://schemas.microsoft.com/office/drawing/2014/main" id="{C6FE2ADD-BCCF-4215-9585-13892F07A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1">
            <a:extLst xmlns:a="http://schemas.openxmlformats.org/drawingml/2006/main">
              <a:ext uri="{FF2B5EF4-FFF2-40B4-BE49-F238E27FC236}">
                <a16:creationId xmlns:a16="http://schemas.microsoft.com/office/drawing/2014/main" id="{6646C9F8-CFDB-4810-8A24-95FCB6EF8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ตัวอย่างคำนวณ  /  สายสนับสนุน</a:t>
            </a:r>
          </a:p>
        </p:txBody>
      </p:sp>
      <p:sp>
        <p:nvSpPr>
          <p:cNvPr id="3" name="title-11">
            <a:extLst xmlns:a="http://schemas.openxmlformats.org/drawingml/2006/main">
              <a:ext uri="{FF2B5EF4-FFF2-40B4-BE49-F238E27FC236}">
                <a16:creationId xmlns:a16="http://schemas.microsoft.com/office/drawing/2014/main" id="{62DBD3FE-F247-4A6E-ADD0-91D508A06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ลองคำนวณคะแนนจากตัวอย่างนี้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63A6B1-D4D4-4BCB-AC36-D030B1643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3143250" cy="234315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A19726-4AF9-4498-BA3B-384C61A40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47950"/>
            <a:ext cx="26860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5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55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D42A3A-5780-45A6-9643-5AC7089C6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05250"/>
            <a:ext cx="2686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น้ำหนัก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9031FA-97A2-496B-AA81-99E6408B2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400300"/>
            <a:ext cx="3143250" cy="234315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A622B8-AEDE-4379-8AF2-36FBD2C1F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647950"/>
            <a:ext cx="26860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5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55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80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4ECE9B-7755-415C-8C6D-558674DDD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905250"/>
            <a:ext cx="2686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คะแนนที่ทำได้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A6950B-5C53-482F-B84D-237AEC2AD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400300"/>
            <a:ext cx="3143250" cy="234315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9525">
            <a:solidFill>
              <a:srgbClr val="008C8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5D492F-A3A0-48CA-8D93-E76399B0A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647950"/>
            <a:ext cx="26860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55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555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16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BF5876-80AA-40B1-BD24-6E122BDF4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905250"/>
            <a:ext cx="2686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คะแนนถ่วงน้ำหนัก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16B852-05DF-41C2-87B0-E6C2F8292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7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27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20 × 80 ÷ 100 = 16 คะแนน</a:t>
            </a:r>
          </a:p>
        </p:txBody>
      </p:sp>
      <p:sp>
        <p:nvSpPr>
          <p:cNvPr id="14" name="footer-rule-11">
            <a:extLst xmlns:a="http://schemas.openxmlformats.org/drawingml/2006/main">
              <a:ext uri="{FF2B5EF4-FFF2-40B4-BE49-F238E27FC236}">
                <a16:creationId xmlns:a16="http://schemas.microsoft.com/office/drawing/2014/main" id="{141E528E-0305-480A-992F-E870D36EC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footer-label-11">
            <a:extLst xmlns:a="http://schemas.openxmlformats.org/drawingml/2006/main">
              <a:ext uri="{FF2B5EF4-FFF2-40B4-BE49-F238E27FC236}">
                <a16:creationId xmlns:a16="http://schemas.microsoft.com/office/drawing/2014/main" id="{5F1664D3-D0C6-4284-9831-38FBA0D92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16" name="footer-page-11">
            <a:extLst xmlns:a="http://schemas.openxmlformats.org/drawingml/2006/main">
              <a:ext uri="{FF2B5EF4-FFF2-40B4-BE49-F238E27FC236}">
                <a16:creationId xmlns:a16="http://schemas.microsoft.com/office/drawing/2014/main" id="{D474736A-7F96-456F-B5AA-AAA5B1F51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11 / 18</a:t>
            </a:r>
          </a:p>
        </p:txBody>
      </p:sp>
    </p:spTree>
    <p:extLst>
      <p:ext uri="{BB962C8B-B14F-4D97-AF65-F5344CB8AC3E}">
        <p14:creationId xmlns:p14="http://schemas.microsoft.com/office/powerpoint/2010/main" val="199154945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ide-accent-12">
            <a:extLst xmlns:a="http://schemas.openxmlformats.org/drawingml/2006/main">
              <a:ext uri="{FF2B5EF4-FFF2-40B4-BE49-F238E27FC236}">
                <a16:creationId xmlns:a16="http://schemas.microsoft.com/office/drawing/2014/main" id="{C91476FB-FA2F-4FBF-B2ED-33D0EF914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2">
            <a:extLst xmlns:a="http://schemas.openxmlformats.org/drawingml/2006/main">
              <a:ext uri="{FF2B5EF4-FFF2-40B4-BE49-F238E27FC236}">
                <a16:creationId xmlns:a16="http://schemas.microsoft.com/office/drawing/2014/main" id="{210CFF02-26D5-4835-A415-441868283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หลักฐาน  /  สายสนับสนุน</a:t>
            </a:r>
          </a:p>
        </p:txBody>
      </p:sp>
      <p:sp>
        <p:nvSpPr>
          <p:cNvPr id="3" name="title-12">
            <a:extLst xmlns:a="http://schemas.openxmlformats.org/drawingml/2006/main">
              <a:ext uri="{FF2B5EF4-FFF2-40B4-BE49-F238E27FC236}">
                <a16:creationId xmlns:a16="http://schemas.microsoft.com/office/drawing/2014/main" id="{3047B1C0-EA38-4CA5-8A97-418F8BBDD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แนบหลักฐานที่เปิดดูได้และตรงกับกิจกรรม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54FDC5-2B82-418F-8723-13AF12E09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8477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ผู้ประเมินควรเห็นได้ทันทีว่าหลักฐานรองรับกิจกรรมใด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8F16EC-83F1-408A-9357-5DDF1AD1D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7A29BE-ECDB-45C9-9BD6-B78B21CF1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4797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986859-A9FC-43B3-8A80-4E7A8EAF5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622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เปิดได้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CF8EDF-B429-4FE3-9C19-96AC70DC4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8130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ใช้ลิงก์ http/https ที่เข้าถึงได้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ECB252-25E0-4D4D-A516-7317E0226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B126F1-F5C7-4976-9F7B-BBFF2F862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27BE5E-2E86-4513-9E0A-B3FC17C09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957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ตรงรายการ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922729-5056-4771-99B1-4369FFD8E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1475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เห็นความเชื่อมโยงกับกิจกรรมหรือโครงการ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4EE4A2-EB0F-4751-9825-58A0610BC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48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3B132D-4811-4895-B7A0-07827C4CD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FB6F9B-8761-47FA-A5B8-5293CBEE7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6291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ระบุตัวตนได้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1D88B3-7637-4890-B85A-91B4CB430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64820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ตั้งชื่อไฟล์หรือเอกสารให้เข้าใจง่าย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F33614-F2B1-48F2-B285-94713268D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124450"/>
            <a:ext cx="35242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9525">
            <a:solidFill>
              <a:srgbClr val="008C8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641499-6E42-44D2-8D4F-A78B16434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219700"/>
            <a:ext cx="3028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รายการที่บังคับหลักฐาน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ต้องมีลิงก์ก่อนส่ง</a:t>
            </a:r>
          </a:p>
        </p:txBody>
      </p:sp>
      <p:sp>
        <p:nvSpPr>
          <p:cNvPr id="19" name="footer-rule-12">
            <a:extLst xmlns:a="http://schemas.openxmlformats.org/drawingml/2006/main">
              <a:ext uri="{FF2B5EF4-FFF2-40B4-BE49-F238E27FC236}">
                <a16:creationId xmlns:a16="http://schemas.microsoft.com/office/drawing/2014/main" id="{A728D128-E765-4656-B449-32A5665DF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ooter-label-12">
            <a:extLst xmlns:a="http://schemas.openxmlformats.org/drawingml/2006/main">
              <a:ext uri="{FF2B5EF4-FFF2-40B4-BE49-F238E27FC236}">
                <a16:creationId xmlns:a16="http://schemas.microsoft.com/office/drawing/2014/main" id="{4CBE9AC4-27E3-4B51-BFEE-0ACF5261E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1" name="footer-page-12">
            <a:extLst xmlns:a="http://schemas.openxmlformats.org/drawingml/2006/main">
              <a:ext uri="{FF2B5EF4-FFF2-40B4-BE49-F238E27FC236}">
                <a16:creationId xmlns:a16="http://schemas.microsoft.com/office/drawing/2014/main" id="{83D4F62A-C816-4123-AE9A-4B28F1A34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12 / 18</a:t>
            </a:r>
          </a:p>
        </p:txBody>
      </p:sp>
    </p:spTree>
    <p:extLst>
      <p:ext uri="{BB962C8B-B14F-4D97-AF65-F5344CB8AC3E}">
        <p14:creationId xmlns:p14="http://schemas.microsoft.com/office/powerpoint/2010/main" val="71714354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ide-accent-13">
            <a:extLst xmlns:a="http://schemas.openxmlformats.org/drawingml/2006/main">
              <a:ext uri="{FF2B5EF4-FFF2-40B4-BE49-F238E27FC236}">
                <a16:creationId xmlns:a16="http://schemas.microsoft.com/office/drawing/2014/main" id="{EF7A3AC6-DB05-4C72-ADAE-8F0BBE2B4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3">
            <a:extLst xmlns:a="http://schemas.openxmlformats.org/drawingml/2006/main">
              <a:ext uri="{FF2B5EF4-FFF2-40B4-BE49-F238E27FC236}">
                <a16:creationId xmlns:a16="http://schemas.microsoft.com/office/drawing/2014/main" id="{ECB06AC3-19F0-4A88-89F1-A1244EA3B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ก่อนกดปุ่ม  /  สายสนับสนุน</a:t>
            </a:r>
          </a:p>
        </p:txBody>
      </p:sp>
      <p:sp>
        <p:nvSpPr>
          <p:cNvPr id="3" name="title-13">
            <a:extLst xmlns:a="http://schemas.openxmlformats.org/drawingml/2006/main">
              <a:ext uri="{FF2B5EF4-FFF2-40B4-BE49-F238E27FC236}">
                <a16:creationId xmlns:a16="http://schemas.microsoft.com/office/drawing/2014/main" id="{A023E77C-315F-44FF-8D86-A37EF2603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หากข้อมูลยังไม่ครบ ให้บันทึกร่างไว้ก่อน</a:t>
            </a:r>
          </a:p>
        </p:txBody>
      </p:sp>
      <p:sp>
        <p:nvSpPr>
          <p:cNvPr id="4" name="draft-panel">
            <a:extLst xmlns:a="http://schemas.openxmlformats.org/drawingml/2006/main">
              <a:ext uri="{FF2B5EF4-FFF2-40B4-BE49-F238E27FC236}">
                <a16:creationId xmlns:a16="http://schemas.microsoft.com/office/drawing/2014/main" id="{562E9938-9DD4-4D4C-A229-CD4D80372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4953000" cy="2914650"/>
          </a:xfrm>
          <a:prstGeom xmlns:a="http://schemas.openxmlformats.org/drawingml/2006/main" prst="roundRect">
            <a:avLst>
              <a:gd name="adj" fmla="val 26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BA4FA0-D858-4CC0-B74E-F1DBB3721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86050"/>
            <a:ext cx="4191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7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บันทึกร่าง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D6B41D-D0AF-4C1F-B4AD-5C7463A68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486150"/>
            <a:ext cx="40386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กลับมาแก้ไขได้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เหมาะเมื่อข้อมูลยังไม่ครบ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งานยังไม่ส่งให้ผู้ประเมิน</a:t>
            </a:r>
          </a:p>
        </p:txBody>
      </p:sp>
      <p:sp>
        <p:nvSpPr>
          <p:cNvPr id="7" name="submit-panel">
            <a:extLst xmlns:a="http://schemas.openxmlformats.org/drawingml/2006/main">
              <a:ext uri="{FF2B5EF4-FFF2-40B4-BE49-F238E27FC236}">
                <a16:creationId xmlns:a16="http://schemas.microsoft.com/office/drawing/2014/main" id="{823D8B1F-F849-4F7E-BD78-53BB859AA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343150"/>
            <a:ext cx="5562600" cy="2914650"/>
          </a:xfrm>
          <a:prstGeom xmlns:a="http://schemas.openxmlformats.org/drawingml/2006/main" prst="roundRect">
            <a:avLst>
              <a:gd name="adj" fmla="val 2614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19050">
            <a:solidFill>
              <a:srgbClr val="008C8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363060-85F6-4B9A-97BA-B2ECF272E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68605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27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ส่งแบบประเมิน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1E86D1-8F8C-461B-B705-C1ECE11F7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486150"/>
            <a:ext cx="46863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ระบบตรวจข้อมูลบังคับและหลักฐาน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งานเข้าสู่ลำดับผู้ประเมิน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ตรวจอีกครั้งก่อนยืนยัน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207866-4DCE-44D3-8B97-A73627E00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ถามตัวเองก่อนกดส่ง: “ผู้ประเมินเห็นข้อมูลครบหรือยัง?”</a:t>
            </a:r>
          </a:p>
        </p:txBody>
      </p:sp>
      <p:sp>
        <p:nvSpPr>
          <p:cNvPr id="11" name="footer-rule-13">
            <a:extLst xmlns:a="http://schemas.openxmlformats.org/drawingml/2006/main">
              <a:ext uri="{FF2B5EF4-FFF2-40B4-BE49-F238E27FC236}">
                <a16:creationId xmlns:a16="http://schemas.microsoft.com/office/drawing/2014/main" id="{815E424B-21BA-4625-B7C1-7F7AE082B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footer-label-13">
            <a:extLst xmlns:a="http://schemas.openxmlformats.org/drawingml/2006/main">
              <a:ext uri="{FF2B5EF4-FFF2-40B4-BE49-F238E27FC236}">
                <a16:creationId xmlns:a16="http://schemas.microsoft.com/office/drawing/2014/main" id="{3D1DF070-ED15-457E-BC18-3FF3B7825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13" name="footer-page-13">
            <a:extLst xmlns:a="http://schemas.openxmlformats.org/drawingml/2006/main">
              <a:ext uri="{FF2B5EF4-FFF2-40B4-BE49-F238E27FC236}">
                <a16:creationId xmlns:a16="http://schemas.microsoft.com/office/drawing/2014/main" id="{B118166D-9BCA-401D-BCCA-EB1E298CC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13 / 18</a:t>
            </a:r>
          </a:p>
        </p:txBody>
      </p:sp>
    </p:spTree>
    <p:extLst>
      <p:ext uri="{BB962C8B-B14F-4D97-AF65-F5344CB8AC3E}">
        <p14:creationId xmlns:p14="http://schemas.microsoft.com/office/powerpoint/2010/main" val="207409620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ide-accent-14">
            <a:extLst xmlns:a="http://schemas.openxmlformats.org/drawingml/2006/main">
              <a:ext uri="{FF2B5EF4-FFF2-40B4-BE49-F238E27FC236}">
                <a16:creationId xmlns:a16="http://schemas.microsoft.com/office/drawing/2014/main" id="{A3C1DC07-DBAB-4EB0-B5D2-27B757AC7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4">
            <a:extLst xmlns:a="http://schemas.openxmlformats.org/drawingml/2006/main">
              <a:ext uri="{FF2B5EF4-FFF2-40B4-BE49-F238E27FC236}">
                <a16:creationId xmlns:a16="http://schemas.microsoft.com/office/drawing/2014/main" id="{918D8717-A76E-4BF3-8BB0-F898B85D0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หลังจากส่ง  /  สายสนับสนุน</a:t>
            </a:r>
          </a:p>
        </p:txBody>
      </p:sp>
      <p:sp>
        <p:nvSpPr>
          <p:cNvPr id="3" name="title-14">
            <a:extLst xmlns:a="http://schemas.openxmlformats.org/drawingml/2006/main">
              <a:ext uri="{FF2B5EF4-FFF2-40B4-BE49-F238E27FC236}">
                <a16:creationId xmlns:a16="http://schemas.microsoft.com/office/drawing/2014/main" id="{50D152CB-D741-4B04-BA25-5016E20E6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หลังส่งแบบประเมิน ระบบจะส่งงานตามลำดับผู้ประเมิน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89D214-FE40-4123-A094-8A55EDB3B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86150"/>
            <a:ext cx="8801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71E249-B507-4CA6-8ADF-6779F4B0B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2B93AB-6080-4AAB-B73D-F7B2DF9A9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2C35C4-D27E-483D-B95E-E6A766F12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443B82-96BE-4982-9F99-4CE6704CF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ข้อมูลและหลักฐาน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C7069E-289C-405C-8194-F407695BA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53F28F-5064-4266-9771-F818DE3FF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6AAEC6-8144-4183-A213-90A6A4253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ให้ผล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F51534-61E8-413E-A951-F3BF433AE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คะแนนหรือความเห็น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C3330C-3E1E-4472-ABC8-1C8E08857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9460B7-9D6A-4D3B-BFF7-0438FBB92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8AE140-43CA-4821-BEEC-2A2C634FD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ส่งต่อ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A3ADA9-A9A3-4478-BCB8-F9A2AA820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ไปยังผู้ประเมินลำดับถัดไป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D8A14C-2B1C-4F8B-AC3F-199B5FC8C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B9960B-10C8-4256-9FE6-178EC1EE0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B2885B-7933-414B-91DB-F263D52B9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ยืนยันขั้นสุดท้าย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515883-5AC9-43AD-8E15-198511539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เมื่ออยู่ในลำดับสุดท้าย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500E91-554C-4B43-8C09-752BBF90D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838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จำนวนและบทบาทของผู้ประเมินอาจต่างกันในแต่ละงาน</a:t>
            </a:r>
          </a:p>
        </p:txBody>
      </p:sp>
      <p:sp>
        <p:nvSpPr>
          <p:cNvPr id="22" name="footer-rule-14">
            <a:extLst xmlns:a="http://schemas.openxmlformats.org/drawingml/2006/main">
              <a:ext uri="{FF2B5EF4-FFF2-40B4-BE49-F238E27FC236}">
                <a16:creationId xmlns:a16="http://schemas.microsoft.com/office/drawing/2014/main" id="{D44D5BEE-2E6E-4577-B77B-1C0334799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footer-label-14">
            <a:extLst xmlns:a="http://schemas.openxmlformats.org/drawingml/2006/main">
              <a:ext uri="{FF2B5EF4-FFF2-40B4-BE49-F238E27FC236}">
                <a16:creationId xmlns:a16="http://schemas.microsoft.com/office/drawing/2014/main" id="{C534FFB1-98DC-46F2-A33B-7B13BA5CF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4" name="footer-page-14">
            <a:extLst xmlns:a="http://schemas.openxmlformats.org/drawingml/2006/main">
              <a:ext uri="{FF2B5EF4-FFF2-40B4-BE49-F238E27FC236}">
                <a16:creationId xmlns:a16="http://schemas.microsoft.com/office/drawing/2014/main" id="{B1DE41D6-9543-4CD9-8699-0D9ABB7FF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14 / 18</a:t>
            </a:r>
          </a:p>
        </p:txBody>
      </p:sp>
    </p:spTree>
    <p:extLst>
      <p:ext uri="{BB962C8B-B14F-4D97-AF65-F5344CB8AC3E}">
        <p14:creationId xmlns:p14="http://schemas.microsoft.com/office/powerpoint/2010/main" val="2447273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ide-accent-15">
            <a:extLst xmlns:a="http://schemas.openxmlformats.org/drawingml/2006/main">
              <a:ext uri="{FF2B5EF4-FFF2-40B4-BE49-F238E27FC236}">
                <a16:creationId xmlns:a16="http://schemas.microsoft.com/office/drawing/2014/main" id="{ABB1DCC1-34CC-4A5A-BF47-73924ED1E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5">
            <a:extLst xmlns:a="http://schemas.openxmlformats.org/drawingml/2006/main">
              <a:ext uri="{FF2B5EF4-FFF2-40B4-BE49-F238E27FC236}">
                <a16:creationId xmlns:a16="http://schemas.microsoft.com/office/drawing/2014/main" id="{411468E2-3B89-41F6-B3D4-12D230995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สำหรับผู้ประเมิน  /  สายสนับสนุน</a:t>
            </a:r>
          </a:p>
        </p:txBody>
      </p:sp>
      <p:sp>
        <p:nvSpPr>
          <p:cNvPr id="3" name="title-15">
            <a:extLst xmlns:a="http://schemas.openxmlformats.org/drawingml/2006/main">
              <a:ext uri="{FF2B5EF4-FFF2-40B4-BE49-F238E27FC236}">
                <a16:creationId xmlns:a16="http://schemas.microsoft.com/office/drawing/2014/main" id="{CE7A1F19-1F55-4D31-87BE-0E76441E0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ผู้ประเมินตรวจผลกิจกรรม คะแนน และหลักฐาน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EAAC92-C3FC-46FC-8FAC-8806CCBAA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0B00B0-3961-46E8-8DE3-14795BB68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3835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ตรวจข้อมูล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3C0A8C-1AE1-496A-8DB6-7765544C2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0764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ผลกิจกรรมและรายละเอียดตรงกับเกณฑ์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3D74DE-CFD5-448C-8FE4-57CED24DA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67000"/>
            <a:ext cx="973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C4C34F-16BF-40B8-A689-6A54C0184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C63BFB-4B3C-40E4-97F4-A86143ACF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337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ตรวจคะแนน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D73B44-F5D4-4841-AA00-3F10D5F17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97180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น้ำหนัก คะแนนที่ทำได้ และผลคำนวณสอดคล้องกัน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59336D-659E-4069-ACE8-674A882F5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62350"/>
            <a:ext cx="973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040285-E68B-450F-A214-771E1B3A0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51DB59-AFD4-4315-8A06-9DF86A1E3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82905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เปิดหลักฐาน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3FBB90-EAA1-4B3D-AFF4-0A50A4A00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8671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ลิงก์เข้าถึงได้และยืนยันกิจกรรม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2A813E-12DC-429F-A3F5-881CBB3A1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57700"/>
            <a:ext cx="973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EA0E21-B83B-4A69-937D-550AF4FDC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73A875-9B9C-4DA9-AA28-51ED8C341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244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ส่งต่องาน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5F252C-1380-4CFE-9D78-2E130481B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76250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ให้ผลและดำเนินการเมื่อข้อมูลครบตามสิทธิ์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63916C-E827-4B97-BB19-48D870597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FE5782-F56B-463A-A79B-7A93F3A90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38825"/>
            <a:ext cx="10515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ผู้ประเมินควรตัดสินใจจากข้อมูลและหลักฐานที่เปิดตรวจได้</a:t>
            </a:r>
          </a:p>
        </p:txBody>
      </p:sp>
      <p:sp>
        <p:nvSpPr>
          <p:cNvPr id="21" name="footer-rule-15">
            <a:extLst xmlns:a="http://schemas.openxmlformats.org/drawingml/2006/main">
              <a:ext uri="{FF2B5EF4-FFF2-40B4-BE49-F238E27FC236}">
                <a16:creationId xmlns:a16="http://schemas.microsoft.com/office/drawing/2014/main" id="{99D218C1-BA75-416C-BACB-03BE8D906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footer-label-15">
            <a:extLst xmlns:a="http://schemas.openxmlformats.org/drawingml/2006/main">
              <a:ext uri="{FF2B5EF4-FFF2-40B4-BE49-F238E27FC236}">
                <a16:creationId xmlns:a16="http://schemas.microsoft.com/office/drawing/2014/main" id="{D6E28750-3F78-4419-BF73-E83087BAB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3" name="footer-page-15">
            <a:extLst xmlns:a="http://schemas.openxmlformats.org/drawingml/2006/main">
              <a:ext uri="{FF2B5EF4-FFF2-40B4-BE49-F238E27FC236}">
                <a16:creationId xmlns:a16="http://schemas.microsoft.com/office/drawing/2014/main" id="{9C3B3DBE-E0A7-4C2D-BB7F-ECC544899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15 / 18</a:t>
            </a:r>
          </a:p>
        </p:txBody>
      </p:sp>
    </p:spTree>
    <p:extLst>
      <p:ext uri="{BB962C8B-B14F-4D97-AF65-F5344CB8AC3E}">
        <p14:creationId xmlns:p14="http://schemas.microsoft.com/office/powerpoint/2010/main" val="117466917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ide-accent-16">
            <a:extLst xmlns:a="http://schemas.openxmlformats.org/drawingml/2006/main">
              <a:ext uri="{FF2B5EF4-FFF2-40B4-BE49-F238E27FC236}">
                <a16:creationId xmlns:a16="http://schemas.microsoft.com/office/drawing/2014/main" id="{29E809C4-BF85-4191-9519-374114E7D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6">
            <a:extLst xmlns:a="http://schemas.openxmlformats.org/drawingml/2006/main">
              <a:ext uri="{FF2B5EF4-FFF2-40B4-BE49-F238E27FC236}">
                <a16:creationId xmlns:a16="http://schemas.microsoft.com/office/drawing/2014/main" id="{D2DE7189-D126-4ADC-BD28-CBAD52334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ลำดับการประเมิน  /  สายสนับสนุน</a:t>
            </a:r>
          </a:p>
        </p:txBody>
      </p:sp>
      <p:sp>
        <p:nvSpPr>
          <p:cNvPr id="3" name="title-16">
            <a:extLst xmlns:a="http://schemas.openxmlformats.org/drawingml/2006/main">
              <a:ext uri="{FF2B5EF4-FFF2-40B4-BE49-F238E27FC236}">
                <a16:creationId xmlns:a16="http://schemas.microsoft.com/office/drawing/2014/main" id="{BBECA28C-F232-4C59-8D15-4C92071E8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ผู้ประเมินแต่ละคนส่งต่องานตามลำดับ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78E5E6-B41E-4E55-B128-F67C32BA8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457575"/>
            <a:ext cx="76581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118CD5-8F59-4CB1-889D-FAD434119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914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104F25-FF5E-4FB2-9E92-5B8C28759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2194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90B5CC-792B-467D-A386-FF1AE5EBA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ผู้ประเมินคนที่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2CF86D-85A6-42F8-B55E-A8C0D4208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14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ตรวจและให้ผล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C42090-488C-4564-A0CF-D8152E28C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914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047850-FC6D-4594-99A4-4835431E7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194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91A57E-FA65-4F8F-B934-0D3200530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3434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ผู้ประเมินคนถัดไป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181DBB-344B-41EA-95CB-8472D3FAC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914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รับงานตามลำดับ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82659E-D06D-42F5-BEA7-0FD0ED7D1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914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134E57-1DB0-4E3A-AB04-5D19BE408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2194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A2AD7E-0AC9-4E4E-BBEB-DB0619FB0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3434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ผู้ประเมินคนสุดท้าย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C8D912-3453-4E91-B18C-358164111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914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ยืนยันขั้นสุดท้าย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3AD853-FE74-4FF9-96F5-1BA5138BF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ผู้ประเมินคนสุดท้ายยืนยันแล้ว สถานะจะเป็น ประเมินเสร็จสิ้น (Completed)</a:t>
            </a:r>
          </a:p>
        </p:txBody>
      </p:sp>
      <p:sp>
        <p:nvSpPr>
          <p:cNvPr id="18" name="footer-rule-16">
            <a:extLst xmlns:a="http://schemas.openxmlformats.org/drawingml/2006/main">
              <a:ext uri="{FF2B5EF4-FFF2-40B4-BE49-F238E27FC236}">
                <a16:creationId xmlns:a16="http://schemas.microsoft.com/office/drawing/2014/main" id="{10D17F40-DA17-43D2-82DF-F3C7615F3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footer-label-16">
            <a:extLst xmlns:a="http://schemas.openxmlformats.org/drawingml/2006/main">
              <a:ext uri="{FF2B5EF4-FFF2-40B4-BE49-F238E27FC236}">
                <a16:creationId xmlns:a16="http://schemas.microsoft.com/office/drawing/2014/main" id="{E65B6547-0F10-4F50-A293-C614DC041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0" name="footer-page-16">
            <a:extLst xmlns:a="http://schemas.openxmlformats.org/drawingml/2006/main">
              <a:ext uri="{FF2B5EF4-FFF2-40B4-BE49-F238E27FC236}">
                <a16:creationId xmlns:a16="http://schemas.microsoft.com/office/drawing/2014/main" id="{221A051E-8E63-4E70-B350-B6BCB1584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16 / 18</a:t>
            </a:r>
          </a:p>
        </p:txBody>
      </p:sp>
    </p:spTree>
    <p:extLst>
      <p:ext uri="{BB962C8B-B14F-4D97-AF65-F5344CB8AC3E}">
        <p14:creationId xmlns:p14="http://schemas.microsoft.com/office/powerpoint/2010/main" val="97094758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ide-accent-17">
            <a:extLst xmlns:a="http://schemas.openxmlformats.org/drawingml/2006/main">
              <a:ext uri="{FF2B5EF4-FFF2-40B4-BE49-F238E27FC236}">
                <a16:creationId xmlns:a16="http://schemas.microsoft.com/office/drawing/2014/main" id="{9F0D066C-2A88-49C6-B781-9B65FE1F0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7">
            <a:extLst xmlns:a="http://schemas.openxmlformats.org/drawingml/2006/main">
              <a:ext uri="{FF2B5EF4-FFF2-40B4-BE49-F238E27FC236}">
                <a16:creationId xmlns:a16="http://schemas.microsoft.com/office/drawing/2014/main" id="{B027F96B-D089-4BE2-B6B0-84BC197FB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ภารกิจฝึกปฏิบัติ  /  สายสนับสนุน</a:t>
            </a:r>
          </a:p>
        </p:txBody>
      </p:sp>
      <p:sp>
        <p:nvSpPr>
          <p:cNvPr id="3" name="title-17">
            <a:extLst xmlns:a="http://schemas.openxmlformats.org/drawingml/2006/main">
              <a:ext uri="{FF2B5EF4-FFF2-40B4-BE49-F238E27FC236}">
                <a16:creationId xmlns:a16="http://schemas.microsoft.com/office/drawing/2014/main" id="{5A964D3C-00A2-4CBA-975D-903C3BF70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ลองบันทึกกิจกรรม 1 รายการให้ครบ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8BEA84-2744-4C2D-8BBF-880596A9B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838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ทำตามลำดับ แล้วเรียกวิทยากรตรวจเมื่อครบ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186C6A-8B1D-4E6A-8E6F-DAB97B24A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519F44-39F3-4EB5-B38A-73601BC09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98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E6F325-3F0D-4DDC-90E2-F20237F9E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0510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เลือกกิจกรรมที่กำหนด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A74349-370E-4155-B01E-0EA346A2B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161617-9A50-44AF-9538-A96226D02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8098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1FFE32-F135-4F25-8790-FB075CF83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70510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กรอกเป้าหมายและผล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C442F9-5BB1-47C6-9DD6-4A4C36C31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014143-73EE-444F-A45A-9B02CF776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00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8B6263-D988-4E28-AC0E-6A20BDD5E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90525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ตรวจคะแนนถ่วงน้ำหนัก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708B69-AEC7-45B3-8785-87C69A1A1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243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232F36-AEA9-4749-BCB2-DA9FA0541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100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58EEEB-BBD3-4110-B7E4-1E499A311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90525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แนบหลักฐานและบันทึกร่าง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38CCF9-D4D8-465C-927A-6ACECEA19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DDF04D-183B-4C33-8A50-311855EDB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19750"/>
            <a:ext cx="10515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ผ่านเมื่อ: ข้อมูลครบ • หลักฐานเปิดได้ • พร้อมอธิบายที่มาของคะแนน</a:t>
            </a:r>
          </a:p>
        </p:txBody>
      </p:sp>
      <p:sp>
        <p:nvSpPr>
          <p:cNvPr id="19" name="footer-rule-17">
            <a:extLst xmlns:a="http://schemas.openxmlformats.org/drawingml/2006/main">
              <a:ext uri="{FF2B5EF4-FFF2-40B4-BE49-F238E27FC236}">
                <a16:creationId xmlns:a16="http://schemas.microsoft.com/office/drawing/2014/main" id="{65ECA71F-F023-4A66-9721-7FEA08FA9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ooter-label-17">
            <a:extLst xmlns:a="http://schemas.openxmlformats.org/drawingml/2006/main">
              <a:ext uri="{FF2B5EF4-FFF2-40B4-BE49-F238E27FC236}">
                <a16:creationId xmlns:a16="http://schemas.microsoft.com/office/drawing/2014/main" id="{D88A1588-E148-4873-8FD5-A88265564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1" name="footer-page-17">
            <a:extLst xmlns:a="http://schemas.openxmlformats.org/drawingml/2006/main">
              <a:ext uri="{FF2B5EF4-FFF2-40B4-BE49-F238E27FC236}">
                <a16:creationId xmlns:a16="http://schemas.microsoft.com/office/drawing/2014/main" id="{B9E42A44-D0B4-4D84-80FE-46873A4E2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17 / 18</a:t>
            </a:r>
          </a:p>
        </p:txBody>
      </p:sp>
    </p:spTree>
    <p:extLst>
      <p:ext uri="{BB962C8B-B14F-4D97-AF65-F5344CB8AC3E}">
        <p14:creationId xmlns:p14="http://schemas.microsoft.com/office/powerpoint/2010/main" val="77819971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ide-accent-18">
            <a:extLst xmlns:a="http://schemas.openxmlformats.org/drawingml/2006/main">
              <a:ext uri="{FF2B5EF4-FFF2-40B4-BE49-F238E27FC236}">
                <a16:creationId xmlns:a16="http://schemas.microsoft.com/office/drawing/2014/main" id="{DB759B29-6991-40FA-9835-ED20B6DA2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8">
            <a:extLst xmlns:a="http://schemas.openxmlformats.org/drawingml/2006/main">
              <a:ext uri="{FF2B5EF4-FFF2-40B4-BE49-F238E27FC236}">
                <a16:creationId xmlns:a16="http://schemas.microsoft.com/office/drawing/2014/main" id="{52B43491-CD41-4532-82FF-8F8DA1D91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แก้ปัญหาเบื้องต้น  /  สายสนับสนุน</a:t>
            </a:r>
          </a:p>
        </p:txBody>
      </p:sp>
      <p:sp>
        <p:nvSpPr>
          <p:cNvPr id="3" name="title-18">
            <a:extLst xmlns:a="http://schemas.openxmlformats.org/drawingml/2006/main">
              <a:ext uri="{FF2B5EF4-FFF2-40B4-BE49-F238E27FC236}">
                <a16:creationId xmlns:a16="http://schemas.microsoft.com/office/drawing/2014/main" id="{373A1F4E-F097-4363-93B8-0FD568FA6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หากใช้งานไม่ได้ ให้ตรวจสอบ 4 จุดนี้ก่อน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75ABB8-56CB-4F4B-9DE6-1733CDB86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2FCB4A-6C96-4EEF-A872-B550DD6CE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0764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งานไม่ปรากฏ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BD24EB-93B2-410B-9A1D-7EFCEABC1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1145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ตรวจงานที่ได้รับมอบหมาย และแจ้งผู้ดูแลระบบหากรอบไม่ถูกต้อง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0A9652-CF1C-44C0-AB23-D0142E321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7051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7CA648-2668-4570-9C3D-1EC13C7BA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908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B5CB16-628B-4951-81E6-E889B9AB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9527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ปุ่มใช้งานไม่ได้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2B603D-67C5-4FCD-A6B5-3A36E7AB0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9908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ตรวจสถานะปัจจุบันและสิทธิ์ของบทบาท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B74A42-1975-4043-8F99-42B4123E1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5814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7F34B6-0B64-4936-99D3-55951CA99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08ADAE-19D4-4C08-A153-8A52DDBB4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8290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บันทึกหรือส่งไม่ได้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A07C59-6364-46D5-BF39-31B1C17C6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8671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ตรวจข้อมูลบังคับ คะแนน และลิงก์หลักฐาน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F7260C-DCAC-47D9-9A5C-D152F92D3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4577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9246E5-A715-49B2-8A28-A3A354225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434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01061D-4F13-4597-8B51-2493978A9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7053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ยังแก้ไม่ได้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7FDB5B-63D3-4EB1-9956-06205A092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7434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จดชื่อรายการและสถานะ แล้วติดต่อผู้ดูแลระบบ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E9CFC1-2717-4BBF-89E5-AC2BDCE21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72390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44E800-9AC9-41C0-8602-D95E304C4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42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คู่มือผู้ใช้ • ผู้ดูแลระบบของหน่วยงาน</a:t>
            </a:r>
          </a:p>
        </p:txBody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089341f3f341ef"/>
          <a:stretch xmlns:a="http://schemas.openxmlformats.org/drawingml/2006/main"/>
        </p:blipFill>
        <p:spPr>
          <a:xfrm xmlns:a="http://schemas.openxmlformats.org/drawingml/2006/main">
            <a:off x="9018037" y="5638800"/>
            <a:ext cx="2309327" cy="628650"/>
          </a:xfrm>
          <a:prstGeom xmlns:a="http://schemas.openxmlformats.org/drawingml/2006/main" prst="rect">
            <a:avLst/>
          </a:prstGeom>
        </p:spPr>
      </p:pic>
      <p:sp>
        <p:nvSpPr>
          <p:cNvPr id="22" name="footer-rule-18">
            <a:extLst xmlns:a="http://schemas.openxmlformats.org/drawingml/2006/main">
              <a:ext uri="{FF2B5EF4-FFF2-40B4-BE49-F238E27FC236}">
                <a16:creationId xmlns:a16="http://schemas.microsoft.com/office/drawing/2014/main" id="{4C94CDAB-CC36-46A6-9D5A-09C795BFC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footer-label-18">
            <a:extLst xmlns:a="http://schemas.openxmlformats.org/drawingml/2006/main">
              <a:ext uri="{FF2B5EF4-FFF2-40B4-BE49-F238E27FC236}">
                <a16:creationId xmlns:a16="http://schemas.microsoft.com/office/drawing/2014/main" id="{7B8F1BAF-DFF3-4E48-BEC8-9A45BEB49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4" name="footer-page-18">
            <a:extLst xmlns:a="http://schemas.openxmlformats.org/drawingml/2006/main">
              <a:ext uri="{FF2B5EF4-FFF2-40B4-BE49-F238E27FC236}">
                <a16:creationId xmlns:a16="http://schemas.microsoft.com/office/drawing/2014/main" id="{82589325-5410-472B-AC0A-662ED1763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18 / 18</a:t>
            </a:r>
          </a:p>
        </p:txBody>
      </p:sp>
    </p:spTree>
    <p:extLst>
      <p:ext uri="{BB962C8B-B14F-4D97-AF65-F5344CB8AC3E}">
        <p14:creationId xmlns:p14="http://schemas.microsoft.com/office/powerpoint/2010/main" val="99416021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2026-08-01T08:24:40.6610000Z</dcterms:created>
  <dcterms:modified xsi:type="dcterms:W3CDTF">2026-08-01T08:24:40.6610000Z</dcterms:modified>
</coreProperties>
</file>