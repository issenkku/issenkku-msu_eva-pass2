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0230bce13444c7" /><Relationship Type="http://schemas.openxmlformats.org/officeDocument/2006/relationships/extended-properties" Target="/docProps/app.xml" Id="Rcf28d22bc6a24151" /><Relationship Type="http://schemas.openxmlformats.org/officeDocument/2006/relationships/officeDocument" Target="/ppt/presentation.xml" Id="R8041b58965404d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2de0dd453f4eb8"/>
  </p:sldMasterIdLst>
  <p:notesMasterIdLst>
    <p:notesMasterId xmlns:r="http://schemas.openxmlformats.org/officeDocument/2006/relationships" r:id="R3446e9d90f3643b6"/>
  </p:notesMasterIdLst>
  <p:sldIdLst>
    <p:sldId xmlns:r="http://schemas.openxmlformats.org/officeDocument/2006/relationships" id="256" r:id="Rfe5ce997dbe0479a"/>
    <p:sldId xmlns:r="http://schemas.openxmlformats.org/officeDocument/2006/relationships" id="257" r:id="Rba927820da8e47d5"/>
    <p:sldId xmlns:r="http://schemas.openxmlformats.org/officeDocument/2006/relationships" id="258" r:id="R69ebc3e23a7d46d4"/>
    <p:sldId xmlns:r="http://schemas.openxmlformats.org/officeDocument/2006/relationships" id="259" r:id="R0d006ce0a6544878"/>
    <p:sldId xmlns:r="http://schemas.openxmlformats.org/officeDocument/2006/relationships" id="260" r:id="R35fff00243724362"/>
    <p:sldId xmlns:r="http://schemas.openxmlformats.org/officeDocument/2006/relationships" id="261" r:id="R3b12ff39b01d4c14"/>
    <p:sldId xmlns:r="http://schemas.openxmlformats.org/officeDocument/2006/relationships" id="262" r:id="Rb09d20ae41164ba8"/>
    <p:sldId xmlns:r="http://schemas.openxmlformats.org/officeDocument/2006/relationships" id="263" r:id="Rb58c910f8e134592"/>
    <p:sldId xmlns:r="http://schemas.openxmlformats.org/officeDocument/2006/relationships" id="264" r:id="Raf4c631bf91643e4"/>
    <p:sldId xmlns:r="http://schemas.openxmlformats.org/officeDocument/2006/relationships" id="265" r:id="R77bfd812184646c2"/>
    <p:sldId xmlns:r="http://schemas.openxmlformats.org/officeDocument/2006/relationships" id="266" r:id="Rd32b3e9b1eeb4fd3"/>
    <p:sldId xmlns:r="http://schemas.openxmlformats.org/officeDocument/2006/relationships" id="267" r:id="Rc66f31365a4b40d3"/>
    <p:sldId xmlns:r="http://schemas.openxmlformats.org/officeDocument/2006/relationships" id="268" r:id="Rd37bf5b957ba464a"/>
    <p:sldId xmlns:r="http://schemas.openxmlformats.org/officeDocument/2006/relationships" id="269" r:id="Rd49287a2d8894db8"/>
    <p:sldId xmlns:r="http://schemas.openxmlformats.org/officeDocument/2006/relationships" id="270" r:id="Re07abf879bfa4356"/>
    <p:sldId xmlns:r="http://schemas.openxmlformats.org/officeDocument/2006/relationships" id="271" r:id="Rce2623c02893421f"/>
    <p:sldId xmlns:r="http://schemas.openxmlformats.org/officeDocument/2006/relationships" id="272" r:id="R27a27a06599a42ff"/>
    <p:sldId xmlns:r="http://schemas.openxmlformats.org/officeDocument/2006/relationships" id="273" r:id="Rade86bfdf39449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8134a6fb77473e" /><Relationship Type="http://schemas.openxmlformats.org/officeDocument/2006/relationships/slideMaster" Target="/ppt/slideMasters/slideMaster1.xml" Id="R542de0dd453f4eb8" /><Relationship Type="http://schemas.openxmlformats.org/officeDocument/2006/relationships/notesMaster" Target="/ppt/notesMasters/notesMaster1.xml" Id="R3446e9d90f3643b6" /><Relationship Type="http://schemas.openxmlformats.org/officeDocument/2006/relationships/presProps" Target="/ppt/presProps.xml" Id="Rfdf358902e7046b3" /><Relationship Type="http://schemas.openxmlformats.org/officeDocument/2006/relationships/tableStyles" Target="/ppt/tableStyles.xml" Id="Rab39759e1fda4e5a" /><Relationship Type="http://schemas.openxmlformats.org/officeDocument/2006/relationships/slide" Target="/ppt/slides/slide1.xml" Id="Rfe5ce997dbe0479a" /><Relationship Type="http://schemas.openxmlformats.org/officeDocument/2006/relationships/slide" Target="/ppt/slides/slide2.xml" Id="Rba927820da8e47d5" /><Relationship Type="http://schemas.openxmlformats.org/officeDocument/2006/relationships/slide" Target="/ppt/slides/slide3.xml" Id="R69ebc3e23a7d46d4" /><Relationship Type="http://schemas.openxmlformats.org/officeDocument/2006/relationships/slide" Target="/ppt/slides/slide4.xml" Id="R0d006ce0a6544878" /><Relationship Type="http://schemas.openxmlformats.org/officeDocument/2006/relationships/slide" Target="/ppt/slides/slide5.xml" Id="R35fff00243724362" /><Relationship Type="http://schemas.openxmlformats.org/officeDocument/2006/relationships/slide" Target="/ppt/slides/slide6.xml" Id="R3b12ff39b01d4c14" /><Relationship Type="http://schemas.openxmlformats.org/officeDocument/2006/relationships/slide" Target="/ppt/slides/slide7.xml" Id="Rb09d20ae41164ba8" /><Relationship Type="http://schemas.openxmlformats.org/officeDocument/2006/relationships/slide" Target="/ppt/slides/slide8.xml" Id="Rb58c910f8e134592" /><Relationship Type="http://schemas.openxmlformats.org/officeDocument/2006/relationships/slide" Target="/ppt/slides/slide9.xml" Id="Raf4c631bf91643e4" /><Relationship Type="http://schemas.openxmlformats.org/officeDocument/2006/relationships/slide" Target="/ppt/slides/slide10.xml" Id="R77bfd812184646c2" /><Relationship Type="http://schemas.openxmlformats.org/officeDocument/2006/relationships/slide" Target="/ppt/slides/slide11.xml" Id="Rd32b3e9b1eeb4fd3" /><Relationship Type="http://schemas.openxmlformats.org/officeDocument/2006/relationships/slide" Target="/ppt/slides/slide12.xml" Id="Rc66f31365a4b40d3" /><Relationship Type="http://schemas.openxmlformats.org/officeDocument/2006/relationships/slide" Target="/ppt/slides/slide13.xml" Id="Rd37bf5b957ba464a" /><Relationship Type="http://schemas.openxmlformats.org/officeDocument/2006/relationships/slide" Target="/ppt/slides/slide14.xml" Id="Rd49287a2d8894db8" /><Relationship Type="http://schemas.openxmlformats.org/officeDocument/2006/relationships/slide" Target="/ppt/slides/slide15.xml" Id="Re07abf879bfa4356" /><Relationship Type="http://schemas.openxmlformats.org/officeDocument/2006/relationships/slide" Target="/ppt/slides/slide16.xml" Id="Rce2623c02893421f" /><Relationship Type="http://schemas.openxmlformats.org/officeDocument/2006/relationships/slide" Target="/ppt/slides/slide17.xml" Id="R27a27a06599a42ff" /><Relationship Type="http://schemas.openxmlformats.org/officeDocument/2006/relationships/slide" Target="/ppt/slides/slide18.xml" Id="Rade86bfdf39449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588a2d42f044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28a088d9b644dc" /><Relationship Type="http://schemas.openxmlformats.org/officeDocument/2006/relationships/notesMaster" Target="/ppt/notesMasters/notesMaster1.xml" Id="Rdb965ad4090d47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6d7ac24ce2473c" /><Relationship Type="http://schemas.openxmlformats.org/officeDocument/2006/relationships/notesMaster" Target="/ppt/notesMasters/notesMaster1.xml" Id="R67bcbc8bc6114d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befac36dc54f23" /><Relationship Type="http://schemas.openxmlformats.org/officeDocument/2006/relationships/notesMaster" Target="/ppt/notesMasters/notesMaster1.xml" Id="R670bcfd3249f45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1d1c1f2a9b45d7" /><Relationship Type="http://schemas.openxmlformats.org/officeDocument/2006/relationships/notesMaster" Target="/ppt/notesMasters/notesMaster1.xml" Id="R860e2981b2d14c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af6dd39e2847cc" /><Relationship Type="http://schemas.openxmlformats.org/officeDocument/2006/relationships/notesMaster" Target="/ppt/notesMasters/notesMaster1.xml" Id="Rae8ee867aca248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3a40425b664d78" /><Relationship Type="http://schemas.openxmlformats.org/officeDocument/2006/relationships/notesMaster" Target="/ppt/notesMasters/notesMaster1.xml" Id="R0fd638794a354d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6549db2a394014" /><Relationship Type="http://schemas.openxmlformats.org/officeDocument/2006/relationships/notesMaster" Target="/ppt/notesMasters/notesMaster1.xml" Id="R69e8732e2a1141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5fcd6e91a9439a" /><Relationship Type="http://schemas.openxmlformats.org/officeDocument/2006/relationships/notesMaster" Target="/ppt/notesMasters/notesMaster1.xml" Id="Rd0c82b69ce9d4a2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5a1c41ce564db7" /><Relationship Type="http://schemas.openxmlformats.org/officeDocument/2006/relationships/notesMaster" Target="/ppt/notesMasters/notesMaster1.xml" Id="Ra3277f8d083b466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0a84a06d9a43e6" /><Relationship Type="http://schemas.openxmlformats.org/officeDocument/2006/relationships/notesMaster" Target="/ppt/notesMasters/notesMaster1.xml" Id="R5fad6742792d481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162f9be40af49ff" /><Relationship Type="http://schemas.openxmlformats.org/officeDocument/2006/relationships/notesMaster" Target="/ppt/notesMasters/notesMaster1.xml" Id="Rbfc8557b399d4f1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14c7d9d37d84331" /><Relationship Type="http://schemas.openxmlformats.org/officeDocument/2006/relationships/notesMaster" Target="/ppt/notesMasters/notesMaster1.xml" Id="R1fe01d2b40f740d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901cdfb2c5944bd" /><Relationship Type="http://schemas.openxmlformats.org/officeDocument/2006/relationships/notesMaster" Target="/ppt/notesMasters/notesMaster1.xml" Id="Ra66088b96eaa45a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7a618f1e61e46d8" /><Relationship Type="http://schemas.openxmlformats.org/officeDocument/2006/relationships/notesMaster" Target="/ppt/notesMasters/notesMaster1.xml" Id="Rc129262f9bb040e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be1aef8e161432f" /><Relationship Type="http://schemas.openxmlformats.org/officeDocument/2006/relationships/notesMaster" Target="/ppt/notesMasters/notesMaster1.xml" Id="Re78d767216f44ea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5c12cdd115d43d6" /><Relationship Type="http://schemas.openxmlformats.org/officeDocument/2006/relationships/notesMaster" Target="/ppt/notesMasters/notesMaster1.xml" Id="R41d4f7be86344de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41e1e93641f48e1" /><Relationship Type="http://schemas.openxmlformats.org/officeDocument/2006/relationships/notesMaster" Target="/ppt/notesMasters/notesMaster1.xml" Id="Rb7c41ce175cf410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6344386703944fb" /><Relationship Type="http://schemas.openxmlformats.org/officeDocument/2006/relationships/notesMaster" Target="/ppt/notesMasters/notesMaster1.xml" Id="R3f9944b45d6d46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[พูด] สวัสดีทุกท่านครับ สำหรับช่วงบ่ายนี้เราจะมาดูการใช้งานระบบประเมินผลการปฏิบัติงานบุคลากร หรือ MSU EVA สำหรับบุคลากรสายสนับสนุนกันนะครับ บางท่านอาจอยู่ต่อจากช่วงเช้า บางท่านเพิ่งเข้ามาใหม่ และมีทั้งผู้รับการประเมิน ผู้ประเมิน ผู้บริหาร รวมถึงผู้ประเมินระบบ ไม่ต้องกังวลครับ เราจะเริ่มจากภาพรวมสั้น ๆ ก่อน แล้วผมจะสาธิตหนึ่งรายการให้ดู หลังจากนั้นทุกท่านจะได้ทดลองกับบัญชีที่เตรียมไว้ครับ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docs/superpowers/specs/2026-07-24-split-role-training-decks-design.md</a:t>
            </a:r>
          </a:p>
          <a:p xmlns:a="http://schemas.openxmlformats.org/drawingml/2006/main">
            <a:r>
              <a:t>- public/favicon-msu.png</a:t>
            </a:r>
          </a:p>
          <a:p xmlns:a="http://schemas.openxmlformats.org/drawingml/2006/main">
            <a:r>
              <a:t>- C:\Users\pisut\Downloads\logoบริษัท.svg</a:t>
            </a:r>
          </a:p>
          <a:p xmlns:a="http://schemas.openxmlformats.org/drawingml/2006/main">
            <a:r>
              <a:t>- public/images/workload-background.jpg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[พูด] เป้าหมายของช่วงบ่ายนี้ชัดเจนครับ เราจะทำกิจกรรมหนึ่งรายการให้ครบ ตั้งแต่เลือกกิจกรรม กรอกเป้าหมายและผล ตรวจคะแนน แนบหลักฐาน ไปจนถึงบันทึกร่าง ที่สำคัญคือเราต้องอธิบายได้ว่าคะแนนเกิดจากข้อมูลใด รอบประเมินเป็นสิ่งที่ผู้ดูแลระบบกำหนดไว้แล้วนะครับ ผู้ใช้งานมีหน้าที่ตรวจรอบกับรายการที่ได้รับมอบหมาย เมื่อพร้อมแล้ว ทีนี้เรามาดูว่าระบบช่วยงานส่วนไหนบ้างครับ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docs/superpowers/specs/2026-07-24-split-role-training-decks-design.md</a:t>
            </a:r>
          </a:p>
          <a:p xmlns:a="http://schemas.openxmlformats.org/drawingml/2006/main">
            <a:r>
              <a:t>- docs/user-guide-th.md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[พูด] ระบบไม่ได้มีเฉพาะหน้ากรอกกิจกรรมครับ ก่อนเริ่มใช้งาน Admin จะจัดการผู้ใช้ สิทธิ์ เกณฑ์ รอบประเมิน และการมอบหมายงานให้เรียบร้อย ส่วนผู้ใช้งานจะทำงานตามรายการที่ได้รับ ตั้งแต่การกรอกข้อมูล การประเมิน การติดตามสถานะ จนถึงการออกรายงาน ดังนั้นผู้เข้าอบรมไม่ต้องสร้างหรือเลือกรอบประเมินเองครับ เพียงตรวจว่ารอบและรายการถูกต้อง แล้วทำหน้าที่ตามสิทธิ์ของตนเอง ต่อไปเรามาดูผู้ใช้งานแต่ละกลุ่มกันครับ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database/seeders/RoleSeeder.php</a:t>
            </a:r>
          </a:p>
          <a:p xmlns:a="http://schemas.openxmlformats.org/drawingml/2006/main">
            <a:r>
              <a:t>- app/Http/Controllers/AssignmentDataController.php</a:t>
            </a:r>
          </a:p>
          <a:p xmlns:a="http://schemas.openxmlformats.org/drawingml/2006/main">
            <a:r>
              <a:t>- docs/user-guide-th.md</a:t>
            </a:r>
          </a:p>
          <a:p xmlns:a="http://schemas.openxmlformats.org/drawingml/2006/main">
            <a:r>
              <a:t>- app/Support/AssignmentFlow.php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[พูด] ในระบบมีห้าบทบาทหลักครับ ได้แก่ Admin ผู้รับการประเมิน ผู้ประเมิน กรรมการ และผู้บริหาร แต่ละบทบาทจะเห็นเมนูต่างกัน ตรงนี้ขอเน้นครับ Admin เป็นผู้กำหนดผู้ใช้ เกณฑ์ รอบประเมิน การมอบหมาย และลำดับผู้ประเมิน ส่วนบทบาทผู้ประเมิน กรรมการ และผู้บริหารจะถูกใช้ตามขั้นที่ Admin จัดไว้ บางงานอาจใช้ไม่ครบทุกบทบาท และงานจะเสร็จสมบูรณ์เมื่อผู้ประเมินลำดับสุดท้ายกดยืนยันผลครับ เมื่อรู้ว่าใครทำอะไรแล้ว เรามาดูเส้นทางของงานทั้งกระบวนการกันครับ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database/seeders/RoleSeeder.php</a:t>
            </a:r>
          </a:p>
          <a:p xmlns:a="http://schemas.openxmlformats.org/drawingml/2006/main">
            <a:r>
              <a:t>- app/Http/Controllers/AssignmentDataController.php</a:t>
            </a:r>
          </a:p>
          <a:p xmlns:a="http://schemas.openxmlformats.org/drawingml/2006/main">
            <a:r>
              <a:t>- app/Support/AssignmentFlow.php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[พูด] ลองดูภาพนี้จากซ้ายไปขวาครับ ผู้รับการประเมินเปิดงาน เลือกกิจกรรม กรอกผล ตรวจคะแนนและหลักฐาน แล้วจึงส่งแบบประเมิน หลังจากนั้นระบบส่งงานให้ผู้ประเมินทีละคนตามลำดับ คนสุดท้ายยืนยันเมื่อใด งานจึงเป็นประเมินเสร็จสิ้น หรือ Completed ครับ จำไว้ว่าแต่ละปุ่มมีผลกับคนถัดไป เมื่อเห็นภาพรวมแล้ว ต่อไปเราจะเริ่มจากบทบาทของผู้กรอกข้อมูลครับ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docs/user-guide-th.md</a:t>
            </a:r>
          </a:p>
          <a:p xmlns:a="http://schemas.openxmlformats.org/drawingml/2006/main">
            <a:r>
              <a:t>- app/Support/AssignmentFlow.php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[พูด] ผู้รับการประเมินมีหน้าที่กรอกข้อมูลกิจกรรมให้ครบครับ ในแต่ละกิจกรรมต้องระบุว่า ทำอะไร ตั้งเป้าหมายไว้เท่าไร ผลจริงเป็นอย่างไร และใช้หลักฐานใดยืนยัน หากข้อมูลยังไม่ครบ ให้บันทึกร่างไว้ก่อน ยังไม่ต้องส่งแบบประเมิน เพราะผู้ประเมินจะใช้ข้อมูลส่วนนี้ประกอบการให้ผลครับ ต่อไปเรามาดูจุดเริ่มต้นบนแดชบอร์ดครับ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docs/user-guide-th.md</a:t>
            </a:r>
          </a:p>
          <a:p xmlns:a="http://schemas.openxmlformats.org/drawingml/2006/main">
            <a:r>
              <a:t>- app/Support/AssignmentFlow.php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[พูด] ต่อไปมาที่แดชบอร์ดของฉันครับ ก่อนเปิดงานให้ตรวจรอบประเมินที่ผู้ดูแลระบบกำหนด รายการที่ได้รับมอบหมาย และสถานะปัจจุบัน ผู้ใช้งานไม่ต้องเลือกรอบเองนะครับ ถ้ารายการไม่ตรงให้หยุดและแจ้งผู้ดูแลระบบก่อน บนแดชบอร์ดให้สังเกตชื่อรอบ ชื่อรายการ และปุ่มเปิดงานครับ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docs/user-guide-th.md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[พูด] เมื่อเปิดรายการแล้ว ให้ตรวจว่าข้อมูล 4 ส่วนสอดคล้องกันครับ หนึ่ง โครงการบอกว่างานนี้อยู่ภายใต้เรื่องใด สอง กิจกรรมบอกว่างานที่ทำคืออะไร สาม ตัวชี้วัดบอกว่าจะวัดผลอย่างไร และสี่ หลักฐานใช้ยืนยันผลที่กรอก หากข้อมูลส่วนใดไม่ตรงกัน ผู้ประเมินอาจต้องขอข้อมูลเพิ่มครับ ดังนั้นให้เลือกกิจกรรมที่ตรงกับงานจริงก่อน แล้วจึงกรอกเป้าหมายและผลครับ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resources/views/criteria_config/partials/support-criteria-template.blade.php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[พูด] ในหน้าบันทึกกิจกรรม มีสามส่วนที่อยากให้ดูครับ คือเป้าหมาย ผลที่ทำได้ และรายละเอียดกิจกรรม เป้าหมายคือค่าที่ตั้งไว้ ส่วนผลที่ทำได้คือสิ่งที่เกิดขึ้นจริง อย่าสลับสองช่องนี้นะครับ รายละเอียดกิจกรรมควรเขียนสั้น ๆ แต่บอกได้ว่าทำอะไรและเกิดผลอย่างไร เมื่อข้อมูลครบ ระบบจะนำไปคำนวณคะแนน ทีนี้เรามาดูสูตรแบบง่าย ๆ กันครับ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resources/views/criteria_config/partials/support-criteria-template.blade.php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[พูด] ใช่ครับ สูตรนี้ดูเหมือนมีหลายตัว แต่หลักคิดไม่ซับซ้อน คะแนนถ่วงน้ำหนักเท่ากับน้ำหนักคูณคะแนนที่ทำได้ แล้วหารหนึ่งร้อย น้ำหนักบอกความสำคัญของรายการ ส่วนคะแนนที่ทำได้มาจากผลเทียบกับเกณฑ์ ตรงนี้อย่ากรอกคะแนนถ่วงน้ำหนักเองนะครับ ระบบคำนวณให้ หน้าที่ของเราคือตรวจว่าค่าต้นทางถูกต้อง ต่อไปลองคำนวณจากตัวอย่างจริงกันครับ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resources/views/criteria_config/partials/support-criteria-template.blade.php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[พูด] ลองช่วยกันคิดนะครับ ถ้าน้ำหนักเท่ากับยี่สิบ และคะแนนที่ทำได้เท่ากับแปดสิบ ผลจะเป็นเท่าไรครับ ใช่ครับ คำตอบคือสิบหกคะแนน เพราะยี่สิบคูณแปดสิบแล้วหารหนึ่งร้อย ตัวอย่างนี้ช่วยให้เราตรวจคร่าว ๆ ได้ว่าคะแนนบนหน้าจอสมเหตุสมผลหรือไม่ ถ้าคะแนนไม่ตรง ให้ย้อนดูน้ำหนัก คะแนนที่ทำได้ และหน่วยข้อมูลก่อนครับ</a:t>
            </a:r>
          </a:p>
          <a:p xmlns:a="http://schemas.openxmlformats.org/drawingml/2006/main">
            <a:r>
              <a:t>[ถามผู้เข้าอบรม] ถ้าน้ำหนักเป็น 30 และคะแนนที่ทำได้เป็น 70 คะแนนถ่วงน้ำหนักควรเป็นเท่าไรครับ</a:t>
            </a:r>
          </a:p>
          <a:p xmlns:a="http://schemas.openxmlformats.org/drawingml/2006/main">
            <a:r>
              <a:t>[พูด] คำตอบคือ 21 คะแนนครับ ต่อไปเราจะดูหลักฐานที่ใช้รองรับผลกิจกรรม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resources/views/criteria_config/partials/support-criteria-template.blade.php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[พูด] ก่อนส่ง ให้ตรวจ 3 เรื่องครับ หนึ่ง คะแนนที่ระบบคำนวณสมเหตุสมผลหรือไม่ สอง ลิงก์หลักฐานเปิดได้จากบัญชีผู้ประเมินหรือไม่ และสาม เมื่อเปิดลิงก์แล้วรู้ว่าเป็นหลักฐานของกิจกรรมใดครับ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resources/views/partials/evaluatee-evaluation-script.blade.php</a:t>
            </a:r>
          </a:p>
          <a:p xmlns:a="http://schemas.openxmlformats.org/drawingml/2006/main">
            <a:r>
              <a:t>- resources/views/criteria_config/partials/support-criteria-template.blade.php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[พูด] ถ้าข้อมูลยังไม่ครบ ให้บันทึกร่างไว้ก่อน เมื่อข้อมูลและหลักฐานครบแล้วจึงส่งแบบประเมินครับ ก่อนยืนยัน ลองหยุดตรวจอีกครั้งว่าผลที่ทำได้สอดคล้องกับรายละเอียดกิจกรรมและหลักฐานหรือไม่ วันนี้ตอนทดลองเราจะหยุดที่บันทึกร่างนะครับ ส่วนต่อไปผมจะอธิบายให้เห็นว่าเมื่อส่งจริง งานเดินต่ออย่างไร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resources/views/partials/evaluation-form-action-buttons.blade.php</a:t>
            </a:r>
          </a:p>
          <a:p xmlns:a="http://schemas.openxmlformats.org/drawingml/2006/main">
            <a:r>
              <a:t>- resources/views/partials/evaluatee-evaluation-script.blade.php</a:t>
            </a:r>
          </a:p>
          <a:p xmlns:a="http://schemas.openxmlformats.org/drawingml/2006/main">
            <a:r>
              <a:t>- app/Support/AssignmentFlow.php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[พูด] หลังส่งแบบประเมิน ระบบจะส่งงานไปยังผู้ประเมินตามลำดับที่ Admin กำหนดครับ ผู้ประเมินแต่ละคนตรวจ บันทึกผล และส่งต่อให้คนถัดไป จำนวนขั้นอาจต่างกันในแต่ละงาน เวลาตรวจว่างานอยู่ที่ใคร ให้ดูสถานะและลำดับของรายการ ไม่ต้องคาดเดาจากชื่อตำแหน่งครับ ต่อไปเรามาดูหน้าที่ของผู้ประเมินครับ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app/Support/AssignmentFlow.php</a:t>
            </a:r>
          </a:p>
          <a:p xmlns:a="http://schemas.openxmlformats.org/drawingml/2006/main">
            <a:r>
              <a:t>- docs/user-guide-th.md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[พูด] ตอนนี้เรามาดูฝั่งผู้ประเมินครับ เมื่อได้รับงาน ให้ตรวจ 4 เรื่องตามลำดับ คือ กิจกรรมตรงกับเกณฑ์หรือไม่ เป้าหมายกับผลที่ทำได้สอดคล้องกันหรือไม่ คะแนนถูกต้องหรือไม่ และหลักฐานเปิดได้และตรงกับข้อมูลหรือไม่ หากข้อมูลยังไม่ครบ ยังไม่ต้องบันทึกผล ให้แจ้งผู้เกี่ยวข้องตามขั้นตอนที่หน่วยงานกำหนดครับ บนหน้าจอให้สังเกตด้วยว่า ส่วนใดเป็นข้อมูลที่ผู้รับการประเมินกรอก และส่วนใดเป็นผลที่ผู้ประเมินต้องบันทึกครับ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app/Support/AssignmentFlow.php</a:t>
            </a:r>
          </a:p>
          <a:p xmlns:a="http://schemas.openxmlformats.org/drawingml/2006/main">
            <a:r>
              <a:t>- docs/user-guide-th.md</a:t>
            </a:r>
          </a:p>
          <a:p xmlns:a="http://schemas.openxmlformats.org/drawingml/2006/main">
            <a:r>
              <a:t>- resources/views/partials/evaluatee-evaluation-script.blade.php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[พูด] ผู้ประเมินแต่ละคนทำงานเฉพาะขั้นของตัวเองครับ เมื่อตรวจครบแล้วจึงส่งต่อ คนถัดไปจึงจะรับงาน และเมื่อถึงคนสุดท้าย บุคคลนั้นจะยืนยันขั้นสุดท้ายจนสถานะเป็น Completed คนสุดท้ายอาจเป็นบทบาทใดก็ได้ตามลำดับที่ Admin กำหนดนะครับ เมื่อส่งต่องาน สถานะและผู้รับผิดชอบจะเปลี่ยนไปตามลำดับ จนผู้ประเมินลำดับสุดท้ายยืนยันผลครับ</a:t>
            </a:r>
          </a:p>
          <a:p xmlns:a="http://schemas.openxmlformats.org/drawingml/2006/main">
            <a:r>
              <a:t>[เริ่มสาธิตระบบ] ต่อไปผมจะสาธิตขั้นตอนทั้งหมดบนระบบให้ดู ตั้งแต่เริ่มต้นจนงานเสร็จครับ ทุกท่านยังไม่ต้องกดตาม ให้สังเกตลำดับการทำงานก่อน</a:t>
            </a:r>
          </a:p>
          <a:p xmlns:a="http://schemas.openxmlformats.org/drawingml/2006/main">
            <a:r>
              <a:t>[สาธิตต่อเนื่อง]</a:t>
            </a:r>
          </a:p>
          <a:p xmlns:a="http://schemas.openxmlformats.org/drawingml/2006/main">
            <a:r>
              <a:t>1. เปิดแดชบอร์ดและรายการที่ได้รับมอบหมาย</a:t>
            </a:r>
          </a:p>
          <a:p xmlns:a="http://schemas.openxmlformats.org/drawingml/2006/main">
            <a:r>
              <a:t>2. กรอกกิจกรรม เป้าหมาย และผล</a:t>
            </a:r>
          </a:p>
          <a:p xmlns:a="http://schemas.openxmlformats.org/drawingml/2006/main">
            <a:r>
              <a:t>3. ตรวจคะแนนที่ระบบคำนวณ</a:t>
            </a:r>
          </a:p>
          <a:p xmlns:a="http://schemas.openxmlformats.org/drawingml/2006/main">
            <a:r>
              <a:t>4. แนบและเปิดหลักฐาน</a:t>
            </a:r>
          </a:p>
          <a:p xmlns:a="http://schemas.openxmlformats.org/drawingml/2006/main">
            <a:r>
              <a:t>5. บันทึกร่าง</a:t>
            </a:r>
          </a:p>
          <a:p xmlns:a="http://schemas.openxmlformats.org/drawingml/2006/main">
            <a:r>
              <a:t>6. ตรวจความพร้อมและส่งแบบประเมิน</a:t>
            </a:r>
          </a:p>
          <a:p xmlns:a="http://schemas.openxmlformats.org/drawingml/2006/main">
            <a:r>
              <a:t>7. เปิดมุมผู้ประเมิน</a:t>
            </a:r>
          </a:p>
          <a:p xmlns:a="http://schemas.openxmlformats.org/drawingml/2006/main">
            <a:r>
              <a:t>8. ตรวจข้อมูล ให้ผล และส่งต่อ</a:t>
            </a:r>
          </a:p>
          <a:p xmlns:a="http://schemas.openxmlformats.org/drawingml/2006/main">
            <a:r>
              <a:t>9. เปิดบัญชีผู้ประเมินลำดับสุดท้าย</a:t>
            </a:r>
          </a:p>
          <a:p xmlns:a="http://schemas.openxmlformats.org/drawingml/2006/main">
            <a:r>
              <a:t>10. ยืนยันผลจนสถานะเป็น ประเมินเสร็จสิ้น (Completed)</a:t>
            </a:r>
          </a:p>
          <a:p xmlns:a="http://schemas.openxmlformats.org/drawingml/2006/main">
            <a:r>
              <a:t>[กลับมานำเสนอ] เมื่อเห็นขั้นตอนทั้งหมดแล้ว ต่อไปทุกท่านจะได้ทดลองทำด้วยบัญชีที่เตรียมไว้ครับ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app/Support/AssignmentFlow.php</a:t>
            </a:r>
          </a:p>
          <a:p xmlns:a="http://schemas.openxmlformats.org/drawingml/2006/main">
            <a:r>
              <a:t>- docs/user-guide-th.md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[พูด] ต่อไปเป็นเวลาทดลองใช้งานครับ ลิงก์ที่แสดงบนหน้าจอใช้สำหรับทดสอบระบบ ให้เปิด http://149.28.142.186/login แล้วเข้าสู่ระบบด้วยบัญชีที่เตรียมไว้ ลิงก์นี้ใช้สำหรับทดสอบระบบ เมื่อทุกท่านตรวจสอบแล้วและไม่มีประเด็นที่ต้องปรับแก้เพิ่มเติม ทีมงานจะนำระบบไปติดตั้งบนเซิร์ฟเวอร์ของคณะทันทีครับ สำหรับการทดลอง ให้เลือกกิจกรรม กรอกเป้าหมายและผล ตรวจคะแนน แนบหลักฐาน แล้วบันทึกร่างครับ ผู้ที่เคยทดสอบแล้วให้ช่วยตรวจคะแนนและหลักฐาน ส่วนผู้ที่เพิ่งเริ่มให้ทำทีละขั้น หากติดขัดให้ยกมือเรียกผมหรือทีมงานได้เลย ยังไม่ต้องกดส่งแบบประเมินนะครับ เราจะตรวจความพร้อมร่วมกันก่อน</a:t>
            </a:r>
          </a:p>
          <a:p xmlns:a="http://schemas.openxmlformats.org/drawingml/2006/main">
            <a:r>
              <a:t>[เริ่มทดลองใช้งาน — 30 นาที]</a:t>
            </a:r>
          </a:p>
          <a:p xmlns:a="http://schemas.openxmlformats.org/drawingml/2006/main">
            <a:r>
              <a:t>[ให้ผู้เข้าอบรมหยุดที่บันทึกร่าง]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docs/superpowers/specs/2026-07-24-split-role-training-decks-design.md</a:t>
            </a:r>
          </a:p>
          <a:p xmlns:a="http://schemas.openxmlformats.org/drawingml/2006/main">
            <a:r>
              <a:t>- docs/user-guide-th.md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[พูด] ก่อนจบ ขอฝากวิธีตรวจปัญหาเบื้องต้นไว้สี่จุดครับ ดูรอบและรายการ สิทธิ์ของบัญชี สถานะงาน และข้อมูลบังคับรวมถึงลิงก์หลักฐาน ถ้าคะแนนไม่เป็นไปตามที่คิด ให้ย้อนดูน้ำหนัก คะแนนที่ทำได้ และหน่วยก่อน หากยังแก้ไม่ได้ ให้จดชื่อรายการ สถานะ และข้อความที่พบ แล้วแจ้งผู้ดูแลระบบครับ</a:t>
            </a:r>
          </a:p>
          <a:p xmlns:a="http://schemas.openxmlformats.org/drawingml/2006/main">
            <a:r>
              <a:t>[ถามผู้เข้าอบรม] ตอนนี้มีใครติดที่การเลือกกิจกรรม การคำนวณคะแนน หรือการเปิดหลักฐานไหมครับ</a:t>
            </a:r>
          </a:p>
          <a:p xmlns:a="http://schemas.openxmlformats.org/drawingml/2006/main">
            <a:r>
              <a:t>[พูด] หากท่านใดมีคำถามหรือข้อเสนอแนะเพิ่มเติม สามารถแจ้งได้เลยนะครับ ข้อมูลจากทุกท่านจะช่วยให้ทีมงานปรับระบบให้พร้อมใช้งานมากยิ่งขึ้น ขอบพระคุณทุกท่านที่สละเวลาร่วมทดสอบระบบครับ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resources/views/partials/evaluation-form-action-buttons.blade.php</a:t>
            </a:r>
          </a:p>
          <a:p xmlns:a="http://schemas.openxmlformats.org/drawingml/2006/main">
            <a:r>
              <a:t>- resources/views/partials/evaluatee-evaluation-script.blade.php</a:t>
            </a:r>
          </a:p>
          <a:p xmlns:a="http://schemas.openxmlformats.org/drawingml/2006/main">
            <a:r>
              <a:t>- app/Support/AssignmentFlow.php</a:t>
            </a:r>
          </a:p>
          <a:p xmlns:a="http://schemas.openxmlformats.org/drawingml/2006/main">
            <a:r>
              <a:t>- C:\Users\pisut\Downloads\logoบริษัท.svg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848623225e4d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c6f1aefb1d4b49" /><Relationship Type="http://schemas.openxmlformats.org/officeDocument/2006/relationships/slideLayout" Target="/ppt/slideLayouts/slideLayout1.xml" Id="Rbf5dc0516a6247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5dc0516a6247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5bdfce86b46bf" /><Relationship Type="http://schemas.openxmlformats.org/officeDocument/2006/relationships/image" Target="/ppt/media/image.jpeg" Id="Rf07f3dfd5b4d4b62" /><Relationship Type="http://schemas.openxmlformats.org/officeDocument/2006/relationships/image" Target="/ppt/media/image.png" Id="R3edb15a2b1034379" /><Relationship Type="http://schemas.openxmlformats.org/officeDocument/2006/relationships/image" Target="/ppt/media/image2.png" Id="R0ea1446bd37d47a1" /><Relationship Type="http://schemas.openxmlformats.org/officeDocument/2006/relationships/notesSlide" Target="/ppt/notesSlides/notesSlide1.xml" Id="R8352df9e548846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7d8bd20b2474c" /><Relationship Type="http://schemas.openxmlformats.org/officeDocument/2006/relationships/notesSlide" Target="/ppt/notesSlides/notesSlide2.xml" Id="R6fc11812aacf45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13dc28cc184691" /><Relationship Type="http://schemas.openxmlformats.org/officeDocument/2006/relationships/notesSlide" Target="/ppt/notesSlides/notesSlide3.xml" Id="Re57a0281eccf49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cf12ea4d4407f" /><Relationship Type="http://schemas.openxmlformats.org/officeDocument/2006/relationships/notesSlide" Target="/ppt/notesSlides/notesSlide4.xml" Id="R5ba7562b088e40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3159a7f01d4bbe" /><Relationship Type="http://schemas.openxmlformats.org/officeDocument/2006/relationships/notesSlide" Target="/ppt/notesSlides/notesSlide5.xml" Id="Rdc38f8cce24e49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95a951254a411d" /><Relationship Type="http://schemas.openxmlformats.org/officeDocument/2006/relationships/notesSlide" Target="/ppt/notesSlides/notesSlide6.xml" Id="R134f75d36af74a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43fcbd0724235" /><Relationship Type="http://schemas.openxmlformats.org/officeDocument/2006/relationships/notesSlide" Target="/ppt/notesSlides/notesSlide7.xml" Id="R9863ca9bb73344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4e70dd090f4b4c" /><Relationship Type="http://schemas.openxmlformats.org/officeDocument/2006/relationships/notesSlide" Target="/ppt/notesSlides/notesSlide8.xml" Id="Rf501da5dfa19484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a7530e534485b" /><Relationship Type="http://schemas.openxmlformats.org/officeDocument/2006/relationships/notesSlide" Target="/ppt/notesSlides/notesSlide9.xml" Id="R03ebc46eb5b44c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1162e833c5480a" /><Relationship Type="http://schemas.openxmlformats.org/officeDocument/2006/relationships/notesSlide" Target="/ppt/notesSlides/notesSlide10.xml" Id="Rbe863cf32517413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e59b0006f4d50" /><Relationship Type="http://schemas.openxmlformats.org/officeDocument/2006/relationships/notesSlide" Target="/ppt/notesSlides/notesSlide11.xml" Id="R2b4d0a8d90bd492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f46dc156148a1" /><Relationship Type="http://schemas.openxmlformats.org/officeDocument/2006/relationships/notesSlide" Target="/ppt/notesSlides/notesSlide12.xml" Id="Rbf0fab6dc407484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f16bd39c74c62" /><Relationship Type="http://schemas.openxmlformats.org/officeDocument/2006/relationships/notesSlide" Target="/ppt/notesSlides/notesSlide13.xml" Id="R9950c0ac738241f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92468ee0284ca8" /><Relationship Type="http://schemas.openxmlformats.org/officeDocument/2006/relationships/notesSlide" Target="/ppt/notesSlides/notesSlide14.xml" Id="R7d211149a932479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6e12d63894a97" /><Relationship Type="http://schemas.openxmlformats.org/officeDocument/2006/relationships/notesSlide" Target="/ppt/notesSlides/notesSlide15.xml" Id="Rc1c8a941b1104e7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9696524f114332" /><Relationship Type="http://schemas.openxmlformats.org/officeDocument/2006/relationships/notesSlide" Target="/ppt/notesSlides/notesSlide16.xml" Id="Rd3ca2bef2385440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7a6cbea05c45ef" /><Relationship Type="http://schemas.openxmlformats.org/officeDocument/2006/relationships/hyperlink" Target="http://149.28.142.186/login" TargetMode="External" Id="R3dccce789f194e5a" /><Relationship Type="http://schemas.openxmlformats.org/officeDocument/2006/relationships/notesSlide" Target="/ppt/notesSlides/notesSlide17.xml" Id="Rb0564b24708245c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0b65a231334657" /><Relationship Type="http://schemas.openxmlformats.org/officeDocument/2006/relationships/image" Target="/ppt/media/image3.png" Id="R8a1b4b4bafc74d0e" /><Relationship Type="http://schemas.openxmlformats.org/officeDocument/2006/relationships/notesSlide" Target="/ppt/notesSlides/notesSlide18.xml" Id="R140b2633d3e54b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7f3dfd5b4d4b62"/>
          <a:srcRect xmlns:a="http://schemas.openxmlformats.org/drawingml/2006/main" l="2579" t="0" r="25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panel">
            <a:extLst xmlns:a="http://schemas.openxmlformats.org/drawingml/2006/main">
              <a:ext uri="{FF2B5EF4-FFF2-40B4-BE49-F238E27FC236}">
                <a16:creationId xmlns:a16="http://schemas.microsoft.com/office/drawing/2014/main" id="{28822D9E-1CA2-48BD-B1BC-2D049BF5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24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2B0683E5-5E67-4DC4-A0FE-91E56EFC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db15a2b1034379"/>
          <a:stretch xmlns:a="http://schemas.openxmlformats.org/drawingml/2006/main"/>
        </p:blipFill>
        <p:spPr>
          <a:xfrm xmlns:a="http://schemas.openxmlformats.org/drawingml/2006/main">
            <a:off x="628650" y="419100"/>
            <a:ext cx="800100" cy="800100"/>
          </a:xfrm>
          <a:prstGeom xmlns:a="http://schemas.openxmlformats.org/drawingml/2006/main" prst="rect">
            <a:avLst/>
          </a:prstGeom>
        </p:spPr>
      </p:pic>
      <p:sp>
        <p:nvSpPr>
          <p:cNvPr id="5" name="cover-institution">
            <a:extLst xmlns:a="http://schemas.openxmlformats.org/drawingml/2006/main">
              <a:ext uri="{FF2B5EF4-FFF2-40B4-BE49-F238E27FC236}">
                <a16:creationId xmlns:a16="http://schemas.microsoft.com/office/drawing/2014/main" id="{B5B50923-91E9-47DE-9191-7F3D3FFD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"/>
            <a:ext cx="528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F2A84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5F2A84"/>
                </a:solidFill>
                <a:latin typeface="Tahoma"/>
                <a:ea typeface="Tahoma"/>
                <a:cs typeface="Tahoma"/>
              </a:rPr>
              <a:t>คณะสาธารณสุขศาสตร์  •  มหาวิทยาลัยมหาสารคาม</a:t>
            </a:r>
          </a:p>
        </p:txBody>
      </p:sp>
      <p:sp>
        <p:nvSpPr>
          <p:cNvPr id="6" name="cover-session">
            <a:extLst xmlns:a="http://schemas.openxmlformats.org/drawingml/2006/main">
              <a:ext uri="{FF2B5EF4-FFF2-40B4-BE49-F238E27FC236}">
                <a16:creationId xmlns:a16="http://schemas.microsoft.com/office/drawing/2014/main" id="{A56EE96C-0603-4EDC-9CD9-8F46FA99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ภาคบ่าย</a:t>
            </a:r>
          </a:p>
        </p:txBody>
      </p:sp>
      <p:sp>
        <p:nvSpPr>
          <p:cNvPr id="7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8489A78-30CC-4181-9732-7A2524FB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6477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5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5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ระบบประเมินผลการปฏิบัติงานบุคลากร</a:t>
            </a:r>
          </a:p>
        </p:txBody>
      </p:sp>
      <p:sp>
        <p:nvSpPr>
          <p:cNvPr id="8" name="cover-system-short-name">
            <a:extLst xmlns:a="http://schemas.openxmlformats.org/drawingml/2006/main">
              <a:ext uri="{FF2B5EF4-FFF2-40B4-BE49-F238E27FC236}">
                <a16:creationId xmlns:a16="http://schemas.microsoft.com/office/drawing/2014/main" id="{E64252CE-55C1-4872-AE34-816FD9D6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(MSU EVA)  •  สายสนับสนุน</a:t>
            </a:r>
          </a:p>
        </p:txBody>
      </p:sp>
      <p:sp>
        <p:nvSpPr>
          <p:cNvPr id="9" name="cover-gold-rule">
            <a:extLst xmlns:a="http://schemas.openxmlformats.org/drawingml/2006/main">
              <a:ext uri="{FF2B5EF4-FFF2-40B4-BE49-F238E27FC236}">
                <a16:creationId xmlns:a16="http://schemas.microsoft.com/office/drawing/2014/main" id="{DB36B7CF-E7B0-4C22-A6B3-5C9A772F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ver-promise">
            <a:extLst xmlns:a="http://schemas.openxmlformats.org/drawingml/2006/main">
              <a:ext uri="{FF2B5EF4-FFF2-40B4-BE49-F238E27FC236}">
                <a16:creationId xmlns:a16="http://schemas.microsoft.com/office/drawing/2014/main" id="{B69719CC-CADF-4CF7-8ABF-C8451F51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590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23384D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23384D"/>
                </a:solidFill>
                <a:latin typeface="Tahoma"/>
                <a:ea typeface="Tahoma"/>
                <a:cs typeface="Tahoma"/>
              </a:rPr>
              <a:t>บันทึกกิจกรรม เข้าใจที่มาของคะแนน และแนบหลักฐานให้พร้อมตรวจ</a:t>
            </a:r>
          </a:p>
        </p:txBody>
      </p:sp>
      <p:sp>
        <p:nvSpPr>
          <p:cNvPr id="11" name="cover-style">
            <a:extLst xmlns:a="http://schemas.openxmlformats.org/drawingml/2006/main">
              <a:ext uri="{FF2B5EF4-FFF2-40B4-BE49-F238E27FC236}">
                <a16:creationId xmlns:a16="http://schemas.microsoft.com/office/drawing/2014/main" id="{3816AA13-CB9A-4E10-8B1B-928E1A0E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00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Professional Training  •  สายสนับสนุน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a1446bd37d47a1"/>
          <a:stretch xmlns:a="http://schemas.openxmlformats.org/drawingml/2006/main"/>
        </p:blipFill>
        <p:spPr>
          <a:xfrm xmlns:a="http://schemas.openxmlformats.org/drawingml/2006/main">
            <a:off x="9186571" y="5962650"/>
            <a:ext cx="2029408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048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ide-accent-2">
            <a:extLst xmlns:a="http://schemas.openxmlformats.org/drawingml/2006/main">
              <a:ext uri="{FF2B5EF4-FFF2-40B4-BE49-F238E27FC236}">
                <a16:creationId xmlns:a16="http://schemas.microsoft.com/office/drawing/2014/main" id="{130CBAFA-37E3-419C-86D9-95A4D01D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2">
            <a:extLst xmlns:a="http://schemas.openxmlformats.org/drawingml/2006/main">
              <a:ext uri="{FF2B5EF4-FFF2-40B4-BE49-F238E27FC236}">
                <a16:creationId xmlns:a16="http://schemas.microsoft.com/office/drawing/2014/main" id="{FA43211B-6B15-409E-BCED-E9477F42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เป้าหมายการอบรม  /  สายสนับสนุน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A9DB902B-B543-4BBD-8E4E-91DFD38F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ช่วงบ่ายนี้ เราจะทดลองบันทึกกิจกรรมและตรวจคะแนน 1 รายการ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D0F1BB-FCEF-4714-842E-1046BEDA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0615E"/>
                </a:solidFill>
                <a:latin typeface="Tahoma"/>
                <a:ea typeface="Tahoma"/>
                <a:cs typeface="Tahoma"/>
              </a:rPr>
              <a:t>เมื่อจบช่วงนี้ คุณจะทำได้ด้วยตัวเอง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E25BCC-5CDC-472F-A4D8-39D1B00E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27E4AB-CE73-4C98-8397-FEF589A3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76525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4689F9-5612-4CAB-A5C1-1D548DBD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2890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เปิดงานและเลือกกิจกรรมได้ถูกต้อง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5094D7-CEBF-4441-BF19-7DD116D0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A2E71-2BFF-42AA-8BD7-DF7803C3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48075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E90AB3-6C5E-466C-B2E4-02478187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0045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กรอกผล คำนวณคะแนน และแนบหลักฐานได้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751FD9-6D69-4E91-8A7A-6143096F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5FDAC4-49CF-477F-B4B0-4F3BABD9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19625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D4C066-92F5-41CE-8205-4B1F56D6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7200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ตรวจความพร้อมก่อนส่งแบบประเมิน</a:t>
            </a:r>
          </a:p>
        </p:txBody>
      </p:sp>
      <p:sp>
        <p:nvSpPr>
          <p:cNvPr id="14" name="outcome-mark">
            <a:extLst xmlns:a="http://schemas.openxmlformats.org/drawingml/2006/main">
              <a:ext uri="{FF2B5EF4-FFF2-40B4-BE49-F238E27FC236}">
                <a16:creationId xmlns:a16="http://schemas.microsoft.com/office/drawing/2014/main" id="{FD2E5143-3E8E-4B82-A198-D663BCE7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76450"/>
            <a:ext cx="2324100" cy="32956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E2F4F1"/>
          </a:solidFill>
          <a:ln xmlns:a="http://schemas.openxmlformats.org/drawingml/2006/main" w="9525">
            <a:solidFill>
              <a:srgbClr val="008C8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F4F40C-ECEF-45FC-8397-2759FAE7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24100"/>
            <a:ext cx="17907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800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7800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9155E0-DE5B-4CBD-9838-F3C56FE6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52850"/>
            <a:ext cx="1790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00615E"/>
                </a:solidFill>
                <a:latin typeface="Tahoma"/>
                <a:ea typeface="Tahoma"/>
                <a:cs typeface="Tahoma"/>
              </a:rPr>
              <a:t>รายการ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00615E"/>
                </a:solidFill>
                <a:latin typeface="Tahoma"/>
                <a:ea typeface="Tahoma"/>
                <a:cs typeface="Tahoma"/>
              </a:rPr>
              <a:t>พร้อมส่ง</a:t>
            </a:r>
          </a:p>
        </p:txBody>
      </p:sp>
      <p:sp>
        <p:nvSpPr>
          <p:cNvPr id="17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365A3E1B-8CE2-4CC4-89DF-5E9918BD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125784CA-A26E-4DDD-90B0-297B5A31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ภาคบ่าย สายสนับสนุน</a:t>
            </a:r>
          </a:p>
        </p:txBody>
      </p:sp>
      <p:sp>
        <p:nvSpPr>
          <p:cNvPr id="19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E69BF17D-8076-45CB-A7AB-5D577560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02 / 18</a:t>
            </a:r>
          </a:p>
        </p:txBody>
      </p:sp>
    </p:spTree>
    <p:extLst>
      <p:ext uri="{BB962C8B-B14F-4D97-AF65-F5344CB8AC3E}">
        <p14:creationId xmlns:p14="http://schemas.microsoft.com/office/powerpoint/2010/main" val="1398817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ide-accent-3">
            <a:extLst xmlns:a="http://schemas.openxmlformats.org/drawingml/2006/main">
              <a:ext uri="{FF2B5EF4-FFF2-40B4-BE49-F238E27FC236}">
                <a16:creationId xmlns:a16="http://schemas.microsoft.com/office/drawing/2014/main" id="{879A3AC2-5416-40DE-9777-207AE9B0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3">
            <a:extLst xmlns:a="http://schemas.openxmlformats.org/drawingml/2006/main">
              <a:ext uri="{FF2B5EF4-FFF2-40B4-BE49-F238E27FC236}">
                <a16:creationId xmlns:a16="http://schemas.microsoft.com/office/drawing/2014/main" id="{BB12E9D0-7DC7-4C9D-A3FF-5CA7B548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รู้จักระบบ  /  สายสนับสนุน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C93ACEA1-FF77-4F75-95DE-9866C744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ระบบช่วยจัดการงานประเมินตั้งแต่เตรียมรอบจนถึงรายงานผล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CE6C3B-2E32-4F42-B24B-F5ECD319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ฟังก์ชันหลัก 5 ด้าน เชื่อมต่อกันเป็นกระบวนการเดียว</a:t>
            </a:r>
          </a:p>
        </p:txBody>
      </p:sp>
      <p:sp>
        <p:nvSpPr>
          <p:cNvPr id="5" name="system-function-line">
            <a:extLst xmlns:a="http://schemas.openxmlformats.org/drawingml/2006/main">
              <a:ext uri="{FF2B5EF4-FFF2-40B4-BE49-F238E27FC236}">
                <a16:creationId xmlns:a16="http://schemas.microsoft.com/office/drawing/2014/main" id="{D511EE68-6FF1-4B57-9DFF-949D004A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67100"/>
            <a:ext cx="8705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ED103-5627-4A7A-96ED-94249A0D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099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938AC4-651A-4FAF-9E90-6C71E0C0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57550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65F13A-AD94-44D8-9078-D6F99AB1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79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ผู้ใช้และสิทธิ์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5F5161-A72E-4E69-8118-FDCA4528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จัดการบัญชีและบทบาท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6935D9-A143-40F4-9100-3768DF2F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099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7D5D61-4DE4-48B3-90C0-7241720F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57550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C8992A-4745-4C9F-B48A-514B7C20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10050"/>
            <a:ext cx="179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เกณฑ์ประเมิน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A900CC-866D-4A40-8B76-F00FAB01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1965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จัดการแบบและเกณฑ์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8FE53C-DABB-4994-B9AA-E600EE7A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099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C99259-ECB2-4DAD-AB61-5135B825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57550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10CB24-163B-4D2E-A570-31E1A0FF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210050"/>
            <a:ext cx="179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รอบและงาน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05F00B-437C-41BC-B8C4-6464F501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1965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สร้างรอบและมอบหมาย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859923-883F-4DC9-945F-7DA869E0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099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9B3756-27AC-4482-869C-3FA20A06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57550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1A81DA-CDC2-4809-8C71-061A5356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10050"/>
            <a:ext cx="179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กรอกและประเมิน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35537C-47CE-4D27-8838-23192A55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1965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บันทึก ตรวจ และส่งต่อ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F46413-B5B5-439F-912E-D7106C47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0099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95FDE6-9190-42FF-9C2D-696187C9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257550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96908B-1ED2-48CA-B62C-F64E3EE8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10050"/>
            <a:ext cx="179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ติดตาม/รายงาน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40546E-6FFD-4F12-9DD2-1953C425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1965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ติดตามสถานะและส่งออก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282347-EDF4-4EF0-8787-DF0DDFB0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2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722EF0-E408-4754-A86F-CB18FF66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91200"/>
            <a:ext cx="1051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00615E"/>
                </a:solidFill>
                <a:latin typeface="Tahoma"/>
                <a:ea typeface="Tahoma"/>
                <a:cs typeface="Tahoma"/>
              </a:rPr>
              <a:t>Admin เตรียมระบบและมอบหมายงาน ก่อนผู้ใช้งานเริ่มดำเนินการ</a:t>
            </a:r>
          </a:p>
        </p:txBody>
      </p:sp>
      <p:sp>
        <p:nvSpPr>
          <p:cNvPr id="28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8E4F7241-A439-4205-B4F9-BC6B6584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C2CB95EA-56F3-4EE3-9665-DBE9138C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ภาคบ่าย สายสนับสนุน</a:t>
            </a:r>
          </a:p>
        </p:txBody>
      </p:sp>
      <p:sp>
        <p:nvSpPr>
          <p:cNvPr id="30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93D19D77-659B-47FA-B442-FE8A4640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03 / 18</a:t>
            </a:r>
          </a:p>
        </p:txBody>
      </p:sp>
    </p:spTree>
    <p:extLst>
      <p:ext uri="{BB962C8B-B14F-4D97-AF65-F5344CB8AC3E}">
        <p14:creationId xmlns:p14="http://schemas.microsoft.com/office/powerpoint/2010/main" val="1947476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ide-accent-4">
            <a:extLst xmlns:a="http://schemas.openxmlformats.org/drawingml/2006/main">
              <a:ext uri="{FF2B5EF4-FFF2-40B4-BE49-F238E27FC236}">
                <a16:creationId xmlns:a16="http://schemas.microsoft.com/office/drawing/2014/main" id="{7F7BE749-2D44-4D6E-BAA1-36FDF450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4">
            <a:extLst xmlns:a="http://schemas.openxmlformats.org/drawingml/2006/main">
              <a:ext uri="{FF2B5EF4-FFF2-40B4-BE49-F238E27FC236}">
                <a16:creationId xmlns:a16="http://schemas.microsoft.com/office/drawing/2014/main" id="{75CB800C-DC2E-4A02-B404-C5963F4C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ผู้ใช้งานระบบ  /  สายสนับสนุน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A1AFF7DF-E4A1-4D6D-A15A-8E2712A3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ระบบมี 5 บทบาท และแต่ละคนเห็นงานต่างกัน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ED49FA-BFB7-4963-836A-87BC0C61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C79A2B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79A2B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FC5F2-6125-49A9-8AEC-D539213F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288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Admin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50AD0A-D662-4613-8DD1-7E54D973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66900"/>
            <a:ext cx="710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ผู้ใช้ • สิทธิ์ • เกณฑ์ • รอบประเมิน • งาน • ลำดับผู้ประเมิน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2DE3BC-2F98-4892-A11B-21C3FDE6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81250"/>
            <a:ext cx="986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E3117C-8E4A-4CDE-9A74-DE469F72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5366EA-DE78-46FE-9FB3-799776FB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6222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ผู้รับการประเมิน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0DC168-C6B7-4597-A91A-B94B0B6D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00325"/>
            <a:ext cx="710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กรอกข้อมูล • แนบหลักฐาน • บันทึกร่าง • ส่งแบบประเมิน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19A91B-A206-42E5-91DF-6DFEA64A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14675"/>
            <a:ext cx="986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95CB8B-F437-4125-B4E0-2DB37B2B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52EA03-C3D2-4D4F-AE48-7A0B8CD5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956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ผู้ประเมิน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E658BA-F3B0-4130-9255-34905E06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33750"/>
            <a:ext cx="710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ตรวจข้อมูล • ให้คะแนนหรือความเห็น • ส่งต่องาน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FFBD40-0CFB-43AD-947D-1B6A5E62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48100"/>
            <a:ext cx="986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CF2850-9FC1-45BA-A46B-800BD1AC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292250-62D0-470A-9269-0CF0F3A2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290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กรรมการ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00AA25-1A6A-46D3-9B3B-9E36DB64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067175"/>
            <a:ext cx="710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ตรวจและรับรองผลตามขั้นที่ได้รับมอบหมาย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1D3133-2E99-489B-8172-44E80A92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81525"/>
            <a:ext cx="986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181FF1-DD8E-4941-8E31-3CEADF8B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744905-6E6B-4238-881D-BA8D715E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7625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ผู้บริหาร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8977F9-E598-4287-B268-4D56FFF9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800600"/>
            <a:ext cx="710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ตรวจหรือยืนยันตามลำดับ • ดูรายงานตามสิทธิ์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00FE8E-D69C-4FB7-B35E-9E364215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2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D43903-2EEF-4F10-9D4C-B372354A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9775"/>
            <a:ext cx="1051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0615E"/>
                </a:solidFill>
                <a:latin typeface="Tahoma"/>
                <a:ea typeface="Tahoma"/>
                <a:cs typeface="Tahoma"/>
              </a:rPr>
              <a:t>แต่ละรอบอาจใช้ผู้ประเมินไม่ครบทุกบทบาท ให้ยึดลำดับที่ Admin กำหนด</a:t>
            </a:r>
          </a:p>
        </p:txBody>
      </p:sp>
      <p:sp>
        <p:nvSpPr>
          <p:cNvPr id="25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32EFA679-8945-4138-A113-D840A340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320337B6-5609-4879-A39D-AC2BEAF3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ภาคบ่าย สายสนับสนุน</a:t>
            </a:r>
          </a:p>
        </p:txBody>
      </p:sp>
      <p:sp>
        <p:nvSpPr>
          <p:cNvPr id="27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EC83691A-9B79-4C3D-8B83-9B6D7B03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04 / 18</a:t>
            </a:r>
          </a:p>
        </p:txBody>
      </p:sp>
    </p:spTree>
    <p:extLst>
      <p:ext uri="{BB962C8B-B14F-4D97-AF65-F5344CB8AC3E}">
        <p14:creationId xmlns:p14="http://schemas.microsoft.com/office/powerpoint/2010/main" val="21463631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ide-accent-5">
            <a:extLst xmlns:a="http://schemas.openxmlformats.org/drawingml/2006/main">
              <a:ext uri="{FF2B5EF4-FFF2-40B4-BE49-F238E27FC236}">
                <a16:creationId xmlns:a16="http://schemas.microsoft.com/office/drawing/2014/main" id="{0DC0F2AC-B49E-4091-9364-6784DA67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5">
            <a:extLst xmlns:a="http://schemas.openxmlformats.org/drawingml/2006/main">
              <a:ext uri="{FF2B5EF4-FFF2-40B4-BE49-F238E27FC236}">
                <a16:creationId xmlns:a16="http://schemas.microsoft.com/office/drawing/2014/main" id="{B16357F6-DF9E-46A1-BEED-39BAB2E6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ภาพรวมกระบวนการ  /  สายสนับสนุน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56354841-5F2B-4F4A-BBD9-1DBE03F8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มาดูขั้นตอนทั้งหมดก่อนเริ่มกรอกข้อมูล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4C44C-F143-4337-B1B4-3165A819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ตั้งแต่เลือกกิจกรรม กรอกผล ตรวจคะแนน จนถึงผู้ประเมินคนสุดท้าย</a:t>
            </a:r>
          </a:p>
        </p:txBody>
      </p:sp>
      <p:sp>
        <p:nvSpPr>
          <p:cNvPr id="5" name="workflow-line">
            <a:extLst xmlns:a="http://schemas.openxmlformats.org/drawingml/2006/main">
              <a:ext uri="{FF2B5EF4-FFF2-40B4-BE49-F238E27FC236}">
                <a16:creationId xmlns:a16="http://schemas.microsoft.com/office/drawing/2014/main" id="{B77422B2-12BF-4B57-8C89-69AE0E31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57575"/>
            <a:ext cx="866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workflow-arrow">
            <a:extLst xmlns:a="http://schemas.openxmlformats.org/drawingml/2006/main">
              <a:ext uri="{FF2B5EF4-FFF2-40B4-BE49-F238E27FC236}">
                <a16:creationId xmlns:a16="http://schemas.microsoft.com/office/drawing/2014/main" id="{7AA95D19-25FC-4A01-960F-FB4EF4E5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343275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0BF001-38D6-463B-8A2D-3051EE9E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383574-C93D-4F12-8D07-A36E34A0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05175"/>
            <a:ext cx="74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0D694-1622-4E8D-A792-49E22018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รับงาน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77B0BD-FB10-414C-B7D7-E0A9EC92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9105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ตรวจรอบและรายการ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8CD116-192D-44D9-84F9-DFDFEF25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051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1CD9F7-1CAE-4054-9C50-68AAD8A5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05175"/>
            <a:ext cx="74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6B6056-EDAB-4D4A-9D66-D6814C27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957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กรอกข้อมูล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E548C3-ABFB-4CF3-BEEF-8EC6CB75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59105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กิจกรรม • ตัวชี้วัด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FA305E-2FCA-46A8-81CD-04E5797E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051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EABDC4-C272-4D66-B3D6-ABB33654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05175"/>
            <a:ext cx="74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DF87F0-BB34-4B75-85E2-0F28724B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0957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ตรวจความพร้อม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99B5C9-85A0-4EBE-859C-A190D505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9105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ข้อมูล • หลักฐาน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17FD8F-A0B7-46B6-B890-9B8A0FD4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051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59B87C-FF2B-485D-BC62-8AC694AA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05175"/>
            <a:ext cx="74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3B78CD-DCFB-4CF8-A57C-3D03A347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0957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ส่งแบบประเมิน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B4EB39-AA9E-4458-900A-258013F9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9105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เข้าสู่ลำดับผู้ประเมิน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23794A-821D-4765-B2C0-F74A24ED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051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AB6395-2426-4597-A953-76AE8FAE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05175"/>
            <a:ext cx="74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3FF9DC-B6F8-48C4-AA9E-3DD8C112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957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ปิดงาน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F8611D-2E28-4D89-9C54-6A329DBB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9105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สถานะ Completed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D08F8E-DD16-45A0-B1C2-B9D3BEB1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0615E"/>
                </a:solidFill>
                <a:latin typeface="Tahoma"/>
                <a:ea typeface="Tahoma"/>
                <a:cs typeface="Tahoma"/>
              </a:rPr>
              <a:t>งานเดินตามลำดับผู้ประเมินที่ผู้ดูแลระบบกำหนด</a:t>
            </a:r>
          </a:p>
        </p:txBody>
      </p:sp>
      <p:sp>
        <p:nvSpPr>
          <p:cNvPr id="28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C0FD3E7C-BDE6-45F2-8B23-E0FFBCA0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594E23B4-DCEB-4B28-AB83-49394F59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ภาคบ่าย สายสนับสนุน</a:t>
            </a:r>
          </a:p>
        </p:txBody>
      </p:sp>
      <p:sp>
        <p:nvSpPr>
          <p:cNvPr id="30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07186762-AC81-4BF6-B7FD-B358471F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05 / 18</a:t>
            </a:r>
          </a:p>
        </p:txBody>
      </p:sp>
    </p:spTree>
    <p:extLst>
      <p:ext uri="{BB962C8B-B14F-4D97-AF65-F5344CB8AC3E}">
        <p14:creationId xmlns:p14="http://schemas.microsoft.com/office/powerpoint/2010/main" val="9376625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ide-accent-6">
            <a:extLst xmlns:a="http://schemas.openxmlformats.org/drawingml/2006/main">
              <a:ext uri="{FF2B5EF4-FFF2-40B4-BE49-F238E27FC236}">
                <a16:creationId xmlns:a16="http://schemas.microsoft.com/office/drawing/2014/main" id="{A1AE036C-ACA9-4CAD-8284-8FDDFEE5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6">
            <a:extLst xmlns:a="http://schemas.openxmlformats.org/drawingml/2006/main">
              <a:ext uri="{FF2B5EF4-FFF2-40B4-BE49-F238E27FC236}">
                <a16:creationId xmlns:a16="http://schemas.microsoft.com/office/drawing/2014/main" id="{8304809A-CD02-47A6-846F-9ECEB23C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บทบาทของคุณ  /  สายสนับสนุน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3C9D46E1-8BEC-4FDA-8BFC-C0D78B0A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กรอกผลการดำเนินงานให้ครบ แล้วส่งให้ผู้ประเมิน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0BE184-3967-42AA-9731-42CFB7DD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609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23384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23384D"/>
                </a:solidFill>
                <a:latin typeface="Tahoma"/>
                <a:ea typeface="Tahoma"/>
                <a:cs typeface="Tahoma"/>
              </a:rPr>
              <a:t>ผู้รับการประเมินกรอกผลกิจกรรมและแนบหลักฐานให้ครบ เพื่อให้ผู้ประเมินตรวจข้อมูลได้ชัดเจน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3926E8-CCDF-4DF9-B2F6-1C283306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12A7AC-107C-48FD-AF41-3C880F29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เตรียม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018E42-BA20-4EE4-B7A9-26944D33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3028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963F66-D187-49FE-AE98-C6C7E504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3028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กิจกรรม ผลที่ทำได้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และรายละเอียดประกอบ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BAA85-A82A-4F3C-854F-3F4A7A62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051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78B61E-61B4-4A62-8FDF-FCD04A8F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3855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ตรวจ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85D6AB-09CD-4B07-ADAC-866BAF7E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91000"/>
            <a:ext cx="3028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BECEF3-C714-4FC5-930C-64C43737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76750"/>
            <a:ext cx="3028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ค่าที่กรอก สูตรคำนวณ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และลิงก์หลักฐาน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306169-3B94-4950-911E-FA641361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051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6A822B-3F1A-4D48-9C9D-FEB85F71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3855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ตัดสินใจ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0B9CB5-A658-46E0-838B-C17BC550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91000"/>
            <a:ext cx="3028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819424-4CFC-451F-B586-F60352A0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76750"/>
            <a:ext cx="3028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บันทึกร่าง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หรือส่งแบบประเมิน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DCC319-9D15-43BB-97E4-C1B3876C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66900"/>
            <a:ext cx="3009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2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BBE6A8-E276-47EC-9A87-8DFCC265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90725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0615E"/>
                </a:solidFill>
                <a:latin typeface="Tahoma"/>
                <a:ea typeface="Tahoma"/>
                <a:cs typeface="Tahoma"/>
              </a:rPr>
              <a:t>งานเสร็จเมื่อผู้ประเมิน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0615E"/>
                </a:solidFill>
                <a:latin typeface="Tahoma"/>
                <a:ea typeface="Tahoma"/>
                <a:cs typeface="Tahoma"/>
              </a:rPr>
              <a:t>ลำดับสุดท้ายยืนยันผล</a:t>
            </a:r>
          </a:p>
        </p:txBody>
      </p:sp>
      <p:sp>
        <p:nvSpPr>
          <p:cNvPr id="19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B01FAF1D-91C3-42B9-8CCE-60C42C85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98579BD4-61A6-4A5E-95F4-76967025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ภาคบ่าย สายสนับสนุน</a:t>
            </a:r>
          </a:p>
        </p:txBody>
      </p:sp>
      <p:sp>
        <p:nvSpPr>
          <p:cNvPr id="21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AFFA684A-FF2B-44BB-9418-62C313CE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06 / 18</a:t>
            </a:r>
          </a:p>
        </p:txBody>
      </p:sp>
    </p:spTree>
    <p:extLst>
      <p:ext uri="{BB962C8B-B14F-4D97-AF65-F5344CB8AC3E}">
        <p14:creationId xmlns:p14="http://schemas.microsoft.com/office/powerpoint/2010/main" val="6765761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ide-accent-7">
            <a:extLst xmlns:a="http://schemas.openxmlformats.org/drawingml/2006/main">
              <a:ext uri="{FF2B5EF4-FFF2-40B4-BE49-F238E27FC236}">
                <a16:creationId xmlns:a16="http://schemas.microsoft.com/office/drawing/2014/main" id="{52BC6031-174B-4454-9CCA-B973FEEF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7">
            <a:extLst xmlns:a="http://schemas.openxmlformats.org/drawingml/2006/main">
              <a:ext uri="{FF2B5EF4-FFF2-40B4-BE49-F238E27FC236}">
                <a16:creationId xmlns:a16="http://schemas.microsoft.com/office/drawing/2014/main" id="{24848742-C3C7-4104-98D3-04B9EE73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จุดเริ่มต้น  /  สายสนับสนุน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714AB7E9-7B7C-4705-8E59-7A821B04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ตรวจสอบรอบประเมินและรายการที่ได้รับมอบหมาย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D2B11E-B7EF-4CDE-8F0B-7A71A1CB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0615E"/>
                </a:solidFill>
                <a:latin typeface="Tahoma"/>
                <a:ea typeface="Tahoma"/>
                <a:cs typeface="Tahoma"/>
              </a:rPr>
              <a:t>ก่อนเปิดงาน ให้ตรวจ 3 อย่างนี้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3A165D-6A74-43C0-B0A6-0F5A661D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9E4B1A-D54B-490E-866A-02DD5386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36F2B8-4522-4F09-A482-10C8A807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289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รอบประเมิน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34E56-BEFB-44C6-9C76-087B3BE3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67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ผู้ดูแลระบบกำหนดไว้ถูกต้อง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4AB2D2-90AA-42B4-900F-BB21A86D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AEAB2C-F74E-4C22-A646-038D6587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A7FAE9-0BD9-4BC7-B90A-EC0DB354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957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รายการงาน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9776FD-948F-4127-8641-F73E3C15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338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เป็นงานของคุณและตรงประเภท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F48984-D49C-4705-8A48-EDD663A5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351BE5-F01D-4B3D-8F95-E566A832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AACF0D-DE27-4048-90CF-4A6BB804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62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สถานะ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DE457F-4F7A-46B7-A23B-1F64108F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8006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ยังอยู่ในขั้นที่คุณดำเนินการได้</a:t>
            </a:r>
          </a:p>
        </p:txBody>
      </p:sp>
      <p:sp>
        <p:nvSpPr>
          <p:cNvPr id="17" name="dashboard-preview">
            <a:extLst xmlns:a="http://schemas.openxmlformats.org/drawingml/2006/main">
              <a:ext uri="{FF2B5EF4-FFF2-40B4-BE49-F238E27FC236}">
                <a16:creationId xmlns:a16="http://schemas.microsoft.com/office/drawing/2014/main" id="{8F5B1AF5-236D-4E58-96FA-718BCB9F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09800"/>
            <a:ext cx="3124200" cy="33528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B6D5F9-2842-49EE-A729-C39C28DF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9555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แดชบอร์ดของฉัน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0C9B6E-4F67-400A-97F1-C0C95E3A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05150"/>
            <a:ext cx="2514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12DE3A-B2DB-4787-BF85-21950A88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0992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00615E"/>
                </a:solidFill>
                <a:latin typeface="Tahoma"/>
                <a:ea typeface="Tahoma"/>
                <a:cs typeface="Tahoma"/>
              </a:rPr>
              <a:t>สายสนับสนุน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DCAB48-54DD-4E27-8C0F-2948934B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52850"/>
            <a:ext cx="1943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4D06D6-4548-4C67-B783-B096BB7B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14800"/>
            <a:ext cx="2266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625DDF-2C78-4A9D-9A27-6FCBCA89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05350"/>
            <a:ext cx="15430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CBA14E-E871-43AD-B276-A393D162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29175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เปิดรายการ</a:t>
            </a:r>
          </a:p>
        </p:txBody>
      </p:sp>
      <p:sp>
        <p:nvSpPr>
          <p:cNvPr id="25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C49CC83C-4889-4B50-8D67-237DE67C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15278ACB-91FB-42AA-BDB9-A3630B92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ภาคบ่าย สายสนับสนุน</a:t>
            </a:r>
          </a:p>
        </p:txBody>
      </p:sp>
      <p:sp>
        <p:nvSpPr>
          <p:cNvPr id="27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16CF1C9A-2E8D-4F11-A9D6-9DFC6B77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07 / 18</a:t>
            </a:r>
          </a:p>
        </p:txBody>
      </p:sp>
    </p:spTree>
    <p:extLst>
      <p:ext uri="{BB962C8B-B14F-4D97-AF65-F5344CB8AC3E}">
        <p14:creationId xmlns:p14="http://schemas.microsoft.com/office/powerpoint/2010/main" val="5431640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ide-accent-8">
            <a:extLst xmlns:a="http://schemas.openxmlformats.org/drawingml/2006/main">
              <a:ext uri="{FF2B5EF4-FFF2-40B4-BE49-F238E27FC236}">
                <a16:creationId xmlns:a16="http://schemas.microsoft.com/office/drawing/2014/main" id="{C45A2B73-7757-46CA-B23F-2F3D6F7F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8">
            <a:extLst xmlns:a="http://schemas.openxmlformats.org/drawingml/2006/main">
              <a:ext uri="{FF2B5EF4-FFF2-40B4-BE49-F238E27FC236}">
                <a16:creationId xmlns:a16="http://schemas.microsoft.com/office/drawing/2014/main" id="{475CB63E-DED2-4E55-8608-900C7C40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โครงสร้างข้อมูล  /  สายสนับสนุน</a:t>
            </a:r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95E5763B-20AD-4B2B-AF30-923F2874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ตรวจให้แน่ใจว่าโครงการ กิจกรรม ตัวชี้วัด และหลักฐานตรงกัน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2E4CB-E141-4217-AE8D-7E099663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ตรวจความเชื่อมโยงของข้อมูลทุกส่วน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38D66E-7FA6-4210-88CB-D0DE28AC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505200"/>
            <a:ext cx="7696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4B427-DB16-4D22-A086-6A2F248D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099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187DF2-3521-4B75-A8C1-89995C14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95650"/>
            <a:ext cx="1028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9473E8-7092-4E11-B508-FD538041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259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โครงการ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E3196-8E64-448E-8009-067A8B47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00600"/>
            <a:ext cx="2514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บริบทและเป้าหมาย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94E997-96DB-4F19-9287-B297DDBF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099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1A0785-7E19-4C3D-BAAB-6E90B2E0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95650"/>
            <a:ext cx="1028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4824C3-9FD2-4A63-9396-49BD7FF9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305300"/>
            <a:ext cx="259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กิจกรรม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D162F1-F821-4F51-8D0F-1EEE4FC2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00600"/>
            <a:ext cx="2514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งานที่ดำเนินการ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6DF0FA-4B0E-4B3C-89D9-350B8A87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099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1CA40E-320C-44C7-AA21-27424B8F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95650"/>
            <a:ext cx="1028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4210A4-29BB-45D3-B5FB-261D71D4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05300"/>
            <a:ext cx="259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ตัวชี้วัด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0D33E3-4FC4-4191-8538-C2A31138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00600"/>
            <a:ext cx="2514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เกณฑ์ที่ใช้วัดผล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4D8BC8-5BB7-4151-B64E-E9843122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099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1768EE-7664-43E6-BA06-4ABC0436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95650"/>
            <a:ext cx="1028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294605-A98E-43AC-A2A2-B22ECE2F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305300"/>
            <a:ext cx="259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หลักฐาน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4BFF4E-E83A-47D2-831B-3736E848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00600"/>
            <a:ext cx="2514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สิ่งที่ยืนยันผล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8DADB9-32B9-44D9-9372-E3865B1C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0615E"/>
                </a:solidFill>
                <a:latin typeface="Tahoma"/>
                <a:ea typeface="Tahoma"/>
                <a:cs typeface="Tahoma"/>
              </a:rPr>
              <a:t>ทุกคะแนนต้องย้อนกลับไปอธิบายได้ว่าเกิดจากกิจกรรมใด</a:t>
            </a:r>
          </a:p>
        </p:txBody>
      </p:sp>
      <p:sp>
        <p:nvSpPr>
          <p:cNvPr id="23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4D5E70E4-A7B4-47AD-ADF6-7661704F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E2BFF958-A2E7-4663-ACF9-EEFA725F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ภาคบ่าย สายสนับสนุน</a:t>
            </a:r>
          </a:p>
        </p:txBody>
      </p:sp>
      <p:sp>
        <p:nvSpPr>
          <p:cNvPr id="25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CBF4551B-97B3-4674-82DE-43F4E518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08 / 18</a:t>
            </a:r>
          </a:p>
        </p:txBody>
      </p:sp>
    </p:spTree>
    <p:extLst>
      <p:ext uri="{BB962C8B-B14F-4D97-AF65-F5344CB8AC3E}">
        <p14:creationId xmlns:p14="http://schemas.microsoft.com/office/powerpoint/2010/main" val="12890668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ide-accent-9">
            <a:extLst xmlns:a="http://schemas.openxmlformats.org/drawingml/2006/main">
              <a:ext uri="{FF2B5EF4-FFF2-40B4-BE49-F238E27FC236}">
                <a16:creationId xmlns:a16="http://schemas.microsoft.com/office/drawing/2014/main" id="{35776BEE-3C4F-4B86-94D6-6EE2025B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9">
            <a:extLst xmlns:a="http://schemas.openxmlformats.org/drawingml/2006/main">
              <a:ext uri="{FF2B5EF4-FFF2-40B4-BE49-F238E27FC236}">
                <a16:creationId xmlns:a16="http://schemas.microsoft.com/office/drawing/2014/main" id="{93A4440B-0D41-4EF4-84A3-9573AFB3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บันทึกผลกิจกรรม  /  สายสนับสนุน</a:t>
            </a:r>
          </a:p>
        </p:txBody>
      </p:sp>
      <p:sp>
        <p:nvSpPr>
          <p:cNvPr id="3" name="title-9">
            <a:extLst xmlns:a="http://schemas.openxmlformats.org/drawingml/2006/main">
              <a:ext uri="{FF2B5EF4-FFF2-40B4-BE49-F238E27FC236}">
                <a16:creationId xmlns:a16="http://schemas.microsoft.com/office/drawing/2014/main" id="{85A6F457-E8B1-4E71-A79B-1F1428DC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กรอกเป้าหมาย ผลที่ทำได้ และรายละเอียดกิจกรรมให้ครบ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44DE88-ABF5-4512-A9C5-FD8CC882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ข้อมูล 3 ส่วนนี้ทำให้คะแนนมีที่มา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892562-6674-4573-AC60-426A93B9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3124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020635-C867-4150-BD16-833C7FDB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312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เป้าหมาย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33517E-40D5-4391-8EF1-CEC89318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23384D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23384D"/>
                </a:solidFill>
                <a:latin typeface="Tahoma"/>
                <a:ea typeface="Tahoma"/>
                <a:cs typeface="Tahoma"/>
              </a:rPr>
              <a:t>สิ่งที่เกณฑ์คาดหวัง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CA175A-3829-4F64-984F-A59C4163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กำหนดจุดอ้างอิง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2C76CC-2959-462B-A059-CF19A94F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24150"/>
            <a:ext cx="3124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DC6F18-5833-48E1-B7F2-EBFD98C3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05150"/>
            <a:ext cx="312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ผลที่ทำได้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3397E1-AF8F-4956-B864-B848509D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29050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23384D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23384D"/>
                </a:solidFill>
                <a:latin typeface="Tahoma"/>
                <a:ea typeface="Tahoma"/>
                <a:cs typeface="Tahoma"/>
              </a:rPr>
              <a:t>ค่าหรือระดับผลงานจริง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12C404-4E10-44DC-82C2-9630ECB6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667250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ใช้คำนวณคะแนน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4435BA-3482-4FB0-84E7-0038BD07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24150"/>
            <a:ext cx="3124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517D6D-C3BD-4577-AD86-3BF8035C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05150"/>
            <a:ext cx="312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รายละเอียดกิจกรรม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12EA81-EC5A-46E7-9685-78BDE609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29050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23384D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23384D"/>
                </a:solidFill>
                <a:latin typeface="Tahoma"/>
                <a:ea typeface="Tahoma"/>
                <a:cs typeface="Tahoma"/>
              </a:rPr>
              <a:t>อธิบายงานที่เกิดขึ้น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AC4884-97AB-4279-A728-E0F5F002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67250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เชื่อมกับหลักฐาน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134EE7-A01A-48E3-8A28-828533BE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00615E"/>
                </a:solidFill>
                <a:latin typeface="Tahoma"/>
                <a:ea typeface="Tahoma"/>
                <a:cs typeface="Tahoma"/>
              </a:rPr>
              <a:t>หากเกณฑ์อนุญาต คุณสามารถเพิ่มรายการกิจกรรม/โครงการได้</a:t>
            </a:r>
          </a:p>
        </p:txBody>
      </p:sp>
      <p:sp>
        <p:nvSpPr>
          <p:cNvPr id="18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9E706026-367B-4796-B795-D046C0DC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abel-9">
            <a:extLst xmlns:a="http://schemas.openxmlformats.org/drawingml/2006/main">
              <a:ext uri="{FF2B5EF4-FFF2-40B4-BE49-F238E27FC236}">
                <a16:creationId xmlns:a16="http://schemas.microsoft.com/office/drawing/2014/main" id="{CD7518B4-0CF1-4E79-BF2E-BF01CB9C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ภาคบ่าย สายสนับสนุน</a:t>
            </a:r>
          </a:p>
        </p:txBody>
      </p:sp>
      <p:sp>
        <p:nvSpPr>
          <p:cNvPr id="20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DB7B14EE-F81E-46E6-9488-8C8CC223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09 / 18</a:t>
            </a:r>
          </a:p>
        </p:txBody>
      </p:sp>
    </p:spTree>
    <p:extLst>
      <p:ext uri="{BB962C8B-B14F-4D97-AF65-F5344CB8AC3E}">
        <p14:creationId xmlns:p14="http://schemas.microsoft.com/office/powerpoint/2010/main" val="10198711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accent-10">
            <a:extLst xmlns:a="http://schemas.openxmlformats.org/drawingml/2006/main">
              <a:ext uri="{FF2B5EF4-FFF2-40B4-BE49-F238E27FC236}">
                <a16:creationId xmlns:a16="http://schemas.microsoft.com/office/drawing/2014/main" id="{B994037B-5FA2-4CD7-B041-E281CF4B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10">
            <a:extLst xmlns:a="http://schemas.openxmlformats.org/drawingml/2006/main">
              <a:ext uri="{FF2B5EF4-FFF2-40B4-BE49-F238E27FC236}">
                <a16:creationId xmlns:a16="http://schemas.microsoft.com/office/drawing/2014/main" id="{45C8F0A8-53CA-43A3-83C4-5636D93D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สูตรคะแนน  /  สายสนับสนุน</a:t>
            </a:r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9B3ED643-52CF-4AA2-BF4C-BA86F75D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ระบบคำนวณคะแนนถ่วงน้ำหนักจากน้ำหนักและคะแนนที่ทำได้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AC921-5368-4859-B1E2-1D948737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0615E"/>
                </a:solidFill>
                <a:latin typeface="Tahoma"/>
                <a:ea typeface="Tahoma"/>
                <a:cs typeface="Tahoma"/>
              </a:rPr>
              <a:t>คะแนนถ่วงน้ำหนัก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078A87-D451-4B1E-B173-5886ACD8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33700"/>
            <a:ext cx="72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900" b="1">
                <a:solidFill>
                  <a:srgbClr val="C79A2B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C79A2B"/>
                </a:solidFill>
                <a:latin typeface="Tahoma"/>
                <a:ea typeface="Tahoma"/>
                <a:cs typeface="Tahoma"/>
              </a:rPr>
              <a:t>=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55D4F9-6DF3-468D-83E9-419B1F3B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95550"/>
            <a:ext cx="2000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น้ำหนัก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B7AED-08CA-42C2-89F6-970CFA61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33700"/>
            <a:ext cx="552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750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3750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A3FB20-337D-455A-8305-50DBB4B0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95550"/>
            <a:ext cx="24955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2F4F1"/>
          </a:solidFill>
          <a:ln xmlns:a="http://schemas.openxmlformats.org/drawingml/2006/main" w="9525">
            <a:solidFill>
              <a:srgbClr val="008C86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คะแนนที่ทำได้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F4F875-CCDC-48A0-93CA-C85E1CAB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43350"/>
            <a:ext cx="5276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EC2F38-6D76-4AED-AC4A-62C18408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71950"/>
            <a:ext cx="527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E7744B-77E8-4C12-B8EA-E96ABC89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0615E"/>
                </a:solidFill>
                <a:latin typeface="Tahoma"/>
                <a:ea typeface="Tahoma"/>
                <a:cs typeface="Tahoma"/>
              </a:rPr>
              <a:t>คะแนนถ่วงน้ำหนัก = น้ำหนัก × คะแนนที่ทำได้ ÷ 100</a:t>
            </a:r>
          </a:p>
        </p:txBody>
      </p:sp>
      <p:sp>
        <p:nvSpPr>
          <p:cNvPr id="12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36C80AFA-AE5A-4694-AD7F-6B6521D1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oter-label-10">
            <a:extLst xmlns:a="http://schemas.openxmlformats.org/drawingml/2006/main">
              <a:ext uri="{FF2B5EF4-FFF2-40B4-BE49-F238E27FC236}">
                <a16:creationId xmlns:a16="http://schemas.microsoft.com/office/drawing/2014/main" id="{539DA4A6-8370-4F62-A715-D647731B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ภาคบ่าย สายสนับสนุน</a:t>
            </a:r>
          </a:p>
        </p:txBody>
      </p:sp>
      <p:sp>
        <p:nvSpPr>
          <p:cNvPr id="14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D26A8D7D-CB7A-49BA-A468-A795D2DA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10 / 18</a:t>
            </a:r>
          </a:p>
        </p:txBody>
      </p:sp>
    </p:spTree>
    <p:extLst>
      <p:ext uri="{BB962C8B-B14F-4D97-AF65-F5344CB8AC3E}">
        <p14:creationId xmlns:p14="http://schemas.microsoft.com/office/powerpoint/2010/main" val="1179642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accent-11">
            <a:extLst xmlns:a="http://schemas.openxmlformats.org/drawingml/2006/main">
              <a:ext uri="{FF2B5EF4-FFF2-40B4-BE49-F238E27FC236}">
                <a16:creationId xmlns:a16="http://schemas.microsoft.com/office/drawing/2014/main" id="{2AB9894F-F33E-446C-92BE-352E55F4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11">
            <a:extLst xmlns:a="http://schemas.openxmlformats.org/drawingml/2006/main">
              <a:ext uri="{FF2B5EF4-FFF2-40B4-BE49-F238E27FC236}">
                <a16:creationId xmlns:a16="http://schemas.microsoft.com/office/drawing/2014/main" id="{32731524-203E-4FFC-A943-92ED88FA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ตัวอย่างคำนวณ  /  สายสนับสนุน</a:t>
            </a:r>
          </a:p>
        </p:txBody>
      </p:sp>
      <p:sp>
        <p:nvSpPr>
          <p:cNvPr id="3" name="title-11">
            <a:extLst xmlns:a="http://schemas.openxmlformats.org/drawingml/2006/main">
              <a:ext uri="{FF2B5EF4-FFF2-40B4-BE49-F238E27FC236}">
                <a16:creationId xmlns:a16="http://schemas.microsoft.com/office/drawing/2014/main" id="{FCB33C47-09BC-4D2E-8263-DFB5EF53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ลองคำนวณคะแนนจากตัวอย่างนี้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69DE0-E22E-4039-B6D8-5B8283E5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31432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06F2A-50CF-4111-8E8E-BB855275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26860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55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555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D8EBBC-1315-4C82-9C7C-6E1C0D05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2686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น้ำหนัก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5E769-420D-4FF4-80BC-B093B9DF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00300"/>
            <a:ext cx="31432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7B5F38-8355-444A-B9DB-55C1CC1E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47950"/>
            <a:ext cx="26860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55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555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80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BC24B6-E2B6-4994-A7B3-E61F0C6D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05250"/>
            <a:ext cx="2686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คะแนนที่ทำได้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ADDFAC-2E0B-4861-A4F3-CA8BE365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00300"/>
            <a:ext cx="31432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E2F4F1"/>
          </a:solidFill>
          <a:ln xmlns:a="http://schemas.openxmlformats.org/drawingml/2006/main" w="9525">
            <a:solidFill>
              <a:srgbClr val="008C8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329D03-01B1-4908-BC4F-C380EF86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47950"/>
            <a:ext cx="26860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550" b="1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5550" b="1">
                <a:solidFill>
                  <a:srgbClr val="00615E"/>
                </a:solidFill>
                <a:latin typeface="Tahoma"/>
                <a:ea typeface="Tahoma"/>
                <a:cs typeface="Tahoma"/>
              </a:rPr>
              <a:t>16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CAAC5F-3A64-4B88-85E3-EC6EF1CA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2686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คะแนนถ่วงน้ำหนัก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67160A-2B5F-40FF-AB58-27212DD2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700" b="1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00615E"/>
                </a:solidFill>
                <a:latin typeface="Tahoma"/>
                <a:ea typeface="Tahoma"/>
                <a:cs typeface="Tahoma"/>
              </a:rPr>
              <a:t>20 × 80 ÷ 100 = 16 คะแนน</a:t>
            </a:r>
          </a:p>
        </p:txBody>
      </p:sp>
      <p:sp>
        <p:nvSpPr>
          <p:cNvPr id="14" name="footer-rule-11">
            <a:extLst xmlns:a="http://schemas.openxmlformats.org/drawingml/2006/main">
              <a:ext uri="{FF2B5EF4-FFF2-40B4-BE49-F238E27FC236}">
                <a16:creationId xmlns:a16="http://schemas.microsoft.com/office/drawing/2014/main" id="{CE937025-C4A0-4E55-A818-EF61CDA5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abel-11">
            <a:extLst xmlns:a="http://schemas.openxmlformats.org/drawingml/2006/main">
              <a:ext uri="{FF2B5EF4-FFF2-40B4-BE49-F238E27FC236}">
                <a16:creationId xmlns:a16="http://schemas.microsoft.com/office/drawing/2014/main" id="{5E79C020-D56E-4368-B7F4-0528B117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ภาคบ่าย สายสนับสนุน</a:t>
            </a:r>
          </a:p>
        </p:txBody>
      </p:sp>
      <p:sp>
        <p:nvSpPr>
          <p:cNvPr id="16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D2945640-B6EA-4174-811B-CD6373D5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11 / 18</a:t>
            </a:r>
          </a:p>
        </p:txBody>
      </p:sp>
    </p:spTree>
    <p:extLst>
      <p:ext uri="{BB962C8B-B14F-4D97-AF65-F5344CB8AC3E}">
        <p14:creationId xmlns:p14="http://schemas.microsoft.com/office/powerpoint/2010/main" val="15707995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ide-accent-12">
            <a:extLst xmlns:a="http://schemas.openxmlformats.org/drawingml/2006/main">
              <a:ext uri="{FF2B5EF4-FFF2-40B4-BE49-F238E27FC236}">
                <a16:creationId xmlns:a16="http://schemas.microsoft.com/office/drawing/2014/main" id="{75907DAE-124A-4747-A6F0-FFB5F7C0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12">
            <a:extLst xmlns:a="http://schemas.openxmlformats.org/drawingml/2006/main">
              <a:ext uri="{FF2B5EF4-FFF2-40B4-BE49-F238E27FC236}">
                <a16:creationId xmlns:a16="http://schemas.microsoft.com/office/drawing/2014/main" id="{3F2A895F-9386-490F-939A-DD1C1CBF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หลักฐาน  /  สายสนับสนุน</a:t>
            </a:r>
          </a:p>
        </p:txBody>
      </p:sp>
      <p:sp>
        <p:nvSpPr>
          <p:cNvPr id="3" name="title-12">
            <a:extLst xmlns:a="http://schemas.openxmlformats.org/drawingml/2006/main">
              <a:ext uri="{FF2B5EF4-FFF2-40B4-BE49-F238E27FC236}">
                <a16:creationId xmlns:a16="http://schemas.microsoft.com/office/drawing/2014/main" id="{FDAAF437-BCC0-49FE-96A1-B89A97DA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แนบหลักฐานที่เปิดดูได้และตรงกับกิจกรรม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DAB66A-4536-43B4-978F-05E62B2A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847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00615E"/>
                </a:solidFill>
                <a:latin typeface="Tahoma"/>
                <a:ea typeface="Tahoma"/>
                <a:cs typeface="Tahoma"/>
              </a:rPr>
              <a:t>ผู้ประเมินควรเห็นได้ทันทีว่าหลักฐานรองรับกิจกรรมใด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185B0-0E4F-41B9-8957-CADD0DE4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D43BE8-EAEC-4C17-A98F-AAAB0991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0FFAC0-EE4C-42B9-9DAB-E4B241E9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62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เปิดได้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D2D55A-00AA-4046-AD68-810821F2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8130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ใช้ลิงก์ http/https ที่เข้าถึงได้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810A33-52DA-41E4-96B1-A3999174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5EEB61-3DE9-459E-A376-517AD32B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FD0D59-9B54-42F7-8522-BFEFA4F1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957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ตรงรายการ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B68465-AFE4-49CA-805F-40B78786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เห็นความเชื่อมโยงกับกิจกรรมหรือโครงการ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67C1EC-23B2-49E4-AF9C-8E2C5CBD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B04A8A-021B-43C4-ABF1-7B2D6A5A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499D7F-B164-409C-91C9-D0F5F3FC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291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ตรวจสอบได้ชัดเจน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76F057-AE75-40C6-9737-99EB25BC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4820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เปิดลิงก์แล้วรู้ว่าเป็นหลักฐานของรายการใด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149CB9-B8E2-41BE-8909-44CE0D1B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24450"/>
            <a:ext cx="3524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2F4F1"/>
          </a:solidFill>
          <a:ln xmlns:a="http://schemas.openxmlformats.org/drawingml/2006/main" w="9525">
            <a:solidFill>
              <a:srgbClr val="008C8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80B7FA-7F66-478F-8504-B9A7F99A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219700"/>
            <a:ext cx="302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00615E"/>
                </a:solidFill>
                <a:latin typeface="Tahoma"/>
                <a:ea typeface="Tahoma"/>
                <a:cs typeface="Tahoma"/>
              </a:rPr>
              <a:t>รายการที่บังคับหลักฐาน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00615E"/>
                </a:solidFill>
                <a:latin typeface="Tahoma"/>
                <a:ea typeface="Tahoma"/>
                <a:cs typeface="Tahoma"/>
              </a:rPr>
              <a:t>ต้องมีลิงก์ก่อนส่ง</a:t>
            </a:r>
          </a:p>
        </p:txBody>
      </p:sp>
      <p:sp>
        <p:nvSpPr>
          <p:cNvPr id="19" name="footer-rule-12">
            <a:extLst xmlns:a="http://schemas.openxmlformats.org/drawingml/2006/main">
              <a:ext uri="{FF2B5EF4-FFF2-40B4-BE49-F238E27FC236}">
                <a16:creationId xmlns:a16="http://schemas.microsoft.com/office/drawing/2014/main" id="{3325465F-9B55-4AF2-A2A0-CF6CDEB4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label-12">
            <a:extLst xmlns:a="http://schemas.openxmlformats.org/drawingml/2006/main">
              <a:ext uri="{FF2B5EF4-FFF2-40B4-BE49-F238E27FC236}">
                <a16:creationId xmlns:a16="http://schemas.microsoft.com/office/drawing/2014/main" id="{3A396558-19DE-4D32-8384-1324D727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ภาคบ่าย สายสนับสนุน</a:t>
            </a:r>
          </a:p>
        </p:txBody>
      </p:sp>
      <p:sp>
        <p:nvSpPr>
          <p:cNvPr id="21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4CA8337B-39EA-43CD-9B80-CFB6D867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12 / 18</a:t>
            </a:r>
          </a:p>
        </p:txBody>
      </p:sp>
    </p:spTree>
    <p:extLst>
      <p:ext uri="{BB962C8B-B14F-4D97-AF65-F5344CB8AC3E}">
        <p14:creationId xmlns:p14="http://schemas.microsoft.com/office/powerpoint/2010/main" val="2456930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accent-13">
            <a:extLst xmlns:a="http://schemas.openxmlformats.org/drawingml/2006/main">
              <a:ext uri="{FF2B5EF4-FFF2-40B4-BE49-F238E27FC236}">
                <a16:creationId xmlns:a16="http://schemas.microsoft.com/office/drawing/2014/main" id="{70F93210-2701-4023-908A-14386BF9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13">
            <a:extLst xmlns:a="http://schemas.openxmlformats.org/drawingml/2006/main">
              <a:ext uri="{FF2B5EF4-FFF2-40B4-BE49-F238E27FC236}">
                <a16:creationId xmlns:a16="http://schemas.microsoft.com/office/drawing/2014/main" id="{8B18B81F-DE49-4D58-9565-388CF177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ก่อนกดปุ่ม  /  สายสนับสนุน</a:t>
            </a:r>
          </a:p>
        </p:txBody>
      </p:sp>
      <p:sp>
        <p:nvSpPr>
          <p:cNvPr id="3" name="title-13">
            <a:extLst xmlns:a="http://schemas.openxmlformats.org/drawingml/2006/main">
              <a:ext uri="{FF2B5EF4-FFF2-40B4-BE49-F238E27FC236}">
                <a16:creationId xmlns:a16="http://schemas.microsoft.com/office/drawing/2014/main" id="{7C616283-1D52-4216-B7D7-0CD3867E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หากข้อมูลยังไม่ครบ ให้บันทึกร่างไว้ก่อน</a:t>
            </a:r>
          </a:p>
        </p:txBody>
      </p:sp>
      <p:sp>
        <p:nvSpPr>
          <p:cNvPr id="4" name="draft-panel">
            <a:extLst xmlns:a="http://schemas.openxmlformats.org/drawingml/2006/main">
              <a:ext uri="{FF2B5EF4-FFF2-40B4-BE49-F238E27FC236}">
                <a16:creationId xmlns:a16="http://schemas.microsoft.com/office/drawing/2014/main" id="{F6246425-8882-4A3D-A98C-7344EEC7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495300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0A8B80-3256-48B9-A29E-0652BC89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860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7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บันทึกร่าง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FFE532-A3B2-400D-A2F7-6F90916B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86150"/>
            <a:ext cx="4038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กลับมาแก้ไขได้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เหมาะเมื่อข้อมูลยังไม่ครบ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งานยังไม่ส่งให้ผู้ประเมิน</a:t>
            </a:r>
          </a:p>
        </p:txBody>
      </p:sp>
      <p:sp>
        <p:nvSpPr>
          <p:cNvPr id="7" name="submit-panel">
            <a:extLst xmlns:a="http://schemas.openxmlformats.org/drawingml/2006/main">
              <a:ext uri="{FF2B5EF4-FFF2-40B4-BE49-F238E27FC236}">
                <a16:creationId xmlns:a16="http://schemas.microsoft.com/office/drawing/2014/main" id="{17169B85-057D-49D0-8592-DBAA33D5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43150"/>
            <a:ext cx="556260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E2F4F1"/>
          </a:solidFill>
          <a:ln xmlns:a="http://schemas.openxmlformats.org/drawingml/2006/main" w="19050">
            <a:solidFill>
              <a:srgbClr val="008C8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A174D3-7B79-47A4-93A2-4B88483C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860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2775" b="1">
                <a:solidFill>
                  <a:srgbClr val="00615E"/>
                </a:solidFill>
                <a:latin typeface="Tahoma"/>
                <a:ea typeface="Tahoma"/>
                <a:cs typeface="Tahoma"/>
              </a:rPr>
              <a:t>ส่งแบบประเมิน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B71EB2-6383-4D0E-8967-4DD352C7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86150"/>
            <a:ext cx="4686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00615E"/>
                </a:solidFill>
                <a:latin typeface="Tahoma"/>
                <a:ea typeface="Tahoma"/>
                <a:cs typeface="Tahoma"/>
              </a:rPr>
              <a:t>ระบบตรวจข้อมูลบังคับและหลักฐาน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00615E"/>
                </a:solidFill>
                <a:latin typeface="Tahoma"/>
                <a:ea typeface="Tahoma"/>
                <a:cs typeface="Tahoma"/>
              </a:rPr>
              <a:t>งานเข้าสู่ลำดับผู้ประเมิน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00615E"/>
                </a:solidFill>
                <a:latin typeface="Tahoma"/>
                <a:ea typeface="Tahoma"/>
                <a:cs typeface="Tahoma"/>
              </a:rPr>
              <a:t>ตรวจอีกครั้งก่อนยืนยัน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C378E6-8818-45B4-9F14-2BD16D3D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ถามตัวเองก่อนกดส่ง: “ผู้ประเมินเห็นข้อมูลครบหรือยัง?”</a:t>
            </a:r>
          </a:p>
        </p:txBody>
      </p:sp>
      <p:sp>
        <p:nvSpPr>
          <p:cNvPr id="11" name="footer-rule-13">
            <a:extLst xmlns:a="http://schemas.openxmlformats.org/drawingml/2006/main">
              <a:ext uri="{FF2B5EF4-FFF2-40B4-BE49-F238E27FC236}">
                <a16:creationId xmlns:a16="http://schemas.microsoft.com/office/drawing/2014/main" id="{0B0F67A6-7111-4B5C-84C6-D591087E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abel-13">
            <a:extLst xmlns:a="http://schemas.openxmlformats.org/drawingml/2006/main">
              <a:ext uri="{FF2B5EF4-FFF2-40B4-BE49-F238E27FC236}">
                <a16:creationId xmlns:a16="http://schemas.microsoft.com/office/drawing/2014/main" id="{5F280CCF-599C-46D4-A5C9-67CCEFDD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ภาคบ่าย สายสนับสนุน</a:t>
            </a:r>
          </a:p>
        </p:txBody>
      </p:sp>
      <p:sp>
        <p:nvSpPr>
          <p:cNvPr id="13" name="footer-page-13">
            <a:extLst xmlns:a="http://schemas.openxmlformats.org/drawingml/2006/main">
              <a:ext uri="{FF2B5EF4-FFF2-40B4-BE49-F238E27FC236}">
                <a16:creationId xmlns:a16="http://schemas.microsoft.com/office/drawing/2014/main" id="{7F0CDF5A-EDF2-4114-9785-7C181FD0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13 / 18</a:t>
            </a:r>
          </a:p>
        </p:txBody>
      </p:sp>
    </p:spTree>
    <p:extLst>
      <p:ext uri="{BB962C8B-B14F-4D97-AF65-F5344CB8AC3E}">
        <p14:creationId xmlns:p14="http://schemas.microsoft.com/office/powerpoint/2010/main" val="20629092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ide-accent-14">
            <a:extLst xmlns:a="http://schemas.openxmlformats.org/drawingml/2006/main">
              <a:ext uri="{FF2B5EF4-FFF2-40B4-BE49-F238E27FC236}">
                <a16:creationId xmlns:a16="http://schemas.microsoft.com/office/drawing/2014/main" id="{32436414-9E50-4CC8-B604-46F1FDD7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14">
            <a:extLst xmlns:a="http://schemas.openxmlformats.org/drawingml/2006/main">
              <a:ext uri="{FF2B5EF4-FFF2-40B4-BE49-F238E27FC236}">
                <a16:creationId xmlns:a16="http://schemas.microsoft.com/office/drawing/2014/main" id="{059CD542-B797-46F5-8554-69FE8E13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หลังจากส่ง  /  สายสนับสนุน</a:t>
            </a:r>
          </a:p>
        </p:txBody>
      </p:sp>
      <p:sp>
        <p:nvSpPr>
          <p:cNvPr id="3" name="title-14">
            <a:extLst xmlns:a="http://schemas.openxmlformats.org/drawingml/2006/main">
              <a:ext uri="{FF2B5EF4-FFF2-40B4-BE49-F238E27FC236}">
                <a16:creationId xmlns:a16="http://schemas.microsoft.com/office/drawing/2014/main" id="{82A2AB36-A3C7-4A4D-892E-66BA7DC9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หลังส่งแบบประเมิน ระบบจะส่งงานตามลำดับผู้ประเมิน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964148-7B10-4457-BF70-2D26B380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86150"/>
            <a:ext cx="8801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A17D10-637A-4518-A64C-4470DB1F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480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321E17-7D17-413A-8D34-92E00788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95650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043E86-07BE-4279-9416-5BC599C6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ตรวจ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7A6D35-C9CB-4E5D-B14B-C143C01F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2228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ข้อมูลและหลักฐาน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BDE131-CA3E-478C-B139-55A372AF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480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D1D8D5-299E-46A6-9CB2-907BDCB0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95650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6CA85D-83A0-40E4-B891-A886F94F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21005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ให้ผล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AFA79D-FA50-49EE-8B23-FD7A453A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705350"/>
            <a:ext cx="2228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คะแนนหรือความเห็น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8D5080-120C-47C9-B14E-97DD70A1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41EDC5-9767-460C-B307-C8F37B8A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95650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0F7658-9BFE-4252-999A-0F17E45D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1005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ส่งต่อ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AD4C98-7B79-48CA-9859-DE516B1E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05350"/>
            <a:ext cx="2228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ไปยังผู้ประเมินลำดับถัดไป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C60B28-E4CC-446B-B421-26C0F780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480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5B2705-71A3-4588-9748-0C342FC3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95650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FB0AEF-6EAC-47D0-8E91-7003B61B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1005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ยืนยันขั้นสุดท้าย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2933D1-E186-4247-9535-86F20526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05350"/>
            <a:ext cx="2228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เมื่ออยู่ในลำดับสุดท้าย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663AB5-204A-483E-A006-47CAB03E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00615E"/>
                </a:solidFill>
                <a:latin typeface="Tahoma"/>
                <a:ea typeface="Tahoma"/>
                <a:cs typeface="Tahoma"/>
              </a:rPr>
              <a:t>จำนวนและบทบาทของผู้ประเมินอาจต่างกันในแต่ละงาน</a:t>
            </a:r>
          </a:p>
        </p:txBody>
      </p:sp>
      <p:sp>
        <p:nvSpPr>
          <p:cNvPr id="22" name="footer-rule-14">
            <a:extLst xmlns:a="http://schemas.openxmlformats.org/drawingml/2006/main">
              <a:ext uri="{FF2B5EF4-FFF2-40B4-BE49-F238E27FC236}">
                <a16:creationId xmlns:a16="http://schemas.microsoft.com/office/drawing/2014/main" id="{BB020E08-81DA-468F-845F-364C4ABE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label-14">
            <a:extLst xmlns:a="http://schemas.openxmlformats.org/drawingml/2006/main">
              <a:ext uri="{FF2B5EF4-FFF2-40B4-BE49-F238E27FC236}">
                <a16:creationId xmlns:a16="http://schemas.microsoft.com/office/drawing/2014/main" id="{EBF11A4B-318F-41BE-8DF2-397BCA5C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ภาคบ่าย สายสนับสนุน</a:t>
            </a:r>
          </a:p>
        </p:txBody>
      </p:sp>
      <p:sp>
        <p:nvSpPr>
          <p:cNvPr id="24" name="footer-page-14">
            <a:extLst xmlns:a="http://schemas.openxmlformats.org/drawingml/2006/main">
              <a:ext uri="{FF2B5EF4-FFF2-40B4-BE49-F238E27FC236}">
                <a16:creationId xmlns:a16="http://schemas.microsoft.com/office/drawing/2014/main" id="{41977195-AF6E-4FDF-A5FD-380E2592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14 / 18</a:t>
            </a:r>
          </a:p>
        </p:txBody>
      </p:sp>
    </p:spTree>
    <p:extLst>
      <p:ext uri="{BB962C8B-B14F-4D97-AF65-F5344CB8AC3E}">
        <p14:creationId xmlns:p14="http://schemas.microsoft.com/office/powerpoint/2010/main" val="179626937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ide-accent-15">
            <a:extLst xmlns:a="http://schemas.openxmlformats.org/drawingml/2006/main">
              <a:ext uri="{FF2B5EF4-FFF2-40B4-BE49-F238E27FC236}">
                <a16:creationId xmlns:a16="http://schemas.microsoft.com/office/drawing/2014/main" id="{9B78E68C-0262-4FE6-9611-F3DCA790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15">
            <a:extLst xmlns:a="http://schemas.openxmlformats.org/drawingml/2006/main">
              <a:ext uri="{FF2B5EF4-FFF2-40B4-BE49-F238E27FC236}">
                <a16:creationId xmlns:a16="http://schemas.microsoft.com/office/drawing/2014/main" id="{82EBD2B0-6623-4CFC-9770-50F1AC9D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สำหรับผู้ประเมิน  /  สายสนับสนุน</a:t>
            </a:r>
          </a:p>
        </p:txBody>
      </p:sp>
      <p:sp>
        <p:nvSpPr>
          <p:cNvPr id="3" name="title-15">
            <a:extLst xmlns:a="http://schemas.openxmlformats.org/drawingml/2006/main">
              <a:ext uri="{FF2B5EF4-FFF2-40B4-BE49-F238E27FC236}">
                <a16:creationId xmlns:a16="http://schemas.microsoft.com/office/drawing/2014/main" id="{EBF0F00D-38F0-4E97-AA5B-F5F3FB90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ผู้ประเมินตรวจผลกิจกรรม คะแนน และหลักฐาน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8CE8C-6D3D-4044-9185-A5A24DB9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31EFFB-20DA-4CCD-80F5-E2DE5362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383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ตรวจข้อมูล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131049-8BE1-48BD-8A4D-EC11B438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764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ผลกิจกรรมและรายละเอียดตรงกับเกณฑ์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A51CD-0FF5-4857-8C55-B9ABE78A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9734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8B4B5D-8E37-4045-8B94-BE21A3B3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E528C-36AE-4567-B589-22401AB0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337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ตรวจคะแนน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EB93BA-FB37-4C32-B885-B2B675F9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718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น้ำหนัก คะแนนที่ทำได้ และผลคำนวณสอดคล้องกัน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698907-8303-42E7-826D-9E431DCF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62350"/>
            <a:ext cx="9734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CDFC5E-BFC1-4A9E-80CA-BDD7C1C9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569542-1446-4870-95CF-58239191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290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เปิดหลักฐาน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46EB7A-2FAB-428F-B4C0-A0A1C772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671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ลิงก์เข้าถึงได้และยืนยันกิจกรรม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3BA74C-E743-4B6B-BDFA-BB55F871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57700"/>
            <a:ext cx="9734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8F5BB2-2F04-47B8-98CB-A944FC61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C79A2B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C79A2B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FEA94D-BEBC-498D-ADAA-E2EFF9CE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244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ส่งต่องาน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838EA9-769D-4F40-AE91-AEAF3EB2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625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ให้ผลและดำเนินการเมื่อข้อมูลครบตามสิทธิ์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6A08CA-3559-4450-9B07-39B883F4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2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8FD054-8854-497B-AD3F-DDD5C680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38825"/>
            <a:ext cx="1051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0615E"/>
                </a:solidFill>
                <a:latin typeface="Tahoma"/>
                <a:ea typeface="Tahoma"/>
                <a:cs typeface="Tahoma"/>
              </a:rPr>
              <a:t>ผู้ประเมินควรตัดสินใจจากข้อมูลและหลักฐานที่เปิดตรวจได้</a:t>
            </a:r>
          </a:p>
        </p:txBody>
      </p:sp>
      <p:sp>
        <p:nvSpPr>
          <p:cNvPr id="21" name="footer-rule-15">
            <a:extLst xmlns:a="http://schemas.openxmlformats.org/drawingml/2006/main">
              <a:ext uri="{FF2B5EF4-FFF2-40B4-BE49-F238E27FC236}">
                <a16:creationId xmlns:a16="http://schemas.microsoft.com/office/drawing/2014/main" id="{6CB6365F-3CA1-4E71-89E5-C38E7BFA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label-15">
            <a:extLst xmlns:a="http://schemas.openxmlformats.org/drawingml/2006/main">
              <a:ext uri="{FF2B5EF4-FFF2-40B4-BE49-F238E27FC236}">
                <a16:creationId xmlns:a16="http://schemas.microsoft.com/office/drawing/2014/main" id="{DD3B1C1C-C7EA-436D-8CF6-36F8C196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ภาคบ่าย สายสนับสนุน</a:t>
            </a:r>
          </a:p>
        </p:txBody>
      </p:sp>
      <p:sp>
        <p:nvSpPr>
          <p:cNvPr id="23" name="footer-page-15">
            <a:extLst xmlns:a="http://schemas.openxmlformats.org/drawingml/2006/main">
              <a:ext uri="{FF2B5EF4-FFF2-40B4-BE49-F238E27FC236}">
                <a16:creationId xmlns:a16="http://schemas.microsoft.com/office/drawing/2014/main" id="{2F6F6F84-F840-4048-8CE7-572D9DF6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15 / 18</a:t>
            </a:r>
          </a:p>
        </p:txBody>
      </p:sp>
    </p:spTree>
    <p:extLst>
      <p:ext uri="{BB962C8B-B14F-4D97-AF65-F5344CB8AC3E}">
        <p14:creationId xmlns:p14="http://schemas.microsoft.com/office/powerpoint/2010/main" val="26577465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ide-accent-16">
            <a:extLst xmlns:a="http://schemas.openxmlformats.org/drawingml/2006/main">
              <a:ext uri="{FF2B5EF4-FFF2-40B4-BE49-F238E27FC236}">
                <a16:creationId xmlns:a16="http://schemas.microsoft.com/office/drawing/2014/main" id="{D7D582CF-48E3-4AB1-B6EB-02CC4616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16">
            <a:extLst xmlns:a="http://schemas.openxmlformats.org/drawingml/2006/main">
              <a:ext uri="{FF2B5EF4-FFF2-40B4-BE49-F238E27FC236}">
                <a16:creationId xmlns:a16="http://schemas.microsoft.com/office/drawing/2014/main" id="{23872DC0-8F07-42A2-BB97-769484DD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ลำดับการประเมิน  /  สายสนับสนุน</a:t>
            </a:r>
          </a:p>
        </p:txBody>
      </p:sp>
      <p:sp>
        <p:nvSpPr>
          <p:cNvPr id="3" name="title-16">
            <a:extLst xmlns:a="http://schemas.openxmlformats.org/drawingml/2006/main">
              <a:ext uri="{FF2B5EF4-FFF2-40B4-BE49-F238E27FC236}">
                <a16:creationId xmlns:a16="http://schemas.microsoft.com/office/drawing/2014/main" id="{543301F8-C409-40A5-B9B7-B0B21753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ผู้ประเมินแต่ละคนส่งต่องานตามลำดับ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827AC4-41F3-4F85-8BAE-743FD9F6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57575"/>
            <a:ext cx="7658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B94CF-0ABB-42F2-B9B6-BB9742E1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146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D3F6F-E08B-437B-BE66-A202BFED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2194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DF221F-48FD-4F8A-92D3-5733A38A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ผู้ประเมินคนที่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207242-6803-4F79-8CB9-832E43B3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ตรวจและให้ผล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AA48A-1AC5-4397-9910-6D9A9F91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146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4BD81-1D31-42B0-B973-598775A4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194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E70225-2260-44E0-B233-44A0CF61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434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ผู้ประเมินคนถัดไป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A3BDA-9B89-4E59-AB3F-8007A5DC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149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รับงานตามลำดับ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A14505-4072-4971-928C-86E9DEE5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146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B5DAA4-D7F3-45BF-825B-F0BD24A9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F5A59A-5C77-4A3E-84CE-E53A31D6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434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ผู้ประเมินคนสุดท้าย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8A5CBC-D1A2-431F-9045-1E70D698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9149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ยืนยันขั้นสุดท้าย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A546E2-3D35-4C7F-BA2B-4B53C264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00615E"/>
                </a:solidFill>
                <a:latin typeface="Tahoma"/>
                <a:ea typeface="Tahoma"/>
                <a:cs typeface="Tahoma"/>
              </a:rPr>
              <a:t>ผู้ประเมินคนสุดท้ายยืนยันแล้ว สถานะจะเป็น ประเมินเสร็จสิ้น (Completed)</a:t>
            </a:r>
          </a:p>
        </p:txBody>
      </p:sp>
      <p:sp>
        <p:nvSpPr>
          <p:cNvPr id="18" name="footer-rule-16">
            <a:extLst xmlns:a="http://schemas.openxmlformats.org/drawingml/2006/main">
              <a:ext uri="{FF2B5EF4-FFF2-40B4-BE49-F238E27FC236}">
                <a16:creationId xmlns:a16="http://schemas.microsoft.com/office/drawing/2014/main" id="{2403366A-B245-4316-AC93-1CC38F34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abel-16">
            <a:extLst xmlns:a="http://schemas.openxmlformats.org/drawingml/2006/main">
              <a:ext uri="{FF2B5EF4-FFF2-40B4-BE49-F238E27FC236}">
                <a16:creationId xmlns:a16="http://schemas.microsoft.com/office/drawing/2014/main" id="{3474E3BE-AEC3-4E09-BDC1-9C907258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ภาคบ่าย สายสนับสนุน</a:t>
            </a:r>
          </a:p>
        </p:txBody>
      </p:sp>
      <p:sp>
        <p:nvSpPr>
          <p:cNvPr id="20" name="footer-page-16">
            <a:extLst xmlns:a="http://schemas.openxmlformats.org/drawingml/2006/main">
              <a:ext uri="{FF2B5EF4-FFF2-40B4-BE49-F238E27FC236}">
                <a16:creationId xmlns:a16="http://schemas.microsoft.com/office/drawing/2014/main" id="{866384DD-5837-45E5-87E6-34849861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16 / 18</a:t>
            </a:r>
          </a:p>
        </p:txBody>
      </p:sp>
    </p:spTree>
    <p:extLst>
      <p:ext uri="{BB962C8B-B14F-4D97-AF65-F5344CB8AC3E}">
        <p14:creationId xmlns:p14="http://schemas.microsoft.com/office/powerpoint/2010/main" val="124388438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ide-accent-17">
            <a:extLst xmlns:a="http://schemas.openxmlformats.org/drawingml/2006/main">
              <a:ext uri="{FF2B5EF4-FFF2-40B4-BE49-F238E27FC236}">
                <a16:creationId xmlns:a16="http://schemas.microsoft.com/office/drawing/2014/main" id="{B3B659DA-1735-485D-807F-6F80B973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17">
            <a:extLst xmlns:a="http://schemas.openxmlformats.org/drawingml/2006/main">
              <a:ext uri="{FF2B5EF4-FFF2-40B4-BE49-F238E27FC236}">
                <a16:creationId xmlns:a16="http://schemas.microsoft.com/office/drawing/2014/main" id="{B9AD7D55-FA35-4745-9320-630A4411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ภารกิจฝึกปฏิบัติ  /  สายสนับสนุน</a:t>
            </a:r>
          </a:p>
        </p:txBody>
      </p:sp>
      <p:sp>
        <p:nvSpPr>
          <p:cNvPr id="3" name="title-17">
            <a:extLst xmlns:a="http://schemas.openxmlformats.org/drawingml/2006/main">
              <a:ext uri="{FF2B5EF4-FFF2-40B4-BE49-F238E27FC236}">
                <a16:creationId xmlns:a16="http://schemas.microsoft.com/office/drawing/2014/main" id="{E8FA97DA-7686-4E7D-B45E-EDD64092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ลองบันทึกกิจกรรม 1 รายการให้ครบ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B3684-C8FD-4B3D-83B6-777DEFC1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ลิงก์นี้ใช้สำหรับทดสอบระบบ เมื่อทุกท่านตรวจสอบแล้วและไม่มีข้อเสนอให้ปรับแก้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ทีมงานจะนำระบบไปติดตั้งบนเซิร์ฟเวอร์ของคณะทันทีครับ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86080-ADAA-4DC7-9F76-1B8390F3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u="sng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2100" b="1" u="sng">
                <a:solidFill>
                  <a:srgbClr val="00615E"/>
                </a:solidFill>
                <a:latin typeface="Tahoma"/>
                <a:ea typeface="Tahoma"/>
                <a:cs typeface="Tahoma"/>
                <a:hlinkClick xmlns:r="http://schemas.openxmlformats.org/officeDocument/2006/relationships" r:id="R3dccce789f194e5a"/>
              </a:rPr>
              <a:t>http://149.28.142.186/login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5188E1-63A3-4B3F-BD22-AC139850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A6088-DDF5-468B-8646-88AE452F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D90324-028A-4368-9073-D74F7807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48000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เลือกกิจกรรมที่กำหนด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1CD8B0-E2B4-4BB2-9DA4-DB8060DB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67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FC1437-0BAE-469B-A5D9-5F20C287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527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224FDD-2091-4DBD-A77E-8729E6C0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48000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กรอกเป้าหมายและผล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12B2F2-4E5B-4ED1-B277-E62BBF01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3D841-9736-4E27-8DBB-31F63249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21958E-0E49-4751-848F-9D9597FA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ตรวจคะแนนถ่วงน้ำหนัก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49D824-09A3-4E44-8E83-47DD176A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33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964D5F-7343-455C-A89B-C3DFCB5C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95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7EEC5C-D68A-4389-9303-B48ABA05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14800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แนบหลักฐานและบันทึกร่าง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6A3124-ED00-4107-8790-7202CAA7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2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4C4B41-8DA4-40DD-9A4C-7C4A18D4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1051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00615E"/>
                </a:solidFill>
                <a:latin typeface="Tahoma"/>
                <a:ea typeface="Tahoma"/>
                <a:cs typeface="Tahoma"/>
              </a:rPr>
              <a:t>ผ่านเมื่อ: ข้อมูลครบ • หลักฐานเปิดได้ • พร้อมอธิบายที่มาของคะแนน</a:t>
            </a:r>
          </a:p>
        </p:txBody>
      </p:sp>
      <p:sp>
        <p:nvSpPr>
          <p:cNvPr id="20" name="footer-rule-17">
            <a:extLst xmlns:a="http://schemas.openxmlformats.org/drawingml/2006/main">
              <a:ext uri="{FF2B5EF4-FFF2-40B4-BE49-F238E27FC236}">
                <a16:creationId xmlns:a16="http://schemas.microsoft.com/office/drawing/2014/main" id="{A74752BA-BAB3-4B0F-9FDA-0FAE0D8C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ooter-label-17">
            <a:extLst xmlns:a="http://schemas.openxmlformats.org/drawingml/2006/main">
              <a:ext uri="{FF2B5EF4-FFF2-40B4-BE49-F238E27FC236}">
                <a16:creationId xmlns:a16="http://schemas.microsoft.com/office/drawing/2014/main" id="{5F11BF3D-8BDF-45C9-9595-CA4B69C8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ภาคบ่าย สายสนับสนุน</a:t>
            </a:r>
          </a:p>
        </p:txBody>
      </p:sp>
      <p:sp>
        <p:nvSpPr>
          <p:cNvPr id="22" name="footer-page-17">
            <a:extLst xmlns:a="http://schemas.openxmlformats.org/drawingml/2006/main">
              <a:ext uri="{FF2B5EF4-FFF2-40B4-BE49-F238E27FC236}">
                <a16:creationId xmlns:a16="http://schemas.microsoft.com/office/drawing/2014/main" id="{5B4634AE-F041-4D5B-A2F1-79A9361C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17 / 18</a:t>
            </a:r>
          </a:p>
        </p:txBody>
      </p:sp>
    </p:spTree>
    <p:extLst>
      <p:ext uri="{BB962C8B-B14F-4D97-AF65-F5344CB8AC3E}">
        <p14:creationId xmlns:p14="http://schemas.microsoft.com/office/powerpoint/2010/main" val="6355043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ide-accent-18">
            <a:extLst xmlns:a="http://schemas.openxmlformats.org/drawingml/2006/main">
              <a:ext uri="{FF2B5EF4-FFF2-40B4-BE49-F238E27FC236}">
                <a16:creationId xmlns:a16="http://schemas.microsoft.com/office/drawing/2014/main" id="{AC540CF4-D8DE-4A76-BD2A-E6E6B965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18">
            <a:extLst xmlns:a="http://schemas.openxmlformats.org/drawingml/2006/main">
              <a:ext uri="{FF2B5EF4-FFF2-40B4-BE49-F238E27FC236}">
                <a16:creationId xmlns:a16="http://schemas.microsoft.com/office/drawing/2014/main" id="{40E6FA46-21BF-4CE7-86CB-A9EBCFC0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แก้ปัญหาเบื้องต้น  /  สายสนับสนุน</a:t>
            </a:r>
          </a:p>
        </p:txBody>
      </p:sp>
      <p:sp>
        <p:nvSpPr>
          <p:cNvPr id="3" name="title-18">
            <a:extLst xmlns:a="http://schemas.openxmlformats.org/drawingml/2006/main">
              <a:ext uri="{FF2B5EF4-FFF2-40B4-BE49-F238E27FC236}">
                <a16:creationId xmlns:a16="http://schemas.microsoft.com/office/drawing/2014/main" id="{C39CAD0C-777C-4478-964C-B634FD6C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หากใช้งานไม่ได้ ให้ตรวจสอบ 4 จุดนี้ก่อน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CD491F-B179-4E10-919F-0F2AB0FA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B7F406-9208-4932-8662-27E6289E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07645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งานไม่ปรากฏ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CBAE0-8925-4FAD-8D93-73BC0813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145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ตรวจงานที่ได้รับมอบหมาย และแจ้งผู้ดูแลระบบหากรอบไม่ถูกต้อง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487C9F-8BB1-4964-A93B-E6D4DB75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05100"/>
            <a:ext cx="986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C6399E-1004-4C18-ABC0-0BE6AC7E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4C72DD-A8F7-456E-B627-2EA2AE60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ปุ่มใช้งานไม่ได้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3B93BD-3F62-4C16-8397-65059336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908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ตรวจสถานะปัจจุบันและสิทธิ์ของบทบาท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3561E2-227A-432E-B204-24ED23F3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81400"/>
            <a:ext cx="986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FED8BF-B8ED-4B32-86F8-FF8B6D49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87DA4B-0CC7-47D6-B417-A49373D8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2905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บันทึกหรือส่งไม่ได้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2C5908-DE3C-49DA-928F-2D0030D7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671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ตรวจข้อมูลบังคับ คะแนน และลิงก์หลักฐาน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C8B1B5-5E07-4527-81C0-330F8E8C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57700"/>
            <a:ext cx="986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7B6256-57F3-49E1-A945-61F049F9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C79A2B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C79A2B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0EFED1-222B-47FD-88D2-7B97D87B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70535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ยังแก้ไม่ได้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086DA3-1929-4560-B4AF-03E1962C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7434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จดชื่อรายการและสถานะ แล้วติดต่อผู้ดูแลระบบ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023673-E438-41BC-B127-0111C6DC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723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2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E7E90E-7E34-4DFA-8C5E-F611EADE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38825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00615E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00615E"/>
                </a:solidFill>
                <a:latin typeface="Tahoma"/>
                <a:ea typeface="Tahoma"/>
                <a:cs typeface="Tahoma"/>
              </a:rPr>
              <a:t>คู่มือผู้ใช้ • ผู้ดูแลระบบของหน่วยงาน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1b4b4bafc74d0e"/>
          <a:stretch xmlns:a="http://schemas.openxmlformats.org/drawingml/2006/main"/>
        </p:blipFill>
        <p:spPr>
          <a:xfrm xmlns:a="http://schemas.openxmlformats.org/drawingml/2006/main">
            <a:off x="9018037" y="5638800"/>
            <a:ext cx="2309327" cy="628650"/>
          </a:xfrm>
          <a:prstGeom xmlns:a="http://schemas.openxmlformats.org/drawingml/2006/main" prst="rect">
            <a:avLst/>
          </a:prstGeom>
        </p:spPr>
      </p:pic>
      <p:sp>
        <p:nvSpPr>
          <p:cNvPr id="22" name="footer-rule-18">
            <a:extLst xmlns:a="http://schemas.openxmlformats.org/drawingml/2006/main">
              <a:ext uri="{FF2B5EF4-FFF2-40B4-BE49-F238E27FC236}">
                <a16:creationId xmlns:a16="http://schemas.microsoft.com/office/drawing/2014/main" id="{0A984B3A-A2FB-4301-AF58-2BF51D3A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label-18">
            <a:extLst xmlns:a="http://schemas.openxmlformats.org/drawingml/2006/main">
              <a:ext uri="{FF2B5EF4-FFF2-40B4-BE49-F238E27FC236}">
                <a16:creationId xmlns:a16="http://schemas.microsoft.com/office/drawing/2014/main" id="{F0C84320-2C36-48E2-A578-DF6C7C1D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ภาคบ่าย สายสนับสนุน</a:t>
            </a:r>
          </a:p>
        </p:txBody>
      </p:sp>
      <p:sp>
        <p:nvSpPr>
          <p:cNvPr id="24" name="footer-page-18">
            <a:extLst xmlns:a="http://schemas.openxmlformats.org/drawingml/2006/main">
              <a:ext uri="{FF2B5EF4-FFF2-40B4-BE49-F238E27FC236}">
                <a16:creationId xmlns:a16="http://schemas.microsoft.com/office/drawing/2014/main" id="{67B531E7-CC45-405D-9746-86F221AE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008C86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008C86"/>
                </a:solidFill>
                <a:latin typeface="Tahoma"/>
                <a:ea typeface="Tahoma"/>
                <a:cs typeface="Tahoma"/>
              </a:rPr>
              <a:t>18 / 18</a:t>
            </a:r>
          </a:p>
        </p:txBody>
      </p:sp>
    </p:spTree>
    <p:extLst>
      <p:ext uri="{BB962C8B-B14F-4D97-AF65-F5344CB8AC3E}">
        <p14:creationId xmlns:p14="http://schemas.microsoft.com/office/powerpoint/2010/main" val="10866822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2026-08-01T12:42:35.7710000Z</dcterms:created>
  <dcterms:modified xsi:type="dcterms:W3CDTF">2026-08-01T12:42:35.7710000Z</dcterms:modified>
</coreProperties>
</file>