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f3e6e9917aa4b47" /><Relationship Type="http://schemas.openxmlformats.org/officeDocument/2006/relationships/extended-properties" Target="/docProps/app.xml" Id="R8c2d9d72908047c4" /><Relationship Type="http://schemas.openxmlformats.org/officeDocument/2006/relationships/officeDocument" Target="/ppt/presentation.xml" Id="R8ed971434acf494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d343b1b4d314c8e"/>
  </p:sldMasterIdLst>
  <p:notesMasterIdLst>
    <p:notesMasterId xmlns:r="http://schemas.openxmlformats.org/officeDocument/2006/relationships" r:id="R3d23fc84fa574c16"/>
  </p:notesMasterIdLst>
  <p:sldIdLst>
    <p:sldId xmlns:r="http://schemas.openxmlformats.org/officeDocument/2006/relationships" id="256" r:id="Rbcb0553f3f904681"/>
    <p:sldId xmlns:r="http://schemas.openxmlformats.org/officeDocument/2006/relationships" id="257" r:id="Ra44c353cc9c74710"/>
    <p:sldId xmlns:r="http://schemas.openxmlformats.org/officeDocument/2006/relationships" id="258" r:id="R23a0143472ab4b51"/>
    <p:sldId xmlns:r="http://schemas.openxmlformats.org/officeDocument/2006/relationships" id="259" r:id="Rebfa54f56fb54095"/>
    <p:sldId xmlns:r="http://schemas.openxmlformats.org/officeDocument/2006/relationships" id="260" r:id="Rc133ae521ef64b7f"/>
    <p:sldId xmlns:r="http://schemas.openxmlformats.org/officeDocument/2006/relationships" id="261" r:id="Rd1ee0935287543c2"/>
    <p:sldId xmlns:r="http://schemas.openxmlformats.org/officeDocument/2006/relationships" id="262" r:id="Rc929c05e87f94bc1"/>
    <p:sldId xmlns:r="http://schemas.openxmlformats.org/officeDocument/2006/relationships" id="263" r:id="R393b272e168d4727"/>
    <p:sldId xmlns:r="http://schemas.openxmlformats.org/officeDocument/2006/relationships" id="264" r:id="R5151c48c91674b3a"/>
    <p:sldId xmlns:r="http://schemas.openxmlformats.org/officeDocument/2006/relationships" id="265" r:id="Ree6c7cfd3dea4d15"/>
    <p:sldId xmlns:r="http://schemas.openxmlformats.org/officeDocument/2006/relationships" id="266" r:id="R30e73642234644aa"/>
    <p:sldId xmlns:r="http://schemas.openxmlformats.org/officeDocument/2006/relationships" id="267" r:id="Rad93a65407b34c44"/>
    <p:sldId xmlns:r="http://schemas.openxmlformats.org/officeDocument/2006/relationships" id="268" r:id="R4197c0477bd047c9"/>
    <p:sldId xmlns:r="http://schemas.openxmlformats.org/officeDocument/2006/relationships" id="269" r:id="R561dab17604f491d"/>
    <p:sldId xmlns:r="http://schemas.openxmlformats.org/officeDocument/2006/relationships" id="270" r:id="Rd3084f76cada4d8d"/>
    <p:sldId xmlns:r="http://schemas.openxmlformats.org/officeDocument/2006/relationships" id="271" r:id="R52ab1ca1d8f14d0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5b9e58507a946c8" /><Relationship Type="http://schemas.openxmlformats.org/officeDocument/2006/relationships/slideMaster" Target="/ppt/slideMasters/slideMaster1.xml" Id="R8d343b1b4d314c8e" /><Relationship Type="http://schemas.openxmlformats.org/officeDocument/2006/relationships/notesMaster" Target="/ppt/notesMasters/notesMaster1.xml" Id="R3d23fc84fa574c16" /><Relationship Type="http://schemas.openxmlformats.org/officeDocument/2006/relationships/presProps" Target="/ppt/presProps.xml" Id="Rbbea4b42c81749e7" /><Relationship Type="http://schemas.openxmlformats.org/officeDocument/2006/relationships/tableStyles" Target="/ppt/tableStyles.xml" Id="Rb79dd591f2764ef5" /><Relationship Type="http://schemas.openxmlformats.org/officeDocument/2006/relationships/slide" Target="/ppt/slides/slide1.xml" Id="Rbcb0553f3f904681" /><Relationship Type="http://schemas.openxmlformats.org/officeDocument/2006/relationships/slide" Target="/ppt/slides/slide2.xml" Id="Ra44c353cc9c74710" /><Relationship Type="http://schemas.openxmlformats.org/officeDocument/2006/relationships/slide" Target="/ppt/slides/slide3.xml" Id="R23a0143472ab4b51" /><Relationship Type="http://schemas.openxmlformats.org/officeDocument/2006/relationships/slide" Target="/ppt/slides/slide4.xml" Id="Rebfa54f56fb54095" /><Relationship Type="http://schemas.openxmlformats.org/officeDocument/2006/relationships/slide" Target="/ppt/slides/slide5.xml" Id="Rc133ae521ef64b7f" /><Relationship Type="http://schemas.openxmlformats.org/officeDocument/2006/relationships/slide" Target="/ppt/slides/slide6.xml" Id="Rd1ee0935287543c2" /><Relationship Type="http://schemas.openxmlformats.org/officeDocument/2006/relationships/slide" Target="/ppt/slides/slide7.xml" Id="Rc929c05e87f94bc1" /><Relationship Type="http://schemas.openxmlformats.org/officeDocument/2006/relationships/slide" Target="/ppt/slides/slide8.xml" Id="R393b272e168d4727" /><Relationship Type="http://schemas.openxmlformats.org/officeDocument/2006/relationships/slide" Target="/ppt/slides/slide9.xml" Id="R5151c48c91674b3a" /><Relationship Type="http://schemas.openxmlformats.org/officeDocument/2006/relationships/slide" Target="/ppt/slides/slide10.xml" Id="Ree6c7cfd3dea4d15" /><Relationship Type="http://schemas.openxmlformats.org/officeDocument/2006/relationships/slide" Target="/ppt/slides/slide11.xml" Id="R30e73642234644aa" /><Relationship Type="http://schemas.openxmlformats.org/officeDocument/2006/relationships/slide" Target="/ppt/slides/slide12.xml" Id="Rad93a65407b34c44" /><Relationship Type="http://schemas.openxmlformats.org/officeDocument/2006/relationships/slide" Target="/ppt/slides/slide13.xml" Id="R4197c0477bd047c9" /><Relationship Type="http://schemas.openxmlformats.org/officeDocument/2006/relationships/slide" Target="/ppt/slides/slide14.xml" Id="R561dab17604f491d" /><Relationship Type="http://schemas.openxmlformats.org/officeDocument/2006/relationships/slide" Target="/ppt/slides/slide15.xml" Id="Rd3084f76cada4d8d" /><Relationship Type="http://schemas.openxmlformats.org/officeDocument/2006/relationships/slide" Target="/ppt/slides/slide16.xml" Id="R52ab1ca1d8f14d0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0ba1b6bd4f7428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e8c2574229f46b8" /><Relationship Type="http://schemas.openxmlformats.org/officeDocument/2006/relationships/notesMaster" Target="/ppt/notesMasters/notesMaster1.xml" Id="R9707c10ba6a04ab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17d38df46084262" /><Relationship Type="http://schemas.openxmlformats.org/officeDocument/2006/relationships/notesMaster" Target="/ppt/notesMasters/notesMaster1.xml" Id="Rba26fe476bf84f6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806f07d98e9419d" /><Relationship Type="http://schemas.openxmlformats.org/officeDocument/2006/relationships/notesMaster" Target="/ppt/notesMasters/notesMaster1.xml" Id="R461b12232e6345b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b7a90af214c4e2e" /><Relationship Type="http://schemas.openxmlformats.org/officeDocument/2006/relationships/notesMaster" Target="/ppt/notesMasters/notesMaster1.xml" Id="Ra8039c4610c044c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ae9d178850440e0" /><Relationship Type="http://schemas.openxmlformats.org/officeDocument/2006/relationships/notesMaster" Target="/ppt/notesMasters/notesMaster1.xml" Id="R9fcee41fb55d489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1412c55c067495b" /><Relationship Type="http://schemas.openxmlformats.org/officeDocument/2006/relationships/notesMaster" Target="/ppt/notesMasters/notesMaster1.xml" Id="R6e688a1a1062479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139b91917b64258" /><Relationship Type="http://schemas.openxmlformats.org/officeDocument/2006/relationships/notesMaster" Target="/ppt/notesMasters/notesMaster1.xml" Id="R35b2e011f3e6428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fb17e4755f640b3" /><Relationship Type="http://schemas.openxmlformats.org/officeDocument/2006/relationships/notesMaster" Target="/ppt/notesMasters/notesMaster1.xml" Id="R1defd09b2176408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077924bc0a648a5" /><Relationship Type="http://schemas.openxmlformats.org/officeDocument/2006/relationships/notesMaster" Target="/ppt/notesMasters/notesMaster1.xml" Id="R7be2c8d3037a46d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0fca2a8cd4a4a3c" /><Relationship Type="http://schemas.openxmlformats.org/officeDocument/2006/relationships/notesMaster" Target="/ppt/notesMasters/notesMaster1.xml" Id="R5bc940ebaedf467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89e81c2877c4a15" /><Relationship Type="http://schemas.openxmlformats.org/officeDocument/2006/relationships/notesMaster" Target="/ppt/notesMasters/notesMaster1.xml" Id="Re59448ae530f42d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31a204bab5f4634" /><Relationship Type="http://schemas.openxmlformats.org/officeDocument/2006/relationships/notesMaster" Target="/ppt/notesMasters/notesMaster1.xml" Id="R3c41623deb6c42e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84a6d1d961e4a2d" /><Relationship Type="http://schemas.openxmlformats.org/officeDocument/2006/relationships/notesMaster" Target="/ppt/notesMasters/notesMaster1.xml" Id="R06020e586c4b43b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a09788a92914f56" /><Relationship Type="http://schemas.openxmlformats.org/officeDocument/2006/relationships/notesMaster" Target="/ppt/notesMasters/notesMaster1.xml" Id="Re95757a307f844f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0d732777b3d4b52" /><Relationship Type="http://schemas.openxmlformats.org/officeDocument/2006/relationships/notesMaster" Target="/ppt/notesMasters/notesMaster1.xml" Id="Rfe17804b0b62490d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b28b131d02b94b1d" /><Relationship Type="http://schemas.openxmlformats.org/officeDocument/2006/relationships/notesMaster" Target="/ppt/notesMasters/notesMaster1.xml" Id="R8215573a372045d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ช่วงบ่ายนี้เราจะใช้ระบบ MSU EVA ในมุมของบุคลากรสายสนับสนุน หลายท่านเคยทดลองระบบแล้ว แต่มีผู้เข้าร่วมใหม่ ผู้ประเมิน และผู้บริหารที่ยังไม่ได้ทดลองขั้นตอนของตนเอง เราจะทบทวนพื้นฐานให้กระชับ แล้วทำหนึ่งกิจกรรมตั้งแต่การบันทึกผล ตรวจคะแนน แนบหลักฐาน บันทึกร่าง ส่งแบบประเมิน และรับงานในบทบาทผู้ประเมิน เพื่อให้ทุกกลุ่มเห็นกระบวนการเดียวกัน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docs/superpowers/specs/2026-07-24-split-role-training-decks-design.md</a:t>
            </a:r>
          </a:p>
          <a:p xmlns:a="http://schemas.openxmlformats.org/drawingml/2006/main">
            <a:r>
              <a:t>- public/favicon-msu.png</a:t>
            </a:r>
          </a:p>
          <a:p xmlns:a="http://schemas.openxmlformats.org/drawingml/2006/main">
            <a:r>
              <a:t>- C:\Users\pisut\Downloads\logoบริษัท.svg</a:t>
            </a:r>
          </a:p>
          <a:p xmlns:a="http://schemas.openxmlformats.org/drawingml/2006/main">
            <a:r>
              <a:t>- public/images/workload-background.jpg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เป้าหมายคือให้ทุกท่านบันทึกกิจกรรมหนึ่งรายการได้ครบและเข้าใจว่าคะแนนเกิดจากข้อมูลใด เราจะฝึกเลือกกิจกรรม กรอกเป้าหมายและผลที่ทำได้ ตรวจคะแนนถ่วงน้ำหนัก แนบหลักฐาน และแยกบันทึกร่างออกจากส่งแบบประเมิน ผู้ที่เคยทดสอบแล้วให้ช่วยตรวจความสมเหตุสมผลของข้อมูล ส่วนผู้เข้าร่วมใหม่ทำตามทีละขั้น และผู้ประเมินให้สังเกตข้อมูลที่จะใช้ตัดสินใจในช่วงท้าย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docs/superpowers/specs/2026-07-24-split-role-training-decks-design.md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ภาพรวมเริ่มจากผู้รับการประเมินเปิดงาน เลือกกิจกรรม กรอกผล ตรวจคะแนนและหลักฐาน แล้วส่งแบบประเมิน ระบบจะส่งต่อไปยังผู้ประเมินตามลำดับ ผู้ประเมินแต่ละคนตรวจและส่งต่องาน จนผู้ประเมินคนสุดท้ายยืนยันและสถานะเปลี่ยนเป็น ประเมินเสร็จสิ้น หรือ Completed ขอให้จำเส้นทางนี้ไว้ เพราะเมื่อปุ่มหรือสถานะเปลี่ยน เราจะรู้ได้ว่างานอยู่ในความรับผิดชอบของใคร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ผู้รับการประเมินเป็นผู้เตรียมข้อมูลผลกิจกรรมในขั้นแรก ต้องบอกให้ชัดว่าทำกิจกรรมอะไร เป้าหมายคืออะไร ผลที่ทำได้เท่าไร และมีหลักฐานใดรองรับ จากนั้นตรวจคะแนนที่ระบบคำนวณ ก่อนเลือกบันทึกร่างหรือส่งแบบประเมิน ข้อมูลที่ครบช่วยให้ผู้ประเมินตัดสินใจจากข้อเท็จจริง ไม่ต้องย้อนกลับมาถามรายละเอียดพื้นฐาน และช่วยให้คะแนนแต่ละรายการอธิบายที่มาได้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ก่อนเปิดงาน ให้ตรวจรอบประเมิน รายการที่ได้รับมอบหมาย และสถานะปัจจุบัน โดยเฉพาะผู้ที่มีหลายบทบาทต้องตรวจว่ากำลังใช้บัญชีและหน้าจอที่ถูกต้อง ต่อไปผมจะเปิดหนึ่งรายการให้ดู ทุกท่านยังไม่ต้องทำตาม ให้สังเกตว่าผมเริ่มจากตรงไหน เลือกกิจกรรมใด และตรวจสถานะอย่างไรก่อนกรอกข้อมูล</a:t>
            </a:r>
          </a:p>
          <a:p xmlns:a="http://schemas.openxmlformats.org/drawingml/2006/main">
            <a:r>
              <a:t>[สาธิต] เปิดแดชบอร์ด ตรวจรอบประเมิน แล้วเปิดรายการสายสนับสนุนที่เตรียมไว้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ข้อมูลหนึ่งรายการควรเชื่อมกันตั้งแต่โครงการ กิจกรรม ตัวชี้วัด จนถึงหลักฐาน โครงการให้บริบท กิจกรรมบอกว่างานที่ดำเนินการคืออะไร ตัวชี้วัดกำหนดวิธีวัดผล และหลักฐานยืนยันผลที่รายงาน หากเลือกกิจกรรมไม่ตรงกับตัวชี้วัดหรือหลักฐานคนละเรื่อง คะแนนที่ได้จะอธิบายยาก ก่อนกรอกจึงควรอ่านชื่อเกณฑ์และเตรียมข้อมูลที่ตรงกับกิจกรรมจริง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resources/views/criteria_config/partials/support-criteria-template.blade.php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ในหน้าบันทึกกิจกรรม ให้กรอกสามส่วนหลัก ได้แก่ เป้าหมาย ผลที่ทำได้ และรายละเอียดกิจกรรม เป้าหมายเป็นจุดอ้างอิง ผลที่ทำได้เป็นค่าหรือระดับผลงานจริง และรายละเอียดช่วยอธิบายว่างานเกิดขึ้นอย่างไร หากเกณฑ์อนุญาตให้เพิ่มกิจกรรมหรือโครงการ ควรตั้งชื่อให้จำแนกได้และไม่สร้างรายการซ้ำ จากนั้นตรวจว่าค่าที่กรอกใช้หน่วยเดียวกับเกณฑ์ก่อนให้ระบบคำนวณคะแนน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resources/views/criteria_config/partials/support-criteria-template.blade.php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คะแนนถ่วงน้ำหนักคำนวณจากน้ำหนักคูณคะแนนที่ทำได้ แล้วหารด้วยหนึ่งร้อย น้ำหนักสะท้อนความสำคัญของเกณฑ์ ส่วนคะแนนที่ทำได้สะท้อนผลในรายการนั้น การแสดงสูตรช่วยให้เราตรวจสอบได้ว่าคะแนนรวมไม่ได้เกิดขึ้นแบบลึกลับ หากผลไม่ตรงที่คาด ให้ย้อนกลับไปตรวจน้ำหนัก คะแนนที่ทำได้ และหน่วยของข้อมูล ไม่ควรแก้ตัวเลขเพื่อให้ได้ผลลัพธ์ที่ต้องการ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resources/views/criteria_config/partials/support-criteria-template.blade.php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ลองดูตัวอย่างนี้ หากน้ำหนักเท่ากับยี่สิบและคะแนนที่ทำได้เท่ากับแปดสิบ คะแนนถ่วงน้ำหนักจะเป็นสิบหก เพราะยี่สิบคูณแปดสิบแล้วหารหนึ่งร้อย ตัวอย่างนี้ใช้เพื่อให้เห็นที่มา ไม่ใช่ค่ามาตรฐานของทุกกิจกรรม</a:t>
            </a:r>
          </a:p>
          <a:p xmlns:a="http://schemas.openxmlformats.org/drawingml/2006/main">
            <a:r>
              <a:t>[ถามผู้เข้าอบรม] หากน้ำหนักเป็นสามสิบและคะแนนที่ทำได้เป็นเก้าสิบ ควรได้คะแนนถ่วงน้ำหนักเท่าไร</a:t>
            </a:r>
          </a:p>
          <a:p xmlns:a="http://schemas.openxmlformats.org/drawingml/2006/main">
            <a:r>
              <a:t>[พูด] คำตอบคือยี่สิบเจ็ด และควรตรวจได้จากสูตรเดียวกัน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resources/views/criteria_config/partials/support-criteria-template.blade.php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หลักฐานต้องเปิดได้ ตรงกับกิจกรรม และระบุได้ว่าเป็นเอกสารของรายการใด ควรใช้ลิงก์ที่ผู้ประเมินเข้าถึงได้จริง ตั้งชื่อไฟล์ให้ค้นหาได้ และหลีกเลี่ยงการส่งโฟลเดอร์รวมโดยไม่บอกว่าเอกสารใดเกี่ยวข้อง หากระบบกำหนดว่ารายการนี้ต้องมีหลักฐาน จะยังส่งแบบประเมินไม่ได้จนกว่าจะมีลิงก์ที่ถูกต้อง</a:t>
            </a:r>
          </a:p>
          <a:p xmlns:a="http://schemas.openxmlformats.org/drawingml/2006/main">
            <a:r>
              <a:t>[สาธิต] กรอกกิจกรรมหนึ่งรายการ ตรวจคะแนน แนบหลักฐาน และทดลองเปิดลิงก์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resources/views/partials/evaluatee-evaluation-script.blade.php</a:t>
            </a:r>
          </a:p>
          <a:p xmlns:a="http://schemas.openxmlformats.org/drawingml/2006/main">
            <a:r>
              <a:t>- resources/views/criteria_config/partials/support-criteria-template.blade.php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หากข้อมูลยังไม่ครบ ให้บันทึกร่างไว้ก่อน เพราะกลับมาแก้ไขได้และงานยังไม่เข้าสู่ผู้ประเมิน ส่วนส่งแบบประเมินควรทำเมื่อข้อมูลบังคับ คะแนน และหลักฐานครบแล้ว ก่อนยืนยันให้ตรวจอีกครั้งว่าผลที่ทำได้สอดคล้องกับรายละเอียดกิจกรรมและหลักฐานหรือไม่ วันนี้ในช่วงทดลอง ทุกคนจะหยุดที่บันทึกร่างก่อน เพื่อให้วิทยากรตรวจและแก้ไขได้โดยไม่ทำให้งานเดินไปยังขั้นถัดไป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resources/views/partials/evaluation-form-action-buttons.blade.php</a:t>
            </a:r>
          </a:p>
          <a:p xmlns:a="http://schemas.openxmlformats.org/drawingml/2006/main">
            <a:r>
              <a:t>- resources/views/partials/evaluatee-evaluation-script.blade.php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หลังส่งแบบประเมิน ระบบจะส่งงานตามลำดับผู้ประเมินที่กำหนด ผู้ประเมินแต่ละคนตรวจข้อมูล ให้ผล และส่งต่อไปยังคนถัดไป จำนวนผู้ประเมินและสิทธิ์อาจต่างกันในแต่ละงาน จึงต้องดูสถานะและลำดับของรายการนั้นเป็นหลัก อย่าคาดเดาว่าผู้บริหารทุกคนจะเห็นหรือปิดงานได้ทันที เพราะระบบยึดการมอบหมายและลำดับที่ผู้ดูแลกำหนด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เมื่อได้รับงานประเมิน ให้ตรวจผลกิจกรรม เป้าหมาย คะแนนที่ระบบคำนวณ และหลักฐานว่าตรงกับเกณฑ์หรือไม่ เปิดลิงก์หลักฐานจริงก่อนให้ผล หากข้อมูลไม่ครบให้ดำเนินการตามตัวเลือกที่ระบบรองรับ ผู้ประเมินและผู้บริหารที่ยังไม่เคยทดลอง ให้สังเกตว่าข้อมูลใดมาจากผู้รับการประเมิน และส่วนใดเป็นการตัดสินใจของผู้ประเมิน</a:t>
            </a:r>
          </a:p>
          <a:p xmlns:a="http://schemas.openxmlformats.org/drawingml/2006/main">
            <a:r>
              <a:t>[สาธิต] เปิดบัญชีผู้ประเมิน ตรวจผลกิจกรรม คะแนน และหลักฐาน แล้วบันทึกผล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- resources/views/partials/evaluatee-evaluation-script.blade.php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ผู้ประเมินแต่ละคนตรวจและส่งต่องานตามลำดับ เมื่อถึงผู้ประเมินคนสุดท้าย บุคคลนั้นจะยืนยันขั้นสุดท้ายและทำให้สถานะเป็น ประเมินเสร็จสิ้น หรือ Completed ผู้ประเมินคนสุดท้ายอาจเป็นคนละบทบาทในแต่ละรายการ จึงควรดูข้อมูลลำดับที่ระบบแสดง ไม่ควรยึดชื่อตำแหน่งแบบตายตัว</a:t>
            </a:r>
          </a:p>
          <a:p xmlns:a="http://schemas.openxmlformats.org/drawingml/2006/main">
            <a:r>
              <a:t>[สาธิต] ส่งต่องานไปหนึ่งลำดับ เปิดด้วยบัญชีผู้ประเมินคนสุดท้าย และแสดงการยืนยันพร้อมสถานะ Completed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ต่อไปให้ทุกท่านทดลองด้วยบัญชีที่เตรียมไว้ ผู้ที่เคยทดสอบแล้วให้เน้นตรวจคะแนนและความสัมพันธ์ของหลักฐาน ผู้ที่เข้ามาใหม่ทำตามรายการทีละข้อ ได้แก่ เลือกกิจกรรม กรอกเป้าหมายและผล ตรวจคะแนน แนบหลักฐาน แล้วบันทึกร่าง เมื่อเสร็จให้ยกมือหรือเรียกผู้ช่วย ยังไม่ต้องกดส่งแบบประเมิน เพราะเราจะตรวจความพร้อมและทดลองขั้นผู้ประเมินร่วมกันภายหลัง</a:t>
            </a:r>
          </a:p>
          <a:p xmlns:a="http://schemas.openxmlformats.org/drawingml/2006/main">
            <a:r>
              <a:t>[เริ่มทดลองใช้งาน — 30 นาที]</a:t>
            </a:r>
          </a:p>
          <a:p xmlns:a="http://schemas.openxmlformats.org/drawingml/2006/main">
            <a:r>
              <a:t>[ให้ผู้เข้าอบรมหยุดที่บันทึกร่าง]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docs/superpowers/specs/2026-07-24-split-role-training-decks-design.md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หากใช้งานไม่ได้ ให้ตรวจรอบและรายการ สิทธิ์ของบัญชี สถานะงาน และข้อมูลบังคับรวมถึงลิงก์หลักฐานก่อน หากคะแนนไม่เป็นไปตามคาด ให้ตรวจน้ำหนัก คะแนนที่ทำได้ และหน่วยข้อมูล หากยังแก้ไม่ได้ ให้จดชื่อรายการ สถานะ และข้อความที่พบเพื่อแจ้งผู้ดูแลระบบ</a:t>
            </a:r>
          </a:p>
          <a:p xmlns:a="http://schemas.openxmlformats.org/drawingml/2006/main">
            <a:r>
              <a:t>[ถามผู้เข้าอบรม] มีใครติดที่การเลือกกิจกรรม การคำนวณคะแนน หรือการเปิดหลักฐานหรือไม่</a:t>
            </a:r>
          </a:p>
          <a:p xmlns:a="http://schemas.openxmlformats.org/drawingml/2006/main">
            <a:r>
              <a:t>[พูด] เมื่อทุกคนพร้อม เราจะตรวจข้อมูล กดส่งแบบประเมิน และให้ผู้ประเมินรับงานต่อ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resources/views/partials/evaluation-form-action-buttons.blade.php</a:t>
            </a:r>
          </a:p>
          <a:p xmlns:a="http://schemas.openxmlformats.org/drawingml/2006/main">
            <a:r>
              <a:t>- resources/views/partials/evaluatee-evaluation-script.blade.php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- C:\Users\pisut\Downloads\logoบริษัท.svg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fc8012d92ac4ed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0f3afd6b22a439a" /><Relationship Type="http://schemas.openxmlformats.org/officeDocument/2006/relationships/slideLayout" Target="/ppt/slideLayouts/slideLayout1.xml" Id="R9595a86ed2584b4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595a86ed2584b4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0b9a05807f41a5" /><Relationship Type="http://schemas.openxmlformats.org/officeDocument/2006/relationships/image" Target="/ppt/media/image.jpeg" Id="R1accb1cbaa534484" /><Relationship Type="http://schemas.openxmlformats.org/officeDocument/2006/relationships/image" Target="/ppt/media/image.png" Id="R1676612604064fcb" /><Relationship Type="http://schemas.openxmlformats.org/officeDocument/2006/relationships/image" Target="/ppt/media/image2.png" Id="Rf75db6f6e219473c" /><Relationship Type="http://schemas.openxmlformats.org/officeDocument/2006/relationships/notesSlide" Target="/ppt/notesSlides/notesSlide1.xml" Id="Raef1bd1664d549f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204571b31c42cc" /><Relationship Type="http://schemas.openxmlformats.org/officeDocument/2006/relationships/notesSlide" Target="/ppt/notesSlides/notesSlide2.xml" Id="R02bcaf4754ba4fa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89e7d862fd4448" /><Relationship Type="http://schemas.openxmlformats.org/officeDocument/2006/relationships/notesSlide" Target="/ppt/notesSlides/notesSlide3.xml" Id="Re48b254f0513486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f3239e41a14483" /><Relationship Type="http://schemas.openxmlformats.org/officeDocument/2006/relationships/notesSlide" Target="/ppt/notesSlides/notesSlide4.xml" Id="Re9d541a36b06484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d78c780d374d82" /><Relationship Type="http://schemas.openxmlformats.org/officeDocument/2006/relationships/notesSlide" Target="/ppt/notesSlides/notesSlide5.xml" Id="Rfdce03ed167d49a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447cf0bb254704" /><Relationship Type="http://schemas.openxmlformats.org/officeDocument/2006/relationships/notesSlide" Target="/ppt/notesSlides/notesSlide6.xml" Id="R6e65bc8ce52f448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5c9a8d3a5f401a" /><Relationship Type="http://schemas.openxmlformats.org/officeDocument/2006/relationships/notesSlide" Target="/ppt/notesSlides/notesSlide7.xml" Id="Rde6dd464226d4c2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6640af24f24d74" /><Relationship Type="http://schemas.openxmlformats.org/officeDocument/2006/relationships/notesSlide" Target="/ppt/notesSlides/notesSlide8.xml" Id="R84c7c52a2bb64f2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3e2012db1e4e79" /><Relationship Type="http://schemas.openxmlformats.org/officeDocument/2006/relationships/notesSlide" Target="/ppt/notesSlides/notesSlide9.xml" Id="R936b24a26b984dc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b327d8cbb84f31" /><Relationship Type="http://schemas.openxmlformats.org/officeDocument/2006/relationships/notesSlide" Target="/ppt/notesSlides/notesSlide10.xml" Id="R4fc6128bb175459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89f53b758d4872" /><Relationship Type="http://schemas.openxmlformats.org/officeDocument/2006/relationships/notesSlide" Target="/ppt/notesSlides/notesSlide11.xml" Id="Rd8830b44d0474c8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1e5cfeb10643fd" /><Relationship Type="http://schemas.openxmlformats.org/officeDocument/2006/relationships/notesSlide" Target="/ppt/notesSlides/notesSlide12.xml" Id="R86eeee9b5e224ba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64cc20de014e9f" /><Relationship Type="http://schemas.openxmlformats.org/officeDocument/2006/relationships/notesSlide" Target="/ppt/notesSlides/notesSlide13.xml" Id="R3bf9a313fa744a6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99f53ad2324af4" /><Relationship Type="http://schemas.openxmlformats.org/officeDocument/2006/relationships/notesSlide" Target="/ppt/notesSlides/notesSlide14.xml" Id="R1362516afd3e4d5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597639d14b470b" /><Relationship Type="http://schemas.openxmlformats.org/officeDocument/2006/relationships/notesSlide" Target="/ppt/notesSlides/notesSlide15.xml" Id="R9aeee137f76a425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1f233132fc47f2" /><Relationship Type="http://schemas.openxmlformats.org/officeDocument/2006/relationships/image" Target="/ppt/media/image3.png" Id="R2640ecd4f1f04912" /><Relationship Type="http://schemas.openxmlformats.org/officeDocument/2006/relationships/notesSlide" Target="/ppt/notesSlides/notesSlide16.xml" Id="Ra23a1ceae471436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ccb1cbaa534484"/>
          <a:srcRect xmlns:a="http://schemas.openxmlformats.org/drawingml/2006/main" l="2579" t="0" r="257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cover-panel">
            <a:extLst xmlns:a="http://schemas.openxmlformats.org/drawingml/2006/main">
              <a:ext uri="{FF2B5EF4-FFF2-40B4-BE49-F238E27FC236}">
                <a16:creationId xmlns:a16="http://schemas.microsoft.com/office/drawing/2014/main" id="{DC642EAF-268B-44EE-959B-C52DB09EA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524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C7732353-253A-49E2-981A-C8EB1404E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76612604064fcb"/>
          <a:stretch xmlns:a="http://schemas.openxmlformats.org/drawingml/2006/main"/>
        </p:blipFill>
        <p:spPr>
          <a:xfrm xmlns:a="http://schemas.openxmlformats.org/drawingml/2006/main">
            <a:off x="628650" y="419100"/>
            <a:ext cx="800100" cy="800100"/>
          </a:xfrm>
          <a:prstGeom xmlns:a="http://schemas.openxmlformats.org/drawingml/2006/main" prst="rect">
            <a:avLst/>
          </a:prstGeom>
        </p:spPr>
      </p:pic>
      <p:sp>
        <p:nvSpPr>
          <p:cNvPr id="5" name="cover-institution">
            <a:extLst xmlns:a="http://schemas.openxmlformats.org/drawingml/2006/main">
              <a:ext uri="{FF2B5EF4-FFF2-40B4-BE49-F238E27FC236}">
                <a16:creationId xmlns:a16="http://schemas.microsoft.com/office/drawing/2014/main" id="{7A824816-A017-4D4B-BF30-97A2C5A3C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143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5F2A84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5F2A84"/>
                </a:solidFill>
                <a:latin typeface="Tahoma"/>
                <a:ea typeface="Tahoma"/>
                <a:cs typeface="Tahoma"/>
              </a:rPr>
              <a:t>คณะสาธารณสุขศาสตร์  •  มหาวิทยาลัยมหาสารคาม</a:t>
            </a:r>
          </a:p>
        </p:txBody>
      </p:sp>
      <p:sp>
        <p:nvSpPr>
          <p:cNvPr id="6" name="cover-session">
            <a:extLst xmlns:a="http://schemas.openxmlformats.org/drawingml/2006/main">
              <a:ext uri="{FF2B5EF4-FFF2-40B4-BE49-F238E27FC236}">
                <a16:creationId xmlns:a16="http://schemas.microsoft.com/office/drawing/2014/main" id="{20E463AC-D1F2-4773-AC52-72C8B0876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573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ภาคบ่าย</a:t>
            </a:r>
          </a:p>
        </p:txBody>
      </p:sp>
      <p:sp>
        <p:nvSpPr>
          <p:cNvPr id="7" name="cover-title">
            <a:extLst xmlns:a="http://schemas.openxmlformats.org/drawingml/2006/main">
              <a:ext uri="{FF2B5EF4-FFF2-40B4-BE49-F238E27FC236}">
                <a16:creationId xmlns:a16="http://schemas.microsoft.com/office/drawing/2014/main" id="{19EA24CC-9F3C-4E63-BD33-D4F7DCA8A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619125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9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9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การใช้งานระบบ MSU EVA</a:t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39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9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สำหรับบุคลากรสายสนับสนุน</a:t>
            </a:r>
          </a:p>
        </p:txBody>
      </p:sp>
      <p:sp>
        <p:nvSpPr>
          <p:cNvPr id="8" name="cover-gold-rule">
            <a:extLst xmlns:a="http://schemas.openxmlformats.org/drawingml/2006/main">
              <a:ext uri="{FF2B5EF4-FFF2-40B4-BE49-F238E27FC236}">
                <a16:creationId xmlns:a16="http://schemas.microsoft.com/office/drawing/2014/main" id="{66D0D80C-8F8B-4D8F-8E35-686860457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95750"/>
            <a:ext cx="876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cover-promise">
            <a:extLst xmlns:a="http://schemas.openxmlformats.org/drawingml/2006/main">
              <a:ext uri="{FF2B5EF4-FFF2-40B4-BE49-F238E27FC236}">
                <a16:creationId xmlns:a16="http://schemas.microsoft.com/office/drawing/2014/main" id="{20BA3533-6970-4195-85E2-A2809B14A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457700"/>
            <a:ext cx="590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>
                <a:solidFill>
                  <a:srgbClr val="23384D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23384D"/>
                </a:solidFill>
                <a:latin typeface="Tahoma"/>
                <a:ea typeface="Tahoma"/>
                <a:cs typeface="Tahoma"/>
              </a:rPr>
              <a:t>บันทึกกิจกรรม เข้าใจที่มาของคะแนน และแนบหลักฐานให้พร้อมตรวจ</a:t>
            </a:r>
          </a:p>
        </p:txBody>
      </p:sp>
      <p:sp>
        <p:nvSpPr>
          <p:cNvPr id="10" name="cover-style">
            <a:extLst xmlns:a="http://schemas.openxmlformats.org/drawingml/2006/main">
              <a:ext uri="{FF2B5EF4-FFF2-40B4-BE49-F238E27FC236}">
                <a16:creationId xmlns:a16="http://schemas.microsoft.com/office/drawing/2014/main" id="{AE5BB813-985A-4FB5-8F29-97DD277A3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0007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1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Professional Training  •  สายสนับสนุน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5db6f6e219473c"/>
          <a:stretch xmlns:a="http://schemas.openxmlformats.org/drawingml/2006/main"/>
        </p:blipFill>
        <p:spPr>
          <a:xfrm xmlns:a="http://schemas.openxmlformats.org/drawingml/2006/main">
            <a:off x="9186571" y="5962650"/>
            <a:ext cx="2029408" cy="5524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350564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ide-accent-2">
            <a:extLst xmlns:a="http://schemas.openxmlformats.org/drawingml/2006/main">
              <a:ext uri="{FF2B5EF4-FFF2-40B4-BE49-F238E27FC236}">
                <a16:creationId xmlns:a16="http://schemas.microsoft.com/office/drawing/2014/main" id="{1BB452E0-B362-4337-8568-6A30097D5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2">
            <a:extLst xmlns:a="http://schemas.openxmlformats.org/drawingml/2006/main">
              <a:ext uri="{FF2B5EF4-FFF2-40B4-BE49-F238E27FC236}">
                <a16:creationId xmlns:a16="http://schemas.microsoft.com/office/drawing/2014/main" id="{8277E6BD-0D53-4E7F-954B-D3CF11E12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เป้าหมายการอบรม  /  สายสนับสนุน</a:t>
            </a:r>
          </a:p>
        </p:txBody>
      </p:sp>
      <p:sp>
        <p:nvSpPr>
          <p:cNvPr id="3" name="title-2">
            <a:extLst xmlns:a="http://schemas.openxmlformats.org/drawingml/2006/main">
              <a:ext uri="{FF2B5EF4-FFF2-40B4-BE49-F238E27FC236}">
                <a16:creationId xmlns:a16="http://schemas.microsoft.com/office/drawing/2014/main" id="{B807AB69-E79A-47F2-94CB-66778E792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ช่วงบ่ายนี้ เราจะทดลองบันทึกกิจกรรมและตรวจคะแนน 1 รายการ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089A5F-B7CB-428F-AADD-8720C740D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571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เมื่อจบช่วงนี้ คุณจะทำได้ด้วยตัวเอง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A130E4-1D93-45B1-9646-717A6A56B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28900"/>
            <a:ext cx="723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05A9A0-6DFD-4542-8234-7230889C1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676525"/>
            <a:ext cx="38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1EBF72-0103-4F48-8067-41FCFE54A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628900"/>
            <a:ext cx="885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0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0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เปิดงานและเลือกกิจกรรมได้ถูกต้อง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8A81B0-CAF4-47A3-B22F-1C3A053E7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723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85EEB9-AB25-43AD-B528-17602ED6F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648075"/>
            <a:ext cx="38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231151-B1CF-4D73-99E3-6D9D3D266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600450"/>
            <a:ext cx="885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0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0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กรอกผล คำนวณคะแนน และแนบหลักฐานได้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562C33-7D93-4B48-A3E6-595A0775A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723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1ADE7D-344A-45F4-90ED-2222937C2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619625"/>
            <a:ext cx="38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4619D9-9D73-44AF-8325-3EDB52330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572000"/>
            <a:ext cx="885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ตรวจความพร้อมก่อนส่งแบบประเมิน</a:t>
            </a:r>
          </a:p>
        </p:txBody>
      </p:sp>
      <p:sp>
        <p:nvSpPr>
          <p:cNvPr id="14" name="outcome-mark">
            <a:extLst xmlns:a="http://schemas.openxmlformats.org/drawingml/2006/main">
              <a:ext uri="{FF2B5EF4-FFF2-40B4-BE49-F238E27FC236}">
                <a16:creationId xmlns:a16="http://schemas.microsoft.com/office/drawing/2014/main" id="{C89D696E-6625-4976-8143-BF7D2E605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076450"/>
            <a:ext cx="2324100" cy="3295650"/>
          </a:xfrm>
          <a:prstGeom xmlns:a="http://schemas.openxmlformats.org/drawingml/2006/main" prst="roundRect">
            <a:avLst>
              <a:gd name="adj" fmla="val 3279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9525">
            <a:solidFill>
              <a:srgbClr val="008C8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5F4444-07E9-4801-918A-E7F35FB0A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324100"/>
            <a:ext cx="179070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0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780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057E8E-3841-45AC-98CA-37DB65508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752850"/>
            <a:ext cx="1790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รายการ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พร้อมส่ง</a:t>
            </a:r>
          </a:p>
        </p:txBody>
      </p:sp>
      <p:sp>
        <p:nvSpPr>
          <p:cNvPr id="17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2044A02E-9F8D-4210-923C-D1A838A3A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footer-label-2">
            <a:extLst xmlns:a="http://schemas.openxmlformats.org/drawingml/2006/main">
              <a:ext uri="{FF2B5EF4-FFF2-40B4-BE49-F238E27FC236}">
                <a16:creationId xmlns:a16="http://schemas.microsoft.com/office/drawing/2014/main" id="{9F0D6BCE-562E-4B9C-A891-89EB7F311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19" name="footer-page-2">
            <a:extLst xmlns:a="http://schemas.openxmlformats.org/drawingml/2006/main">
              <a:ext uri="{FF2B5EF4-FFF2-40B4-BE49-F238E27FC236}">
                <a16:creationId xmlns:a16="http://schemas.microsoft.com/office/drawing/2014/main" id="{30E69F38-E5BF-43E7-8226-1792E5CA3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02 / 16</a:t>
            </a:r>
          </a:p>
        </p:txBody>
      </p:sp>
    </p:spTree>
    <p:extLst>
      <p:ext uri="{BB962C8B-B14F-4D97-AF65-F5344CB8AC3E}">
        <p14:creationId xmlns:p14="http://schemas.microsoft.com/office/powerpoint/2010/main" val="136333322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side-accent-3">
            <a:extLst xmlns:a="http://schemas.openxmlformats.org/drawingml/2006/main">
              <a:ext uri="{FF2B5EF4-FFF2-40B4-BE49-F238E27FC236}">
                <a16:creationId xmlns:a16="http://schemas.microsoft.com/office/drawing/2014/main" id="{62C04E92-86B7-40CC-8784-6E0320133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3">
            <a:extLst xmlns:a="http://schemas.openxmlformats.org/drawingml/2006/main">
              <a:ext uri="{FF2B5EF4-FFF2-40B4-BE49-F238E27FC236}">
                <a16:creationId xmlns:a16="http://schemas.microsoft.com/office/drawing/2014/main" id="{DDFF47F6-0420-46A3-AB11-4BB2C2461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ภาพรวมกระบวนการ  /  สายสนับสนุน</a:t>
            </a:r>
          </a:p>
        </p:txBody>
      </p:sp>
      <p:sp>
        <p:nvSpPr>
          <p:cNvPr id="3" name="title-3">
            <a:extLst xmlns:a="http://schemas.openxmlformats.org/drawingml/2006/main">
              <a:ext uri="{FF2B5EF4-FFF2-40B4-BE49-F238E27FC236}">
                <a16:creationId xmlns:a16="http://schemas.microsoft.com/office/drawing/2014/main" id="{031215A1-4711-481A-83EB-E7ADBE6F1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มาดูขั้นตอนทั้งหมดก่อนเริ่มกรอกข้อมูล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15CBF5-F955-40E8-BDC0-F729D25E8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ตั้งแต่เลือกกิจกรรม กรอกผล ตรวจคะแนน จนถึงผู้ประเมินคนสุดท้าย</a:t>
            </a:r>
          </a:p>
        </p:txBody>
      </p:sp>
      <p:sp>
        <p:nvSpPr>
          <p:cNvPr id="5" name="workflow-line">
            <a:extLst xmlns:a="http://schemas.openxmlformats.org/drawingml/2006/main">
              <a:ext uri="{FF2B5EF4-FFF2-40B4-BE49-F238E27FC236}">
                <a16:creationId xmlns:a16="http://schemas.microsoft.com/office/drawing/2014/main" id="{BF836693-E4F6-43BF-960A-6C08BF8F3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457575"/>
            <a:ext cx="866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workflow-arrow">
            <a:extLst xmlns:a="http://schemas.openxmlformats.org/drawingml/2006/main">
              <a:ext uri="{FF2B5EF4-FFF2-40B4-BE49-F238E27FC236}">
                <a16:creationId xmlns:a16="http://schemas.microsoft.com/office/drawing/2014/main" id="{B2CA3A7F-45F6-4747-B74D-4C18A75DD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3343275"/>
            <a:ext cx="4572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643029-E813-4641-8BEB-03E3BA0DA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6DBF0B-2F94-4DA1-B1B3-7FED9326F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0C2CFA-AC30-4872-B445-8A48E56CB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รับงาน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15AFBD-E96F-4F60-BA04-423BCFA8A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เลือกรอบและรายการ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E23480-E5FB-4DD9-99A8-6079C98C9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3BDE26-5A41-4189-BB86-6149CA7A1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D17B1B-E933-4F24-BD52-6FABE3E73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กรอกข้อมูล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F24E6F-0B2F-4CD7-8985-8AE447EF0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กิจกรรม • ตัวชี้วัด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BA565D-F69E-4926-BA13-69C0E7BBF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33559F-2E13-4373-95DA-789D1B664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7B69C9F-E9B1-44F2-B451-E794DCED2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ตรวจความพร้อม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EF11BE-D9AC-4FAA-B25A-117C9738C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ข้อมูล • หลักฐาน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6B6A957-CA9C-418E-AFD4-D8E8CF0AA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040A61B-E433-4616-AD08-52B1CCE0D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D89D4FC-0170-4E65-84F0-6EE0DE8DD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ส่งแบบประเมิน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283CB26-2F30-4739-A57E-DC5356B95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เข้าสู่ลำดับผู้ประเมิน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A401A13-B4F0-4202-BABA-566D0CE14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DFCF498-2709-4542-B1D2-2A3B58459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94D854C-D14A-4CDE-9F9F-9E7F90044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ปิดงาน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0476FE3-4DB8-4A15-984C-FBDA09896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สถานะ Completed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C07540B-E37E-443C-8DD2-09B64996C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7429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งานเดินตามลำดับผู้ประเมินที่ผู้ดูแลระบบกำหนด</a:t>
            </a:r>
          </a:p>
        </p:txBody>
      </p:sp>
      <p:sp>
        <p:nvSpPr>
          <p:cNvPr id="28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3E4D11EF-5613-48EE-A86C-420744879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footer-label-3">
            <a:extLst xmlns:a="http://schemas.openxmlformats.org/drawingml/2006/main">
              <a:ext uri="{FF2B5EF4-FFF2-40B4-BE49-F238E27FC236}">
                <a16:creationId xmlns:a16="http://schemas.microsoft.com/office/drawing/2014/main" id="{9CCC4278-7F97-43C2-B5ED-EB4B47F6F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30" name="footer-page-3">
            <a:extLst xmlns:a="http://schemas.openxmlformats.org/drawingml/2006/main">
              <a:ext uri="{FF2B5EF4-FFF2-40B4-BE49-F238E27FC236}">
                <a16:creationId xmlns:a16="http://schemas.microsoft.com/office/drawing/2014/main" id="{C35E83A5-D01D-4541-9A50-992F7463E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03 / 16</a:t>
            </a:r>
          </a:p>
        </p:txBody>
      </p:sp>
    </p:spTree>
    <p:extLst>
      <p:ext uri="{BB962C8B-B14F-4D97-AF65-F5344CB8AC3E}">
        <p14:creationId xmlns:p14="http://schemas.microsoft.com/office/powerpoint/2010/main" val="32731643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ide-accent-4">
            <a:extLst xmlns:a="http://schemas.openxmlformats.org/drawingml/2006/main">
              <a:ext uri="{FF2B5EF4-FFF2-40B4-BE49-F238E27FC236}">
                <a16:creationId xmlns:a16="http://schemas.microsoft.com/office/drawing/2014/main" id="{523F8FB4-B606-43AB-BA59-75BDE0F1E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4">
            <a:extLst xmlns:a="http://schemas.openxmlformats.org/drawingml/2006/main">
              <a:ext uri="{FF2B5EF4-FFF2-40B4-BE49-F238E27FC236}">
                <a16:creationId xmlns:a16="http://schemas.microsoft.com/office/drawing/2014/main" id="{937A8C3D-A28C-4C2C-9EDB-2FCB47E34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บทบาทของคุณ  /  สายสนับสนุน</a:t>
            </a:r>
          </a:p>
        </p:txBody>
      </p:sp>
      <p:sp>
        <p:nvSpPr>
          <p:cNvPr id="3" name="title-4">
            <a:extLst xmlns:a="http://schemas.openxmlformats.org/drawingml/2006/main">
              <a:ext uri="{FF2B5EF4-FFF2-40B4-BE49-F238E27FC236}">
                <a16:creationId xmlns:a16="http://schemas.microsoft.com/office/drawing/2014/main" id="{2C17DF04-D494-4D56-9268-1068A380C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กรอกผลการดำเนินงานให้ครบ แล้วส่งให้ผู้ประเมิน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08CBA5-EAA4-450D-B913-DB45E1994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609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>
                <a:solidFill>
                  <a:srgbClr val="23384D"/>
                </a:solidFill>
                <a:latin typeface="Tahoma"/>
                <a:ea typeface="Tahoma"/>
                <a:cs typeface="Tahoma"/>
              </a:defRPr>
            </a:pPr>
            <a:r>
              <a:rPr sz="1875" b="0">
                <a:solidFill>
                  <a:srgbClr val="23384D"/>
                </a:solidFill>
                <a:latin typeface="Tahoma"/>
                <a:ea typeface="Tahoma"/>
                <a:cs typeface="Tahoma"/>
              </a:rPr>
              <a:t>คุณเป็นเจ้าของข้อมูลผลกิจกรรมในขั้นแรก คะแนนที่น่าเชื่อถือต้องมีรายละเอียดและหลักฐานรองรับ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83F6AB-E270-4D55-A13D-E3DB98DA0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72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5209B1-F913-40F4-ACA9-7083BE305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38550"/>
            <a:ext cx="3028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เตรียม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A60272-CD11-4F52-975A-3D35B98A8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3028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17FBA6-E25F-413D-9186-29C1429A2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30289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กิจกรรม ผลที่ทำได้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และรายละเอียดประกอบ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BC3253-9D52-4A56-97C8-FE168973B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105150"/>
            <a:ext cx="72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E6D44A-E342-4AE3-86EC-BE8D11516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638550"/>
            <a:ext cx="3028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C709E4-8642-49D9-AC37-2E3988A37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191000"/>
            <a:ext cx="3028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7B5B49-8C4A-4AB6-AD51-E0C4B33E7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476750"/>
            <a:ext cx="30289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ค่าที่กรอก สูตรคำนวณ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และลิงก์หลักฐาน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3B6C09-2C61-4701-AB4F-CE065CC3D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105150"/>
            <a:ext cx="72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E08DC1-9EB3-46AF-B0A1-48AB33F9F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638550"/>
            <a:ext cx="3028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ตัดสินใจ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AC4C2C-9A8C-42C8-A206-2A11DFA0F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191000"/>
            <a:ext cx="3028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E6A856-208C-491F-B325-84900D676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476750"/>
            <a:ext cx="30289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บันทึกร่าง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หรือส่งแบบประเมิน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018C1B4-CF4F-4E2C-8FF0-69CDFE2AB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866900"/>
            <a:ext cx="30099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8E9E9E6-BD39-4680-B2B3-46895ED19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990725"/>
            <a:ext cx="247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ผู้ประเมินคนสุดท้าย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เป็นผู้ปิดงาน</a:t>
            </a:r>
          </a:p>
        </p:txBody>
      </p:sp>
      <p:sp>
        <p:nvSpPr>
          <p:cNvPr id="19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56D21E26-B1F3-44F2-AC90-AFCF6C89C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footer-label-4">
            <a:extLst xmlns:a="http://schemas.openxmlformats.org/drawingml/2006/main">
              <a:ext uri="{FF2B5EF4-FFF2-40B4-BE49-F238E27FC236}">
                <a16:creationId xmlns:a16="http://schemas.microsoft.com/office/drawing/2014/main" id="{2430B2D2-5E25-4B76-9120-BD29F7736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1" name="footer-page-4">
            <a:extLst xmlns:a="http://schemas.openxmlformats.org/drawingml/2006/main">
              <a:ext uri="{FF2B5EF4-FFF2-40B4-BE49-F238E27FC236}">
                <a16:creationId xmlns:a16="http://schemas.microsoft.com/office/drawing/2014/main" id="{6084D4AB-F666-44DD-8E9D-E31EFF239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04 / 16</a:t>
            </a:r>
          </a:p>
        </p:txBody>
      </p:sp>
    </p:spTree>
    <p:extLst>
      <p:ext uri="{BB962C8B-B14F-4D97-AF65-F5344CB8AC3E}">
        <p14:creationId xmlns:p14="http://schemas.microsoft.com/office/powerpoint/2010/main" val="74305199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side-accent-5">
            <a:extLst xmlns:a="http://schemas.openxmlformats.org/drawingml/2006/main">
              <a:ext uri="{FF2B5EF4-FFF2-40B4-BE49-F238E27FC236}">
                <a16:creationId xmlns:a16="http://schemas.microsoft.com/office/drawing/2014/main" id="{6CE53B04-A99B-4688-B8CA-BD02DB6D1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5">
            <a:extLst xmlns:a="http://schemas.openxmlformats.org/drawingml/2006/main">
              <a:ext uri="{FF2B5EF4-FFF2-40B4-BE49-F238E27FC236}">
                <a16:creationId xmlns:a16="http://schemas.microsoft.com/office/drawing/2014/main" id="{D3B39C39-A1F2-41B2-84C0-FEA3E4DD0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จุดเริ่มต้น  /  สายสนับสนุน</a:t>
            </a:r>
          </a:p>
        </p:txBody>
      </p:sp>
      <p:sp>
        <p:nvSpPr>
          <p:cNvPr id="3" name="title-5">
            <a:extLst xmlns:a="http://schemas.openxmlformats.org/drawingml/2006/main">
              <a:ext uri="{FF2B5EF4-FFF2-40B4-BE49-F238E27FC236}">
                <a16:creationId xmlns:a16="http://schemas.microsoft.com/office/drawing/2014/main" id="{228ACBAE-8B3B-4B74-88DA-38A21EC4D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เริ่มจากตรวจสอบรอบประเมินและรายการของคุณ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3053CF-F32F-4C58-B45C-13993D4E8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ก่อนเปิดงาน ให้ตรวจ 3 อย่างนี้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1FB925-9463-4F80-A019-266934D32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7F2AE6-2EC5-4AF7-A02A-427634317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5769B0-0B48-407F-9DD4-797F347B2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6289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รอบประเมิน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52E262-8E78-4B98-8AEB-A498E1222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6670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ปีและช่วงเวลาถูกต้อง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7D5C00-0899-4E78-959E-86E8F7C9E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C7C20D-12D8-4BB1-8474-D1F839DCF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00475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A8324D-E5FC-4936-85C0-CCF9B4971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6957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รายการงาน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72F75D-DE9C-4009-BFDA-35AA8B5DC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7338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เป็นงานของคุณและตรงประเภท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DAA97A-CB09-47FE-9377-B50853501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006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E94489-1D1E-4D15-9E15-EA369E80A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67275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BC8F23-266C-4E3B-817D-A18D337CE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7625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สถานะ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3DD367-C990-44D8-AC37-71FFF11FF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8006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ยังอยู่ในขั้นที่คุณดำเนินการได้</a:t>
            </a:r>
          </a:p>
        </p:txBody>
      </p:sp>
      <p:sp>
        <p:nvSpPr>
          <p:cNvPr id="17" name="dashboard-preview">
            <a:extLst xmlns:a="http://schemas.openxmlformats.org/drawingml/2006/main">
              <a:ext uri="{FF2B5EF4-FFF2-40B4-BE49-F238E27FC236}">
                <a16:creationId xmlns:a16="http://schemas.microsoft.com/office/drawing/2014/main" id="{73721473-3C0E-4E5C-B582-7FFD74D80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209800"/>
            <a:ext cx="3124200" cy="3352800"/>
          </a:xfrm>
          <a:prstGeom xmlns:a="http://schemas.openxmlformats.org/drawingml/2006/main" prst="roundRect">
            <a:avLst>
              <a:gd name="adj" fmla="val 24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3A6C1D-6B6F-4633-B7E2-C9BA9DD3A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495550"/>
            <a:ext cx="2514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95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แดชบอร์ดของฉัน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2044C2A-347B-441A-9062-A287B3227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105150"/>
            <a:ext cx="2514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F4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590E05-0819-4477-865B-A330A3014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209925"/>
            <a:ext cx="2171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สายสนับสนุน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CE3AB53-8401-4E19-996F-52D65CF72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752850"/>
            <a:ext cx="1943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64A051-A9DC-4C66-9887-1CFBBE45D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114800"/>
            <a:ext cx="22669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B96054F-0142-4E35-8D42-816AD4D0A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705350"/>
            <a:ext cx="15430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FA9C721-4D45-40BA-A93E-A3534BB58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829175"/>
            <a:ext cx="1543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เปิดรายการ</a:t>
            </a:r>
          </a:p>
        </p:txBody>
      </p:sp>
      <p:sp>
        <p:nvSpPr>
          <p:cNvPr id="25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771F28DE-D6B8-47D7-8616-7ADA290E3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footer-label-5">
            <a:extLst xmlns:a="http://schemas.openxmlformats.org/drawingml/2006/main">
              <a:ext uri="{FF2B5EF4-FFF2-40B4-BE49-F238E27FC236}">
                <a16:creationId xmlns:a16="http://schemas.microsoft.com/office/drawing/2014/main" id="{DC5F38A8-8852-42D3-891E-5477B0DAA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7" name="footer-page-5">
            <a:extLst xmlns:a="http://schemas.openxmlformats.org/drawingml/2006/main">
              <a:ext uri="{FF2B5EF4-FFF2-40B4-BE49-F238E27FC236}">
                <a16:creationId xmlns:a16="http://schemas.microsoft.com/office/drawing/2014/main" id="{680CCAE5-2E0A-4285-BC50-6A5CA2F96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05 / 16</a:t>
            </a:r>
          </a:p>
        </p:txBody>
      </p:sp>
    </p:spTree>
    <p:extLst>
      <p:ext uri="{BB962C8B-B14F-4D97-AF65-F5344CB8AC3E}">
        <p14:creationId xmlns:p14="http://schemas.microsoft.com/office/powerpoint/2010/main" val="179752004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side-accent-6">
            <a:extLst xmlns:a="http://schemas.openxmlformats.org/drawingml/2006/main">
              <a:ext uri="{FF2B5EF4-FFF2-40B4-BE49-F238E27FC236}">
                <a16:creationId xmlns:a16="http://schemas.microsoft.com/office/drawing/2014/main" id="{B104FDDD-1066-4D15-8DB9-C419E4C8F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6">
            <a:extLst xmlns:a="http://schemas.openxmlformats.org/drawingml/2006/main">
              <a:ext uri="{FF2B5EF4-FFF2-40B4-BE49-F238E27FC236}">
                <a16:creationId xmlns:a16="http://schemas.microsoft.com/office/drawing/2014/main" id="{9EDBB8BB-8935-409E-95FC-9E0697DD2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โครงสร้างข้อมูล  /  สายสนับสนุน</a:t>
            </a:r>
          </a:p>
        </p:txBody>
      </p:sp>
      <p:sp>
        <p:nvSpPr>
          <p:cNvPr id="3" name="title-6">
            <a:extLst xmlns:a="http://schemas.openxmlformats.org/drawingml/2006/main">
              <a:ext uri="{FF2B5EF4-FFF2-40B4-BE49-F238E27FC236}">
                <a16:creationId xmlns:a16="http://schemas.microsoft.com/office/drawing/2014/main" id="{F1DC096F-4665-4000-A49D-E1BD578B4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ตรวจให้แน่ใจว่าโครงการ กิจกรรม ตัวชี้วัด และหลักฐานตรงกัน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F440E5-658B-4F1B-8C51-A7247568E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685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ตรวจความเชื่อมโยงของข้อมูลทุกส่วน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4F8105-CEB8-4FDF-95E3-2D4D67A22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505200"/>
            <a:ext cx="7696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4D20B2-34E0-469A-BD88-B101BDC90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00990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62D757-D30B-4656-A9FB-DC4CB690E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295650"/>
            <a:ext cx="1028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327794-65B2-470E-A342-B018A561A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053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โครงการ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9C11F6-324D-4838-A904-881E28DFB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00600"/>
            <a:ext cx="2514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บริบทและเป้าหมาย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CB9A93-1558-4778-B97E-D6EA6CCA7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00990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7F1196-0F89-4362-8DA4-FDFB56736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295650"/>
            <a:ext cx="1028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113B34-E8C7-420F-A7B7-29A0F1BE6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3053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กิจกรรม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2718B2-8CD1-417D-BB20-D8DB616B7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800600"/>
            <a:ext cx="2514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งานที่ดำเนินการ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9D070D-E86D-4CF5-B641-94D1F907C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00990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50FB435-38B7-4848-99B3-58C2529D7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295650"/>
            <a:ext cx="1028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C05C64-9DBE-425C-9658-B2AB382E0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3053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ตัวชี้วัด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29AD77-0EFB-4D3D-8F45-4F60C4E11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800600"/>
            <a:ext cx="2514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เกณฑ์ที่ใช้วัดผล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5EF09F-C2BC-4984-BA97-5E6040358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300990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6C65762-CB09-491E-9423-13867AF7E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3295650"/>
            <a:ext cx="1028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28A9750-EF1B-4BA5-8814-68A58F148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43053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หลักฐาน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B06B5E9-2D1D-425C-8F83-F65EEC3C1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800600"/>
            <a:ext cx="2514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สิ่งที่ยืนยันผล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0D9D88C-F609-48CF-AB67-B02D5B1CB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ทุกคะแนนต้องย้อนกลับไปอธิบายได้ว่าเกิดจากกิจกรรมใด</a:t>
            </a:r>
          </a:p>
        </p:txBody>
      </p:sp>
      <p:sp>
        <p:nvSpPr>
          <p:cNvPr id="2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568050EE-7828-45DB-82C8-2843B55B0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footer-label-6">
            <a:extLst xmlns:a="http://schemas.openxmlformats.org/drawingml/2006/main">
              <a:ext uri="{FF2B5EF4-FFF2-40B4-BE49-F238E27FC236}">
                <a16:creationId xmlns:a16="http://schemas.microsoft.com/office/drawing/2014/main" id="{ACF4B99F-1334-403A-AE1D-C80D2D548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5" name="footer-page-6">
            <a:extLst xmlns:a="http://schemas.openxmlformats.org/drawingml/2006/main">
              <a:ext uri="{FF2B5EF4-FFF2-40B4-BE49-F238E27FC236}">
                <a16:creationId xmlns:a16="http://schemas.microsoft.com/office/drawing/2014/main" id="{986F923D-BEF6-4526-B53C-184038C31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06 / 16</a:t>
            </a:r>
          </a:p>
        </p:txBody>
      </p:sp>
    </p:spTree>
    <p:extLst>
      <p:ext uri="{BB962C8B-B14F-4D97-AF65-F5344CB8AC3E}">
        <p14:creationId xmlns:p14="http://schemas.microsoft.com/office/powerpoint/2010/main" val="212534641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side-accent-7">
            <a:extLst xmlns:a="http://schemas.openxmlformats.org/drawingml/2006/main">
              <a:ext uri="{FF2B5EF4-FFF2-40B4-BE49-F238E27FC236}">
                <a16:creationId xmlns:a16="http://schemas.microsoft.com/office/drawing/2014/main" id="{788AD6F0-56D9-45F7-9728-37E60F7B4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7">
            <a:extLst xmlns:a="http://schemas.openxmlformats.org/drawingml/2006/main">
              <a:ext uri="{FF2B5EF4-FFF2-40B4-BE49-F238E27FC236}">
                <a16:creationId xmlns:a16="http://schemas.microsoft.com/office/drawing/2014/main" id="{542A41EB-B0BF-4182-BE47-F6882B38D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บันทึกผลกิจกรรม  /  สายสนับสนุน</a:t>
            </a:r>
          </a:p>
        </p:txBody>
      </p:sp>
      <p:sp>
        <p:nvSpPr>
          <p:cNvPr id="3" name="title-7">
            <a:extLst xmlns:a="http://schemas.openxmlformats.org/drawingml/2006/main">
              <a:ext uri="{FF2B5EF4-FFF2-40B4-BE49-F238E27FC236}">
                <a16:creationId xmlns:a16="http://schemas.microsoft.com/office/drawing/2014/main" id="{3044B3D0-5C74-4790-BCB5-3F1F6983B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กรอกเป้าหมาย ผลที่ทำได้ และรายละเอียดกิจกรรมให้ครบ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D734C9-DB1F-4DB0-9D1E-27352C99C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685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ข้อมูล 3 ส่วนนี้ทำให้คะแนนมีที่มา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8C5357-1507-4ECE-B961-3BBBB03B0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3124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D165E3-3151-486A-8272-4C31D42A7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เป้าหมาย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B358A6-B7C7-405B-B326-A5DD3541B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23384D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23384D"/>
                </a:solidFill>
                <a:latin typeface="Tahoma"/>
                <a:ea typeface="Tahoma"/>
                <a:cs typeface="Tahoma"/>
              </a:rPr>
              <a:t>สิ่งที่เกณฑ์คาดหวัง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3B451B-4F05-463F-AD8E-4C1888738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3124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กำหนดจุดอ้างอิง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7E3ECF-D052-477F-BB8D-0FBD3BF3C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724150"/>
            <a:ext cx="3124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5BA873-DDC8-47EE-954B-367102CC3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10515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ผลที่ทำได้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5E7E76-2935-471E-87DB-FE288350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8290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23384D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23384D"/>
                </a:solidFill>
                <a:latin typeface="Tahoma"/>
                <a:ea typeface="Tahoma"/>
                <a:cs typeface="Tahoma"/>
              </a:rPr>
              <a:t>ค่าหรือระดับผลงานจริง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9EBD24-270A-483B-99CE-F98B0C202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667250"/>
            <a:ext cx="3124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ใช้คำนวณคะแนน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FFAB58-455D-4446-A9CF-86E15A5FA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724150"/>
            <a:ext cx="3124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462678-4FD5-434F-8BF9-808DBCA16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10515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รายละเอียดกิจกรรม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487F2C-AB79-480D-BC14-7E0B54D78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8290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23384D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23384D"/>
                </a:solidFill>
                <a:latin typeface="Tahoma"/>
                <a:ea typeface="Tahoma"/>
                <a:cs typeface="Tahoma"/>
              </a:rPr>
              <a:t>อธิบายงานที่เกิดขึ้น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22F177-F738-4C2B-B343-2AD9354BF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667250"/>
            <a:ext cx="3124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เชื่อมกับหลักฐาน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B40E555-F996-4E87-B1F5-D0BB6D5AC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904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หากเกณฑ์อนุญาต คุณสามารถเพิ่มรายการกิจกรรม/โครงการได้</a:t>
            </a:r>
          </a:p>
        </p:txBody>
      </p:sp>
      <p:sp>
        <p:nvSpPr>
          <p:cNvPr id="18" name="footer-rule-7">
            <a:extLst xmlns:a="http://schemas.openxmlformats.org/drawingml/2006/main">
              <a:ext uri="{FF2B5EF4-FFF2-40B4-BE49-F238E27FC236}">
                <a16:creationId xmlns:a16="http://schemas.microsoft.com/office/drawing/2014/main" id="{3D62E81B-6D69-49C5-BB80-09F89BD2D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footer-label-7">
            <a:extLst xmlns:a="http://schemas.openxmlformats.org/drawingml/2006/main">
              <a:ext uri="{FF2B5EF4-FFF2-40B4-BE49-F238E27FC236}">
                <a16:creationId xmlns:a16="http://schemas.microsoft.com/office/drawing/2014/main" id="{5E80C7B0-F8FD-47DA-AC01-34A1B90D0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0" name="footer-page-7">
            <a:extLst xmlns:a="http://schemas.openxmlformats.org/drawingml/2006/main">
              <a:ext uri="{FF2B5EF4-FFF2-40B4-BE49-F238E27FC236}">
                <a16:creationId xmlns:a16="http://schemas.microsoft.com/office/drawing/2014/main" id="{A3BC158A-B392-42CE-8E4D-ACE22ADBC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07 / 16</a:t>
            </a:r>
          </a:p>
        </p:txBody>
      </p:sp>
    </p:spTree>
    <p:extLst>
      <p:ext uri="{BB962C8B-B14F-4D97-AF65-F5344CB8AC3E}">
        <p14:creationId xmlns:p14="http://schemas.microsoft.com/office/powerpoint/2010/main" val="187250123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ide-accent-8">
            <a:extLst xmlns:a="http://schemas.openxmlformats.org/drawingml/2006/main">
              <a:ext uri="{FF2B5EF4-FFF2-40B4-BE49-F238E27FC236}">
                <a16:creationId xmlns:a16="http://schemas.microsoft.com/office/drawing/2014/main" id="{C2C28FDD-5165-4012-8C20-4C8CAED36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8">
            <a:extLst xmlns:a="http://schemas.openxmlformats.org/drawingml/2006/main">
              <a:ext uri="{FF2B5EF4-FFF2-40B4-BE49-F238E27FC236}">
                <a16:creationId xmlns:a16="http://schemas.microsoft.com/office/drawing/2014/main" id="{934B9C7B-6A31-4AB4-A8C2-0CDE662C3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สูตรคะแนน  /  สายสนับสนุน</a:t>
            </a:r>
          </a:p>
        </p:txBody>
      </p:sp>
      <p:sp>
        <p:nvSpPr>
          <p:cNvPr id="3" name="title-8">
            <a:extLst xmlns:a="http://schemas.openxmlformats.org/drawingml/2006/main">
              <a:ext uri="{FF2B5EF4-FFF2-40B4-BE49-F238E27FC236}">
                <a16:creationId xmlns:a16="http://schemas.microsoft.com/office/drawing/2014/main" id="{8E62E1A9-9389-4DDC-8496-F1F375992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ระบบคำนวณคะแนนถ่วงน้ำหนักจากน้ำหนักและคะแนนที่ทำได้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3B4A0E-7E87-423B-893A-14EC1B5DB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4857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240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คะแนนถ่วงน้ำหนัก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D9181D-024A-4CD1-A746-24FED331E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933700"/>
            <a:ext cx="723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390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390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=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D59AD8-6347-4240-AB25-8B755DD9E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495550"/>
            <a:ext cx="200025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85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85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น้ำหนัก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F5DEDB-AED6-4FFE-843E-6A77F7051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933700"/>
            <a:ext cx="552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37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37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×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0BBA99-B901-4D15-8313-E7C823650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495550"/>
            <a:ext cx="249555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9525">
            <a:solidFill>
              <a:srgbClr val="008C86"/>
            </a:solidFill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55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55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คะแนนที่ทำได้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0E0C91-D3E2-4A4C-BBCD-65473C29A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943350"/>
            <a:ext cx="52768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ED641A-BADD-48EC-A291-AC3621F64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171950"/>
            <a:ext cx="52768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315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15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100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740105-593A-4E92-9562-906E4EF11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895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คะแนนถ่วงน้ำหนัก = น้ำหนัก × คะแนนที่ทำได้ ÷ 100</a:t>
            </a:r>
          </a:p>
        </p:txBody>
      </p:sp>
      <p:sp>
        <p:nvSpPr>
          <p:cNvPr id="12" name="footer-rule-8">
            <a:extLst xmlns:a="http://schemas.openxmlformats.org/drawingml/2006/main">
              <a:ext uri="{FF2B5EF4-FFF2-40B4-BE49-F238E27FC236}">
                <a16:creationId xmlns:a16="http://schemas.microsoft.com/office/drawing/2014/main" id="{DA125A18-A133-4430-890F-946A6C314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footer-label-8">
            <a:extLst xmlns:a="http://schemas.openxmlformats.org/drawingml/2006/main">
              <a:ext uri="{FF2B5EF4-FFF2-40B4-BE49-F238E27FC236}">
                <a16:creationId xmlns:a16="http://schemas.microsoft.com/office/drawing/2014/main" id="{CA59F9ED-DD02-4548-B615-9198C5B46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14" name="footer-page-8">
            <a:extLst xmlns:a="http://schemas.openxmlformats.org/drawingml/2006/main">
              <a:ext uri="{FF2B5EF4-FFF2-40B4-BE49-F238E27FC236}">
                <a16:creationId xmlns:a16="http://schemas.microsoft.com/office/drawing/2014/main" id="{F6300BF4-B39E-46FA-B3D4-2C17B409B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08 / 16</a:t>
            </a:r>
          </a:p>
        </p:txBody>
      </p:sp>
    </p:spTree>
    <p:extLst>
      <p:ext uri="{BB962C8B-B14F-4D97-AF65-F5344CB8AC3E}">
        <p14:creationId xmlns:p14="http://schemas.microsoft.com/office/powerpoint/2010/main" val="14980894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ide-accent-9">
            <a:extLst xmlns:a="http://schemas.openxmlformats.org/drawingml/2006/main">
              <a:ext uri="{FF2B5EF4-FFF2-40B4-BE49-F238E27FC236}">
                <a16:creationId xmlns:a16="http://schemas.microsoft.com/office/drawing/2014/main" id="{B9A555B2-4431-4FF9-98C6-00A602451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9">
            <a:extLst xmlns:a="http://schemas.openxmlformats.org/drawingml/2006/main">
              <a:ext uri="{FF2B5EF4-FFF2-40B4-BE49-F238E27FC236}">
                <a16:creationId xmlns:a16="http://schemas.microsoft.com/office/drawing/2014/main" id="{7E1A85B2-C997-48C8-B933-61C8C8EBA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ตัวอย่างคำนวณ  /  สายสนับสนุน</a:t>
            </a:r>
          </a:p>
        </p:txBody>
      </p:sp>
      <p:sp>
        <p:nvSpPr>
          <p:cNvPr id="3" name="title-9">
            <a:extLst xmlns:a="http://schemas.openxmlformats.org/drawingml/2006/main">
              <a:ext uri="{FF2B5EF4-FFF2-40B4-BE49-F238E27FC236}">
                <a16:creationId xmlns:a16="http://schemas.microsoft.com/office/drawing/2014/main" id="{46BE4E26-873D-4C0D-B49F-C53928C81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ลองคำนวณคะแนนจากตัวอย่างนี้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692B8D-5AC6-4326-81CA-85EC20909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3143250" cy="234315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FFC141-BA19-4565-984E-63EC62C2C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47950"/>
            <a:ext cx="26860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55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555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20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C69672-207C-416D-8E7A-08F82DC39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05250"/>
            <a:ext cx="2686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น้ำหนัก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1F9010-EF35-44C9-ABAC-BB26F5F79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400300"/>
            <a:ext cx="3143250" cy="234315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4C1070-DD8A-4FAB-8552-33F2D1829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647950"/>
            <a:ext cx="26860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55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555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80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0D7BAA-DCAF-43B8-BBF5-E161E1FF0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905250"/>
            <a:ext cx="2686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คะแนนที่ทำได้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DB2135-AE68-4C3E-8833-BE045132B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400300"/>
            <a:ext cx="3143250" cy="234315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9525">
            <a:solidFill>
              <a:srgbClr val="008C8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344479-02D4-4708-834C-DA0D31187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647950"/>
            <a:ext cx="26860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55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555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16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1E02FE-C3FD-44CB-A031-17FDC7863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905250"/>
            <a:ext cx="2686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คะแนนถ่วงน้ำหนัก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9F39AB-30DD-47F4-BE76-89797794D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70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270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20 × 80 ÷ 100 = 16 คะแนน</a:t>
            </a:r>
          </a:p>
        </p:txBody>
      </p:sp>
      <p:sp>
        <p:nvSpPr>
          <p:cNvPr id="14" name="footer-rule-9">
            <a:extLst xmlns:a="http://schemas.openxmlformats.org/drawingml/2006/main">
              <a:ext uri="{FF2B5EF4-FFF2-40B4-BE49-F238E27FC236}">
                <a16:creationId xmlns:a16="http://schemas.microsoft.com/office/drawing/2014/main" id="{92918C6D-75AE-442B-B926-952E03327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footer-label-9">
            <a:extLst xmlns:a="http://schemas.openxmlformats.org/drawingml/2006/main">
              <a:ext uri="{FF2B5EF4-FFF2-40B4-BE49-F238E27FC236}">
                <a16:creationId xmlns:a16="http://schemas.microsoft.com/office/drawing/2014/main" id="{787CC820-AA92-42A6-9B2B-0A8BA1FBA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16" name="footer-page-9">
            <a:extLst xmlns:a="http://schemas.openxmlformats.org/drawingml/2006/main">
              <a:ext uri="{FF2B5EF4-FFF2-40B4-BE49-F238E27FC236}">
                <a16:creationId xmlns:a16="http://schemas.microsoft.com/office/drawing/2014/main" id="{B6522664-40B3-4BA9-81D3-D4BDE6D23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09 / 16</a:t>
            </a:r>
          </a:p>
        </p:txBody>
      </p:sp>
    </p:spTree>
    <p:extLst>
      <p:ext uri="{BB962C8B-B14F-4D97-AF65-F5344CB8AC3E}">
        <p14:creationId xmlns:p14="http://schemas.microsoft.com/office/powerpoint/2010/main" val="164833306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ide-accent-10">
            <a:extLst xmlns:a="http://schemas.openxmlformats.org/drawingml/2006/main">
              <a:ext uri="{FF2B5EF4-FFF2-40B4-BE49-F238E27FC236}">
                <a16:creationId xmlns:a16="http://schemas.microsoft.com/office/drawing/2014/main" id="{B46CCAD2-D4A4-4CEA-A7AC-81330D13A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0">
            <a:extLst xmlns:a="http://schemas.openxmlformats.org/drawingml/2006/main">
              <a:ext uri="{FF2B5EF4-FFF2-40B4-BE49-F238E27FC236}">
                <a16:creationId xmlns:a16="http://schemas.microsoft.com/office/drawing/2014/main" id="{E0C4884F-7E70-4C1E-AC08-3F6240543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หลักฐาน  /  สายสนับสนุน</a:t>
            </a:r>
          </a:p>
        </p:txBody>
      </p:sp>
      <p:sp>
        <p:nvSpPr>
          <p:cNvPr id="3" name="title-10">
            <a:extLst xmlns:a="http://schemas.openxmlformats.org/drawingml/2006/main">
              <a:ext uri="{FF2B5EF4-FFF2-40B4-BE49-F238E27FC236}">
                <a16:creationId xmlns:a16="http://schemas.microsoft.com/office/drawing/2014/main" id="{04F6DB57-D4C5-4AE6-A6DB-A2B49860C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แนบหลักฐานที่เปิดดูได้และตรงกับกิจกรรม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F3B398-D57A-41DC-AEE7-1086732DD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8477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ผู้ประเมินควรเห็นได้ทันทีว่าหลักฐานรองรับกิจกรรมใด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4338F9-7A83-4EB9-AB49-EE0C4D238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CC9035-21AD-4139-9ABA-49F12660D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47975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772924-07C3-49DE-8E37-8B6E03493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76225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เปิดได้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FBE678-34CB-4932-8B51-E7CE9DC44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781300"/>
            <a:ext cx="666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ใช้ลิงก์ http/https ที่เข้าถึงได้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836B33-D4A6-4065-8519-1C3EB1250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70367D-A87C-437F-AFEE-357006DC4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81425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B31CDE-07FA-489F-AD0E-6BD654E79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9570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ตรงรายการ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550247-D640-4E81-B125-50AD62B67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714750"/>
            <a:ext cx="666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เห็นความเชื่อมโยงกับกิจกรรมหรือโครงการ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985E1A-3D0F-4658-A895-570AA8011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48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C45D5A-3B03-4465-B68C-BD26AAE22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5402D5-6D26-44A8-8DAD-9479EB8A0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62915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ระบุตัวตนได้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83BEF8-B8E3-4A3C-AFA9-B6F29B9C7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648200"/>
            <a:ext cx="666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ตั้งชื่อไฟล์หรือเอกสารให้เข้าใจง่าย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1A1BD0E-CD68-4AC7-9410-C9C489329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124450"/>
            <a:ext cx="35242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9525">
            <a:solidFill>
              <a:srgbClr val="008C8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5FCE001-BD76-482A-AC6B-3E70FCBF3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219700"/>
            <a:ext cx="3028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รายการที่บังคับหลักฐาน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ต้องมีลิงก์ก่อนส่ง</a:t>
            </a:r>
          </a:p>
        </p:txBody>
      </p:sp>
      <p:sp>
        <p:nvSpPr>
          <p:cNvPr id="19" name="footer-rule-10">
            <a:extLst xmlns:a="http://schemas.openxmlformats.org/drawingml/2006/main">
              <a:ext uri="{FF2B5EF4-FFF2-40B4-BE49-F238E27FC236}">
                <a16:creationId xmlns:a16="http://schemas.microsoft.com/office/drawing/2014/main" id="{E48A08FF-1808-4CDA-A38D-6264691F8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footer-label-10">
            <a:extLst xmlns:a="http://schemas.openxmlformats.org/drawingml/2006/main">
              <a:ext uri="{FF2B5EF4-FFF2-40B4-BE49-F238E27FC236}">
                <a16:creationId xmlns:a16="http://schemas.microsoft.com/office/drawing/2014/main" id="{C3EE4C84-FF38-4CA1-80BF-D75DCCD7E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1" name="footer-page-10">
            <a:extLst xmlns:a="http://schemas.openxmlformats.org/drawingml/2006/main">
              <a:ext uri="{FF2B5EF4-FFF2-40B4-BE49-F238E27FC236}">
                <a16:creationId xmlns:a16="http://schemas.microsoft.com/office/drawing/2014/main" id="{5C0D5150-A5C9-466B-9A93-705968444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10 / 16</a:t>
            </a:r>
          </a:p>
        </p:txBody>
      </p:sp>
    </p:spTree>
    <p:extLst>
      <p:ext uri="{BB962C8B-B14F-4D97-AF65-F5344CB8AC3E}">
        <p14:creationId xmlns:p14="http://schemas.microsoft.com/office/powerpoint/2010/main" val="186327015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ide-accent-11">
            <a:extLst xmlns:a="http://schemas.openxmlformats.org/drawingml/2006/main">
              <a:ext uri="{FF2B5EF4-FFF2-40B4-BE49-F238E27FC236}">
                <a16:creationId xmlns:a16="http://schemas.microsoft.com/office/drawing/2014/main" id="{E6346E21-9376-4746-B4FA-1D20C8D17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1">
            <a:extLst xmlns:a="http://schemas.openxmlformats.org/drawingml/2006/main">
              <a:ext uri="{FF2B5EF4-FFF2-40B4-BE49-F238E27FC236}">
                <a16:creationId xmlns:a16="http://schemas.microsoft.com/office/drawing/2014/main" id="{11C7E6DF-EE62-4592-A97A-A2B200632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ก่อนกดปุ่ม  /  สายสนับสนุน</a:t>
            </a:r>
          </a:p>
        </p:txBody>
      </p:sp>
      <p:sp>
        <p:nvSpPr>
          <p:cNvPr id="3" name="title-11">
            <a:extLst xmlns:a="http://schemas.openxmlformats.org/drawingml/2006/main">
              <a:ext uri="{FF2B5EF4-FFF2-40B4-BE49-F238E27FC236}">
                <a16:creationId xmlns:a16="http://schemas.microsoft.com/office/drawing/2014/main" id="{2D56EB79-BB1B-4F51-9076-5B1BE3BBB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หากข้อมูลยังไม่ครบ ให้บันทึกร่างไว้ก่อน</a:t>
            </a:r>
          </a:p>
        </p:txBody>
      </p:sp>
      <p:sp>
        <p:nvSpPr>
          <p:cNvPr id="4" name="draft-panel">
            <a:extLst xmlns:a="http://schemas.openxmlformats.org/drawingml/2006/main">
              <a:ext uri="{FF2B5EF4-FFF2-40B4-BE49-F238E27FC236}">
                <a16:creationId xmlns:a16="http://schemas.microsoft.com/office/drawing/2014/main" id="{5C37948D-539E-4887-98AA-A7AECE49E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4953000" cy="2914650"/>
          </a:xfrm>
          <a:prstGeom xmlns:a="http://schemas.openxmlformats.org/drawingml/2006/main" prst="roundRect">
            <a:avLst>
              <a:gd name="adj" fmla="val 26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B92F87-A470-4722-AD61-CCC92A6E3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686050"/>
            <a:ext cx="4191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7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บันทึกร่าง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4D3DAD-3F78-4424-98E8-7501C2623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486150"/>
            <a:ext cx="40386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กลับมาแก้ไขได้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เหมาะเมื่อข้อมูลยังไม่ครบ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งานยังไม่ส่งให้ผู้ประเมิน</a:t>
            </a:r>
          </a:p>
        </p:txBody>
      </p:sp>
      <p:sp>
        <p:nvSpPr>
          <p:cNvPr id="7" name="submit-panel">
            <a:extLst xmlns:a="http://schemas.openxmlformats.org/drawingml/2006/main">
              <a:ext uri="{FF2B5EF4-FFF2-40B4-BE49-F238E27FC236}">
                <a16:creationId xmlns:a16="http://schemas.microsoft.com/office/drawing/2014/main" id="{E15F2964-9E26-428C-8DAD-5DC763156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343150"/>
            <a:ext cx="5562600" cy="2914650"/>
          </a:xfrm>
          <a:prstGeom xmlns:a="http://schemas.openxmlformats.org/drawingml/2006/main" prst="roundRect">
            <a:avLst>
              <a:gd name="adj" fmla="val 2614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19050">
            <a:solidFill>
              <a:srgbClr val="008C8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19B396-08EF-41CE-9D19-BFE084356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68605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27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ส่งแบบประเมิน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B4BE9A-0999-4831-9E99-FB3E8ACF2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486150"/>
            <a:ext cx="46863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ระบบตรวจข้อมูลบังคับและหลักฐาน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งานเข้าสู่ลำดับผู้ประเมิน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ตรวจอีกครั้งก่อนยืนยัน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959425-E274-4814-A945-63864476D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990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ถามตัวเองก่อนกดส่ง: “ผู้ประเมินเห็นข้อมูลครบหรือยัง?”</a:t>
            </a:r>
          </a:p>
        </p:txBody>
      </p:sp>
      <p:sp>
        <p:nvSpPr>
          <p:cNvPr id="11" name="footer-rule-11">
            <a:extLst xmlns:a="http://schemas.openxmlformats.org/drawingml/2006/main">
              <a:ext uri="{FF2B5EF4-FFF2-40B4-BE49-F238E27FC236}">
                <a16:creationId xmlns:a16="http://schemas.microsoft.com/office/drawing/2014/main" id="{01549995-0ECF-43C9-82E0-85ED7C365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footer-label-11">
            <a:extLst xmlns:a="http://schemas.openxmlformats.org/drawingml/2006/main">
              <a:ext uri="{FF2B5EF4-FFF2-40B4-BE49-F238E27FC236}">
                <a16:creationId xmlns:a16="http://schemas.microsoft.com/office/drawing/2014/main" id="{6DFF758D-A031-40DD-9043-0818B2E81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13" name="footer-page-11">
            <a:extLst xmlns:a="http://schemas.openxmlformats.org/drawingml/2006/main">
              <a:ext uri="{FF2B5EF4-FFF2-40B4-BE49-F238E27FC236}">
                <a16:creationId xmlns:a16="http://schemas.microsoft.com/office/drawing/2014/main" id="{6AED2845-4BF0-40C3-8B71-5279F9F51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11 / 16</a:t>
            </a:r>
          </a:p>
        </p:txBody>
      </p:sp>
    </p:spTree>
    <p:extLst>
      <p:ext uri="{BB962C8B-B14F-4D97-AF65-F5344CB8AC3E}">
        <p14:creationId xmlns:p14="http://schemas.microsoft.com/office/powerpoint/2010/main" val="188948889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ide-accent-12">
            <a:extLst xmlns:a="http://schemas.openxmlformats.org/drawingml/2006/main">
              <a:ext uri="{FF2B5EF4-FFF2-40B4-BE49-F238E27FC236}">
                <a16:creationId xmlns:a16="http://schemas.microsoft.com/office/drawing/2014/main" id="{73B8901D-318C-41DA-8614-06969B957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2">
            <a:extLst xmlns:a="http://schemas.openxmlformats.org/drawingml/2006/main">
              <a:ext uri="{FF2B5EF4-FFF2-40B4-BE49-F238E27FC236}">
                <a16:creationId xmlns:a16="http://schemas.microsoft.com/office/drawing/2014/main" id="{9EB628F2-6BE2-4E27-86BF-F21C14FAE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หลังจากส่ง  /  สายสนับสนุน</a:t>
            </a:r>
          </a:p>
        </p:txBody>
      </p:sp>
      <p:sp>
        <p:nvSpPr>
          <p:cNvPr id="3" name="title-12">
            <a:extLst xmlns:a="http://schemas.openxmlformats.org/drawingml/2006/main">
              <a:ext uri="{FF2B5EF4-FFF2-40B4-BE49-F238E27FC236}">
                <a16:creationId xmlns:a16="http://schemas.microsoft.com/office/drawing/2014/main" id="{53EBDB26-20A5-4E23-B2E1-84BE5E751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หลังส่งแบบประเมิน ระบบจะส่งงานตามลำดับผู้ประเมิน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1BEF06-07D4-47B3-A94E-611C47009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86150"/>
            <a:ext cx="88011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22C60D-5075-4B62-8C7C-13E17EBD8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04800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B186B7-F605-460E-8904-9AF691821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295650"/>
            <a:ext cx="89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29F63A-81EC-4772-8516-E58DB6A85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10050"/>
            <a:ext cx="211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4AE197-2201-4CE4-B840-0AA8A9BF4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05350"/>
            <a:ext cx="2228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ข้อมูลและหลักฐาน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3ACE82-A473-491A-A446-FC02E8A24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04800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D8BD40-6F87-4AA3-BD18-47F88DAD9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295650"/>
            <a:ext cx="89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6B237D-DBA1-4BC0-83C6-5A8DFC91C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210050"/>
            <a:ext cx="211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ให้ผล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9DA51D2-7A80-40F7-8439-00819F66F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705350"/>
            <a:ext cx="2228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คะแนนหรือความเห็น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140ED8-3937-482A-A143-AC1F2C285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04800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C33273-0B7E-4FF6-9514-6313167D0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295650"/>
            <a:ext cx="89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3FB7B3D-A7F1-4D75-9C8E-F3DAE76CA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210050"/>
            <a:ext cx="211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ส่งต่อ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332BFC-60FE-46AA-9A35-3EF7A13FA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705350"/>
            <a:ext cx="2228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ไปยังผู้ประเมินลำดับถัดไป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004F7B-B01C-4098-9826-826161D5C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04800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B30EF73-4B6D-4987-8F9A-23E0BFFD9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295650"/>
            <a:ext cx="89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10684CF-F998-4BE7-A169-39C23DCCD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210050"/>
            <a:ext cx="211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ปิดงาน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367114A-7622-4021-90B4-4E8D3BBF5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705350"/>
            <a:ext cx="2228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เมื่อเป็นผู้ประเมินคนสุดท้าย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6D4B30A-BE6F-46DC-8635-94AE36390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8382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จำนวนและบทบาทของผู้ประเมินอาจต่างกันในแต่ละงาน</a:t>
            </a:r>
          </a:p>
        </p:txBody>
      </p:sp>
      <p:sp>
        <p:nvSpPr>
          <p:cNvPr id="22" name="footer-rule-12">
            <a:extLst xmlns:a="http://schemas.openxmlformats.org/drawingml/2006/main">
              <a:ext uri="{FF2B5EF4-FFF2-40B4-BE49-F238E27FC236}">
                <a16:creationId xmlns:a16="http://schemas.microsoft.com/office/drawing/2014/main" id="{F26E38C5-2AD4-405F-B801-F39A7D4B8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footer-label-12">
            <a:extLst xmlns:a="http://schemas.openxmlformats.org/drawingml/2006/main">
              <a:ext uri="{FF2B5EF4-FFF2-40B4-BE49-F238E27FC236}">
                <a16:creationId xmlns:a16="http://schemas.microsoft.com/office/drawing/2014/main" id="{4DACD08A-1678-4B75-AECB-B8A0F2654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4" name="footer-page-12">
            <a:extLst xmlns:a="http://schemas.openxmlformats.org/drawingml/2006/main">
              <a:ext uri="{FF2B5EF4-FFF2-40B4-BE49-F238E27FC236}">
                <a16:creationId xmlns:a16="http://schemas.microsoft.com/office/drawing/2014/main" id="{E45EBA7A-7E4C-48FA-A1EC-C593ADE03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12 / 16</a:t>
            </a:r>
          </a:p>
        </p:txBody>
      </p:sp>
    </p:spTree>
    <p:extLst>
      <p:ext uri="{BB962C8B-B14F-4D97-AF65-F5344CB8AC3E}">
        <p14:creationId xmlns:p14="http://schemas.microsoft.com/office/powerpoint/2010/main" val="188907644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ide-accent-13">
            <a:extLst xmlns:a="http://schemas.openxmlformats.org/drawingml/2006/main">
              <a:ext uri="{FF2B5EF4-FFF2-40B4-BE49-F238E27FC236}">
                <a16:creationId xmlns:a16="http://schemas.microsoft.com/office/drawing/2014/main" id="{AB0D84C3-3DF0-4176-9745-2D0658572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3">
            <a:extLst xmlns:a="http://schemas.openxmlformats.org/drawingml/2006/main">
              <a:ext uri="{FF2B5EF4-FFF2-40B4-BE49-F238E27FC236}">
                <a16:creationId xmlns:a16="http://schemas.microsoft.com/office/drawing/2014/main" id="{8F8976EE-BC45-4948-85E9-63E364ED3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สำหรับผู้ประเมิน  /  สายสนับสนุน</a:t>
            </a:r>
          </a:p>
        </p:txBody>
      </p:sp>
      <p:sp>
        <p:nvSpPr>
          <p:cNvPr id="3" name="title-13">
            <a:extLst xmlns:a="http://schemas.openxmlformats.org/drawingml/2006/main">
              <a:ext uri="{FF2B5EF4-FFF2-40B4-BE49-F238E27FC236}">
                <a16:creationId xmlns:a16="http://schemas.microsoft.com/office/drawing/2014/main" id="{CA3FF083-9993-4C13-8328-8171CDA15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ผู้ประเมินตรวจผลกิจกรรม คะแนน และหลักฐาน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D17F3B-C8D8-47AA-BFC0-A55CBD5ED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590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C2BAFF-5B9B-4531-911C-41BF883BE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03835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ตรวจข้อมูล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4847A8-7F8B-4FBE-877D-C8A457EC0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0764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ผลกิจกรรมและรายละเอียดตรงกับเกณฑ์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934E22-604F-4DBB-981B-CEDF29C1C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667000"/>
            <a:ext cx="9734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6AA2D4-C209-4327-B7DE-EEB8BD51A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590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FB4C6D-8893-490D-AB20-982CBFF5D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93370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ตรวจคะแนน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F571CC-31E3-4B8C-98EE-098DA6236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97180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น้ำหนัก คะแนนที่ทำได้ และผลคำนวณสอดคล้องกัน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BEE206-D0B0-40F2-A2CA-6A372CE64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562350"/>
            <a:ext cx="9734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82CC86-E7AD-4BE1-B126-CC98D9945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590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F7FCFB-CA8A-46D3-AB89-85FD6E1F3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82905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เปิดหลักฐาน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4B13C5-3D1C-4C99-8A4C-7C24B9A6C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8671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ลิงก์เข้าถึงได้และยืนยันกิจกรรม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95B0FA-9259-406D-84D4-86322CE7C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457700"/>
            <a:ext cx="9734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226B567-0035-4CC3-8FD8-39858580F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590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D2B661-CE82-4A92-BB12-38B160865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2440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ส่งต่องาน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69C4569-FC7D-44A1-BAC7-DE4940AE3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76250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ให้ผลและดำเนินการเมื่อข้อมูลครบตามสิทธิ์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BDA2099-0850-4FF3-B657-CE5363B6D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728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87FED83-673D-49A1-B5CE-C172F9EFE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38825"/>
            <a:ext cx="10515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ผู้ประเมินควรตัดสินใจจากข้อมูลและหลักฐานที่เปิดตรวจได้</a:t>
            </a:r>
          </a:p>
        </p:txBody>
      </p:sp>
      <p:sp>
        <p:nvSpPr>
          <p:cNvPr id="21" name="footer-rule-13">
            <a:extLst xmlns:a="http://schemas.openxmlformats.org/drawingml/2006/main">
              <a:ext uri="{FF2B5EF4-FFF2-40B4-BE49-F238E27FC236}">
                <a16:creationId xmlns:a16="http://schemas.microsoft.com/office/drawing/2014/main" id="{F59CF82F-2A0D-49F7-B167-AE226935F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footer-label-13">
            <a:extLst xmlns:a="http://schemas.openxmlformats.org/drawingml/2006/main">
              <a:ext uri="{FF2B5EF4-FFF2-40B4-BE49-F238E27FC236}">
                <a16:creationId xmlns:a16="http://schemas.microsoft.com/office/drawing/2014/main" id="{1296C83D-D731-4C3A-8CF5-EB85B1E16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3" name="footer-page-13">
            <a:extLst xmlns:a="http://schemas.openxmlformats.org/drawingml/2006/main">
              <a:ext uri="{FF2B5EF4-FFF2-40B4-BE49-F238E27FC236}">
                <a16:creationId xmlns:a16="http://schemas.microsoft.com/office/drawing/2014/main" id="{8B339A64-5612-489D-9EC3-14ABDF8BA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13 / 16</a:t>
            </a:r>
          </a:p>
        </p:txBody>
      </p:sp>
    </p:spTree>
    <p:extLst>
      <p:ext uri="{BB962C8B-B14F-4D97-AF65-F5344CB8AC3E}">
        <p14:creationId xmlns:p14="http://schemas.microsoft.com/office/powerpoint/2010/main" val="148664977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side-accent-14">
            <a:extLst xmlns:a="http://schemas.openxmlformats.org/drawingml/2006/main">
              <a:ext uri="{FF2B5EF4-FFF2-40B4-BE49-F238E27FC236}">
                <a16:creationId xmlns:a16="http://schemas.microsoft.com/office/drawing/2014/main" id="{B2028567-D87A-4FB1-BED7-1AA3AC9F1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4">
            <a:extLst xmlns:a="http://schemas.openxmlformats.org/drawingml/2006/main">
              <a:ext uri="{FF2B5EF4-FFF2-40B4-BE49-F238E27FC236}">
                <a16:creationId xmlns:a16="http://schemas.microsoft.com/office/drawing/2014/main" id="{DF5D4338-39BC-473E-8935-B724811EA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ลำดับการประเมิน  /  สายสนับสนุน</a:t>
            </a:r>
          </a:p>
        </p:txBody>
      </p:sp>
      <p:sp>
        <p:nvSpPr>
          <p:cNvPr id="3" name="title-14">
            <a:extLst xmlns:a="http://schemas.openxmlformats.org/drawingml/2006/main">
              <a:ext uri="{FF2B5EF4-FFF2-40B4-BE49-F238E27FC236}">
                <a16:creationId xmlns:a16="http://schemas.microsoft.com/office/drawing/2014/main" id="{1E9F9093-F047-4D5F-82C5-2AC39A60B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ผู้ประเมินแต่ละคนส่งต่องานตามลำดับ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C33A12-24E4-46FD-B4CC-F28E58358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457575"/>
            <a:ext cx="76581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D0D068-26BD-4B61-92D5-00DEA4941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91465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597563-F9DF-45AB-89BB-4FDF72F82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219450"/>
            <a:ext cx="1104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3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11409A-8C14-4E4C-95A9-5C21CA613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ผู้ประเมินคนที่ 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3EB76F-7044-410C-B7AB-08FE18AEC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1490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ตรวจและให้ผล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2F2CF8-A373-4479-9B05-25AF7D0EE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91465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5522DA-ED8E-40B8-855C-C5CEE1468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19450"/>
            <a:ext cx="1104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3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F3C3AC-BCAC-422C-98A3-DB9025054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34340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ผู้ประเมินคนถัดไป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423554-391B-46D1-AA3B-83E00BEB2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91490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รับงานตามลำดับ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AE5C8D-254E-470F-89F7-A8BFC14D0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91465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4683B4-A000-4233-A7F9-92331B59B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219450"/>
            <a:ext cx="1104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3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F25A24-10E4-4370-A7B5-733A096EF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34340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ผู้ประเมินคนสุดท้าย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25530E-836C-4990-A575-456AEE57A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91490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ยืนยันขั้นสุดท้าย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FB24627-FFC0-4B43-B5EF-6B87D40EC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ผู้ประเมินคนสุดท้ายยืนยันแล้ว สถานะจะเป็น ประเมินเสร็จสิ้น (Completed)</a:t>
            </a:r>
          </a:p>
        </p:txBody>
      </p:sp>
      <p:sp>
        <p:nvSpPr>
          <p:cNvPr id="18" name="footer-rule-14">
            <a:extLst xmlns:a="http://schemas.openxmlformats.org/drawingml/2006/main">
              <a:ext uri="{FF2B5EF4-FFF2-40B4-BE49-F238E27FC236}">
                <a16:creationId xmlns:a16="http://schemas.microsoft.com/office/drawing/2014/main" id="{76813940-593A-42E0-BD05-C471FB265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footer-label-14">
            <a:extLst xmlns:a="http://schemas.openxmlformats.org/drawingml/2006/main">
              <a:ext uri="{FF2B5EF4-FFF2-40B4-BE49-F238E27FC236}">
                <a16:creationId xmlns:a16="http://schemas.microsoft.com/office/drawing/2014/main" id="{72B7D50D-981B-493F-ADA4-1926ABEC5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0" name="footer-page-14">
            <a:extLst xmlns:a="http://schemas.openxmlformats.org/drawingml/2006/main">
              <a:ext uri="{FF2B5EF4-FFF2-40B4-BE49-F238E27FC236}">
                <a16:creationId xmlns:a16="http://schemas.microsoft.com/office/drawing/2014/main" id="{1FFB6A43-0C1D-493B-A8AF-76124E18F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14 / 16</a:t>
            </a:r>
          </a:p>
        </p:txBody>
      </p:sp>
    </p:spTree>
    <p:extLst>
      <p:ext uri="{BB962C8B-B14F-4D97-AF65-F5344CB8AC3E}">
        <p14:creationId xmlns:p14="http://schemas.microsoft.com/office/powerpoint/2010/main" val="108423214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ide-accent-15">
            <a:extLst xmlns:a="http://schemas.openxmlformats.org/drawingml/2006/main">
              <a:ext uri="{FF2B5EF4-FFF2-40B4-BE49-F238E27FC236}">
                <a16:creationId xmlns:a16="http://schemas.microsoft.com/office/drawing/2014/main" id="{B65AB3FE-6A6A-474F-A3E1-4B5906D91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5">
            <a:extLst xmlns:a="http://schemas.openxmlformats.org/drawingml/2006/main">
              <a:ext uri="{FF2B5EF4-FFF2-40B4-BE49-F238E27FC236}">
                <a16:creationId xmlns:a16="http://schemas.microsoft.com/office/drawing/2014/main" id="{EF0CD5ED-CDA6-44BB-A30F-462DEE3F1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ภารกิจฝึกปฏิบัติ  /  สายสนับสนุน</a:t>
            </a:r>
          </a:p>
        </p:txBody>
      </p:sp>
      <p:sp>
        <p:nvSpPr>
          <p:cNvPr id="3" name="title-15">
            <a:extLst xmlns:a="http://schemas.openxmlformats.org/drawingml/2006/main">
              <a:ext uri="{FF2B5EF4-FFF2-40B4-BE49-F238E27FC236}">
                <a16:creationId xmlns:a16="http://schemas.microsoft.com/office/drawing/2014/main" id="{ECBAE6BD-82AA-4F9A-AD44-C7EF5EDC9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ลองบันทึกกิจกรรม 1 รายการให้ครบ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227CAE-1CF8-4A3F-963F-0E47290ED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838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ทำตามลำดับ แล้วเรียกวิทยากรตรวจเมื่อครบ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3AF843-498F-4F8A-8799-3AB07EB4F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CF5CEE-0C72-4C77-9726-FB81F0EB3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987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BA9425-4D5C-4A43-8CB2-BC57A00FF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705100"/>
            <a:ext cx="4191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เลือกกิจกรรมที่กำหนด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DAE304-7BCC-4760-930D-535FE47B2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7241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1F4793-66CE-4C77-9B9F-56F13DC35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80987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264A34-EB2F-445B-B8C1-B3B80FAAB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705100"/>
            <a:ext cx="4191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กรอกเป้าหมายและผล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9D7449-2BE8-463D-A333-3245B76E4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7E7D92-A3CE-480B-BEDA-EE52813F9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00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5C815B-8036-452B-B2E0-0F00A8AF0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905250"/>
            <a:ext cx="4191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ตรวจคะแนนถ่วงน้ำหนัก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DEA87C-9EFB-47B2-9E11-DDCCDAABC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9243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588C8E-21C1-4657-ADE4-278FE38A3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100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E059CC7-5833-4238-BA44-7C5E36E05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905250"/>
            <a:ext cx="4191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แนบหลักฐานและบันทึกร่าง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F98E4C-7704-45B2-A143-C2F062114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109728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48CD93-95DD-40DD-8DB1-6F44A7504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19750"/>
            <a:ext cx="10515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ผ่านเมื่อ: ข้อมูลครบ • หลักฐานเปิดได้ • พร้อมอธิบายที่มาของคะแนน</a:t>
            </a:r>
          </a:p>
        </p:txBody>
      </p:sp>
      <p:sp>
        <p:nvSpPr>
          <p:cNvPr id="19" name="footer-rule-15">
            <a:extLst xmlns:a="http://schemas.openxmlformats.org/drawingml/2006/main">
              <a:ext uri="{FF2B5EF4-FFF2-40B4-BE49-F238E27FC236}">
                <a16:creationId xmlns:a16="http://schemas.microsoft.com/office/drawing/2014/main" id="{7B820F38-40E7-467B-BCDF-65997D0A1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footer-label-15">
            <a:extLst xmlns:a="http://schemas.openxmlformats.org/drawingml/2006/main">
              <a:ext uri="{FF2B5EF4-FFF2-40B4-BE49-F238E27FC236}">
                <a16:creationId xmlns:a16="http://schemas.microsoft.com/office/drawing/2014/main" id="{27B9B7B6-0104-4291-BC2A-60E24A11E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1" name="footer-page-15">
            <a:extLst xmlns:a="http://schemas.openxmlformats.org/drawingml/2006/main">
              <a:ext uri="{FF2B5EF4-FFF2-40B4-BE49-F238E27FC236}">
                <a16:creationId xmlns:a16="http://schemas.microsoft.com/office/drawing/2014/main" id="{FC58B2DC-DA40-4C2F-99BE-C30FDE69A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15 / 16</a:t>
            </a:r>
          </a:p>
        </p:txBody>
      </p:sp>
    </p:spTree>
    <p:extLst>
      <p:ext uri="{BB962C8B-B14F-4D97-AF65-F5344CB8AC3E}">
        <p14:creationId xmlns:p14="http://schemas.microsoft.com/office/powerpoint/2010/main" val="185052977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ide-accent-16">
            <a:extLst xmlns:a="http://schemas.openxmlformats.org/drawingml/2006/main">
              <a:ext uri="{FF2B5EF4-FFF2-40B4-BE49-F238E27FC236}">
                <a16:creationId xmlns:a16="http://schemas.microsoft.com/office/drawing/2014/main" id="{238D1158-C75C-4F56-A92A-D18FA8474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6">
            <a:extLst xmlns:a="http://schemas.openxmlformats.org/drawingml/2006/main">
              <a:ext uri="{FF2B5EF4-FFF2-40B4-BE49-F238E27FC236}">
                <a16:creationId xmlns:a16="http://schemas.microsoft.com/office/drawing/2014/main" id="{B0323EAF-14CF-4808-9EC3-107EBAE51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แก้ปัญหาเบื้องต้น  /  สายสนับสนุน</a:t>
            </a:r>
          </a:p>
        </p:txBody>
      </p:sp>
      <p:sp>
        <p:nvSpPr>
          <p:cNvPr id="3" name="title-16">
            <a:extLst xmlns:a="http://schemas.openxmlformats.org/drawingml/2006/main">
              <a:ext uri="{FF2B5EF4-FFF2-40B4-BE49-F238E27FC236}">
                <a16:creationId xmlns:a16="http://schemas.microsoft.com/office/drawing/2014/main" id="{67BE8BBE-9721-4440-9BF0-A9CD6797C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หากใช้งานไม่ได้ ให้ตรวจสอบ 4 จุดนี้ก่อน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FB1E85-5470-4E00-914D-0AF1166B8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3D35FB-AF21-4071-9589-5EC8B54AD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076450"/>
            <a:ext cx="2800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งานไม่ปรากฏ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620FB2-7497-4B73-AC98-EBEEAA631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1145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ตรวจรอบประเมิน บทบาท และงานที่ได้รับมอบหมาย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6089DB-DE5F-4951-9F38-25996AFA2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705100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2E6E34-93CF-4A82-9F98-2C55FCDA4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9085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828146-B5BD-4C96-843E-A3C702E99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952750"/>
            <a:ext cx="2800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ปุ่มใช้งานไม่ได้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2E3CB0-E9D0-4138-A78C-5CA889ED9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9908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ตรวจสถานะปัจจุบันและสิทธิ์ของบทบาท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136CF7-3216-456E-9DA4-0F8669C49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581400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857017-15A2-4CBE-A832-7F6F04C8A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50520B-2298-41B6-956F-FA1A27FC4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829050"/>
            <a:ext cx="2800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บันทึกหรือส่งไม่ได้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2BFD60-EED2-4510-87E7-96038E1C3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8671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ตรวจข้อมูลบังคับ คะแนน และลิงก์หลักฐาน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37D5D6-B0C2-4862-A53C-6A2F5DA73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457700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082D8D-E8E2-4A92-B364-886446190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4345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E00013-86DF-49A6-BCCB-8A3479DAE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705350"/>
            <a:ext cx="2800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ยังแก้ไม่ได้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F88D98C-D42A-45E2-8967-A4EC26BD6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7434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จดชื่อรายการและสถานะ แล้วติดต่อผู้ดูแลระบบ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A82F20B-1F34-4A27-B669-7B72F6D61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34050"/>
            <a:ext cx="72390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8334DF4-0918-46F9-9A23-291474994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42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คู่มือผู้ใช้ • ผู้ดูแลระบบของหน่วยงาน</a:t>
            </a:r>
          </a:p>
        </p:txBody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40ecd4f1f04912"/>
          <a:stretch xmlns:a="http://schemas.openxmlformats.org/drawingml/2006/main"/>
        </p:blipFill>
        <p:spPr>
          <a:xfrm xmlns:a="http://schemas.openxmlformats.org/drawingml/2006/main">
            <a:off x="9018037" y="5638800"/>
            <a:ext cx="2309327" cy="628650"/>
          </a:xfrm>
          <a:prstGeom xmlns:a="http://schemas.openxmlformats.org/drawingml/2006/main" prst="rect">
            <a:avLst/>
          </a:prstGeom>
        </p:spPr>
      </p:pic>
      <p:sp>
        <p:nvSpPr>
          <p:cNvPr id="22" name="footer-rule-16">
            <a:extLst xmlns:a="http://schemas.openxmlformats.org/drawingml/2006/main">
              <a:ext uri="{FF2B5EF4-FFF2-40B4-BE49-F238E27FC236}">
                <a16:creationId xmlns:a16="http://schemas.microsoft.com/office/drawing/2014/main" id="{54AE1ABA-3E87-456E-8504-668FB8D7B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footer-label-16">
            <a:extLst xmlns:a="http://schemas.openxmlformats.org/drawingml/2006/main">
              <a:ext uri="{FF2B5EF4-FFF2-40B4-BE49-F238E27FC236}">
                <a16:creationId xmlns:a16="http://schemas.microsoft.com/office/drawing/2014/main" id="{2DB57C54-7B66-4501-A296-AA4D200F5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4" name="footer-page-16">
            <a:extLst xmlns:a="http://schemas.openxmlformats.org/drawingml/2006/main">
              <a:ext uri="{FF2B5EF4-FFF2-40B4-BE49-F238E27FC236}">
                <a16:creationId xmlns:a16="http://schemas.microsoft.com/office/drawing/2014/main" id="{4224B716-27C1-427D-9C6D-3FF01C83A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16 / 16</a:t>
            </a:r>
          </a:p>
        </p:txBody>
      </p:sp>
    </p:spTree>
    <p:extLst>
      <p:ext uri="{BB962C8B-B14F-4D97-AF65-F5344CB8AC3E}">
        <p14:creationId xmlns:p14="http://schemas.microsoft.com/office/powerpoint/2010/main" val="171486120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2026-07-30T02:50:34.4480000Z</dcterms:created>
  <dcterms:modified xsi:type="dcterms:W3CDTF">2026-07-30T02:50:34.4480000Z</dcterms:modified>
</coreProperties>
</file>