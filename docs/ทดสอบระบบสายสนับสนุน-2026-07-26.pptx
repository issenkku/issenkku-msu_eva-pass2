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เรียน ผู้บริหารและบุคลากรสายสนับสนุนทุกท่าน สวัสดีครับ/ค่ะ</a:t>
            </a:r>
          </a:p>
          <a:p>
            <a:endParaRPr/>
          </a:p>
          <a:p>
            <a:r>
              <a:t>ขอขอบพระคุณทุกท่านที่สละเวลามาร่วมทดสอบระบบประเมินภาระงาน เฟส 2 กิจกรรมนี้จัดขึ้นเพื่อทดลองใช้ระบบในสถานการณ์จริง และรับฟังความคิดเห็นจากผู้ใช้งานโดยตรง</a:t>
            </a:r>
          </a:p>
          <a:p>
            <a:endParaRPr/>
          </a:p>
          <a:p>
            <a:r>
              <a:t>ข้อเสนอแนะของทุกท่านจะช่วยให้เราปรับระบบให้ถูกต้อง ใช้งานสะดวก และรองรับงานของหน่วยงานสายสนับสนุนได้ครบถ้วน วันนี้เราจะชี้แจงขั้นตอนสั้น ๆ จากนั้นให้ทุกท่านทดลองระบบ และปิดท้ายด้วยการรับฟังความคิดเห็นครับ/ค่ะ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การทดสอบวันนี้มีเป้าหมายหลัก 3 เรื่องครับ/ค่ะ</a:t>
            </a:r>
          </a:p>
          <a:p>
            <a:endParaRPr/>
          </a:p>
          <a:p>
            <a:r>
              <a:t>เรื่องแรก คือ ทดสอบขั้นตอนการใช้งาน ตั้งแต่เข้าสู่ระบบ กรอกข้อมูลและคะแนน แนบหลักฐาน ตรวจสอบผลรวม จนถึงการบันทึกและส่งแบบประเมิน</a:t>
            </a:r>
          </a:p>
          <a:p>
            <a:endParaRPr/>
          </a:p>
          <a:p>
            <a:r>
              <a:t>เรื่องที่สอง คือ ตรวจสอบความถูกต้องของรายการประเมิน ตัวชี้วัด น้ำหนัก คะแนน และผลการคำนวณ ว่าสอดคล้องกับการทำงานจริงของสายสนับสนุนหรือไม่</a:t>
            </a:r>
          </a:p>
          <a:p>
            <a:endParaRPr/>
          </a:p>
          <a:p>
            <a:r>
              <a:t>เรื่องที่สาม คือ ความสะดวกในการใช้งาน หากมีเมนูที่หาไม่พบ ข้อความไม่ชัดเจน หรือขั้นตอนซับซ้อน สามารถแจ้งได้ทั้งหมด เพราะข้อเสนอแนะทุกข้อมีประโยชน์ต่อการปรับปรุงระบบครับ/ค่ะ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สำหรับการทดลอง ขอให้ทุกท่านดำเนินการตาม 6 ขั้นตอนบนหน้าจอครับ/ค่ะ</a:t>
            </a:r>
          </a:p>
          <a:p>
            <a:endParaRPr/>
          </a:p>
          <a:p>
            <a:r>
              <a:t>เริ่มจากเข้าสู่ระบบด้วยบัญชีที่ได้รับ แล้วตรวจสอบข้อมูลส่วนบุคคล ตำแหน่ง และหน่วยงานว่าถูกต้องหรือไม่ จากนั้นกรอกข้อมูลและคะแนนตามเกณฑ์สายสนับสนุน พร้อมแนบลิงก์หลักฐานตามที่ระบบกำหนด</a:t>
            </a:r>
          </a:p>
          <a:p>
            <a:endParaRPr/>
          </a:p>
          <a:p>
            <a:r>
              <a:t>เมื่อกรอกข้อมูลแล้ว ขอให้ตรวจสอบคะแนนถ่วงน้ำหนักและผลรวมว่าตรงกับที่คาดไว้หรือไม่ จากนั้นทดลองบันทึกร่าง แก้ไข หรือยืนยันส่งแบบประเมินตามขั้นตอน</a:t>
            </a:r>
          </a:p>
          <a:p>
            <a:endParaRPr/>
          </a:p>
          <a:p>
            <a:r>
              <a:t>หากพบปัญหา หรือไม่แน่ใจว่าต้องกดปุ่มใด สามารถแจ้งทีมงานได้ทันที ไม่ต้องรอจนจบ และไม่ต้องกังวลว่าจะกดผิด เพราะวันนี้เราต้องการเห็นการใช้งานตามธรรมชาติครับ/ค่ะ</a:t>
            </a:r>
          </a:p>
          <a:p>
            <a:endParaRPr/>
          </a:p>
          <a:p>
            <a:r>
              <a:t>ต่อจากนี้ ขออนุญาตเปิดระบบเพื่อสาธิตสั้น ๆ แล้วเชิญทุกท่านทดลองใช้งานด้วยตนเองครับ/ค่ะ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สำหรับระบบที่ใช้ทดสอบ</a:t>
            </a:r>
            <a:r>
              <a:rPr dirty="0"/>
              <a:t> </a:t>
            </a:r>
            <a:r>
              <a:rPr dirty="0" err="1"/>
              <a:t>ขอให้ทุกท่านเปิดเว็บเบราว์เซอร์</a:t>
            </a:r>
            <a:r>
              <a:rPr dirty="0"/>
              <a:t> </a:t>
            </a:r>
            <a:r>
              <a:rPr dirty="0" err="1"/>
              <a:t>แล้วเข้าสู่</a:t>
            </a:r>
            <a:r>
              <a:rPr dirty="0"/>
              <a:t> URL </a:t>
            </a:r>
            <a:r>
              <a:rPr dirty="0" err="1"/>
              <a:t>ที่แสดงอยู่บนหน้าจอครับ</a:t>
            </a:r>
            <a:r>
              <a:rPr dirty="0"/>
              <a:t>/</a:t>
            </a:r>
            <a:r>
              <a:rPr dirty="0" err="1"/>
              <a:t>ค่ะ</a:t>
            </a:r>
            <a:endParaRPr dirty="0"/>
          </a:p>
          <a:p>
            <a:endParaRPr dirty="0"/>
          </a:p>
          <a:p>
            <a:r>
              <a:rPr dirty="0" err="1"/>
              <a:t>ระบบนี้กำลังทำงานอยู่บนเซิร์ฟเวอร์ของบริษัท</a:t>
            </a:r>
            <a:r>
              <a:rPr dirty="0"/>
              <a:t> </a:t>
            </a:r>
            <a:r>
              <a:rPr dirty="0" err="1"/>
              <a:t>เพื่อใช้สำหรับการสาธิตและทดสอบระบบประเมินภาระงานสายสนับสนุน</a:t>
            </a:r>
            <a:endParaRPr dirty="0"/>
          </a:p>
          <a:p>
            <a:endParaRPr dirty="0"/>
          </a:p>
          <a:p>
            <a:r>
              <a:rPr dirty="0" err="1"/>
              <a:t>เมื่อเปิดหน้าเข้าสู่ระบบแล้ว</a:t>
            </a:r>
            <a:r>
              <a:rPr dirty="0"/>
              <a:t> </a:t>
            </a:r>
            <a:r>
              <a:rPr dirty="0" err="1"/>
              <a:t>ขอให้ใช้บัญชีที่ทีมงานจัดเตรียมไว้</a:t>
            </a:r>
            <a:r>
              <a:rPr dirty="0"/>
              <a:t> </a:t>
            </a:r>
            <a:r>
              <a:rPr dirty="0" err="1"/>
              <a:t>หากเข้าเว็บไซต์ไม่ได้</a:t>
            </a:r>
            <a:r>
              <a:rPr dirty="0"/>
              <a:t> </a:t>
            </a:r>
            <a:r>
              <a:rPr dirty="0" err="1"/>
              <a:t>หรือพบข้อความแจ้งเตือน</a:t>
            </a:r>
            <a:r>
              <a:rPr dirty="0"/>
              <a:t> </a:t>
            </a:r>
            <a:r>
              <a:rPr dirty="0" err="1"/>
              <a:t>สามารถแจ้งทีมงานได้ทันทีครับ</a:t>
            </a:r>
            <a:r>
              <a:rPr dirty="0"/>
              <a:t>/</a:t>
            </a:r>
            <a:r>
              <a:rPr dirty="0" err="1"/>
              <a:t>ค่ะ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ระหว่างการทดลอง ขอให้ช่วยสังเกตประเด็นตามหน้าจอครับ/ค่ะ เช่น เข้าสู่ระบบไม่ได้ ข้อความหรือเมนูไม่ชัดเจน ไม่พบเกณฑ์หรือตัวชี้วัดที่ต้องการ น้ำหนักหรือคะแนนคำนวณไม่ถูกต้อง หรือขั้นตอนใช้งานไม่สะดวก</a:t>
            </a:r>
          </a:p>
          <a:p>
            <a:endParaRPr/>
          </a:p>
          <a:p>
            <a:r>
              <a:t>หากพบปัญหา ขอให้แจ้งชื่อหน้าจอและขั้นตอนที่พบ หรือเรียกทีมงานเข้าไปดูในขณะนั้น จะช่วยให้ตรวจสอบและแก้ไขได้ตรงจุดมากขึ้น</a:t>
            </a:r>
          </a:p>
          <a:p>
            <a:endParaRPr/>
          </a:p>
          <a:p>
            <a:r>
              <a:t>ขอย้ำว่า วันนี้เรากำลังทดสอบ “ระบบ” ไม่ได้ทดสอบความสามารถของผู้ใช้ หากจุดใดทำให้สับสน แสดงว่าระบบยังต้องปรับปรุง ดังนั้นทุกท่านสามารถแสดงความคิดเห็นได้อย่างเต็มที่ครับ/ค่ะ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ขณะนี้ทุกท่านได้ทดลองใช้งานระบบแล้ว ลำดับต่อไป ขอเชิญผู้บริหารและตัวแทนจากแต่ละหน่วยงานร่วมให้ความคิดเห็นครับ/ค่ะ</a:t>
            </a:r>
          </a:p>
          <a:p>
            <a:endParaRPr/>
          </a:p>
          <a:p>
            <a:r>
              <a:t>อาจพิจารณาจากคำถามบนหน้าจอ ได้แก่ ขั้นตอนใดที่ยังไม่ชัดเจน เกณฑ์และตัวชี้วัดครบถ้วนหรือไม่ น้ำหนักและคะแนนถูกต้องหรือไม่ และเรื่องใดควรปรับปรุงเป็นลำดับแรกก่อนเปิดใช้งานจริง</a:t>
            </a:r>
          </a:p>
          <a:p>
            <a:endParaRPr/>
          </a:p>
          <a:p>
            <a:r>
              <a:t>ทีมงานจะรวบรวมทุกประเด็น นำไปจัดลำดับความสำคัญ และปรับปรุงระบบต่อไป หากภายหลังมีข้อคิดเห็นเพิ่มเติม สามารถแจ้งมายังทีมงานได้ครับ/ค่ะ</a:t>
            </a:r>
          </a:p>
          <a:p>
            <a:endParaRPr/>
          </a:p>
          <a:p>
            <a:r>
              <a:t>สุดท้ายนี้ ขอขอบพระคุณผู้บริหารและบุคลากรสายสนับสนุนทุกท่าน สำหรับเวลา ความร่วมมือ และข้อเสนอแนะที่เป็นประโยชน์อย่างยิ่ง ขอบพระคุณครับ/ค่ะ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149.28.142.186/login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FD48B16-19C2-466D-BD35-2F986D9B89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0F7C7B"/>
          </a:solidFill>
          <a:ln w="12700">
            <a:solidFill>
              <a:srgbClr val="0F7C7B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59FAB0B-FC30-4243-AF01-4D87FF67512B}"/>
              </a:ext>
            </a:extLst>
          </p:cNvPr>
          <p:cNvSpPr>
            <a:spLocks noGrp="1"/>
          </p:cNvSpPr>
          <p:nvPr/>
        </p:nvSpPr>
        <p:spPr>
          <a:xfrm rot="480000">
            <a:off x="-1463040" y="4480560"/>
            <a:ext cx="5303520" cy="3200400"/>
          </a:xfrm>
          <a:prstGeom prst="arc">
            <a:avLst/>
          </a:prstGeom>
          <a:solidFill>
            <a:srgbClr val="E76F51">
              <a:alpha val="94000"/>
            </a:srgbClr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pic>
        <p:nvPicPr>
          <p:cNvPr id="1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1005840"/>
            <a:ext cx="1874520" cy="187452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CF256C27-A248-4B35-874D-7F37EF6931A0}"/>
              </a:ext>
            </a:extLst>
          </p:cNvPr>
          <p:cNvSpPr>
            <a:spLocks noGrp="1"/>
          </p:cNvSpPr>
          <p:nvPr/>
        </p:nvSpPr>
        <p:spPr>
          <a:xfrm>
            <a:off x="411480" y="3182112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คณะสาธารณสุขศาสตร์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3CCE2C6-7175-4259-9585-A10B61549CBA}"/>
              </a:ext>
            </a:extLst>
          </p:cNvPr>
          <p:cNvSpPr>
            <a:spLocks noGrp="1"/>
          </p:cNvSpPr>
          <p:nvPr/>
        </p:nvSpPr>
        <p:spPr>
          <a:xfrm>
            <a:off x="411480" y="3547872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D8F2EE"/>
                </a:solidFill>
                <a:latin typeface="Tahoma"/>
                <a:ea typeface="Tahoma"/>
                <a:cs typeface="Tahoma"/>
              </a:rPr>
              <a:t>มหาวิทยาลัยมหาสารคาม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5022742-F338-405A-91F7-D65328BFBC2C}"/>
              </a:ext>
            </a:extLst>
          </p:cNvPr>
          <p:cNvSpPr>
            <a:spLocks noGrp="1"/>
          </p:cNvSpPr>
          <p:nvPr/>
        </p:nvSpPr>
        <p:spPr>
          <a:xfrm>
            <a:off x="4498848" y="96012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3E0FC7F-CAC5-4257-850E-DC967DD8CEB9}"/>
              </a:ext>
            </a:extLst>
          </p:cNvPr>
          <p:cNvSpPr>
            <a:spLocks noGrp="1"/>
          </p:cNvSpPr>
          <p:nvPr/>
        </p:nvSpPr>
        <p:spPr>
          <a:xfrm>
            <a:off x="4498848" y="978408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USER TESTING • PHASE 2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76CA982-C3C7-4A79-9B45-1184057096CF}"/>
              </a:ext>
            </a:extLst>
          </p:cNvPr>
          <p:cNvSpPr>
            <a:spLocks noGrp="1"/>
          </p:cNvSpPr>
          <p:nvPr/>
        </p:nvSpPr>
        <p:spPr>
          <a:xfrm>
            <a:off x="4480560" y="1572768"/>
            <a:ext cx="6995160" cy="15727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700" b="1" dirty="0" err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ทดสอบระบบ</a:t>
            </a:r>
            <a:endParaRPr sz="3700" b="1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  <a:p>
            <a:pPr marL="0" indent="0">
              <a:buNone/>
            </a:pPr>
            <a:r>
              <a:rPr lang="th-TH" sz="370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ประเมินบุคลากร</a:t>
            </a:r>
            <a:endParaRPr sz="3700" b="1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0EEF329-C941-4502-8CB5-5D6ECE23607C}"/>
              </a:ext>
            </a:extLst>
          </p:cNvPr>
          <p:cNvSpPr>
            <a:spLocks noGrp="1"/>
          </p:cNvSpPr>
          <p:nvPr/>
        </p:nvSpPr>
        <p:spPr>
          <a:xfrm>
            <a:off x="4498848" y="3310128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24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PHASE</a:t>
            </a:r>
            <a:r>
              <a:rPr sz="2400" b="1">
                <a:solidFill>
                  <a:srgbClr val="8EE0D8"/>
                </a:solidFill>
                <a:latin typeface="Tahoma"/>
                <a:ea typeface="Tahoma"/>
                <a:cs typeface="Tahoma"/>
              </a:rPr>
              <a:t> 2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54C54384-AF1B-4466-A175-584F83F992F1}"/>
              </a:ext>
            </a:extLst>
          </p:cNvPr>
          <p:cNvSpPr>
            <a:spLocks noGrp="1"/>
          </p:cNvSpPr>
          <p:nvPr/>
        </p:nvSpPr>
        <p:spPr>
          <a:xfrm>
            <a:off x="4498848" y="4078224"/>
            <a:ext cx="6126480" cy="0"/>
          </a:xfrm>
          <a:prstGeom prst="line">
            <a:avLst/>
          </a:prstGeom>
          <a:noFill/>
          <a:ln w="15240">
            <a:solidFill>
              <a:srgbClr val="42617A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3C36D63-9793-415D-9E58-CA415E729BFF}"/>
              </a:ext>
            </a:extLst>
          </p:cNvPr>
          <p:cNvSpPr>
            <a:spLocks noGrp="1"/>
          </p:cNvSpPr>
          <p:nvPr/>
        </p:nvSpPr>
        <p:spPr>
          <a:xfrm>
            <a:off x="4498848" y="4370832"/>
            <a:ext cx="56692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สำหรับบุคลากรสายสนับสนุน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0D21C55A-0351-4170-8F62-FEE9E24EF913}"/>
              </a:ext>
            </a:extLst>
          </p:cNvPr>
          <p:cNvSpPr>
            <a:spLocks noGrp="1"/>
          </p:cNvSpPr>
          <p:nvPr/>
        </p:nvSpPr>
        <p:spPr>
          <a:xfrm>
            <a:off x="4498848" y="5769864"/>
            <a:ext cx="68122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9FB6C7"/>
                </a:solidFill>
                <a:latin typeface="Tahoma"/>
                <a:ea typeface="Tahoma"/>
                <a:cs typeface="Tahoma"/>
              </a:rPr>
              <a:t>เป้าหมายวันนี้: ทดลองใช้งานจริง และร่วมกันปรับระบบสำหรับสายสนับสนุน</a:t>
            </a:r>
          </a:p>
        </p:txBody>
      </p:sp>
    </p:spTree>
    <p:extLst>
      <p:ext uri="{BB962C8B-B14F-4D97-AF65-F5344CB8AC3E}">
        <p14:creationId xmlns:p14="http://schemas.microsoft.com/office/powerpoint/2010/main" val="961971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AC69475-6097-4362-91CB-8790654C3B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C7B"/>
          </a:solidFill>
          <a:ln w="12700">
            <a:solidFill>
              <a:srgbClr val="0F7C7B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4D9722B-9FD0-4ACC-B332-D819C7F463F1}"/>
              </a:ext>
            </a:extLst>
          </p:cNvPr>
          <p:cNvSpPr>
            <a:spLocks noGrp="1"/>
          </p:cNvSpPr>
          <p:nvPr/>
        </p:nvSpPr>
        <p:spPr>
          <a:xfrm>
            <a:off x="530352" y="347472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0F7C7B"/>
                </a:solidFill>
                <a:latin typeface="Tahoma"/>
                <a:ea typeface="Tahoma"/>
                <a:cs typeface="Tahoma"/>
              </a:rPr>
              <a:t>เป้าหมายการทดสอบ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8B3E6D9-DBC3-445C-99F4-73F954884B74}"/>
              </a:ext>
            </a:extLst>
          </p:cNvPr>
          <p:cNvSpPr>
            <a:spLocks noGrp="1"/>
          </p:cNvSpPr>
          <p:nvPr/>
        </p:nvSpPr>
        <p:spPr>
          <a:xfrm>
            <a:off x="530352" y="658368"/>
            <a:ext cx="859536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8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วันนี้เราจะทดสอบอะไร?</a:t>
            </a:r>
          </a:p>
        </p:txBody>
      </p:sp>
      <p:pic>
        <p:nvPicPr>
          <p:cNvPr id="29" name="Image 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00032" y="182879"/>
            <a:ext cx="2212848" cy="987552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DF5A1CF6-B49C-4A81-9D40-FA3E76C64AF1}"/>
              </a:ext>
            </a:extLst>
          </p:cNvPr>
          <p:cNvSpPr>
            <a:spLocks noGrp="1"/>
          </p:cNvSpPr>
          <p:nvPr/>
        </p:nvSpPr>
        <p:spPr>
          <a:xfrm>
            <a:off x="530352" y="1280160"/>
            <a:ext cx="11018520" cy="0"/>
          </a:xfrm>
          <a:prstGeom prst="line">
            <a:avLst/>
          </a:prstGeom>
          <a:noFill/>
          <a:ln w="12700">
            <a:solidFill>
              <a:srgbClr val="D9E4EC"/>
            </a:solidFill>
            <a:prstDash val="solid"/>
          </a:ln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F38768F-7CCB-4FB1-A6E1-1A7D650C049A}"/>
              </a:ext>
            </a:extLst>
          </p:cNvPr>
          <p:cNvSpPr>
            <a:spLocks noGrp="1"/>
          </p:cNvSpPr>
          <p:nvPr/>
        </p:nvSpPr>
        <p:spPr>
          <a:xfrm>
            <a:off x="11173968" y="6419088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617588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04AED10-FE0B-41DA-B79F-11910201B1C9}"/>
              </a:ext>
            </a:extLst>
          </p:cNvPr>
          <p:cNvSpPr>
            <a:spLocks noGrp="1"/>
          </p:cNvSpPr>
          <p:nvPr/>
        </p:nvSpPr>
        <p:spPr>
          <a:xfrm>
            <a:off x="566928" y="1664208"/>
            <a:ext cx="3529584" cy="388620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3970">
            <a:solidFill>
              <a:srgbClr val="D9E4EC"/>
            </a:solidFill>
            <a:prstDash val="solid"/>
          </a:ln>
          <a:effectLst>
            <a:outerShdw blurRad="12700" dist="50800" dir="2700000" algn="bl" rotWithShape="0">
              <a:srgbClr val="A8BAC7">
                <a:alpha val="14000"/>
              </a:srgbClr>
            </a:outerShdw>
          </a:effectLst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74CAFDE8-F679-4561-A593-CC0E995E7C0C}"/>
              </a:ext>
            </a:extLst>
          </p:cNvPr>
          <p:cNvSpPr>
            <a:spLocks noGrp="1"/>
          </p:cNvSpPr>
          <p:nvPr/>
        </p:nvSpPr>
        <p:spPr>
          <a:xfrm>
            <a:off x="822960" y="1938528"/>
            <a:ext cx="530352" cy="530352"/>
          </a:xfrm>
          <a:prstGeom prst="ellipse">
            <a:avLst/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1D708B4-6E92-4244-90C4-4D2EF791D19F}"/>
              </a:ext>
            </a:extLst>
          </p:cNvPr>
          <p:cNvSpPr>
            <a:spLocks noGrp="1"/>
          </p:cNvSpPr>
          <p:nvPr/>
        </p:nvSpPr>
        <p:spPr>
          <a:xfrm>
            <a:off x="822960" y="2020824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0F7C7B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0A958C0-B5A2-4CE0-8FEA-73238A60F99A}"/>
              </a:ext>
            </a:extLst>
          </p:cNvPr>
          <p:cNvSpPr>
            <a:spLocks noGrp="1"/>
          </p:cNvSpPr>
          <p:nvPr/>
        </p:nvSpPr>
        <p:spPr>
          <a:xfrm>
            <a:off x="822960" y="2651760"/>
            <a:ext cx="30175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ขั้นตอนการใช้งาน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8867D4F-9CD4-4CC8-89BE-00F795E7D5B9}"/>
              </a:ext>
            </a:extLst>
          </p:cNvPr>
          <p:cNvSpPr>
            <a:spLocks noGrp="1"/>
          </p:cNvSpPr>
          <p:nvPr/>
        </p:nvSpPr>
        <p:spPr>
          <a:xfrm>
            <a:off x="822960" y="3236976"/>
            <a:ext cx="3017520" cy="20391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320">
                <a:solidFill>
                  <a:srgbClr val="617588"/>
                </a:solidFill>
                <a:latin typeface="Tahoma"/>
                <a:ea typeface="Tahoma"/>
                <a:cs typeface="Tahoma"/>
              </a:rPr>
              <a:t>เข้าสู่ระบบ กรอกข้อมูล แนบหลักฐาน ตรวจสอบ และส่งแบบประเมิน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793E2BDC-2236-483C-B55C-A16B99D1FF88}"/>
              </a:ext>
            </a:extLst>
          </p:cNvPr>
          <p:cNvSpPr>
            <a:spLocks noGrp="1"/>
          </p:cNvSpPr>
          <p:nvPr/>
        </p:nvSpPr>
        <p:spPr>
          <a:xfrm>
            <a:off x="4325112" y="1664208"/>
            <a:ext cx="3529584" cy="388620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3970">
            <a:solidFill>
              <a:srgbClr val="D9E4EC"/>
            </a:solidFill>
            <a:prstDash val="solid"/>
          </a:ln>
          <a:effectLst>
            <a:outerShdw blurRad="12700" dist="50800" dir="2700000" algn="bl" rotWithShape="0">
              <a:srgbClr val="A8BAC7">
                <a:alpha val="14000"/>
              </a:srgbClr>
            </a:outerShdw>
          </a:effectLst>
        </p:spPr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2593386C-2B96-4DF8-AB43-799BFFEDBBEE}"/>
              </a:ext>
            </a:extLst>
          </p:cNvPr>
          <p:cNvSpPr>
            <a:spLocks noGrp="1"/>
          </p:cNvSpPr>
          <p:nvPr/>
        </p:nvSpPr>
        <p:spPr>
          <a:xfrm>
            <a:off x="4581144" y="1938528"/>
            <a:ext cx="530352" cy="530352"/>
          </a:xfrm>
          <a:prstGeom prst="ellipse">
            <a:avLst/>
          </a:prstGeom>
          <a:solidFill>
            <a:srgbClr val="FBE9E4"/>
          </a:solidFill>
          <a:ln w="12700">
            <a:solidFill>
              <a:srgbClr val="FBE9E4"/>
            </a:solidFill>
            <a:prstDash val="solid"/>
          </a:ln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5AC075F1-D06E-4AAE-B5E0-FC0C2C5B9BE3}"/>
              </a:ext>
            </a:extLst>
          </p:cNvPr>
          <p:cNvSpPr>
            <a:spLocks noGrp="1"/>
          </p:cNvSpPr>
          <p:nvPr/>
        </p:nvSpPr>
        <p:spPr>
          <a:xfrm>
            <a:off x="4581144" y="2020824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E76F51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29C226E7-EF9C-4FC4-A39F-DD080E7157AA}"/>
              </a:ext>
            </a:extLst>
          </p:cNvPr>
          <p:cNvSpPr>
            <a:spLocks noGrp="1"/>
          </p:cNvSpPr>
          <p:nvPr/>
        </p:nvSpPr>
        <p:spPr>
          <a:xfrm>
            <a:off x="4581144" y="2651760"/>
            <a:ext cx="30175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ความถูกต้อง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9CB758A5-8FAA-48FC-B4CB-A8E8C704EB31}"/>
              </a:ext>
            </a:extLst>
          </p:cNvPr>
          <p:cNvSpPr>
            <a:spLocks noGrp="1"/>
          </p:cNvSpPr>
          <p:nvPr/>
        </p:nvSpPr>
        <p:spPr>
          <a:xfrm>
            <a:off x="4581144" y="3236976"/>
            <a:ext cx="3017520" cy="20391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320">
                <a:solidFill>
                  <a:srgbClr val="617588"/>
                </a:solidFill>
                <a:latin typeface="Tahoma"/>
                <a:ea typeface="Tahoma"/>
                <a:cs typeface="Tahoma"/>
              </a:rPr>
              <a:t>ตรวจสอบรายการประเมิน ตัวชี้วัด น้ำหนัก คะแนน และผลคำนวณว่าถูกต้องหรือไม่</a:t>
            </a:r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3F6462D6-FCE7-4398-8772-AA982564988D}"/>
              </a:ext>
            </a:extLst>
          </p:cNvPr>
          <p:cNvSpPr>
            <a:spLocks noGrp="1"/>
          </p:cNvSpPr>
          <p:nvPr/>
        </p:nvSpPr>
        <p:spPr>
          <a:xfrm>
            <a:off x="8083296" y="1664208"/>
            <a:ext cx="3529584" cy="388620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3970">
            <a:solidFill>
              <a:srgbClr val="D9E4EC"/>
            </a:solidFill>
            <a:prstDash val="solid"/>
          </a:ln>
          <a:effectLst>
            <a:outerShdw blurRad="12700" dist="50800" dir="2700000" algn="bl" rotWithShape="0">
              <a:srgbClr val="A8BAC7">
                <a:alpha val="14000"/>
              </a:srgbClr>
            </a:outerShdw>
          </a:effectLst>
        </p:spPr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BAC9F04D-DE3F-4C4B-A723-C1F9D20858BD}"/>
              </a:ext>
            </a:extLst>
          </p:cNvPr>
          <p:cNvSpPr>
            <a:spLocks noGrp="1"/>
          </p:cNvSpPr>
          <p:nvPr/>
        </p:nvSpPr>
        <p:spPr>
          <a:xfrm>
            <a:off x="8339328" y="1938528"/>
            <a:ext cx="530352" cy="530352"/>
          </a:xfrm>
          <a:prstGeom prst="ellipse">
            <a:avLst/>
          </a:prstGeom>
          <a:solidFill>
            <a:srgbClr val="FAF2D9"/>
          </a:solidFill>
          <a:ln w="12700">
            <a:solidFill>
              <a:srgbClr val="FAF2D9"/>
            </a:solidFill>
            <a:prstDash val="solid"/>
          </a:ln>
        </p:spPr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2AC44967-D095-4A8E-9F7C-8CD611DEFB61}"/>
              </a:ext>
            </a:extLst>
          </p:cNvPr>
          <p:cNvSpPr>
            <a:spLocks noGrp="1"/>
          </p:cNvSpPr>
          <p:nvPr/>
        </p:nvSpPr>
        <p:spPr>
          <a:xfrm>
            <a:off x="8339328" y="2020824"/>
            <a:ext cx="530352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C89B2C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0D5595BB-2CFA-46FC-B457-5341D560520C}"/>
              </a:ext>
            </a:extLst>
          </p:cNvPr>
          <p:cNvSpPr>
            <a:spLocks noGrp="1"/>
          </p:cNvSpPr>
          <p:nvPr/>
        </p:nvSpPr>
        <p:spPr>
          <a:xfrm>
            <a:off x="8339328" y="2651760"/>
            <a:ext cx="30175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ความสะดวก</a:t>
            </a: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1FBEB65C-1FA7-43E4-8E6C-E59FF753B5C0}"/>
              </a:ext>
            </a:extLst>
          </p:cNvPr>
          <p:cNvSpPr>
            <a:spLocks noGrp="1"/>
          </p:cNvSpPr>
          <p:nvPr/>
        </p:nvSpPr>
        <p:spPr>
          <a:xfrm>
            <a:off x="8339328" y="3236976"/>
            <a:ext cx="3017520" cy="20391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320">
                <a:solidFill>
                  <a:srgbClr val="617588"/>
                </a:solidFill>
                <a:latin typeface="Tahoma"/>
                <a:ea typeface="Tahoma"/>
                <a:cs typeface="Tahoma"/>
              </a:rPr>
              <a:t>ค้นหาจุดที่ยังสับสน ซับซ้อน หรือใช้งานไม่สะดวก เพื่อนำไปปรับปรุงก่อนใช้งานจริง</a:t>
            </a: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048393ED-4F93-4D9D-9905-D34D79F1C2BC}"/>
              </a:ext>
            </a:extLst>
          </p:cNvPr>
          <p:cNvSpPr>
            <a:spLocks noGrp="1"/>
          </p:cNvSpPr>
          <p:nvPr/>
        </p:nvSpPr>
        <p:spPr>
          <a:xfrm>
            <a:off x="4325112" y="5870448"/>
            <a:ext cx="3529584" cy="384048"/>
          </a:xfrm>
          <a:prstGeom prst="roundRect">
            <a:avLst>
              <a:gd name="adj" fmla="val 19048"/>
            </a:avLst>
          </a:prstGeom>
          <a:solidFill>
            <a:srgbClr val="163A59"/>
          </a:solidFill>
          <a:ln w="12700">
            <a:solidFill>
              <a:srgbClr val="163A59"/>
            </a:solidFill>
            <a:prstDash val="solid"/>
          </a:ln>
        </p:spPr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7F546F0E-3409-40CC-B271-0988EA0A0836}"/>
              </a:ext>
            </a:extLst>
          </p:cNvPr>
          <p:cNvSpPr>
            <a:spLocks noGrp="1"/>
          </p:cNvSpPr>
          <p:nvPr/>
        </p:nvSpPr>
        <p:spPr>
          <a:xfrm>
            <a:off x="4325112" y="5888736"/>
            <a:ext cx="352958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ข้อเสนอแนะทุกข้อมีคุณค่า</a:t>
            </a:r>
          </a:p>
        </p:txBody>
      </p:sp>
    </p:spTree>
    <p:extLst>
      <p:ext uri="{BB962C8B-B14F-4D97-AF65-F5344CB8AC3E}">
        <p14:creationId xmlns:p14="http://schemas.microsoft.com/office/powerpoint/2010/main" val="338718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7367DAD-A975-45A4-AB02-C1E6E73669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C7B"/>
          </a:solidFill>
          <a:ln w="12700">
            <a:solidFill>
              <a:srgbClr val="0F7C7B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3BB076-40FD-4170-ABEE-4C9B138D384F}"/>
              </a:ext>
            </a:extLst>
          </p:cNvPr>
          <p:cNvSpPr>
            <a:spLocks noGrp="1"/>
          </p:cNvSpPr>
          <p:nvPr/>
        </p:nvSpPr>
        <p:spPr>
          <a:xfrm>
            <a:off x="530352" y="347472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0F7C7B"/>
                </a:solidFill>
                <a:latin typeface="Tahoma"/>
                <a:ea typeface="Tahoma"/>
                <a:cs typeface="Tahoma"/>
              </a:rPr>
              <a:t>ลำดับการทดสอบ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FD6C781-B8F3-4C1E-A2FB-A0D8A924DBE0}"/>
              </a:ext>
            </a:extLst>
          </p:cNvPr>
          <p:cNvSpPr>
            <a:spLocks noGrp="1"/>
          </p:cNvSpPr>
          <p:nvPr/>
        </p:nvSpPr>
        <p:spPr>
          <a:xfrm>
            <a:off x="530352" y="658368"/>
            <a:ext cx="859536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8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ทดลองใช้เหมือนสถานการณ์จริง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55FB0DB-E1DC-47B4-BBDC-5D5F320770C6}"/>
              </a:ext>
            </a:extLst>
          </p:cNvPr>
          <p:cNvSpPr>
            <a:spLocks noGrp="1"/>
          </p:cNvSpPr>
          <p:nvPr/>
        </p:nvSpPr>
        <p:spPr>
          <a:xfrm>
            <a:off x="530352" y="1280160"/>
            <a:ext cx="11018520" cy="0"/>
          </a:xfrm>
          <a:prstGeom prst="line">
            <a:avLst/>
          </a:prstGeom>
          <a:noFill/>
          <a:ln w="12700">
            <a:solidFill>
              <a:srgbClr val="D9E4EC"/>
            </a:solidFill>
            <a:prstDash val="solid"/>
          </a:ln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FAB63DD-78D6-48FA-A68A-5C20EBE5AC44}"/>
              </a:ext>
            </a:extLst>
          </p:cNvPr>
          <p:cNvSpPr>
            <a:spLocks noGrp="1"/>
          </p:cNvSpPr>
          <p:nvPr/>
        </p:nvSpPr>
        <p:spPr>
          <a:xfrm>
            <a:off x="11173968" y="6419088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617588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9B582908-5070-41E2-B70B-EE3C2D4A0515}"/>
              </a:ext>
            </a:extLst>
          </p:cNvPr>
          <p:cNvSpPr>
            <a:spLocks noGrp="1"/>
          </p:cNvSpPr>
          <p:nvPr/>
        </p:nvSpPr>
        <p:spPr>
          <a:xfrm>
            <a:off x="2112264" y="2450592"/>
            <a:ext cx="438912" cy="566928"/>
          </a:xfrm>
          <a:prstGeom prst="chevron">
            <a:avLst/>
          </a:prstGeom>
          <a:solidFill>
            <a:srgbClr val="C6D5DF"/>
          </a:solidFill>
          <a:ln w="12700">
            <a:solidFill>
              <a:srgbClr val="C6D5DF"/>
            </a:solidFill>
            <a:prstDash val="solid"/>
          </a:ln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3972CBB-7010-424F-8EA3-5ECE19C6F7F7}"/>
              </a:ext>
            </a:extLst>
          </p:cNvPr>
          <p:cNvSpPr>
            <a:spLocks noGrp="1"/>
          </p:cNvSpPr>
          <p:nvPr/>
        </p:nvSpPr>
        <p:spPr>
          <a:xfrm>
            <a:off x="566928" y="1874520"/>
            <a:ext cx="1572768" cy="28346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EB5C055A-6D54-4237-8245-2C08B18DFA51}"/>
              </a:ext>
            </a:extLst>
          </p:cNvPr>
          <p:cNvSpPr>
            <a:spLocks noGrp="1"/>
          </p:cNvSpPr>
          <p:nvPr/>
        </p:nvSpPr>
        <p:spPr>
          <a:xfrm>
            <a:off x="1033272" y="2139696"/>
            <a:ext cx="640080" cy="640080"/>
          </a:xfrm>
          <a:prstGeom prst="ellipse">
            <a:avLst/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47BD8F2-299C-4A76-9FAE-3D0D4EC1CE9E}"/>
              </a:ext>
            </a:extLst>
          </p:cNvPr>
          <p:cNvSpPr>
            <a:spLocks noGrp="1"/>
          </p:cNvSpPr>
          <p:nvPr/>
        </p:nvSpPr>
        <p:spPr>
          <a:xfrm>
            <a:off x="1033272" y="2258568"/>
            <a:ext cx="640080" cy="2103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0F7C7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0C3EAE1-5D38-4046-B386-797B0198D99E}"/>
              </a:ext>
            </a:extLst>
          </p:cNvPr>
          <p:cNvSpPr>
            <a:spLocks noGrp="1"/>
          </p:cNvSpPr>
          <p:nvPr/>
        </p:nvSpPr>
        <p:spPr>
          <a:xfrm>
            <a:off x="694944" y="3054096"/>
            <a:ext cx="1316736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เข้าระบบ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A84DD06-3DB2-4323-A800-47297DA0906A}"/>
              </a:ext>
            </a:extLst>
          </p:cNvPr>
          <p:cNvSpPr>
            <a:spLocks noGrp="1"/>
          </p:cNvSpPr>
          <p:nvPr/>
        </p:nvSpPr>
        <p:spPr>
          <a:xfrm>
            <a:off x="713232" y="3785616"/>
            <a:ext cx="128016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>
                <a:solidFill>
                  <a:srgbClr val="617588"/>
                </a:solidFill>
                <a:latin typeface="Tahoma"/>
                <a:ea typeface="Tahoma"/>
                <a:cs typeface="Tahoma"/>
              </a:rPr>
              <a:t>ด้วยบัญชีที่ได้รับ</a:t>
            </a: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A8DA43C4-A884-422A-983B-3BFEED2385C5}"/>
              </a:ext>
            </a:extLst>
          </p:cNvPr>
          <p:cNvSpPr>
            <a:spLocks noGrp="1"/>
          </p:cNvSpPr>
          <p:nvPr/>
        </p:nvSpPr>
        <p:spPr>
          <a:xfrm>
            <a:off x="3986784" y="2450592"/>
            <a:ext cx="438912" cy="566928"/>
          </a:xfrm>
          <a:prstGeom prst="chevron">
            <a:avLst/>
          </a:prstGeom>
          <a:solidFill>
            <a:srgbClr val="C6D5DF"/>
          </a:solidFill>
          <a:ln w="12700">
            <a:solidFill>
              <a:srgbClr val="C6D5DF"/>
            </a:solidFill>
            <a:prstDash val="solid"/>
          </a:ln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E3C93A88-2E39-4489-8D96-F20480ADFFEC}"/>
              </a:ext>
            </a:extLst>
          </p:cNvPr>
          <p:cNvSpPr>
            <a:spLocks noGrp="1"/>
          </p:cNvSpPr>
          <p:nvPr/>
        </p:nvSpPr>
        <p:spPr>
          <a:xfrm>
            <a:off x="2441448" y="1874520"/>
            <a:ext cx="1572768" cy="28346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565A47EF-FA89-47E1-A0C5-E7D3647AFCE9}"/>
              </a:ext>
            </a:extLst>
          </p:cNvPr>
          <p:cNvSpPr>
            <a:spLocks noGrp="1"/>
          </p:cNvSpPr>
          <p:nvPr/>
        </p:nvSpPr>
        <p:spPr>
          <a:xfrm>
            <a:off x="2907792" y="2139696"/>
            <a:ext cx="640080" cy="640080"/>
          </a:xfrm>
          <a:prstGeom prst="ellipse">
            <a:avLst/>
          </a:prstGeom>
          <a:solidFill>
            <a:srgbClr val="FBE9E4"/>
          </a:solidFill>
          <a:ln w="12700">
            <a:solidFill>
              <a:srgbClr val="FBE9E4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38432B3C-07CD-479F-8A2A-554223882920}"/>
              </a:ext>
            </a:extLst>
          </p:cNvPr>
          <p:cNvSpPr>
            <a:spLocks noGrp="1"/>
          </p:cNvSpPr>
          <p:nvPr/>
        </p:nvSpPr>
        <p:spPr>
          <a:xfrm>
            <a:off x="2907792" y="2258568"/>
            <a:ext cx="640080" cy="2103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E76F51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7FF1519E-586F-45F0-9754-AE003F245E7E}"/>
              </a:ext>
            </a:extLst>
          </p:cNvPr>
          <p:cNvSpPr>
            <a:spLocks noGrp="1"/>
          </p:cNvSpPr>
          <p:nvPr/>
        </p:nvSpPr>
        <p:spPr>
          <a:xfrm>
            <a:off x="2569464" y="3054096"/>
            <a:ext cx="1316736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ตรวจข้อมูล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5CBEA072-4F28-4EB0-B34C-48A84EEFDC80}"/>
              </a:ext>
            </a:extLst>
          </p:cNvPr>
          <p:cNvSpPr>
            <a:spLocks noGrp="1"/>
          </p:cNvSpPr>
          <p:nvPr/>
        </p:nvSpPr>
        <p:spPr>
          <a:xfrm>
            <a:off x="2587752" y="3785616"/>
            <a:ext cx="128016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>
                <a:solidFill>
                  <a:srgbClr val="617588"/>
                </a:solidFill>
                <a:latin typeface="Tahoma"/>
                <a:ea typeface="Tahoma"/>
                <a:cs typeface="Tahoma"/>
              </a:rPr>
              <a:t>บุคคล/สังกัด</a:t>
            </a: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06B3349A-803F-4E6E-959D-75914934C0C5}"/>
              </a:ext>
            </a:extLst>
          </p:cNvPr>
          <p:cNvSpPr>
            <a:spLocks noGrp="1"/>
          </p:cNvSpPr>
          <p:nvPr/>
        </p:nvSpPr>
        <p:spPr>
          <a:xfrm>
            <a:off x="5861304" y="2450592"/>
            <a:ext cx="438912" cy="566928"/>
          </a:xfrm>
          <a:prstGeom prst="chevron">
            <a:avLst/>
          </a:prstGeom>
          <a:solidFill>
            <a:srgbClr val="C6D5DF"/>
          </a:solidFill>
          <a:ln w="12700">
            <a:solidFill>
              <a:srgbClr val="C6D5DF"/>
            </a:solidFill>
            <a:prstDash val="solid"/>
          </a:ln>
        </p:spPr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3213332C-C110-4734-A5D1-AAF23F43D0C1}"/>
              </a:ext>
            </a:extLst>
          </p:cNvPr>
          <p:cNvSpPr>
            <a:spLocks noGrp="1"/>
          </p:cNvSpPr>
          <p:nvPr/>
        </p:nvSpPr>
        <p:spPr>
          <a:xfrm>
            <a:off x="4315968" y="1874520"/>
            <a:ext cx="1572768" cy="28346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9CC8F4FA-7B91-4AA6-9A50-F8B340AA9A9A}"/>
              </a:ext>
            </a:extLst>
          </p:cNvPr>
          <p:cNvSpPr>
            <a:spLocks noGrp="1"/>
          </p:cNvSpPr>
          <p:nvPr/>
        </p:nvSpPr>
        <p:spPr>
          <a:xfrm>
            <a:off x="4782312" y="2139696"/>
            <a:ext cx="640080" cy="640080"/>
          </a:xfrm>
          <a:prstGeom prst="ellipse">
            <a:avLst/>
          </a:prstGeom>
          <a:solidFill>
            <a:srgbClr val="FAF2D9"/>
          </a:solidFill>
          <a:ln w="12700">
            <a:solidFill>
              <a:srgbClr val="FAF2D9"/>
            </a:solidFill>
            <a:prstDash val="solid"/>
          </a:ln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3283CBB3-58B0-4EAE-9DD0-2E27AA8E308F}"/>
              </a:ext>
            </a:extLst>
          </p:cNvPr>
          <p:cNvSpPr>
            <a:spLocks noGrp="1"/>
          </p:cNvSpPr>
          <p:nvPr/>
        </p:nvSpPr>
        <p:spPr>
          <a:xfrm>
            <a:off x="4782312" y="2258568"/>
            <a:ext cx="640080" cy="2103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C89B2C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BD44053E-1337-463E-9240-23B439C08A7A}"/>
              </a:ext>
            </a:extLst>
          </p:cNvPr>
          <p:cNvSpPr>
            <a:spLocks noGrp="1"/>
          </p:cNvSpPr>
          <p:nvPr/>
        </p:nvSpPr>
        <p:spPr>
          <a:xfrm>
            <a:off x="4443984" y="3054096"/>
            <a:ext cx="1316736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กรอกคะแนน</a:t>
            </a: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6AA2FF6E-4979-4A3A-BEFE-C3C23DC4C6C5}"/>
              </a:ext>
            </a:extLst>
          </p:cNvPr>
          <p:cNvSpPr>
            <a:spLocks noGrp="1"/>
          </p:cNvSpPr>
          <p:nvPr/>
        </p:nvSpPr>
        <p:spPr>
          <a:xfrm>
            <a:off x="4462272" y="3785616"/>
            <a:ext cx="128016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>
                <a:solidFill>
                  <a:srgbClr val="617588"/>
                </a:solidFill>
                <a:latin typeface="Tahoma"/>
                <a:ea typeface="Tahoma"/>
                <a:cs typeface="Tahoma"/>
              </a:rPr>
              <a:t>ตามเกณฑ์สายสนับสนุน</a:t>
            </a:r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C6EC427F-2F46-453F-B740-36EF3B4957E2}"/>
              </a:ext>
            </a:extLst>
          </p:cNvPr>
          <p:cNvSpPr>
            <a:spLocks noGrp="1"/>
          </p:cNvSpPr>
          <p:nvPr/>
        </p:nvSpPr>
        <p:spPr>
          <a:xfrm>
            <a:off x="7735824" y="2450592"/>
            <a:ext cx="438912" cy="566928"/>
          </a:xfrm>
          <a:prstGeom prst="chevron">
            <a:avLst/>
          </a:prstGeom>
          <a:solidFill>
            <a:srgbClr val="C6D5DF"/>
          </a:solidFill>
          <a:ln w="12700">
            <a:solidFill>
              <a:srgbClr val="C6D5DF"/>
            </a:solidFill>
            <a:prstDash val="solid"/>
          </a:ln>
        </p:spPr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E43D5E17-089F-462B-B202-BB36A4A24088}"/>
              </a:ext>
            </a:extLst>
          </p:cNvPr>
          <p:cNvSpPr>
            <a:spLocks noGrp="1"/>
          </p:cNvSpPr>
          <p:nvPr/>
        </p:nvSpPr>
        <p:spPr>
          <a:xfrm>
            <a:off x="6190488" y="1874520"/>
            <a:ext cx="1572768" cy="28346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0477EBC3-E00A-4F40-87F1-A2640D8DCBDD}"/>
              </a:ext>
            </a:extLst>
          </p:cNvPr>
          <p:cNvSpPr>
            <a:spLocks noGrp="1"/>
          </p:cNvSpPr>
          <p:nvPr/>
        </p:nvSpPr>
        <p:spPr>
          <a:xfrm>
            <a:off x="6656832" y="2139696"/>
            <a:ext cx="640080" cy="640080"/>
          </a:xfrm>
          <a:prstGeom prst="ellipse">
            <a:avLst/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FD676CB2-EF55-41E6-B601-5BB87657F6E3}"/>
              </a:ext>
            </a:extLst>
          </p:cNvPr>
          <p:cNvSpPr>
            <a:spLocks noGrp="1"/>
          </p:cNvSpPr>
          <p:nvPr/>
        </p:nvSpPr>
        <p:spPr>
          <a:xfrm>
            <a:off x="6656832" y="2258568"/>
            <a:ext cx="640080" cy="2103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0F7C7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E664715E-C85A-42E6-BFDE-9D7550606FDA}"/>
              </a:ext>
            </a:extLst>
          </p:cNvPr>
          <p:cNvSpPr>
            <a:spLocks noGrp="1"/>
          </p:cNvSpPr>
          <p:nvPr/>
        </p:nvSpPr>
        <p:spPr>
          <a:xfrm>
            <a:off x="6318504" y="3054096"/>
            <a:ext cx="1316736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แนบหลักฐาน</a:t>
            </a:r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13D9943A-0CAE-4366-9574-3D453D19DE5E}"/>
              </a:ext>
            </a:extLst>
          </p:cNvPr>
          <p:cNvSpPr>
            <a:spLocks noGrp="1"/>
          </p:cNvSpPr>
          <p:nvPr/>
        </p:nvSpPr>
        <p:spPr>
          <a:xfrm>
            <a:off x="6336792" y="3785616"/>
            <a:ext cx="128016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>
                <a:solidFill>
                  <a:srgbClr val="617588"/>
                </a:solidFill>
                <a:latin typeface="Tahoma"/>
                <a:ea typeface="Tahoma"/>
                <a:cs typeface="Tahoma"/>
              </a:rPr>
              <a:t>ลิงก์ตามที่กำหนด</a:t>
            </a:r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D0DF6DC9-971D-4FFA-868F-45AB45336811}"/>
              </a:ext>
            </a:extLst>
          </p:cNvPr>
          <p:cNvSpPr>
            <a:spLocks noGrp="1"/>
          </p:cNvSpPr>
          <p:nvPr/>
        </p:nvSpPr>
        <p:spPr>
          <a:xfrm>
            <a:off x="9610344" y="2450592"/>
            <a:ext cx="438912" cy="566928"/>
          </a:xfrm>
          <a:prstGeom prst="chevron">
            <a:avLst/>
          </a:prstGeom>
          <a:solidFill>
            <a:srgbClr val="C6D5DF"/>
          </a:solidFill>
          <a:ln w="12700">
            <a:solidFill>
              <a:srgbClr val="C6D5DF"/>
            </a:solidFill>
            <a:prstDash val="solid"/>
          </a:ln>
        </p:spPr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3780D399-5F79-4BA1-9A2F-F5DD490AEF3D}"/>
              </a:ext>
            </a:extLst>
          </p:cNvPr>
          <p:cNvSpPr>
            <a:spLocks noGrp="1"/>
          </p:cNvSpPr>
          <p:nvPr/>
        </p:nvSpPr>
        <p:spPr>
          <a:xfrm>
            <a:off x="8065008" y="1874520"/>
            <a:ext cx="1572768" cy="28346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267F0CC0-7CFE-472A-810B-7AE5807F8559}"/>
              </a:ext>
            </a:extLst>
          </p:cNvPr>
          <p:cNvSpPr>
            <a:spLocks noGrp="1"/>
          </p:cNvSpPr>
          <p:nvPr/>
        </p:nvSpPr>
        <p:spPr>
          <a:xfrm>
            <a:off x="8531352" y="2139696"/>
            <a:ext cx="640080" cy="640080"/>
          </a:xfrm>
          <a:prstGeom prst="ellipse">
            <a:avLst/>
          </a:prstGeom>
          <a:solidFill>
            <a:srgbClr val="FBE9E4"/>
          </a:solidFill>
          <a:ln w="12700">
            <a:solidFill>
              <a:srgbClr val="FBE9E4"/>
            </a:solidFill>
            <a:prstDash val="solid"/>
          </a:ln>
        </p:spPr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AB51756D-29D0-400B-9F2B-D80CD0C3C01B}"/>
              </a:ext>
            </a:extLst>
          </p:cNvPr>
          <p:cNvSpPr>
            <a:spLocks noGrp="1"/>
          </p:cNvSpPr>
          <p:nvPr/>
        </p:nvSpPr>
        <p:spPr>
          <a:xfrm>
            <a:off x="8531352" y="2258568"/>
            <a:ext cx="640080" cy="2103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E76F51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DFD176BE-B823-43A6-AB73-2EBBB208C174}"/>
              </a:ext>
            </a:extLst>
          </p:cNvPr>
          <p:cNvSpPr>
            <a:spLocks noGrp="1"/>
          </p:cNvSpPr>
          <p:nvPr/>
        </p:nvSpPr>
        <p:spPr>
          <a:xfrm>
            <a:off x="8193024" y="3054096"/>
            <a:ext cx="1316736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ตรวจผลรวม</a:t>
            </a:r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15F324A0-1D5F-49E8-8926-515F22B9E855}"/>
              </a:ext>
            </a:extLst>
          </p:cNvPr>
          <p:cNvSpPr>
            <a:spLocks noGrp="1"/>
          </p:cNvSpPr>
          <p:nvPr/>
        </p:nvSpPr>
        <p:spPr>
          <a:xfrm>
            <a:off x="8211312" y="3785616"/>
            <a:ext cx="128016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>
                <a:solidFill>
                  <a:srgbClr val="617588"/>
                </a:solidFill>
                <a:latin typeface="Tahoma"/>
                <a:ea typeface="Tahoma"/>
                <a:cs typeface="Tahoma"/>
              </a:rPr>
              <a:t>คะแนนถ่วงน้ำหนัก</a:t>
            </a:r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942B6A89-DF59-43EB-AE11-BDD67CF40675}"/>
              </a:ext>
            </a:extLst>
          </p:cNvPr>
          <p:cNvSpPr>
            <a:spLocks noGrp="1"/>
          </p:cNvSpPr>
          <p:nvPr/>
        </p:nvSpPr>
        <p:spPr>
          <a:xfrm>
            <a:off x="9939528" y="1874520"/>
            <a:ext cx="1572768" cy="28346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45C613B6-147F-4775-8734-16ABF00F3C73}"/>
              </a:ext>
            </a:extLst>
          </p:cNvPr>
          <p:cNvSpPr>
            <a:spLocks noGrp="1"/>
          </p:cNvSpPr>
          <p:nvPr/>
        </p:nvSpPr>
        <p:spPr>
          <a:xfrm>
            <a:off x="10405872" y="2139696"/>
            <a:ext cx="640080" cy="640080"/>
          </a:xfrm>
          <a:prstGeom prst="ellipse">
            <a:avLst/>
          </a:prstGeom>
          <a:solidFill>
            <a:srgbClr val="FAF2D9"/>
          </a:solidFill>
          <a:ln w="12700">
            <a:solidFill>
              <a:srgbClr val="FAF2D9"/>
            </a:solidFill>
            <a:prstDash val="solid"/>
          </a:ln>
        </p:spPr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F9381D23-4582-40B5-81C5-A4D8AF105FC7}"/>
              </a:ext>
            </a:extLst>
          </p:cNvPr>
          <p:cNvSpPr>
            <a:spLocks noGrp="1"/>
          </p:cNvSpPr>
          <p:nvPr/>
        </p:nvSpPr>
        <p:spPr>
          <a:xfrm>
            <a:off x="10405872" y="2258568"/>
            <a:ext cx="640080" cy="2103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C89B2C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16FF653F-36F8-45B5-BC8C-4346DA4D65E8}"/>
              </a:ext>
            </a:extLst>
          </p:cNvPr>
          <p:cNvSpPr>
            <a:spLocks noGrp="1"/>
          </p:cNvSpPr>
          <p:nvPr/>
        </p:nvSpPr>
        <p:spPr>
          <a:xfrm>
            <a:off x="10067544" y="3054096"/>
            <a:ext cx="1316736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บันทึก/ส่ง</a:t>
            </a:r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2E40B95E-863B-440D-B901-523E9665B2EE}"/>
              </a:ext>
            </a:extLst>
          </p:cNvPr>
          <p:cNvSpPr>
            <a:spLocks noGrp="1"/>
          </p:cNvSpPr>
          <p:nvPr/>
        </p:nvSpPr>
        <p:spPr>
          <a:xfrm>
            <a:off x="10085832" y="3785616"/>
            <a:ext cx="128016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>
                <a:solidFill>
                  <a:srgbClr val="617588"/>
                </a:solidFill>
                <a:latin typeface="Tahoma"/>
                <a:ea typeface="Tahoma"/>
                <a:cs typeface="Tahoma"/>
              </a:rPr>
              <a:t>และแจ้งข้อเสนอแนะ</a:t>
            </a:r>
          </a:p>
        </p:txBody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6862683A-2457-442F-BF4E-C35CEBF14060}"/>
              </a:ext>
            </a:extLst>
          </p:cNvPr>
          <p:cNvSpPr>
            <a:spLocks noGrp="1"/>
          </p:cNvSpPr>
          <p:nvPr/>
        </p:nvSpPr>
        <p:spPr>
          <a:xfrm>
            <a:off x="2176272" y="5230368"/>
            <a:ext cx="7845552" cy="658368"/>
          </a:xfrm>
          <a:prstGeom prst="roundRect">
            <a:avLst>
              <a:gd name="adj" fmla="val 11111"/>
            </a:avLst>
          </a:prstGeom>
          <a:solidFill>
            <a:srgbClr val="163A59"/>
          </a:solidFill>
          <a:ln w="12700">
            <a:solidFill>
              <a:srgbClr val="163A59"/>
            </a:solidFill>
            <a:prstDash val="solid"/>
          </a:ln>
        </p:spPr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840A49AD-F4C3-4903-9C4A-FB86F7CCD5B1}"/>
              </a:ext>
            </a:extLst>
          </p:cNvPr>
          <p:cNvSpPr>
            <a:spLocks noGrp="1"/>
          </p:cNvSpPr>
          <p:nvPr/>
        </p:nvSpPr>
        <p:spPr>
          <a:xfrm>
            <a:off x="2331720" y="5422392"/>
            <a:ext cx="753465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2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หากพบปัญหา แจ้งทีมงานได้ทันที — ไม่ต้องรอจนจบการทดสอบ</a:t>
            </a:r>
          </a:p>
        </p:txBody>
      </p:sp>
      <p:pic>
        <p:nvPicPr>
          <p:cNvPr id="88" name="Image 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00032" y="182879"/>
            <a:ext cx="2212848" cy="98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76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6CC217E-DC15-46AC-9958-ED61A2EE3B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C7B"/>
          </a:solidFill>
          <a:ln w="12700">
            <a:solidFill>
              <a:srgbClr val="0F7C7B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004A0DB-4679-4974-9F8B-199686EAE015}"/>
              </a:ext>
            </a:extLst>
          </p:cNvPr>
          <p:cNvSpPr>
            <a:spLocks noGrp="1"/>
          </p:cNvSpPr>
          <p:nvPr/>
        </p:nvSpPr>
        <p:spPr>
          <a:xfrm>
            <a:off x="530352" y="347472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0F7C7B"/>
                </a:solidFill>
                <a:latin typeface="Tahoma"/>
                <a:ea typeface="Tahoma"/>
                <a:cs typeface="Tahoma"/>
              </a:rPr>
              <a:t>ระบบสำหรับการทดสอบ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D4087E4-9554-47D2-A575-E6EE92A339EB}"/>
              </a:ext>
            </a:extLst>
          </p:cNvPr>
          <p:cNvSpPr>
            <a:spLocks noGrp="1"/>
          </p:cNvSpPr>
          <p:nvPr/>
        </p:nvSpPr>
        <p:spPr>
          <a:xfrm>
            <a:off x="530352" y="658368"/>
            <a:ext cx="859536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8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เข้าสู่ระบบประเมินภาระงานสายสนับสนุน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11C6F03B-C845-4715-9228-1A51A41E1312}"/>
              </a:ext>
            </a:extLst>
          </p:cNvPr>
          <p:cNvSpPr>
            <a:spLocks noGrp="1"/>
          </p:cNvSpPr>
          <p:nvPr/>
        </p:nvSpPr>
        <p:spPr>
          <a:xfrm>
            <a:off x="530352" y="1280160"/>
            <a:ext cx="11018520" cy="0"/>
          </a:xfrm>
          <a:prstGeom prst="line">
            <a:avLst/>
          </a:prstGeom>
          <a:noFill/>
          <a:ln w="12700">
            <a:solidFill>
              <a:srgbClr val="D9E4EC"/>
            </a:solidFill>
            <a:prstDash val="solid"/>
          </a:ln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C923FF7-777E-4BC4-808D-B1939EB84122}"/>
              </a:ext>
            </a:extLst>
          </p:cNvPr>
          <p:cNvSpPr>
            <a:spLocks noGrp="1"/>
          </p:cNvSpPr>
          <p:nvPr/>
        </p:nvSpPr>
        <p:spPr>
          <a:xfrm>
            <a:off x="11173968" y="6419088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617588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3BAC0737-9F01-45DD-989D-7873BA2B1B01}"/>
              </a:ext>
            </a:extLst>
          </p:cNvPr>
          <p:cNvSpPr>
            <a:spLocks noGrp="1"/>
          </p:cNvSpPr>
          <p:nvPr/>
        </p:nvSpPr>
        <p:spPr>
          <a:xfrm>
            <a:off x="960120" y="1828800"/>
            <a:ext cx="10195560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5240">
            <a:solidFill>
              <a:srgbClr val="D9E4EC"/>
            </a:solidFill>
            <a:prstDash val="solid"/>
          </a:ln>
          <a:effectLst>
            <a:outerShdw blurRad="19050" dist="50800" dir="2700000" algn="bl" rotWithShape="0">
              <a:srgbClr val="A8BAC7">
                <a:alpha val="16000"/>
              </a:srgbClr>
            </a:outerShdw>
          </a:effectLst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40D464EA-F2E0-4D25-BCA9-0FBD7D829BBD}"/>
              </a:ext>
            </a:extLst>
          </p:cNvPr>
          <p:cNvSpPr>
            <a:spLocks noGrp="1"/>
          </p:cNvSpPr>
          <p:nvPr/>
        </p:nvSpPr>
        <p:spPr>
          <a:xfrm>
            <a:off x="4837176" y="2139696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0F7C7B"/>
          </a:solidFill>
          <a:ln w="12700">
            <a:solidFill>
              <a:srgbClr val="0F7C7B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2D26BD4-E362-43C5-8ADA-57B472446B4A}"/>
              </a:ext>
            </a:extLst>
          </p:cNvPr>
          <p:cNvSpPr>
            <a:spLocks noGrp="1"/>
          </p:cNvSpPr>
          <p:nvPr/>
        </p:nvSpPr>
        <p:spPr>
          <a:xfrm>
            <a:off x="4837176" y="2157984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LIVE TEST SERVER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9712305-1989-428F-A084-B0A9729883EE}"/>
              </a:ext>
            </a:extLst>
          </p:cNvPr>
          <p:cNvSpPr>
            <a:spLocks noGrp="1"/>
          </p:cNvSpPr>
          <p:nvPr/>
        </p:nvSpPr>
        <p:spPr>
          <a:xfrm>
            <a:off x="1965960" y="2761488"/>
            <a:ext cx="8275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700">
                <a:solidFill>
                  <a:srgbClr val="617588"/>
                </a:solidFill>
                <a:latin typeface="Tahoma"/>
                <a:ea typeface="Tahoma"/>
                <a:cs typeface="Tahoma"/>
              </a:rPr>
              <a:t>เปิดเว็บเบราว์เซอร์ แล้วเข้าสู่</a:t>
            </a:r>
          </a:p>
        </p:txBody>
      </p:sp>
      <p:sp>
        <p:nvSpPr>
          <p:cNvPr id="12" name="Text 9">
            <a:hlinkClick r:id="rId3"/>
            <a:extLst>
              <a:ext uri="{FF2B5EF4-FFF2-40B4-BE49-F238E27FC236}">
                <a16:creationId xmlns:a16="http://schemas.microsoft.com/office/drawing/2014/main" id="{11C79A50-BA33-4EC6-9E5F-5C3F6F901E67}"/>
              </a:ext>
            </a:extLst>
          </p:cNvPr>
          <p:cNvSpPr>
            <a:spLocks noGrp="1"/>
          </p:cNvSpPr>
          <p:nvPr/>
        </p:nvSpPr>
        <p:spPr>
          <a:xfrm>
            <a:off x="1536192" y="3319272"/>
            <a:ext cx="9116568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800" b="1" u="sng">
                <a:solidFill>
                  <a:srgbClr val="163A59"/>
                </a:solidFill>
                <a:latin typeface="Tahoma"/>
                <a:ea typeface="Tahoma"/>
                <a:cs typeface="Tahoma"/>
                <a:hlinkClick r:id="rId3"/>
              </a:rPr>
              <a:t>http://149.28.142.186/login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2703A0C2-55DE-4929-BE14-3A67C48911EF}"/>
              </a:ext>
            </a:extLst>
          </p:cNvPr>
          <p:cNvSpPr>
            <a:spLocks noGrp="1"/>
          </p:cNvSpPr>
          <p:nvPr/>
        </p:nvSpPr>
        <p:spPr>
          <a:xfrm>
            <a:off x="3063240" y="4224528"/>
            <a:ext cx="6080760" cy="594360"/>
          </a:xfrm>
          <a:prstGeom prst="roundRect">
            <a:avLst>
              <a:gd name="adj" fmla="val 12308"/>
            </a:avLst>
          </a:prstGeom>
          <a:solidFill>
            <a:srgbClr val="FBE9E4"/>
          </a:solidFill>
          <a:ln w="12700">
            <a:solidFill>
              <a:srgbClr val="FBE9E4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090B550E-459E-4624-B77E-32A5D75C0B8D}"/>
              </a:ext>
            </a:extLst>
          </p:cNvPr>
          <p:cNvSpPr>
            <a:spLocks noGrp="1"/>
          </p:cNvSpPr>
          <p:nvPr/>
        </p:nvSpPr>
        <p:spPr>
          <a:xfrm>
            <a:off x="3246120" y="4407408"/>
            <a:ext cx="571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50" b="1">
                <a:solidFill>
                  <a:srgbClr val="E76F51"/>
                </a:solidFill>
                <a:latin typeface="Tahoma"/>
                <a:ea typeface="Tahoma"/>
                <a:cs typeface="Tahoma"/>
              </a:rPr>
              <a:t>ระบบกำลังทำงานบนเซิร์ฟเวอร์ของบริษัท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56CB553A-83E6-4A28-9D7E-E75D1D95017E}"/>
              </a:ext>
            </a:extLst>
          </p:cNvPr>
          <p:cNvSpPr>
            <a:spLocks noGrp="1"/>
          </p:cNvSpPr>
          <p:nvPr/>
        </p:nvSpPr>
        <p:spPr>
          <a:xfrm>
            <a:off x="3886200" y="5650992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>
                <a:solidFill>
                  <a:srgbClr val="617588"/>
                </a:solidFill>
                <a:latin typeface="Tahoma"/>
                <a:ea typeface="Tahoma"/>
                <a:cs typeface="Tahoma"/>
              </a:rPr>
              <a:t>คลิกที่ URL บนสไลด์ได้โดยตรง</a:t>
            </a:r>
          </a:p>
        </p:txBody>
      </p:sp>
      <p:pic>
        <p:nvPicPr>
          <p:cNvPr id="30" name="Image 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00032" y="182879"/>
            <a:ext cx="2212848" cy="98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055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EB80EBA-24AC-4AD9-BF41-7F0837DB27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C7B"/>
          </a:solidFill>
          <a:ln w="12700">
            <a:solidFill>
              <a:srgbClr val="0F7C7B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367706B-E5C1-4163-9A92-ECCB95929D77}"/>
              </a:ext>
            </a:extLst>
          </p:cNvPr>
          <p:cNvSpPr>
            <a:spLocks noGrp="1"/>
          </p:cNvSpPr>
          <p:nvPr/>
        </p:nvSpPr>
        <p:spPr>
          <a:xfrm>
            <a:off x="530352" y="347472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0F7C7B"/>
                </a:solidFill>
                <a:latin typeface="Tahoma"/>
                <a:ea typeface="Tahoma"/>
                <a:cs typeface="Tahoma"/>
              </a:rPr>
              <a:t>ระหว่างทดสอบ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4EA947A-86F8-4CD2-B6EB-BE55B76FC2ED}"/>
              </a:ext>
            </a:extLst>
          </p:cNvPr>
          <p:cNvSpPr>
            <a:spLocks noGrp="1"/>
          </p:cNvSpPr>
          <p:nvPr/>
        </p:nvSpPr>
        <p:spPr>
          <a:xfrm>
            <a:off x="530352" y="658368"/>
            <a:ext cx="859536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8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พบอะไร บอกเราได้เลย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837930A9-6CD3-48C4-8092-CC10767DA139}"/>
              </a:ext>
            </a:extLst>
          </p:cNvPr>
          <p:cNvSpPr>
            <a:spLocks noGrp="1"/>
          </p:cNvSpPr>
          <p:nvPr/>
        </p:nvSpPr>
        <p:spPr>
          <a:xfrm>
            <a:off x="530352" y="1280160"/>
            <a:ext cx="11018520" cy="0"/>
          </a:xfrm>
          <a:prstGeom prst="line">
            <a:avLst/>
          </a:prstGeom>
          <a:noFill/>
          <a:ln w="12700">
            <a:solidFill>
              <a:srgbClr val="D9E4EC"/>
            </a:solidFill>
            <a:prstDash val="solid"/>
          </a:ln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1A7486A-DB8F-442F-8F47-A87A4508F770}"/>
              </a:ext>
            </a:extLst>
          </p:cNvPr>
          <p:cNvSpPr>
            <a:spLocks noGrp="1"/>
          </p:cNvSpPr>
          <p:nvPr/>
        </p:nvSpPr>
        <p:spPr>
          <a:xfrm>
            <a:off x="11173968" y="6419088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617588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C7FE01A-00CE-465F-B2B2-6DD8C5256DC8}"/>
              </a:ext>
            </a:extLst>
          </p:cNvPr>
          <p:cNvSpPr>
            <a:spLocks noGrp="1"/>
          </p:cNvSpPr>
          <p:nvPr/>
        </p:nvSpPr>
        <p:spPr>
          <a:xfrm>
            <a:off x="585216" y="1627632"/>
            <a:ext cx="5376672" cy="1069848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24B6FB8-DDA9-40DF-8D24-99E81939B34E}"/>
              </a:ext>
            </a:extLst>
          </p:cNvPr>
          <p:cNvSpPr>
            <a:spLocks noGrp="1"/>
          </p:cNvSpPr>
          <p:nvPr/>
        </p:nvSpPr>
        <p:spPr>
          <a:xfrm>
            <a:off x="786384" y="180136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0F7C7B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76B2EE4-8B30-4E2F-B83B-3141EC532285}"/>
              </a:ext>
            </a:extLst>
          </p:cNvPr>
          <p:cNvSpPr>
            <a:spLocks noGrp="1"/>
          </p:cNvSpPr>
          <p:nvPr/>
        </p:nvSpPr>
        <p:spPr>
          <a:xfrm>
            <a:off x="1380744" y="1783080"/>
            <a:ext cx="42976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เข้าระบบไม่ได้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C60259B-B570-40A6-AED4-1A99101EC145}"/>
              </a:ext>
            </a:extLst>
          </p:cNvPr>
          <p:cNvSpPr>
            <a:spLocks noGrp="1"/>
          </p:cNvSpPr>
          <p:nvPr/>
        </p:nvSpPr>
        <p:spPr>
          <a:xfrm>
            <a:off x="1380744" y="2185416"/>
            <a:ext cx="4297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50">
                <a:solidFill>
                  <a:srgbClr val="617588"/>
                </a:solidFill>
                <a:latin typeface="Tahoma"/>
                <a:ea typeface="Tahoma"/>
                <a:cs typeface="Tahoma"/>
              </a:rPr>
              <a:t>บัญชี รหัสผ่าน หรือสิทธิ์การใช้งาน</a:t>
            </a: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FA66E07E-8359-461A-AA3B-C053EC8A0AEB}"/>
              </a:ext>
            </a:extLst>
          </p:cNvPr>
          <p:cNvSpPr>
            <a:spLocks noGrp="1"/>
          </p:cNvSpPr>
          <p:nvPr/>
        </p:nvSpPr>
        <p:spPr>
          <a:xfrm>
            <a:off x="6208776" y="1627632"/>
            <a:ext cx="5376672" cy="1069848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48B8768-8D15-4F2E-B02B-7630D78156B5}"/>
              </a:ext>
            </a:extLst>
          </p:cNvPr>
          <p:cNvSpPr>
            <a:spLocks noGrp="1"/>
          </p:cNvSpPr>
          <p:nvPr/>
        </p:nvSpPr>
        <p:spPr>
          <a:xfrm>
            <a:off x="6409944" y="180136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E76F51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0D8B6994-DD89-4F95-BF7D-294C7696BA8B}"/>
              </a:ext>
            </a:extLst>
          </p:cNvPr>
          <p:cNvSpPr>
            <a:spLocks noGrp="1"/>
          </p:cNvSpPr>
          <p:nvPr/>
        </p:nvSpPr>
        <p:spPr>
          <a:xfrm>
            <a:off x="7004304" y="1783080"/>
            <a:ext cx="42976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ข้อความไม่ชัดเจน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CB55B3F-A516-4BA3-85D4-CD8AAE40E124}"/>
              </a:ext>
            </a:extLst>
          </p:cNvPr>
          <p:cNvSpPr>
            <a:spLocks noGrp="1"/>
          </p:cNvSpPr>
          <p:nvPr/>
        </p:nvSpPr>
        <p:spPr>
          <a:xfrm>
            <a:off x="7004304" y="2185416"/>
            <a:ext cx="4297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50">
                <a:solidFill>
                  <a:srgbClr val="617588"/>
                </a:solidFill>
                <a:latin typeface="Tahoma"/>
                <a:ea typeface="Tahoma"/>
                <a:cs typeface="Tahoma"/>
              </a:rPr>
              <a:t>คำเรียก เมนู ปุ่ม หรือคำอธิบาย</a:t>
            </a: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C760E172-1C59-47B5-B4E6-EC72C9AD6B9F}"/>
              </a:ext>
            </a:extLst>
          </p:cNvPr>
          <p:cNvSpPr>
            <a:spLocks noGrp="1"/>
          </p:cNvSpPr>
          <p:nvPr/>
        </p:nvSpPr>
        <p:spPr>
          <a:xfrm>
            <a:off x="585216" y="2980944"/>
            <a:ext cx="5376672" cy="1069848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75102231-6076-4182-B8DC-B79759C3DC97}"/>
              </a:ext>
            </a:extLst>
          </p:cNvPr>
          <p:cNvSpPr>
            <a:spLocks noGrp="1"/>
          </p:cNvSpPr>
          <p:nvPr/>
        </p:nvSpPr>
        <p:spPr>
          <a:xfrm>
            <a:off x="786384" y="31546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0F7C7B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E7F25A42-D011-47AF-B3C2-A0A0B9DB2893}"/>
              </a:ext>
            </a:extLst>
          </p:cNvPr>
          <p:cNvSpPr>
            <a:spLocks noGrp="1"/>
          </p:cNvSpPr>
          <p:nvPr/>
        </p:nvSpPr>
        <p:spPr>
          <a:xfrm>
            <a:off x="1380744" y="3136392"/>
            <a:ext cx="42976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รายการไม่ครบ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1CA6AE3C-32A7-4BC5-A940-477E51C15B0D}"/>
              </a:ext>
            </a:extLst>
          </p:cNvPr>
          <p:cNvSpPr>
            <a:spLocks noGrp="1"/>
          </p:cNvSpPr>
          <p:nvPr/>
        </p:nvSpPr>
        <p:spPr>
          <a:xfrm>
            <a:off x="1380744" y="3538728"/>
            <a:ext cx="4297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50">
                <a:solidFill>
                  <a:srgbClr val="617588"/>
                </a:solidFill>
                <a:latin typeface="Tahoma"/>
                <a:ea typeface="Tahoma"/>
                <a:cs typeface="Tahoma"/>
              </a:rPr>
              <a:t>กิจกรรม/ตัวชี้วัดที่หน่วยงานใช้จริง</a:t>
            </a: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7B138649-DEA1-49C6-A0D6-551C9990F3AC}"/>
              </a:ext>
            </a:extLst>
          </p:cNvPr>
          <p:cNvSpPr>
            <a:spLocks noGrp="1"/>
          </p:cNvSpPr>
          <p:nvPr/>
        </p:nvSpPr>
        <p:spPr>
          <a:xfrm>
            <a:off x="6208776" y="2980944"/>
            <a:ext cx="5376672" cy="1069848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217CE00C-BAE3-4F92-B9AB-6BBADEA085D7}"/>
              </a:ext>
            </a:extLst>
          </p:cNvPr>
          <p:cNvSpPr>
            <a:spLocks noGrp="1"/>
          </p:cNvSpPr>
          <p:nvPr/>
        </p:nvSpPr>
        <p:spPr>
          <a:xfrm>
            <a:off x="6409944" y="31546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E76F51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D69E48A5-35B6-43C9-AF01-CB5353E6977D}"/>
              </a:ext>
            </a:extLst>
          </p:cNvPr>
          <p:cNvSpPr>
            <a:spLocks noGrp="1"/>
          </p:cNvSpPr>
          <p:nvPr/>
        </p:nvSpPr>
        <p:spPr>
          <a:xfrm>
            <a:off x="7004304" y="3136392"/>
            <a:ext cx="42976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คะแนนไม่ถูกต้อง</a:t>
            </a: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9FD0FC3C-9400-4FD1-B832-7F544C6BB048}"/>
              </a:ext>
            </a:extLst>
          </p:cNvPr>
          <p:cNvSpPr>
            <a:spLocks noGrp="1"/>
          </p:cNvSpPr>
          <p:nvPr/>
        </p:nvSpPr>
        <p:spPr>
          <a:xfrm>
            <a:off x="7004304" y="3538728"/>
            <a:ext cx="4297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50">
                <a:solidFill>
                  <a:srgbClr val="617588"/>
                </a:solidFill>
                <a:latin typeface="Tahoma"/>
                <a:ea typeface="Tahoma"/>
                <a:cs typeface="Tahoma"/>
              </a:rPr>
              <a:t>น้ำหนัก คะแนนถ่วงน้ำหนัก หรือผลรวม</a:t>
            </a:r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46045E7D-519D-439F-8FCA-8FFFC4A85A95}"/>
              </a:ext>
            </a:extLst>
          </p:cNvPr>
          <p:cNvSpPr>
            <a:spLocks noGrp="1"/>
          </p:cNvSpPr>
          <p:nvPr/>
        </p:nvSpPr>
        <p:spPr>
          <a:xfrm>
            <a:off x="585216" y="4334256"/>
            <a:ext cx="5376672" cy="1069848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B8BC8DEE-317E-4F78-B6DE-8023AFBDDD92}"/>
              </a:ext>
            </a:extLst>
          </p:cNvPr>
          <p:cNvSpPr>
            <a:spLocks noGrp="1"/>
          </p:cNvSpPr>
          <p:nvPr/>
        </p:nvSpPr>
        <p:spPr>
          <a:xfrm>
            <a:off x="786384" y="450799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0F7C7B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EC2C6B4E-0E0A-44AD-983E-56EBEFFF4E29}"/>
              </a:ext>
            </a:extLst>
          </p:cNvPr>
          <p:cNvSpPr>
            <a:spLocks noGrp="1"/>
          </p:cNvSpPr>
          <p:nvPr/>
        </p:nvSpPr>
        <p:spPr>
          <a:xfrm>
            <a:off x="1380744" y="4489704"/>
            <a:ext cx="42976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ใช้งานไม่สะดวก</a:t>
            </a:r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3B0C4E99-A3DE-4130-9562-E7A2D904F038}"/>
              </a:ext>
            </a:extLst>
          </p:cNvPr>
          <p:cNvSpPr>
            <a:spLocks noGrp="1"/>
          </p:cNvSpPr>
          <p:nvPr/>
        </p:nvSpPr>
        <p:spPr>
          <a:xfrm>
            <a:off x="1380744" y="4892040"/>
            <a:ext cx="4297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50">
                <a:solidFill>
                  <a:srgbClr val="617588"/>
                </a:solidFill>
                <a:latin typeface="Tahoma"/>
                <a:ea typeface="Tahoma"/>
                <a:cs typeface="Tahoma"/>
              </a:rPr>
              <a:t>ขั้นตอนมากเกินไป ช้า หรือทำให้สับสน</a:t>
            </a:r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BA486D8F-5780-4B08-B005-1238298F5D75}"/>
              </a:ext>
            </a:extLst>
          </p:cNvPr>
          <p:cNvSpPr>
            <a:spLocks noGrp="1"/>
          </p:cNvSpPr>
          <p:nvPr/>
        </p:nvSpPr>
        <p:spPr>
          <a:xfrm>
            <a:off x="6208776" y="4334256"/>
            <a:ext cx="5376672" cy="1069848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D99C96EE-1437-4455-A895-E8C2F0490542}"/>
              </a:ext>
            </a:extLst>
          </p:cNvPr>
          <p:cNvSpPr>
            <a:spLocks noGrp="1"/>
          </p:cNvSpPr>
          <p:nvPr/>
        </p:nvSpPr>
        <p:spPr>
          <a:xfrm>
            <a:off x="6409944" y="450799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E76F51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C384CBE3-CB2E-4055-8C0E-E1CD1EE3E671}"/>
              </a:ext>
            </a:extLst>
          </p:cNvPr>
          <p:cNvSpPr>
            <a:spLocks noGrp="1"/>
          </p:cNvSpPr>
          <p:nvPr/>
        </p:nvSpPr>
        <p:spPr>
          <a:xfrm>
            <a:off x="7004304" y="4489704"/>
            <a:ext cx="42976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มีข้อเสนอเพิ่มเติม</a:t>
            </a:r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C135B07F-9853-4707-AE83-E33EA6FB4D19}"/>
              </a:ext>
            </a:extLst>
          </p:cNvPr>
          <p:cNvSpPr>
            <a:spLocks noGrp="1"/>
          </p:cNvSpPr>
          <p:nvPr/>
        </p:nvSpPr>
        <p:spPr>
          <a:xfrm>
            <a:off x="7004304" y="4892040"/>
            <a:ext cx="4297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50">
                <a:solidFill>
                  <a:srgbClr val="617588"/>
                </a:solidFill>
                <a:latin typeface="Tahoma"/>
                <a:ea typeface="Tahoma"/>
                <a:cs typeface="Tahoma"/>
              </a:rPr>
              <a:t>สิ่งที่ควรมี ควรตัด หรือควรปรับ</a:t>
            </a:r>
          </a:p>
        </p:txBody>
      </p:sp>
      <p:pic>
        <p:nvPicPr>
          <p:cNvPr id="66" name="Image 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00032" y="182879"/>
            <a:ext cx="2212848" cy="98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56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46637D0-796C-406D-82DA-FA1C880D11B9}"/>
              </a:ext>
            </a:extLst>
          </p:cNvPr>
          <p:cNvSpPr>
            <a:spLocks noGrp="1"/>
          </p:cNvSpPr>
          <p:nvPr/>
        </p:nvSpPr>
        <p:spPr>
          <a:xfrm>
            <a:off x="658368" y="603504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CA6EED8-B431-43C4-AB1B-175204FCA9F2}"/>
              </a:ext>
            </a:extLst>
          </p:cNvPr>
          <p:cNvSpPr>
            <a:spLocks noGrp="1"/>
          </p:cNvSpPr>
          <p:nvPr/>
        </p:nvSpPr>
        <p:spPr>
          <a:xfrm>
            <a:off x="658368" y="621792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สรุปและรับฟัง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D1AE6BD-30AB-42B4-B88F-C395354D2293}"/>
              </a:ext>
            </a:extLst>
          </p:cNvPr>
          <p:cNvSpPr>
            <a:spLocks noGrp="1"/>
          </p:cNvSpPr>
          <p:nvPr/>
        </p:nvSpPr>
        <p:spPr>
          <a:xfrm>
            <a:off x="658368" y="1298448"/>
            <a:ext cx="4709160" cy="12984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ขอฟังเสียงจาก</a:t>
            </a:r>
          </a:p>
          <a:p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ทุกหน่วยงาน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2D5AFBE-CACC-4277-890C-5BFC4C696527}"/>
              </a:ext>
            </a:extLst>
          </p:cNvPr>
          <p:cNvSpPr>
            <a:spLocks noGrp="1"/>
          </p:cNvSpPr>
          <p:nvPr/>
        </p:nvSpPr>
        <p:spPr>
          <a:xfrm>
            <a:off x="676656" y="2816352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>
                <a:solidFill>
                  <a:srgbClr val="BFD2E0"/>
                </a:solidFill>
                <a:latin typeface="Tahoma"/>
                <a:ea typeface="Tahoma"/>
                <a:cs typeface="Tahoma"/>
              </a:rPr>
              <a:t>สิ่งที่ควรรักษา • สิ่งที่ควรแก้ • สิ่งที่ยังขาด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6268F14-A79C-41F1-A5DD-A5B066E6B1DB}"/>
              </a:ext>
            </a:extLst>
          </p:cNvPr>
          <p:cNvSpPr>
            <a:spLocks noGrp="1"/>
          </p:cNvSpPr>
          <p:nvPr/>
        </p:nvSpPr>
        <p:spPr>
          <a:xfrm>
            <a:off x="6080760" y="658368"/>
            <a:ext cx="5349240" cy="896112"/>
          </a:xfrm>
          <a:prstGeom prst="roundRect">
            <a:avLst>
              <a:gd name="adj" fmla="val 6122"/>
            </a:avLst>
          </a:prstGeom>
          <a:solidFill>
            <a:srgbClr val="183E5D"/>
          </a:solidFill>
          <a:ln w="12700">
            <a:solidFill>
              <a:srgbClr val="31536D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A23B052-7F7F-43D6-BE2D-00CE008D7C84}"/>
              </a:ext>
            </a:extLst>
          </p:cNvPr>
          <p:cNvSpPr>
            <a:spLocks noGrp="1"/>
          </p:cNvSpPr>
          <p:nvPr/>
        </p:nvSpPr>
        <p:spPr>
          <a:xfrm>
            <a:off x="6309360" y="896112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7BD5CD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6A8F9FE-A0BD-4EFF-9B36-DE1752586912}"/>
              </a:ext>
            </a:extLst>
          </p:cNvPr>
          <p:cNvSpPr>
            <a:spLocks noGrp="1"/>
          </p:cNvSpPr>
          <p:nvPr/>
        </p:nvSpPr>
        <p:spPr>
          <a:xfrm>
            <a:off x="6821424" y="859536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ขั้นตอนใดยังไม่ชัดเจน?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108745F-B2FF-4203-8EA1-D847D20CD928}"/>
              </a:ext>
            </a:extLst>
          </p:cNvPr>
          <p:cNvSpPr>
            <a:spLocks noGrp="1"/>
          </p:cNvSpPr>
          <p:nvPr/>
        </p:nvSpPr>
        <p:spPr>
          <a:xfrm>
            <a:off x="6080760" y="1828800"/>
            <a:ext cx="5349240" cy="896112"/>
          </a:xfrm>
          <a:prstGeom prst="roundRect">
            <a:avLst>
              <a:gd name="adj" fmla="val 6122"/>
            </a:avLst>
          </a:prstGeom>
          <a:solidFill>
            <a:srgbClr val="123651"/>
          </a:solidFill>
          <a:ln w="12700">
            <a:solidFill>
              <a:srgbClr val="31536D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952830B-1566-495B-B574-336EE0A53F3B}"/>
              </a:ext>
            </a:extLst>
          </p:cNvPr>
          <p:cNvSpPr>
            <a:spLocks noGrp="1"/>
          </p:cNvSpPr>
          <p:nvPr/>
        </p:nvSpPr>
        <p:spPr>
          <a:xfrm>
            <a:off x="6309360" y="2066544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3A38E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658112D-5AAC-436E-B6CE-FC4BA75EEFB1}"/>
              </a:ext>
            </a:extLst>
          </p:cNvPr>
          <p:cNvSpPr>
            <a:spLocks noGrp="1"/>
          </p:cNvSpPr>
          <p:nvPr/>
        </p:nvSpPr>
        <p:spPr>
          <a:xfrm>
            <a:off x="6821424" y="2029968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เกณฑ์และตัวชี้วัดครบหรือไม่?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B4613D5-30DF-40C9-BCC9-1345B9AA1025}"/>
              </a:ext>
            </a:extLst>
          </p:cNvPr>
          <p:cNvSpPr>
            <a:spLocks noGrp="1"/>
          </p:cNvSpPr>
          <p:nvPr/>
        </p:nvSpPr>
        <p:spPr>
          <a:xfrm>
            <a:off x="6080760" y="2999232"/>
            <a:ext cx="5349240" cy="896112"/>
          </a:xfrm>
          <a:prstGeom prst="roundRect">
            <a:avLst>
              <a:gd name="adj" fmla="val 6122"/>
            </a:avLst>
          </a:prstGeom>
          <a:solidFill>
            <a:srgbClr val="183E5D"/>
          </a:solidFill>
          <a:ln w="12700">
            <a:solidFill>
              <a:srgbClr val="31536D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39C0E83-CE16-4AB2-BACB-CC899DFBE949}"/>
              </a:ext>
            </a:extLst>
          </p:cNvPr>
          <p:cNvSpPr>
            <a:spLocks noGrp="1"/>
          </p:cNvSpPr>
          <p:nvPr/>
        </p:nvSpPr>
        <p:spPr>
          <a:xfrm>
            <a:off x="6309360" y="3236976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7BD5CD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4DA2248-7AA0-47D0-9075-075EFF811F41}"/>
              </a:ext>
            </a:extLst>
          </p:cNvPr>
          <p:cNvSpPr>
            <a:spLocks noGrp="1"/>
          </p:cNvSpPr>
          <p:nvPr/>
        </p:nvSpPr>
        <p:spPr>
          <a:xfrm>
            <a:off x="6821424" y="320040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น้ำหนักและคะแนนถูกต้องหรือไม่?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3CDDC94-A267-437D-A4EF-A94C9857601F}"/>
              </a:ext>
            </a:extLst>
          </p:cNvPr>
          <p:cNvSpPr>
            <a:spLocks noGrp="1"/>
          </p:cNvSpPr>
          <p:nvPr/>
        </p:nvSpPr>
        <p:spPr>
          <a:xfrm>
            <a:off x="6080760" y="4169664"/>
            <a:ext cx="5349240" cy="896112"/>
          </a:xfrm>
          <a:prstGeom prst="roundRect">
            <a:avLst>
              <a:gd name="adj" fmla="val 6122"/>
            </a:avLst>
          </a:prstGeom>
          <a:solidFill>
            <a:srgbClr val="123651"/>
          </a:solidFill>
          <a:ln w="12700">
            <a:solidFill>
              <a:srgbClr val="31536D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26E4F91-5093-47DC-8644-E9EB4ECE43DE}"/>
              </a:ext>
            </a:extLst>
          </p:cNvPr>
          <p:cNvSpPr>
            <a:spLocks noGrp="1"/>
          </p:cNvSpPr>
          <p:nvPr/>
        </p:nvSpPr>
        <p:spPr>
          <a:xfrm>
            <a:off x="6309360" y="4407408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3A38E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B8724F7-C9E0-40A6-8BEF-26CA6AFC79C0}"/>
              </a:ext>
            </a:extLst>
          </p:cNvPr>
          <p:cNvSpPr>
            <a:spLocks noGrp="1"/>
          </p:cNvSpPr>
          <p:nvPr/>
        </p:nvSpPr>
        <p:spPr>
          <a:xfrm>
            <a:off x="6821424" y="4370832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อะไรควรปรับก่อนเปิดใช้จริง?</a:t>
            </a: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5A24641-5CC4-40F5-AD5E-0FF4999BD782}"/>
              </a:ext>
            </a:extLst>
          </p:cNvPr>
          <p:cNvSpPr>
            <a:spLocks noGrp="1"/>
          </p:cNvSpPr>
          <p:nvPr/>
        </p:nvSpPr>
        <p:spPr>
          <a:xfrm>
            <a:off x="676656" y="4919472"/>
            <a:ext cx="4800600" cy="0"/>
          </a:xfrm>
          <a:prstGeom prst="line">
            <a:avLst/>
          </a:prstGeom>
          <a:noFill/>
          <a:ln w="15240">
            <a:solidFill>
              <a:srgbClr val="42617A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DB3D9AC-FBD6-4384-968A-C92B6F0FF1EC}"/>
              </a:ext>
            </a:extLst>
          </p:cNvPr>
          <p:cNvSpPr>
            <a:spLocks noGrp="1"/>
          </p:cNvSpPr>
          <p:nvPr/>
        </p:nvSpPr>
        <p:spPr>
          <a:xfrm>
            <a:off x="676656" y="5230368"/>
            <a:ext cx="4892040" cy="8686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ขอขอบพระคุณสำหรับความร่วมมือ</a:t>
            </a:r>
          </a:p>
          <a:p>
            <a:pPr marL="0" indent="0">
              <a:buNone/>
            </a:pPr>
            <a:r>
              <a:rPr sz="2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และทุกข้อเสนอแนะ</a:t>
            </a: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3B82B39-A2A7-4CF5-8D57-2D173252E1FD}"/>
              </a:ext>
            </a:extLst>
          </p:cNvPr>
          <p:cNvSpPr>
            <a:spLocks noGrp="1"/>
          </p:cNvSpPr>
          <p:nvPr/>
        </p:nvSpPr>
        <p:spPr>
          <a:xfrm>
            <a:off x="8485632" y="5404104"/>
            <a:ext cx="3054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1" name="Image 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52075" y="5477256"/>
            <a:ext cx="2212848" cy="98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645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</TotalTime>
  <Words>988</Words>
  <Application>Microsoft Office PowerPoint</Application>
  <DocSecurity>0</DocSecurity>
  <PresentationFormat>แบบจอกว้าง</PresentationFormat>
  <Paragraphs>124</Paragraphs>
  <Slides>6</Slides>
  <Notes>6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2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6</vt:i4>
      </vt:variant>
    </vt:vector>
  </HeadingPairs>
  <TitlesOfParts>
    <vt:vector size="9" baseType="lpstr">
      <vt:lpstr>Arial</vt:lpstr>
      <vt:lpstr>Tahoma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pisut palapol</cp:lastModifiedBy>
  <cp:revision>2</cp:revision>
  <dcterms:created xsi:type="dcterms:W3CDTF">2026-07-26T13:53:09Z</dcterms:created>
  <dcterms:modified xsi:type="dcterms:W3CDTF">2026-07-27T12:15:43Z</dcterms:modified>
</cp:coreProperties>
</file>