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895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เรียน ท่านคณบดี และอาจารย์ตัวแทนจากทั้ง 8 หลักสูตรทุกท่าน สวัสดีครับ/ค่ะ
ขอขอบพระคุณทุกท่านที่สละเวลามาร่วมทดสอบระบบประเมินภาระงาน เฟส 2 ในวันนี้ กิจกรรมนี้จัดขึ้นเพื่อทดลองใช้ระบบในสถานการณ์จริง และรับฟังความคิดเห็นจากผู้ใช้งานโดยตรง
ข้อเสนอแนะของทุกท่านจะช่วยให้เราปรับระบบให้ถูกต้อง ใช้งานสะดวก และรองรับภาระงานของแต่ละหลักสูตรได้ครบถ้วน วันนี้เราจะชี้แจงขั้นตอนสั้น ๆ จากนั้นให้ทุกท่านทดลองระบบ และปิดท้ายด้วยการรับฟังความคิดเห็นครับ/ค่ะ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การทดสอบวันนี้มีเป้าหมายหลัก 3 เรื่องครับ/ค่ะ
เรื่องแรก คือ ทดสอบขั้นตอนการใช้งาน ตั้งแต่เข้าสู่ระบบ กรอกข้อมูล แนบหลักฐาน ตรวจสอบคะแนน จนถึงการบันทึกและส่งข้อมูล
เรื่องที่สอง คือ ตรวจสอบความถูกต้องของประเภทภาระงาน เกณฑ์ และผลการคำนวณ ว่าสอดคล้องกับการทำงานจริงของคณะหรือไม่
เรื่องที่สาม คือ ความสะดวกในการใช้งาน หากมีเมนูที่หาไม่พบ ข้อความไม่ชัดเจน หรือขั้นตอนซับซ้อน สามารถแจ้งได้ทั้งหมด เพราะข้อเสนอแนะทุกข้อมีประโยชน์ต่อการปรับปรุงระบบครับ/ค่ะ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สำหรับการทดลอง ขอให้ทุกท่านดำเนินการตาม 6 ขั้นตอนบนหน้าจอครับ/ค่ะ
เริ่มจากเข้าสู่ระบบด้วยบัญชีที่ได้รับ แล้วตรวจสอบข้อมูลส่วนบุคคลและหลักสูตรว่าถูกต้องหรือไม่ จากนั้นทดลองเลือกประเภทภาระงาน กรอกรายละเอียด และแนบหลักฐานหรือลิงก์อ้างอิง
เมื่อบันทึกข้อมูลแล้ว ขอให้ตรวจสอบผลการคำนวณคะแนนว่าตรงกับที่คาดไว้หรือไม่ และทดลองแก้ไข บันทึก หรือส่งข้อมูลตามขั้นตอน
หากพบปัญหา หรือไม่แน่ใจว่าต้องกดปุ่มใด สามารถแจ้งทีมงานได้ทันที ไม่ต้องรอจนจบ และไม่ต้องกังวลว่าจะกดผิด เพราะวันนี้เราต้องการเห็นการใช้งานตามธรรมชาติครับ/ค่ะ
ต่อจากนี้ ขออนุญาตเปิดระบบเพื่อสาธิตสั้น ๆ แล้วเชิญทุกท่านทดลองใช้งานด้วยตนเองครับ/ค่ะ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สำหรับระบบที่ใช้ทดสอบในวันนี้ ขอให้ทุกท่านเปิดเว็บเบราว์เซอร์ แล้วเข้าสู่ URL ที่แสดงอยู่บนหน้าจอครับ/ค่ะ
ระบบนี้กำลังทำงานอยู่บนเซิร์ฟเวอร์ของบริษัท เพื่อใช้สำหรับการสาธิตและทดสอบระบบประเมินภาระงาน เฟส 2
เมื่อเปิดหน้าเข้าสู่ระบบแล้ว ขอให้ใช้บัญชีที่ทีมงานจัดเตรียมไว้ หากเข้าเว็บไซต์ไม่ได้ หรือพบข้อความแจ้งเตือน สามารถแจ้งทีมงานได้ทันทีครับ/ค่ะ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ระหว่างการทดลอง ขอให้ช่วยสังเกตประเด็นตามหน้าจอครับ/ค่ะ เช่น เข้าสู่ระบบไม่ได้ ข้อความหรือเมนูไม่ชัดเจน ไม่พบรายการภาระงานที่ต้องการ คะแนนคำนวณไม่ถูกต้อง หรือขั้นตอนใช้งานไม่สะดวก
หากพบปัญหา ขอให้แจ้งชื่อหน้าจอและขั้นตอนที่พบ หรือเรียกทีมงานเข้าไปดูในขณะนั้น จะช่วยให้ตรวจสอบและแก้ไขได้ตรงจุดมากขึ้น
ขอย้ำว่า วันนี้เรากำลังทดสอบ “ระบบ” ไม่ได้ทดสอบความสามารถของผู้ใช้ หากจุดใดทำให้สับสน แสดงว่าระบบยังต้องปรับปรุง ดังนั้นทุกท่านสามารถแสดงความคิดเห็นได้อย่างเต็มที่ครับ/ค่ะ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ขณะนี้ทุกท่านได้ทดลองใช้งานระบบแล้ว ลำดับต่อไป ขอเชิญท่านคณบดีและตัวแทนแต่ละหลักสูตรร่วมให้ความคิดเห็นครับ/ค่ะ
อาจพิจารณาจากคำถามบนหน้าจอ ได้แก่ ขั้นตอนใดที่ยังไม่ชัดเจน รายการภาระงานครบถ้วนหรือไม่ เกณฑ์และคะแนนถูกต้องหรือไม่ และเรื่องใดควรปรับปรุงเป็นลำดับแรกก่อนเปิดใช้งานจริง
ทีมงานจะรวบรวมทุกประเด็น นำไปจัดลำดับความสำคัญ และปรับปรุงระบบต่อไป หากภายหลังมีข้อคิดเห็นเพิ่มเติม สามารถแจ้งมายังทีมงานได้ครับ/ค่ะ
สุดท้ายนี้ ขอขอบพระคุณท่านคณบดีและอาจารย์ตัวแทนจากทั้ง 8 หลักสูตร สำหรับเวลา ความร่วมมือ และข้อเสนอแนะที่เป็นประโยชน์อย่างยิ่ง ขอบพระคุณครับ/ค่ะ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149.28.142.186/logi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-1463040" y="4480560"/>
            <a:ext cx="5303520" cy="3200400"/>
          </a:xfrm>
          <a:prstGeom prst="arc">
            <a:avLst/>
          </a:prstGeom>
          <a:solidFill>
            <a:srgbClr val="E76F51">
              <a:alpha val="94000"/>
            </a:srgbClr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pic>
        <p:nvPicPr>
          <p:cNvPr id="4" name="Image 0" descr="public\favicon-m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005840"/>
            <a:ext cx="1874520" cy="1874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31821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คณะสาธารณสุขศาสตร์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11480" y="35478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F2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มหาวิทยาลัยมหาสารคาม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498848" y="9601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98848" y="978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TESTING • PHASE 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80560" y="1572768"/>
            <a:ext cx="6995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ทดสอบระบบ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ประเมินภาระงาน</a:t>
            </a:r>
            <a:endParaRPr lang="en-US" sz="3700" dirty="0"/>
          </a:p>
        </p:txBody>
      </p:sp>
      <p:sp>
        <p:nvSpPr>
          <p:cNvPr id="10" name="Text 7"/>
          <p:cNvSpPr/>
          <p:nvPr/>
        </p:nvSpPr>
        <p:spPr>
          <a:xfrm>
            <a:off x="4498848" y="3310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PHASE</a:t>
            </a:r>
            <a:r>
              <a:rPr lang="en-US" sz="2400" b="1" dirty="0">
                <a:solidFill>
                  <a:srgbClr val="8EE0D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2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498848" y="4078224"/>
            <a:ext cx="6126480" cy="0"/>
          </a:xfrm>
          <a:prstGeom prst="line">
            <a:avLst/>
          </a:prstGeom>
          <a:noFill/>
          <a:ln w="15240">
            <a:solidFill>
              <a:srgbClr val="4261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98848" y="43708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 กรกฎาคม 2569  •  13.30 น.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98848" y="5769864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FB6C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เป้าหมายวันนี้: ทดลองใช้งานจริง และร่วมกันทำให้ระบบใช้งานได้ดีขึ้น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เป้าหมายการทดสอบ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วันนี้เราจะทดสอบอะไร?</a:t>
            </a:r>
            <a:endParaRPr lang="en-US" sz="2800" dirty="0"/>
          </a:p>
        </p:txBody>
      </p:sp>
      <p:pic>
        <p:nvPicPr>
          <p:cNvPr id="5" name="Image 0" descr="C:\Users\pisut\Downloads\ดีไซน์ที่ยังไม่ได้ตั้งชื่อ (1)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0032" y="182879"/>
            <a:ext cx="2212848" cy="987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1280160"/>
            <a:ext cx="11018520" cy="0"/>
          </a:xfrm>
          <a:prstGeom prst="line">
            <a:avLst/>
          </a:prstGeom>
          <a:noFill/>
          <a:ln w="12700">
            <a:solidFill>
              <a:srgbClr val="D9E4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73968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664208"/>
            <a:ext cx="3529584" cy="38862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3970">
            <a:solidFill>
              <a:srgbClr val="D9E4EC"/>
            </a:solidFill>
            <a:prstDash val="solid"/>
          </a:ln>
          <a:effectLst>
            <a:outerShdw blurRad="12700" dist="50800" dir="2700000" algn="bl" rotWithShape="0">
              <a:srgbClr val="A8BAC7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938528"/>
            <a:ext cx="530352" cy="530352"/>
          </a:xfrm>
          <a:prstGeom prst="ellipse">
            <a:avLst/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208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6517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ขั้นตอนการใช้งาน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3236976"/>
            <a:ext cx="30175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 กรอกข้อมูล แนบหลักฐาน ตรวจสอบ และส่งแบบประเมิน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4325112" y="1664208"/>
            <a:ext cx="3529584" cy="38862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3970">
            <a:solidFill>
              <a:srgbClr val="D9E4EC"/>
            </a:solidFill>
            <a:prstDash val="solid"/>
          </a:ln>
          <a:effectLst>
            <a:outerShdw blurRad="12700" dist="50800" dir="2700000" algn="bl" rotWithShape="0">
              <a:srgbClr val="A8BAC7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81144" y="1938528"/>
            <a:ext cx="530352" cy="530352"/>
          </a:xfrm>
          <a:prstGeom prst="ellipse">
            <a:avLst/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81144" y="20208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81144" y="26517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ความถูกต้อง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81144" y="3236976"/>
            <a:ext cx="30175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ตรวจสอบประเภทภาระงาน เกณฑ์ ข้อมูล และผลการคำนวณว่าครบถ้วนและถูกต้องหรือไม่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8083296" y="1664208"/>
            <a:ext cx="3529584" cy="38862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3970">
            <a:solidFill>
              <a:srgbClr val="D9E4EC"/>
            </a:solidFill>
            <a:prstDash val="solid"/>
          </a:ln>
          <a:effectLst>
            <a:outerShdw blurRad="12700" dist="50800" dir="2700000" algn="bl" rotWithShape="0">
              <a:srgbClr val="A8BAC7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39328" y="1938528"/>
            <a:ext cx="530352" cy="530352"/>
          </a:xfrm>
          <a:prstGeom prst="ellipse">
            <a:avLst/>
          </a:prstGeom>
          <a:solidFill>
            <a:srgbClr val="FAF2D9"/>
          </a:solidFill>
          <a:ln w="12700">
            <a:solidFill>
              <a:srgbClr val="FAF2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39328" y="20208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B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339328" y="26517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ความสะดวก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339328" y="3236976"/>
            <a:ext cx="30175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ค้นหาจุดที่ยังสับสน ซับซ้อน หรือใช้งานไม่สะดวก เพื่อนำไปปรับปรุงก่อนใช้งานจริง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4325112" y="5870448"/>
            <a:ext cx="3529584" cy="384048"/>
          </a:xfrm>
          <a:prstGeom prst="roundRect">
            <a:avLst>
              <a:gd name="adj" fmla="val 19048"/>
            </a:avLst>
          </a:prstGeom>
          <a:solidFill>
            <a:srgbClr val="163A59"/>
          </a:solidFill>
          <a:ln w="12700">
            <a:solidFill>
              <a:srgbClr val="163A5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25112" y="5888736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ข้อเสนอแนะทุกข้อมีคุณค่า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ลำดับการทดสอบ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ทดลองใช้เหมือนสถานการณ์จริง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0352" y="1280160"/>
            <a:ext cx="11018520" cy="0"/>
          </a:xfrm>
          <a:prstGeom prst="line">
            <a:avLst/>
          </a:prstGeom>
          <a:noFill/>
          <a:ln w="12700">
            <a:solidFill>
              <a:srgbClr val="D9E4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73968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11226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3272" y="2139696"/>
            <a:ext cx="640080" cy="640080"/>
          </a:xfrm>
          <a:prstGeom prst="ellipse">
            <a:avLst/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494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เข้าระบบ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ด้วยบัญชีที่ได้รับ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8678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4144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07792" y="2139696"/>
            <a:ext cx="640080" cy="640080"/>
          </a:xfrm>
          <a:prstGeom prst="ellipse">
            <a:avLst/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0779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56946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ตรวจข้อมูล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58775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บุคคลและหลักสูตร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86130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1596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82312" y="2139696"/>
            <a:ext cx="640080" cy="640080"/>
          </a:xfrm>
          <a:prstGeom prst="ellipse">
            <a:avLst/>
          </a:prstGeom>
          <a:solidFill>
            <a:srgbClr val="FAF2D9"/>
          </a:solidFill>
          <a:ln w="12700">
            <a:solidFill>
              <a:srgbClr val="FAF2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8231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9B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44398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กรอกภาระงาน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46227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เลือกประเภทและรายละเอียด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73582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048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56832" y="2139696"/>
            <a:ext cx="640080" cy="640080"/>
          </a:xfrm>
          <a:prstGeom prst="ellipse">
            <a:avLst/>
          </a:prstGeom>
          <a:solidFill>
            <a:srgbClr val="DDF4F1"/>
          </a:solidFill>
          <a:ln w="12700">
            <a:solidFill>
              <a:srgbClr val="DDF4F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5683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31850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แนบหลักฐาน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33679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ทดลองลิงก์/เอกสาร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610344" y="2450592"/>
            <a:ext cx="438912" cy="566928"/>
          </a:xfrm>
          <a:prstGeom prst="chevron">
            <a:avLst/>
          </a:prstGeom>
          <a:solidFill>
            <a:srgbClr val="C6D5DF"/>
          </a:solidFill>
          <a:ln w="12700">
            <a:solidFill>
              <a:srgbClr val="C6D5D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6500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531352" y="2139696"/>
            <a:ext cx="640080" cy="640080"/>
          </a:xfrm>
          <a:prstGeom prst="ellipse">
            <a:avLst/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3135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19302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ตรวจคะแนน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21131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ดูผลคำนวณของระบบ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9939528" y="1874520"/>
            <a:ext cx="1572768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405872" y="2139696"/>
            <a:ext cx="640080" cy="640080"/>
          </a:xfrm>
          <a:prstGeom prst="ellipse">
            <a:avLst/>
          </a:prstGeom>
          <a:solidFill>
            <a:srgbClr val="FAF2D9"/>
          </a:solidFill>
          <a:ln w="12700">
            <a:solidFill>
              <a:srgbClr val="FAF2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405872" y="225856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9B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0067544" y="305409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บันทึก/ส่ง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10085832" y="37856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และแจ้งข้อเสนอแนะ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2176272" y="5230368"/>
            <a:ext cx="7845552" cy="658368"/>
          </a:xfrm>
          <a:prstGeom prst="roundRect">
            <a:avLst>
              <a:gd name="adj" fmla="val 11111"/>
            </a:avLst>
          </a:prstGeom>
          <a:solidFill>
            <a:srgbClr val="163A59"/>
          </a:solidFill>
          <a:ln w="12700">
            <a:solidFill>
              <a:srgbClr val="163A5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331720" y="5422392"/>
            <a:ext cx="753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หากพบปัญหา แจ้งทีมงานได้ทันที — ไม่ต้องรอจนจบการทดสอบ</a:t>
            </a:r>
            <a:endParaRPr lang="en-US" sz="1320" dirty="0"/>
          </a:p>
        </p:txBody>
      </p:sp>
      <p:pic>
        <p:nvPicPr>
          <p:cNvPr id="46" name="Image 0" descr="C:\Users\pisut\Downloads\ดีไซน์ที่ยังไม่ได้ตั้งชื่อ (1).svg">
            <a:extLst>
              <a:ext uri="{FF2B5EF4-FFF2-40B4-BE49-F238E27FC236}">
                <a16:creationId xmlns:a16="http://schemas.microsoft.com/office/drawing/2014/main" id="{18149A27-B8C7-6890-467C-A1745874BD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0032" y="182879"/>
            <a:ext cx="2212848" cy="9875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ระบบสำหรับการทดสอบ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เข้าสู่ระบบประเมินภาระงาน เฟส 2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0352" y="1280160"/>
            <a:ext cx="11018520" cy="0"/>
          </a:xfrm>
          <a:prstGeom prst="line">
            <a:avLst/>
          </a:prstGeom>
          <a:noFill/>
          <a:ln w="12700">
            <a:solidFill>
              <a:srgbClr val="D9E4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73968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960120" y="1828800"/>
            <a:ext cx="10195560" cy="3401568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5240">
            <a:solidFill>
              <a:srgbClr val="D9E4EC"/>
            </a:solidFill>
            <a:prstDash val="solid"/>
          </a:ln>
          <a:effectLst>
            <a:outerShdw blurRad="19050" dist="50800" dir="2700000" algn="bl" rotWithShape="0">
              <a:srgbClr val="A8BAC7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37176" y="2139696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37176" y="21579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 TEST SERVER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965960" y="2761488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เปิดเว็บเบราว์เซอร์ แล้วเข้าสู่</a:t>
            </a:r>
            <a:endParaRPr lang="en-US" sz="1700" dirty="0"/>
          </a:p>
        </p:txBody>
      </p:sp>
      <p:sp>
        <p:nvSpPr>
          <p:cNvPr id="12" name="Text 9">
            <a:hlinkClick r:id="rId3"/>
          </p:cNvPr>
          <p:cNvSpPr/>
          <p:nvPr/>
        </p:nvSpPr>
        <p:spPr>
          <a:xfrm>
            <a:off x="1536192" y="3319272"/>
            <a:ext cx="9116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63A59"/>
                </a:solidFill>
                <a:uFill>
                  <a:solidFill>
                    <a:srgbClr val="163A59"/>
                  </a:solidFill>
                </a:uFill>
                <a:latin typeface="Tahoma" pitchFamily="34" charset="0"/>
                <a:ea typeface="Tahoma" pitchFamily="34" charset="-122"/>
                <a:cs typeface="Tahom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http://149.28.142.186/login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063240" y="4224528"/>
            <a:ext cx="6080760" cy="594360"/>
          </a:xfrm>
          <a:prstGeom prst="roundRect">
            <a:avLst>
              <a:gd name="adj" fmla="val 12308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46120" y="440740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ระบบกำลังทำงานบนเซิร์ฟเวอร์ของบริษัท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886200" y="56509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คลิกที่ URL บนสไลด์ได้โดยตรง</a:t>
            </a:r>
            <a:endParaRPr lang="en-US" sz="1150" dirty="0"/>
          </a:p>
        </p:txBody>
      </p:sp>
      <p:pic>
        <p:nvPicPr>
          <p:cNvPr id="17" name="Image 0" descr="C:\Users\pisut\Downloads\ดีไซน์ที่ยังไม่ได้ตั้งชื่อ (1).svg">
            <a:extLst>
              <a:ext uri="{FF2B5EF4-FFF2-40B4-BE49-F238E27FC236}">
                <a16:creationId xmlns:a16="http://schemas.microsoft.com/office/drawing/2014/main" id="{9B5E3A36-B6B1-4638-9938-107504D835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0032" y="182879"/>
            <a:ext cx="2212848" cy="987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C7B"/>
          </a:solidFill>
          <a:ln w="12700">
            <a:solidFill>
              <a:srgbClr val="0F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ระหว่างทดสอบ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พบอะไร บอกเราได้เลย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0352" y="1280160"/>
            <a:ext cx="11018520" cy="0"/>
          </a:xfrm>
          <a:prstGeom prst="line">
            <a:avLst/>
          </a:prstGeom>
          <a:noFill/>
          <a:ln w="12700">
            <a:solidFill>
              <a:srgbClr val="D9E4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73968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5216" y="1627632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80744" y="17830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เข้าระบบไม่ได้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80744" y="21854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 รหัสผ่าน หรือสิทธิ์การใช้งาน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08776" y="1627632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1801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04304" y="17830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ข้อความไม่ชัดเจน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04304" y="21854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คำเรียก เมนู ปุ่ม หรือคำอธิบาย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5216" y="2980944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3154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80744" y="31363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ไม่พบภาระงาน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80744" y="3538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ประเภทหรือรายการที่หลักสูตรใช้จริง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08776" y="2980944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9944" y="3154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04304" y="31363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คะแนนไม่ถูกต้อง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04304" y="3538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 สูตร หรือผลการคำนวณ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85216" y="4334256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" y="4507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C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380744" y="4489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ใช้งานไม่สะดวก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380744" y="4892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ขั้นตอนมากเกินไป ช้า หรือทำให้สับสน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08776" y="4334256"/>
            <a:ext cx="5376672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9944" y="4507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004304" y="4489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มีข้อเสนอเพิ่มเติม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004304" y="4892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58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สิ่งที่ควรมี ควรตัด หรือควรปรับ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331720" y="5705856"/>
            <a:ext cx="7543800" cy="585216"/>
          </a:xfrm>
          <a:prstGeom prst="roundRect">
            <a:avLst>
              <a:gd name="adj" fmla="val 12500"/>
            </a:avLst>
          </a:prstGeom>
          <a:solidFill>
            <a:srgbClr val="FAF2D9"/>
          </a:solidFill>
          <a:ln w="12700">
            <a:solidFill>
              <a:srgbClr val="FAF2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14600" y="5870448"/>
            <a:ext cx="7178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9651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วันนี้เราทดสอบ “ระบบ” — ไม่ได้ทดสอบความสามารถของผู้ใช้</a:t>
            </a:r>
            <a:endParaRPr lang="en-US" sz="1300" dirty="0"/>
          </a:p>
        </p:txBody>
      </p:sp>
      <p:pic>
        <p:nvPicPr>
          <p:cNvPr id="35" name="Image 0" descr="C:\Users\pisut\Downloads\ดีไซน์ที่ยังไม่ได้ตั้งชื่อ (1).svg">
            <a:extLst>
              <a:ext uri="{FF2B5EF4-FFF2-40B4-BE49-F238E27FC236}">
                <a16:creationId xmlns:a16="http://schemas.microsoft.com/office/drawing/2014/main" id="{894B0C84-F606-2B55-8805-EC83BF64C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0032" y="182879"/>
            <a:ext cx="2212848" cy="987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217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สรุปและรับฟัง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4709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ขอฟังเสียงจาก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ทุกหลักสูตร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76656" y="2816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FD2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สิ่งที่ควรรักษา • สิ่งที่ควรแก้ • สิ่งที่ยังขาด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658368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83E5D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8961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D5C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21424" y="8595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ขั้นตอนใดยังไม่ชัดเจน?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23651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665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A38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21424" y="20299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รายการภาระงานครบหรือไม่?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80760" y="2999232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83E5D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23697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D5C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21424" y="32004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เกณฑ์และคะแนนถูกต้องหรือไม่?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0760" y="4169664"/>
            <a:ext cx="5349240" cy="896112"/>
          </a:xfrm>
          <a:prstGeom prst="roundRect">
            <a:avLst>
              <a:gd name="adj" fmla="val 6122"/>
            </a:avLst>
          </a:prstGeom>
          <a:solidFill>
            <a:srgbClr val="123651"/>
          </a:solidFill>
          <a:ln w="12700">
            <a:solidFill>
              <a:srgbClr val="3153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4074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A38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21424" y="4370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อะไรควรปรับก่อนเปิดใช้จริง?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6656" y="4919472"/>
            <a:ext cx="4800600" cy="0"/>
          </a:xfrm>
          <a:prstGeom prst="line">
            <a:avLst/>
          </a:prstGeom>
          <a:noFill/>
          <a:ln w="15240">
            <a:solidFill>
              <a:srgbClr val="4261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52303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ขอขอบพระคุณสำหรับความร่วมมือ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และทุกข้อเสนอแนะ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485632" y="5404104"/>
            <a:ext cx="3054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0" descr="C:\Users\pisut\Downloads\ดีไซน์ที่ยังไม่ได้ตั้งชื่อ (1).svg">
            <a:extLst>
              <a:ext uri="{FF2B5EF4-FFF2-40B4-BE49-F238E27FC236}">
                <a16:creationId xmlns:a16="http://schemas.microsoft.com/office/drawing/2014/main" id="{C699477C-50C4-62D4-E5C7-E08485984A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2075" y="5477256"/>
            <a:ext cx="2212848" cy="9875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1049</Words>
  <Application>Microsoft Office PowerPoint</Application>
  <PresentationFormat>แบบจอกว้าง</PresentationFormat>
  <Paragraphs>99</Paragraphs>
  <Slides>6</Slides>
  <Notes>6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6</vt:i4>
      </vt:variant>
    </vt:vector>
  </HeadingPairs>
  <TitlesOfParts>
    <vt:vector size="9" baseType="lpstr">
      <vt:lpstr>Arial</vt:lpstr>
      <vt:lpstr>Tahoma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Faculty of Public Health, Mahasarakham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การทดสอบระบบประเมินภาระงาน เฟส 2</dc:title>
  <dc:subject>การทดสอบระบบประเมินภาระงาน เฟส 2</dc:subject>
  <dc:creator>MSU EVA Phase 2</dc:creator>
  <cp:lastModifiedBy>pisut palapol</cp:lastModifiedBy>
  <cp:revision>5</cp:revision>
  <dcterms:created xsi:type="dcterms:W3CDTF">2026-07-22T03:03:41Z</dcterms:created>
  <dcterms:modified xsi:type="dcterms:W3CDTF">2026-07-22T09:31:02Z</dcterms:modified>
</cp:coreProperties>
</file>