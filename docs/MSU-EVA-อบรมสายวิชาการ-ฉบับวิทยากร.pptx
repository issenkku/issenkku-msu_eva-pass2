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1950e2671e4ff5" /><Relationship Type="http://schemas.openxmlformats.org/officeDocument/2006/relationships/extended-properties" Target="/docProps/app.xml" Id="Ree6aa6d4e9bb4299" /><Relationship Type="http://schemas.openxmlformats.org/officeDocument/2006/relationships/officeDocument" Target="/ppt/presentation.xml" Id="R93c8dcb77375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4dd7a3d2bd4015"/>
  </p:sldMasterIdLst>
  <p:notesMasterIdLst>
    <p:notesMasterId xmlns:r="http://schemas.openxmlformats.org/officeDocument/2006/relationships" r:id="R7bcb9afdc453447d"/>
  </p:notesMasterIdLst>
  <p:sldIdLst>
    <p:sldId xmlns:r="http://schemas.openxmlformats.org/officeDocument/2006/relationships" id="256" r:id="Rbf8a4b6783c84261"/>
    <p:sldId xmlns:r="http://schemas.openxmlformats.org/officeDocument/2006/relationships" id="257" r:id="Rf73d81e262064f8e"/>
    <p:sldId xmlns:r="http://schemas.openxmlformats.org/officeDocument/2006/relationships" id="258" r:id="R303694ab41c84459"/>
    <p:sldId xmlns:r="http://schemas.openxmlformats.org/officeDocument/2006/relationships" id="259" r:id="Rd92a90c5e2de4267"/>
    <p:sldId xmlns:r="http://schemas.openxmlformats.org/officeDocument/2006/relationships" id="260" r:id="Re5176bdd7fa347fb"/>
    <p:sldId xmlns:r="http://schemas.openxmlformats.org/officeDocument/2006/relationships" id="261" r:id="R4506b4199c2a4474"/>
    <p:sldId xmlns:r="http://schemas.openxmlformats.org/officeDocument/2006/relationships" id="262" r:id="R4687cf1652ad47df"/>
    <p:sldId xmlns:r="http://schemas.openxmlformats.org/officeDocument/2006/relationships" id="263" r:id="Rbe7eb0a32b5b4261"/>
    <p:sldId xmlns:r="http://schemas.openxmlformats.org/officeDocument/2006/relationships" id="264" r:id="R2780dd051ef145db"/>
    <p:sldId xmlns:r="http://schemas.openxmlformats.org/officeDocument/2006/relationships" id="265" r:id="R7106b3931c3c4a9c"/>
    <p:sldId xmlns:r="http://schemas.openxmlformats.org/officeDocument/2006/relationships" id="266" r:id="R977811ca77a740b0"/>
    <p:sldId xmlns:r="http://schemas.openxmlformats.org/officeDocument/2006/relationships" id="267" r:id="R28a051924e554605"/>
    <p:sldId xmlns:r="http://schemas.openxmlformats.org/officeDocument/2006/relationships" id="268" r:id="Re9b290df11bb432c"/>
    <p:sldId xmlns:r="http://schemas.openxmlformats.org/officeDocument/2006/relationships" id="269" r:id="R1e4d6f943023441c"/>
    <p:sldId xmlns:r="http://schemas.openxmlformats.org/officeDocument/2006/relationships" id="270" r:id="Rd93b4f8e3be44554"/>
    <p:sldId xmlns:r="http://schemas.openxmlformats.org/officeDocument/2006/relationships" id="271" r:id="Refe3324e62244eb5"/>
    <p:sldId xmlns:r="http://schemas.openxmlformats.org/officeDocument/2006/relationships" id="272" r:id="R4e5c1c729e6344e2"/>
    <p:sldId xmlns:r="http://schemas.openxmlformats.org/officeDocument/2006/relationships" id="273" r:id="R27a5630c0e9f40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12023c243c4ade" /><Relationship Type="http://schemas.openxmlformats.org/officeDocument/2006/relationships/slideMaster" Target="/ppt/slideMasters/slideMaster1.xml" Id="R894dd7a3d2bd4015" /><Relationship Type="http://schemas.openxmlformats.org/officeDocument/2006/relationships/notesMaster" Target="/ppt/notesMasters/notesMaster1.xml" Id="R7bcb9afdc453447d" /><Relationship Type="http://schemas.openxmlformats.org/officeDocument/2006/relationships/presProps" Target="/ppt/presProps.xml" Id="R347b704a1ae54866" /><Relationship Type="http://schemas.openxmlformats.org/officeDocument/2006/relationships/tableStyles" Target="/ppt/tableStyles.xml" Id="Ree1452c05c5b4ca8" /><Relationship Type="http://schemas.openxmlformats.org/officeDocument/2006/relationships/slide" Target="/ppt/slides/slide1.xml" Id="Rbf8a4b6783c84261" /><Relationship Type="http://schemas.openxmlformats.org/officeDocument/2006/relationships/slide" Target="/ppt/slides/slide2.xml" Id="Rf73d81e262064f8e" /><Relationship Type="http://schemas.openxmlformats.org/officeDocument/2006/relationships/slide" Target="/ppt/slides/slide3.xml" Id="R303694ab41c84459" /><Relationship Type="http://schemas.openxmlformats.org/officeDocument/2006/relationships/slide" Target="/ppt/slides/slide4.xml" Id="Rd92a90c5e2de4267" /><Relationship Type="http://schemas.openxmlformats.org/officeDocument/2006/relationships/slide" Target="/ppt/slides/slide5.xml" Id="Re5176bdd7fa347fb" /><Relationship Type="http://schemas.openxmlformats.org/officeDocument/2006/relationships/slide" Target="/ppt/slides/slide6.xml" Id="R4506b4199c2a4474" /><Relationship Type="http://schemas.openxmlformats.org/officeDocument/2006/relationships/slide" Target="/ppt/slides/slide7.xml" Id="R4687cf1652ad47df" /><Relationship Type="http://schemas.openxmlformats.org/officeDocument/2006/relationships/slide" Target="/ppt/slides/slide8.xml" Id="Rbe7eb0a32b5b4261" /><Relationship Type="http://schemas.openxmlformats.org/officeDocument/2006/relationships/slide" Target="/ppt/slides/slide9.xml" Id="R2780dd051ef145db" /><Relationship Type="http://schemas.openxmlformats.org/officeDocument/2006/relationships/slide" Target="/ppt/slides/slide10.xml" Id="R7106b3931c3c4a9c" /><Relationship Type="http://schemas.openxmlformats.org/officeDocument/2006/relationships/slide" Target="/ppt/slides/slide11.xml" Id="R977811ca77a740b0" /><Relationship Type="http://schemas.openxmlformats.org/officeDocument/2006/relationships/slide" Target="/ppt/slides/slide12.xml" Id="R28a051924e554605" /><Relationship Type="http://schemas.openxmlformats.org/officeDocument/2006/relationships/slide" Target="/ppt/slides/slide13.xml" Id="Re9b290df11bb432c" /><Relationship Type="http://schemas.openxmlformats.org/officeDocument/2006/relationships/slide" Target="/ppt/slides/slide14.xml" Id="R1e4d6f943023441c" /><Relationship Type="http://schemas.openxmlformats.org/officeDocument/2006/relationships/slide" Target="/ppt/slides/slide15.xml" Id="Rd93b4f8e3be44554" /><Relationship Type="http://schemas.openxmlformats.org/officeDocument/2006/relationships/slide" Target="/ppt/slides/slide16.xml" Id="Refe3324e62244eb5" /><Relationship Type="http://schemas.openxmlformats.org/officeDocument/2006/relationships/slide" Target="/ppt/slides/slide17.xml" Id="R4e5c1c729e6344e2" /><Relationship Type="http://schemas.openxmlformats.org/officeDocument/2006/relationships/slide" Target="/ppt/slides/slide18.xml" Id="R27a5630c0e9f40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bf022c5242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973f54391446c3" /><Relationship Type="http://schemas.openxmlformats.org/officeDocument/2006/relationships/notesMaster" Target="/ppt/notesMasters/notesMaster1.xml" Id="Rc6a5cf59dd5c4e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bc95e1b6484f61" /><Relationship Type="http://schemas.openxmlformats.org/officeDocument/2006/relationships/notesMaster" Target="/ppt/notesMasters/notesMaster1.xml" Id="R0981e16f9ef6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fc9410e6034e04" /><Relationship Type="http://schemas.openxmlformats.org/officeDocument/2006/relationships/notesMaster" Target="/ppt/notesMasters/notesMaster1.xml" Id="Rc6b4618f0dc444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2f78057c344e47" /><Relationship Type="http://schemas.openxmlformats.org/officeDocument/2006/relationships/notesMaster" Target="/ppt/notesMasters/notesMaster1.xml" Id="Reeb7f9ef0b8046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4b5f550d21460a" /><Relationship Type="http://schemas.openxmlformats.org/officeDocument/2006/relationships/notesMaster" Target="/ppt/notesMasters/notesMaster1.xml" Id="R12776a96bce4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63acfa656a43cb" /><Relationship Type="http://schemas.openxmlformats.org/officeDocument/2006/relationships/notesMaster" Target="/ppt/notesMasters/notesMaster1.xml" Id="R25edb462791046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1f8526e3a406e" /><Relationship Type="http://schemas.openxmlformats.org/officeDocument/2006/relationships/notesMaster" Target="/ppt/notesMasters/notesMaster1.xml" Id="Rfc222ec5101541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49b810a15a4764" /><Relationship Type="http://schemas.openxmlformats.org/officeDocument/2006/relationships/notesMaster" Target="/ppt/notesMasters/notesMaster1.xml" Id="Reb898265b3d14a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30071c2f4b4276" /><Relationship Type="http://schemas.openxmlformats.org/officeDocument/2006/relationships/notesMaster" Target="/ppt/notesMasters/notesMaster1.xml" Id="R2dc3d2dec54441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312636212e425d" /><Relationship Type="http://schemas.openxmlformats.org/officeDocument/2006/relationships/notesMaster" Target="/ppt/notesMasters/notesMaster1.xml" Id="Rc526436f2f4746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d27619f54d41ce" /><Relationship Type="http://schemas.openxmlformats.org/officeDocument/2006/relationships/notesMaster" Target="/ppt/notesMasters/notesMaster1.xml" Id="Rd538099e0a184e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dfe419762340b4" /><Relationship Type="http://schemas.openxmlformats.org/officeDocument/2006/relationships/notesMaster" Target="/ppt/notesMasters/notesMaster1.xml" Id="R477780500e9a4b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03813038624902" /><Relationship Type="http://schemas.openxmlformats.org/officeDocument/2006/relationships/notesMaster" Target="/ppt/notesMasters/notesMaster1.xml" Id="Rf51ba6b00e1840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f7f99996b74e0a" /><Relationship Type="http://schemas.openxmlformats.org/officeDocument/2006/relationships/notesMaster" Target="/ppt/notesMasters/notesMaster1.xml" Id="R6c17dce0172744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4f34492cc64a92" /><Relationship Type="http://schemas.openxmlformats.org/officeDocument/2006/relationships/notesMaster" Target="/ppt/notesMasters/notesMaster1.xml" Id="R5b09ce6ecd1d4b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7870824c5b4e14" /><Relationship Type="http://schemas.openxmlformats.org/officeDocument/2006/relationships/notesMaster" Target="/ppt/notesMasters/notesMaster1.xml" Id="R851453f9b5594c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9767bbd4044b55" /><Relationship Type="http://schemas.openxmlformats.org/officeDocument/2006/relationships/notesMaster" Target="/ppt/notesMasters/notesMaster1.xml" Id="R1be4e5ace90b4f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2d3c9bb8e2430b" /><Relationship Type="http://schemas.openxmlformats.org/officeDocument/2006/relationships/notesMaster" Target="/ppt/notesMasters/notesMaster1.xml" Id="R21bc5c969da544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สวัสดีทุกท่านครับ ขอต้อนรับเข้าสู่การอบรมการใช้งานระบบประเมินผลการปฏิบัติงานบุคลากร หรือ MSU EVA สำหรับบุคลากรสายวิชาการนะครับ วันนี้ในห้องนี้มีทั้งท่านที่เคยช่วยทดสอบระบบมาแล้ว ท่านที่เพิ่งเข้ามาใช้งานครั้งแรก รวมถึงผู้ประเมิน กรรมการ และผู้บริหาร ไม่เป็นไรครับ เดี๋ยวเราจะค่อย ๆ ไปด้วยกัน ช่วงแรกผมจะพาทำความรู้จักระบบและบทบาทต่าง ๆ ก่อน หลังจากนั้นผมจะสาธิตหนึ่งรอบ แล้วทุกท่านจะได้ลองใช้บัญชีที่เตรียมไว้ครับ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public/favicon-msu.png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- public/images/workload-background.jpg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ก่อนเริ่ม ขอชวนทุกท่านตั้งเป้าหมายร่วมกันนิดหนึ่งครับ วันนี้เราไม่จำเป็นต้องจำทุกปุ่ม สิ่งที่อยากให้ทำได้คือเปิดงานหนึ่งรายการ ตรวจข้อมูล กรอกผลงาน แนบหลักฐาน ถ้าข้อมูลยังไม่ครบ ให้บันทึกร่างไว้ก่อน เมื่อข้อมูลและหลักฐานครบแล้วจึงส่งแบบประเมินครับ รอบประเมินเป็นสิ่งที่ผู้ดูแลระบบกำหนดไว้ให้แล้วนะครับ เรามีหน้าที่ตรวจว่ารอบและงานที่ได้รับมอบหมายถูกต้อง เมื่อเห็นเป้าหมายตรงกันแล้ว ต่อไปเรามาดูว่าระบบนี้ช่วยงานส่วนใดบ้างครับ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ใช่ครับ หลายท่านอาจคุ้นกับระบบจากหน้ากรอกแบบประเมิน แต่ระบบครอบคลุมขั้นตอนอื่นด้วยครับ Admin จะจัดการผู้ใช้ สิทธิ์ เกณฑ์ รอบประเมิน และการมอบหมายงาน ส่วนผู้ใช้งานจะทำงานตามรายการและสิทธิ์ที่ได้รับ ตั้งแต่การกรอกข้อมูล การประเมิน การติดตามสถานะ จนถึงการออกรายงาน ดังนั้นผู้ใช้งานทั่วไปไม่ต้องสร้างหรือเลือกรอบประเมินเองครับ เพียงตรวจว่ารอบและรายการที่ได้รับถูกต้อง แล้วทำหน้าที่ของตนเอง ต่อไปเรามาดูกันว่าในระบบมีผู้ใช้งานกลุ่มใดบ้างครับ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database/seeders/RoleSeeder.php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ระบบมีผู้ใช้งานหลักห้าบทบาทครับ ได้แก่ Admin ผู้รับการประเมิน ผู้ประเมิน กรรมการ และผู้บริหาร แต่ละคนจะเห็นเมนูและปุ่มไม่เหมือนกัน ตรงนี้ขอเน้นนิดหนึ่งครับ Admin เป็นผู้กำหนดผู้ใช้ เกณฑ์ รอบประเมิน การมอบหมาย และลำดับผู้ประเมิน ส่วนผู้ประเมิน กรรมการ และผู้บริหารจะเป็นขั้นตรวจตามที่ Admin จัดไว้ บางงานอาจไม่ได้ใช้ครบทุกบทบาท และงานจะเสร็จสมบูรณ์เมื่อผู้ประเมินลำดับสุดท้ายกดยืนยันผลครับ เมื่อรู้จักคนในระบบแล้ว ต่อไปมาดูเส้นทางของงานกันครับ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database/seeders/RoleSeeder.php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ทีนี้ลองมองภาพรวมจากซ้ายไปขวานะครับ งานเริ่มจากผู้รับการประเมินเปิดรายการและกรอกข้อมูล เมื่อข้อมูลพร้อมจึงกดส่งแบบประเมิน จากนั้นระบบจะส่งงานไปยังผู้ประเมินทีละคนตามลำดับที่กำหนดไว้ ไม่ได้ส่งให้ทุกคนพร้อมกันครับ เมื่อผู้ประเมินคนสุดท้ายยืนยัน สถานะจึงเปลี่ยนเป็นประเมินเสร็จสิ้น หรือ Completed จำภาพนี้ไว้ก่อนนะครับ เพราะอีกสักครู่ทุกปุ่มที่เราดูจะสัมพันธ์กับเส้นทางนี้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ในขั้นแรก ผู้รับการประเมินต้องกรอกข้อมูลและแนบหลักฐานให้ครบครับ ถ้ายังไม่ครบ ให้บันทึกร่างไว้ก่อน ยังไม่ต้องส่งแบบประเมิน ผู้ประเมินจะใช้ข้อมูลและหลักฐานนี้ในการประเมิน ดังนั้นควรตรวจให้ชัดเจนและเปิดหลักฐานได้ก่อนส่งครับ ต่อไปเรามาดูจุดเริ่มต้นบนแดชบอร์ดครับ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ต่อไปขอพาทุกท่านมาที่แดชบอร์ดของฉันครับ ก่อนเปิดงานให้ตรวจสามอย่าง คือรอบประเมินที่ผู้ดูแลระบบกำหนด รายการที่ได้รับมอบหมาย และสถานะปัจจุบัน ผู้ใช้งานไม่ต้องเลือกรอบเองนะครับ ถ้ารอบหรือรายการไม่ถูกต้องให้แจ้งผู้ดูแลระบบก่อน บนแดชบอร์ดให้สังเกตตำแหน่งชื่อรอบ ชื่อรายการ และปุ่มเปิดงานครับ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เมื่อเปิดรายการแล้ว ให้ตรวจว่าข้อมูล 4 ส่วนสอดคล้องกันครับ หนึ่ง รายวิชาบอกว่างานนี้อยู่ในบริบทใด สอง ภาระงานบอกว่าทำอะไรและมีปริมาณเท่าไร สาม ผลงานบอกผลที่เกิดขึ้น และสี่ หลักฐานใช้ยืนยันข้อมูลที่กรอก หากข้อมูลส่วนใดไม่ตรงกัน ผู้ประเมินอาจต้องขอข้อมูลเพิ่มครับ ดังนั้นให้เลือกเกณฑ์ที่ตรงกับงานจริงก่อน แล้วจึงกรอกข้อมูลเชิงปริมาณครับ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resources/views/criteria_config/partials/create-quantity-template.blade.php</a:t>
            </a:r>
          </a:p>
          <a:p xmlns:a="http://schemas.openxmlformats.org/drawingml/2006/main">
            <a:r>
              <a:t>- resources/views/criteria_config/partials/create-quality-template.blade.php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สำหรับข้อมูลเชิงปริมาณ ให้ไล่ดูทีละช่องนะครับ เริ่มจากค่าน้ำหนัก ภาระงานมาตรฐาน แล้วจึงกรอกภาระงานที่ทำได้ ระบบจะคำนวณคะแนนให้ ตรงนี้อย่าดูเฉพาะตัวเลขสุดท้ายครับ ให้ตรวจหน่วย ช่วงค่า และทศนิยมด้วย ถ้าคะแนนดูแปลก ให้ย้อนกลับไปดูค่าที่กรอกก่อนเป็นอันดับแรก วิธีนี้ช่วยให้เราอธิบายที่มาของคะแนนได้ชัดเจน แล้วต่อไปเราจะดูข้อมูลอีกแบบหนึ่ง คือผลงานเชิงคุณภาพครับ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resources/views/criteria_config/partials/create-quantity-template.blade.php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ข้อมูลเชิงคุณภาพไม่จำเป็นต้องเขียนยาวครับ แต่ควรตอบให้ครบ 3 เรื่อง คือ ทำอะไร เกิดผลอย่างไร และใช้หลักฐานใดตรวจสอบ ผู้ประเมินควรอ่านครั้งเดียวแล้วเข้าใจงานได้ หลีกเลี่ยงข้อความกว้าง ๆ ที่ไม่บอกบทบาทหรือผลลัพธ์ เมื่อข้อความตรงกับเกณฑ์และหลักฐาน ข้อมูลก็พร้อมให้ผู้ประเมินตรวจครับ ต่อไปเรามาดูวิธีตรวจหลักฐานกันครับ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resources/views/criteria_config/partials/create-quality-template.blade.php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หลักฐานที่แนบต้องตรวจได้จริงครับ ให้ตรวจ 3 เรื่อง คือ ลิงก์เปิดได้ หลักฐานตรงกับรายการ และเมื่อเปิดลิงก์แล้วรู้ว่าเป็นหลักฐานของรายการใด ควรทดลองเปิดลิงก์ในหน้าต่างที่ไม่ได้ใช้บัญชีเจ้าของเอกสาร เพื่อให้เห็นเหมือนที่ผู้ประเมินเห็นครับ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resources/views/criteria_config/partials/create-quality-template.blade.php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เมื่อกรอกข้อมูลแล้ว เราจะเจอสองทางเลือกครับ ถ้ายังมีส่วนที่ต้องกลับมาแก้ ให้เลือกบันทึกร่าง งานจะยังไม่ถูกส่งต่อ แต่ถ้าข้อมูลบังคับและหลักฐานครบแล้ว จึงเลือกส่งแบบประเมิน เพราะหลังส่ง งานจะเข้าสู่ลำดับผู้ประเมินและเราอาจแก้ไขไม่ได้ในช่วงนั้น ก่อนกดยืนยัน ลองถามตัวเองสั้น ๆ ครับว่า ผู้ประเมินเห็นข้อมูลครบและเข้าใจที่มาของคะแนนแล้วหรือยัง วันนี้ตอนทดลอง ทุกท่านหยุดที่บันทึกร่างก่อนนะครับ แล้วเรามาดูกันต่อว่าเมื่อส่งจริง งานจะไปไหน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ใช่ครับ หลังจากกดส่ง งานไม่ได้หายไปและไม่ได้ไปถึงทุกคนพร้อมกัน ระบบจะส่งให้ผู้ประเมินตามลำดับที่ Admin กำหนดไว้ ผู้ประเมินคนปัจจุบันจะเห็นงานและดำเนินการได้ ส่วนคนถัดไปต้องรอการส่งต่อก่อน จำนวนผู้ประเมินอาจต่างกันในแต่ละงานนะครับ เพราะฉะนั้นเวลาอยากรู้ว่างานอยู่ที่ใคร ให้ดูสถานะและลำดับของรายการนั้นเป็นหลัก ต่อไปเรามาดูมุมของผู้ประเมินครับ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ตอนนี้เรามาดูฝั่งผู้ประเมินครับ เมื่อได้รับงาน ให้ตรวจ 3 เรื่องตามลำดับ คือ ข้อมูลตรงกับเกณฑ์หรือไม่ คะแนนถูกต้องหรือไม่ และหลักฐานเปิดได้และตรงกับข้อมูลหรือไม่ หากข้อมูลยังไม่ครบ ยังไม่ต้องบันทึกผล ให้แจ้งผู้เกี่ยวข้องตามขั้นตอนที่หน่วยงานกำหนดครับ บนหน้าจอให้สังเกตด้วยว่า ส่วนใดเป็นข้อมูลที่ผู้รับการประเมินกรอก และส่วนใดเป็นผลที่ผู้ประเมินต้องบันทึกครับ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เมื่อผู้ประเมินคนหนึ่งตรวจเสร็จ งานยังไม่ถือว่าปิดนะครับ ต้องส่งต่อไปยังคนถัดไปตามลำดับ ผู้ประเมินคนถัดไปจึงจะรับงานและเห็นข้อมูลที่เกี่ยวข้อง ตรงนี้สำคัญครับ เพราะแต่ละงานอาจมีจำนวนขั้นไม่เท่ากัน เมื่อส่งต่องาน สถานะและผู้รับผิดชอบจะเปลี่ยนไปตามลำดับที่กำหนดครับ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ทีนี้มาถึงขั้นสุดท้ายครับ เมื่อผู้ประเมินคนสุดท้ายยืนยัน ระบบจึงเปลี่ยนสถานะเป็นประเมินเสร็จสิ้น หรือ Completed คำว่า “คนสุดท้าย” ให้ดูจากลำดับของงานจริงนะครับ ไม่ได้หมายความว่าต้องเป็นผู้บริหารเสมอไป จากภาพรวมนี้ งานจะปิดเมื่อผู้ประเมินลำดับสุดท้ายยืนยันผลครับ</a:t>
            </a:r>
          </a:p>
          <a:p xmlns:a="http://schemas.openxmlformats.org/drawingml/2006/main">
            <a:r>
              <a:t>[เริ่มสาธิตระบบ] ต่อไปผมจะสาธิตขั้นตอนทั้งหมดบนระบบให้ดู ตั้งแต่เริ่มต้นจนงานเสร็จครับ ทุกท่านยังไม่ต้องกดตาม ให้สังเกตลำดับการทำงานก่อน</a:t>
            </a:r>
          </a:p>
          <a:p xmlns:a="http://schemas.openxmlformats.org/drawingml/2006/main">
            <a:r>
              <a:t>[สาธิตต่อเนื่อง]</a:t>
            </a:r>
          </a:p>
          <a:p xmlns:a="http://schemas.openxmlformats.org/drawingml/2006/main">
            <a:r>
              <a:t>1. เปิดแดชบอร์ดและรายการที่ได้รับมอบหมาย</a:t>
            </a:r>
          </a:p>
          <a:p xmlns:a="http://schemas.openxmlformats.org/drawingml/2006/main">
            <a:r>
              <a:t>2. กรอกภาระงานและผลงาน</a:t>
            </a:r>
          </a:p>
          <a:p xmlns:a="http://schemas.openxmlformats.org/drawingml/2006/main">
            <a:r>
              <a:t>3. ตรวจคะแนนที่ระบบคำนวณ</a:t>
            </a:r>
          </a:p>
          <a:p xmlns:a="http://schemas.openxmlformats.org/drawingml/2006/main">
            <a:r>
              <a:t>4. แนบและเปิดหลักฐาน</a:t>
            </a:r>
          </a:p>
          <a:p xmlns:a="http://schemas.openxmlformats.org/drawingml/2006/main">
            <a:r>
              <a:t>5. บันทึกร่าง</a:t>
            </a:r>
          </a:p>
          <a:p xmlns:a="http://schemas.openxmlformats.org/drawingml/2006/main">
            <a:r>
              <a:t>6. ตรวจความพร้อมและส่งแบบประเมิน</a:t>
            </a:r>
          </a:p>
          <a:p xmlns:a="http://schemas.openxmlformats.org/drawingml/2006/main">
            <a:r>
              <a:t>7. เปิดมุมผู้ประเมิน</a:t>
            </a:r>
          </a:p>
          <a:p xmlns:a="http://schemas.openxmlformats.org/drawingml/2006/main">
            <a:r>
              <a:t>8. ตรวจข้อมูล ให้ผล และส่งต่อ</a:t>
            </a:r>
          </a:p>
          <a:p xmlns:a="http://schemas.openxmlformats.org/drawingml/2006/main">
            <a:r>
              <a:t>9. เปิดบัญชีผู้ประเมินลำดับสุดท้าย</a:t>
            </a:r>
          </a:p>
          <a:p xmlns:a="http://schemas.openxmlformats.org/drawingml/2006/main">
            <a:r>
              <a:t>10. ยืนยันผลจนสถานะเป็น ประเมินเสร็จสิ้น (Completed)</a:t>
            </a:r>
          </a:p>
          <a:p xmlns:a="http://schemas.openxmlformats.org/drawingml/2006/main">
            <a:r>
              <a:t>[กลับมานำเสนอ] เมื่อเห็นขั้นตอนทั้งหมดแล้ว ต่อไปทุกท่านจะได้ทดลองทำด้วยบัญชีที่เตรียมไว้ครับ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เมื่อเห็นภาพครบแล้ว ต่อไปเป็นเวลาของทุกท่านครับ ลิงก์ที่แสดงบนหน้าจอใช้สำหรับทดสอบระบบ ให้เปิด http://149.28.142.186/login แล้วเข้าสู่ระบบด้วยบัญชีที่เตรียมไว้ ลิงก์นี้ใช้สำหรับทดสอบระบบ เมื่อทุกท่านตรวจสอบแล้วและไม่มีประเด็นที่ต้องปรับแก้เพิ่มเติม ทีมงานจะนำระบบไปติดตั้งบนเซิร์ฟเวอร์ของคณะทันทีครับ สำหรับการทดลอง ให้เลือกรายการ กรอกข้อมูล ตรวจคะแนน แนบหลักฐาน แล้วบันทึกร่างครับ ผู้ที่เคยทดสอบแล้วให้ช่วยตรวจความครบถ้วน ส่วนผู้ที่เพิ่งเริ่มให้ทำทีละข้อ ไม่ต้องรีบ หากติดขัดให้ยกมือเรียกผมหรือทีมงานได้เลย ยังไม่ต้องกดส่งแบบประเมินนะครับ เราจะตรวจความพร้อมร่วมกันก่อน</a:t>
            </a:r>
          </a:p>
          <a:p xmlns:a="http://schemas.openxmlformats.org/drawingml/2006/main">
            <a:r>
              <a:t>[เริ่มทดลองใช้งาน — 30 นาที]</a:t>
            </a:r>
          </a:p>
          <a:p xmlns:a="http://schemas.openxmlformats.org/drawingml/2006/main">
            <a:r>
              <a:t>[ให้ผู้เข้าอบรมหยุดที่บันทึกร่าง]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[พูด] ก่อนจบช่วงนี้ ถ้าใครติดขัดให้ลองตรวจสี่จุดก่อนครับ หนึ่ง รอบและรายการที่ได้รับมอบหมาย สอง สิทธิ์ของบัญชี สาม สถานะปัจจุบันของงาน และสี่ ข้อมูลบังคับหรือหลักฐาน ถ้าคะแนนผิดปกติ ให้ย้อนดูค่าที่กรอกกับหน่วยก่อน หากยังแก้ไม่ได้ ให้จดชื่อรายการ สถานะ และข้อความที่พบ จะช่วยให้ผู้ดูแลระบบตรวจได้เร็วขึ้นครับ</a:t>
            </a:r>
          </a:p>
          <a:p xmlns:a="http://schemas.openxmlformats.org/drawingml/2006/main">
            <a:r>
              <a:t>[ถามผู้เข้าอบรม] ตอนนี้มีใครติดที่การเปิดงาน การกรอกข้อมูล การคำนวณคะแนน หรือการแนบหลักฐานไหมครับ</a:t>
            </a:r>
          </a:p>
          <a:p xmlns:a="http://schemas.openxmlformats.org/drawingml/2006/main">
            <a:r>
              <a:t>[พูด] หากท่านใดมีคำถามหรือข้อเสนอแนะเพิ่มเติม สามารถแจ้งได้เลยนะครับ ข้อมูลจากทุกท่านจะช่วยให้ทีมงานปรับระบบให้พร้อมใช้งานมากยิ่งขึ้น ขอบพระคุณทุกท่านที่สละเวลาร่วมทดสอบระบบครับ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488d913d446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8ae14e3324c30" /><Relationship Type="http://schemas.openxmlformats.org/officeDocument/2006/relationships/slideLayout" Target="/ppt/slideLayouts/slideLayout1.xml" Id="R20b5a58c1344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b5a58c1344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ba4b09d784e53" /><Relationship Type="http://schemas.openxmlformats.org/officeDocument/2006/relationships/image" Target="/ppt/media/image.jpeg" Id="Rdf8a1e277ab8401b" /><Relationship Type="http://schemas.openxmlformats.org/officeDocument/2006/relationships/image" Target="/ppt/media/image.png" Id="R585d3f9c6af04f23" /><Relationship Type="http://schemas.openxmlformats.org/officeDocument/2006/relationships/image" Target="/ppt/media/image2.png" Id="R1f40831e49104c5d" /><Relationship Type="http://schemas.openxmlformats.org/officeDocument/2006/relationships/notesSlide" Target="/ppt/notesSlides/notesSlide1.xml" Id="R07380a504d9e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e0d027ff84988" /><Relationship Type="http://schemas.openxmlformats.org/officeDocument/2006/relationships/notesSlide" Target="/ppt/notesSlides/notesSlide2.xml" Id="R9b419e5767e34a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6f0ebb2f04e96" /><Relationship Type="http://schemas.openxmlformats.org/officeDocument/2006/relationships/notesSlide" Target="/ppt/notesSlides/notesSlide3.xml" Id="R5d6793d7477a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e393d616d439c" /><Relationship Type="http://schemas.openxmlformats.org/officeDocument/2006/relationships/notesSlide" Target="/ppt/notesSlides/notesSlide4.xml" Id="R7252851984e347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3457057c94fcf" /><Relationship Type="http://schemas.openxmlformats.org/officeDocument/2006/relationships/notesSlide" Target="/ppt/notesSlides/notesSlide5.xml" Id="Rce659bb34422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d061166e493a" /><Relationship Type="http://schemas.openxmlformats.org/officeDocument/2006/relationships/notesSlide" Target="/ppt/notesSlides/notesSlide6.xml" Id="R98fb7742c22e44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fef895834258" /><Relationship Type="http://schemas.openxmlformats.org/officeDocument/2006/relationships/notesSlide" Target="/ppt/notesSlides/notesSlide7.xml" Id="Rc214a26a5415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15ce2b39643ed" /><Relationship Type="http://schemas.openxmlformats.org/officeDocument/2006/relationships/notesSlide" Target="/ppt/notesSlides/notesSlide8.xml" Id="R4777fb11a1d7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e159635d478e" /><Relationship Type="http://schemas.openxmlformats.org/officeDocument/2006/relationships/notesSlide" Target="/ppt/notesSlides/notesSlide9.xml" Id="R4f3a6e23b66040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8932cdb864e52" /><Relationship Type="http://schemas.openxmlformats.org/officeDocument/2006/relationships/notesSlide" Target="/ppt/notesSlides/notesSlide10.xml" Id="R1c09e3e5ec3645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f89ffb79a48de" /><Relationship Type="http://schemas.openxmlformats.org/officeDocument/2006/relationships/notesSlide" Target="/ppt/notesSlides/notesSlide11.xml" Id="Re5408bc1fe3148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4b47f0fee404d" /><Relationship Type="http://schemas.openxmlformats.org/officeDocument/2006/relationships/notesSlide" Target="/ppt/notesSlides/notesSlide12.xml" Id="Ra823efcacf5f42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9feb3bed74d18" /><Relationship Type="http://schemas.openxmlformats.org/officeDocument/2006/relationships/notesSlide" Target="/ppt/notesSlides/notesSlide13.xml" Id="Rce7d4261b17e4e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e3afcf13a42b5" /><Relationship Type="http://schemas.openxmlformats.org/officeDocument/2006/relationships/notesSlide" Target="/ppt/notesSlides/notesSlide14.xml" Id="R43fa70116c7748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2c07ddedd4a92" /><Relationship Type="http://schemas.openxmlformats.org/officeDocument/2006/relationships/notesSlide" Target="/ppt/notesSlides/notesSlide15.xml" Id="R0f9f97da151e41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4fb853cfc4c5a" /><Relationship Type="http://schemas.openxmlformats.org/officeDocument/2006/relationships/notesSlide" Target="/ppt/notesSlides/notesSlide16.xml" Id="R3e8eabee48b344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3171686aa403b" /><Relationship Type="http://schemas.openxmlformats.org/officeDocument/2006/relationships/hyperlink" Target="http://149.28.142.186/login" TargetMode="External" Id="R30b1b3724a6d4a7b" /><Relationship Type="http://schemas.openxmlformats.org/officeDocument/2006/relationships/notesSlide" Target="/ppt/notesSlides/notesSlide17.xml" Id="R055c0f2109744f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e14e12e4e4c83" /><Relationship Type="http://schemas.openxmlformats.org/officeDocument/2006/relationships/image" Target="/ppt/media/image3.png" Id="Rdf7edd77728c463f" /><Relationship Type="http://schemas.openxmlformats.org/officeDocument/2006/relationships/notesSlide" Target="/ppt/notesSlides/notesSlide18.xml" Id="Ra337744f4e7b44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a1e277ab8401b"/>
          <a:srcRect xmlns:a="http://schemas.openxmlformats.org/drawingml/2006/main" l="2579" t="0" r="25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4527FC63-85EB-411E-9FDB-77700EE4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AC4C0DE-604C-4379-80D1-B248996C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d3f9c6af04f23"/>
          <a:stretch xmlns:a="http://schemas.openxmlformats.org/drawingml/2006/main"/>
        </p:blipFill>
        <p:spPr>
          <a:xfrm xmlns:a="http://schemas.openxmlformats.org/drawingml/2006/main">
            <a:off x="628650" y="4191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" name="cover-institution">
            <a:extLst xmlns:a="http://schemas.openxmlformats.org/drawingml/2006/main">
              <a:ext uri="{FF2B5EF4-FFF2-40B4-BE49-F238E27FC236}">
                <a16:creationId xmlns:a16="http://schemas.microsoft.com/office/drawing/2014/main" id="{50C0F961-F1D3-4C4C-AACB-D98DD57B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F2A84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5F2A84"/>
                </a:solidFill>
                <a:latin typeface="Tahoma"/>
                <a:ea typeface="Tahoma"/>
                <a:cs typeface="Tahoma"/>
              </a:rPr>
              <a:t>คณะสาธารณสุขศาสตร์  •  มหาวิทยาลัยมหาสารคาม</a:t>
            </a:r>
          </a:p>
        </p:txBody>
      </p:sp>
      <p:sp>
        <p:nvSpPr>
          <p:cNvPr id="6" name="cover-session">
            <a:extLst xmlns:a="http://schemas.openxmlformats.org/drawingml/2006/main">
              <a:ext uri="{FF2B5EF4-FFF2-40B4-BE49-F238E27FC236}">
                <a16:creationId xmlns:a16="http://schemas.microsoft.com/office/drawing/2014/main" id="{0691C973-9F15-4DFB-8224-779282F1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ภาคเช้า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FA9482D-1E7B-4885-9382-23FC2670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5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5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ระบบประเมินผลการปฏิบัติงานบุคลากร</a:t>
            </a:r>
          </a:p>
        </p:txBody>
      </p:sp>
      <p:sp>
        <p:nvSpPr>
          <p:cNvPr id="8" name="cover-system-short-name">
            <a:extLst xmlns:a="http://schemas.openxmlformats.org/drawingml/2006/main">
              <a:ext uri="{FF2B5EF4-FFF2-40B4-BE49-F238E27FC236}">
                <a16:creationId xmlns:a16="http://schemas.microsoft.com/office/drawing/2014/main" id="{2CA628EB-F864-4B2C-A2FD-612EFA5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(MSU EVA)  •  สายวิชาการ</a:t>
            </a:r>
          </a:p>
        </p:txBody>
      </p:sp>
      <p:sp>
        <p:nvSpPr>
          <p:cNvPr id="9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A45F08A2-F90F-4926-ACE5-2155E6D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218FA6EB-1A47-4043-A03D-014D364C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กรอกภาระงานและผลงานให้ครบ ตรวจหลักฐาน แล้วส่งแบบประเมินอย่างมั่นใจ</a:t>
            </a:r>
          </a:p>
        </p:txBody>
      </p:sp>
      <p:sp>
        <p:nvSpPr>
          <p:cNvPr id="11" name="cover-style">
            <a:extLst xmlns:a="http://schemas.openxmlformats.org/drawingml/2006/main">
              <a:ext uri="{FF2B5EF4-FFF2-40B4-BE49-F238E27FC236}">
                <a16:creationId xmlns:a16="http://schemas.microsoft.com/office/drawing/2014/main" id="{A864B51A-32AF-4D59-AA98-4E37B58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Professional Training  •  สายวิชาการ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0831e49104c5d"/>
          <a:stretch xmlns:a="http://schemas.openxmlformats.org/drawingml/2006/main"/>
        </p:blipFill>
        <p:spPr>
          <a:xfrm xmlns:a="http://schemas.openxmlformats.org/drawingml/2006/main">
            <a:off x="9186571" y="5962650"/>
            <a:ext cx="2029408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94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ide-accent-2">
            <a:extLst xmlns:a="http://schemas.openxmlformats.org/drawingml/2006/main">
              <a:ext uri="{FF2B5EF4-FFF2-40B4-BE49-F238E27FC236}">
                <a16:creationId xmlns:a16="http://schemas.microsoft.com/office/drawing/2014/main" id="{68F537F3-9F3A-491D-8A4A-A8622623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E6F04AAA-1279-44D2-B831-A4B2636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เป้าหมายการอบรม  /  สายวิชาการ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1BA6201C-9578-41FF-B4D8-0A7D6E60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วันนี้เราจะทดลองกรอกแบบประเมิน 1 รายการให้พร้อมส่ง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2D1FC-AF58-4BDB-95B5-93E044FE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เมื่อจบช่วงนี้ คุณจะทำได้ด้วยตัวเอง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AA2A-BBD9-4B9D-9B2F-2083F77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103F-3779-49F4-859D-A76E487D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76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44725-1039-42F9-9444-082788F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เปิดงานที่ได้รับมอบหมายได้ถูกต้อง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D7875-A052-4A7B-82A2-1452403B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58F51-6980-48F5-9915-4437D68C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4DA56-C02B-466A-AF1F-D0D23476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กรอกข้อมูลปริมาณ คุณภาพ และหลักฐานได้ครบ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332E6-742B-4601-A48A-F8CC0E5C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AB7C8-A49B-48FE-BDE2-DC740E5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B4F69-41FC-4294-B3B7-B763FBA8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แยกการบันทึกร่างออกจากการยืนยันส่ง</a:t>
            </a:r>
          </a:p>
        </p:txBody>
      </p:sp>
      <p:sp>
        <p:nvSpPr>
          <p:cNvPr id="14" name="outcome-mark">
            <a:extLst xmlns:a="http://schemas.openxmlformats.org/drawingml/2006/main">
              <a:ext uri="{FF2B5EF4-FFF2-40B4-BE49-F238E27FC236}">
                <a16:creationId xmlns:a16="http://schemas.microsoft.com/office/drawing/2014/main" id="{18EAE038-CB66-4678-A3ED-65C4891D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324100" cy="32956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9525">
            <a:solidFill>
              <a:srgbClr val="4356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4E528-C0DA-4C0A-9F53-C76B909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790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0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97F7E-A06F-4FB4-AFE0-2DE8294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รายการ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พร้อมส่ง</a:t>
            </a:r>
          </a:p>
        </p:txBody>
      </p:sp>
      <p:sp>
        <p:nvSpPr>
          <p:cNvPr id="1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33835F2-8DCD-47C6-8556-A30DD590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903A14F-15A0-46C9-AC65-FFB6B950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88A3C2E-6B72-4087-9E60-EF9B9A44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446429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-accent-3">
            <a:extLst xmlns:a="http://schemas.openxmlformats.org/drawingml/2006/main">
              <a:ext uri="{FF2B5EF4-FFF2-40B4-BE49-F238E27FC236}">
                <a16:creationId xmlns:a16="http://schemas.microsoft.com/office/drawing/2014/main" id="{C28F4FB7-6C5B-4CB3-B87A-7EFFF043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F0A33ECB-4256-4C4A-8B48-98544C3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รู้จักระบบ  /  สายวิชาการ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FA037163-7789-41C0-BA45-622AA315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ระบบช่วยจัดการงานประเมินตั้งแต่เตรียมรอบจนถึงรายงานผล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3B032-ABD4-46D4-A025-29589C71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ฟังก์ชันหลัก 5 ด้าน เชื่อมต่อกันเป็นกระบวนการเดียว</a:t>
            </a:r>
          </a:p>
        </p:txBody>
      </p:sp>
      <p:sp>
        <p:nvSpPr>
          <p:cNvPr id="5" name="system-function-line">
            <a:extLst xmlns:a="http://schemas.openxmlformats.org/drawingml/2006/main">
              <a:ext uri="{FF2B5EF4-FFF2-40B4-BE49-F238E27FC236}">
                <a16:creationId xmlns:a16="http://schemas.microsoft.com/office/drawing/2014/main" id="{589A8443-0342-4B09-9A6E-6BCD0C4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8705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58E2F-1EB5-46EC-A942-B98F450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9C9CF-AA77-4595-8A5A-A71E511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A22ED-2F69-49C0-84D0-36E6CBA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ผู้ใช้และสิทธิ์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0B0E7-498E-4F78-BD19-06168A9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จัดการบัญชีและบทบาท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649BF-2E6E-45CE-B0C0-CE88A99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29B28-22E6-487B-A1F3-F6E50BD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27C0A-058C-45C6-B133-EFE852E9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เกณฑ์ประเมิน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228EB-2C83-422D-BB60-347A3FAE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จัดการแบบและเกณฑ์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85A21-752F-400E-817E-0801201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02AE3-23B3-4C99-AF6F-0852191D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2EF4E-6298-4DE4-81B1-CDA3906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รอบและงาน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CDCB2-2AA2-4B70-B158-FD9ED276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สร้างรอบและมอบหมาย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A158B-36A2-4D90-802D-6C7D6DE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DFD73-5A22-45EE-BCBE-1DDA5138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4447A-B49B-479B-8D00-CB11F62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กรอกและประเมิน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7613C-FD9D-4584-A2EA-C435F724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บันทึก ตรวจ และส่งต่อ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C856B-00B3-43B5-AAD5-B834BB9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9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AE5F6-7D1B-4077-82F7-8E423A2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57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1A30B-9944-4375-9142-837C94E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ติดตาม/รายงาน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732CE-F7D7-48A8-8758-E845D22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ติดตามสถานะและส่งออก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44FE0-B735-4DF5-8B53-04C9FE5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F54E2-8B0C-4B24-BC3A-48A0D351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Admin เตรียมระบบและมอบหมายงาน ก่อนผู้ใช้งานเริ่มดำเนินการ</a:t>
            </a:r>
          </a:p>
        </p:txBody>
      </p:sp>
      <p:sp>
        <p:nvSpPr>
          <p:cNvPr id="2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5C64ADE-7F9F-4067-B054-B225F06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EBDFD8E-90F6-4F85-ABE9-D76F2FA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3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EA898FC-7931-45EB-98F4-E78259AB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211672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ide-accent-4">
            <a:extLst xmlns:a="http://schemas.openxmlformats.org/drawingml/2006/main">
              <a:ext uri="{FF2B5EF4-FFF2-40B4-BE49-F238E27FC236}">
                <a16:creationId xmlns:a16="http://schemas.microsoft.com/office/drawing/2014/main" id="{61CA69C0-D33E-4521-89F3-11AF1CEF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EB206954-A7F8-4445-845D-3159E5DA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ผู้ใช้งานระบบ  /  สายวิชาการ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077A81A6-402B-42B2-8648-0D8DC64D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ระบบมี 5 บทบาท และแต่ละคนเห็นงานต่างกัน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EBCC6-452D-43BC-9D64-9AC6E4B0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84945-506F-4EA6-B89B-B8C36B1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28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BE54-7D5D-45EC-9271-1722B6D7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66900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ผู้ใช้ • สิทธิ์ • เกณฑ์ • รอบประเมิน • งาน • ลำดับผู้ประเมิน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A3039-932D-405C-8BF3-D23D0144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2AD5D-B5F5-40D0-AEB8-6AD5DBAA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6ADCF-7C9E-43B0-B35B-8C0CD66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622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ผู้รับการประเมิน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73E5F-B158-406C-8B01-088C44CC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032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กรอกข้อมูล • แนบหลักฐาน • บันทึกร่าง • ส่งแบบประเมิน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C2010-9794-43E1-BF8B-03C061A7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A8931-C41D-49AF-8038-FC54653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67A09-CBD4-4366-9F44-69F8E20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D74A9-085C-4B35-8085-F1B67ECE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ตรวจข้อมูล • ให้คะแนนหรือความเห็น • ส่งต่องาน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F2681-B484-4657-8433-69C03A76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9D8CB-821C-41D8-A932-06FD9C6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F69A1-1603-4902-9BA1-1AF63C94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290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กรรมการ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DA24B-E8E7-4509-AF25-6A7DDAB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6717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ตรวจและรับรองผลตามขั้นที่ได้รับมอบหมาย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8A9A0-6A98-43C0-9202-30BE5D19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81525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7EFFF-C1C8-4CCD-AA9D-908E2015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70AA0-C162-49FA-B8E5-85BAB8F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2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ผู้บริหาร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091C5-A773-43B1-8DEF-120D32A2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00600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ตรวจหรือยืนยันตามลำดับ • ดูรายงานตามสิทธิ์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8B28E-660D-4683-9364-FCBEC99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FC515-BB0C-4ACC-8761-14F6C54B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แต่ละรอบอาจใช้ผู้ประเมินไม่ครบทุกบทบาท ให้ยึดลำดับที่ Admin กำหนด</a:t>
            </a:r>
          </a:p>
        </p:txBody>
      </p:sp>
      <p:sp>
        <p:nvSpPr>
          <p:cNvPr id="2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84CA9E9-BF73-4B4A-A1FF-C69B0006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3F00E68-0E9E-48CD-A7C9-2FD83CE8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CB80ABB-F579-4A47-B55F-42CC878E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2000432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-accent-5">
            <a:extLst xmlns:a="http://schemas.openxmlformats.org/drawingml/2006/main">
              <a:ext uri="{FF2B5EF4-FFF2-40B4-BE49-F238E27FC236}">
                <a16:creationId xmlns:a16="http://schemas.microsoft.com/office/drawing/2014/main" id="{1B96C5C7-A5A2-4999-842C-F41406D5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6469B4A0-DC58-4D47-81D4-BA0AF48B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ภาพรวมกระบวนการ  /  สายวิชาการ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26F151D8-237B-43F7-9FDD-EBEF4533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มาดูขั้นตอนทั้งหมดก่อนเริ่มกรอกข้อมูล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8F9B6-3A47-4521-9EED-4B7111F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ตั้งแต่เปิดงาน กรอกข้อมูล ตรวจความพร้อม จนถึงผู้ประเมินคนสุดท้าย</a:t>
            </a:r>
          </a:p>
        </p:txBody>
      </p:sp>
      <p:sp>
        <p:nvSpPr>
          <p:cNvPr id="5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D37B5096-8AC5-49EC-B77A-72A4871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866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AC21DA29-3E44-4902-AFFE-C0B2B97E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4327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8BB69-CD77-4387-B54E-8E5922CA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84A2F-504B-460B-89BC-3379E9F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C53FC-C314-4861-B16D-98F54E1C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รับงาน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9DA88-5E38-4FA9-9403-453359E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ตรวจรอบและรายการ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7DEE1-EB32-4526-A816-6062A78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EA391-4F55-4D9B-A0EF-51DDC9F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90536-51BF-40C3-966B-4655976B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21EE-7FA7-425F-A1DF-FCB6C3FF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ปริมาณ • คุณภาพ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54279-5CA1-4DCB-8041-385B3618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0A71C-DF7B-40C9-9CB7-1F5F7F6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B82AB-736E-4FF3-B87D-51B2CBB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ตรวจความพร้อม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EFC18-119D-4BD8-8AA8-E484402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 • หลักฐาน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5C904-F506-4A56-9A2A-665BB913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7B147-2EB4-484B-A2D9-D12073D6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8794C-7D55-444F-B775-7C2B5C79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ส่งแบบประเมิน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EBCFF-8C0F-4DB7-9160-BDE7D8C5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เข้าสู่ลำดับผู้ประเมิน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EC066-A317-4E1B-977C-BF456CC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4BDFB-2816-450A-ABD9-1D8DA10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D49DD-58FB-4659-94A9-AD34FDD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ปิดงาน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081FB-252B-44DE-B54F-B474FF2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สถานะ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2388E-2853-48BE-A437-7C83A2AC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งานเดินตามลำดับผู้ประเมินที่ผู้ดูแลระบบกำหนด</a:t>
            </a:r>
          </a:p>
        </p:txBody>
      </p:sp>
      <p:sp>
        <p:nvSpPr>
          <p:cNvPr id="28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2F06F4A-2C84-42CC-A29F-C23BC0C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CB7CA7DC-871D-4790-B432-EAC11AD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3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AD5A5FC-171F-470C-82A4-EEEA0369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1411574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6">
            <a:extLst xmlns:a="http://schemas.openxmlformats.org/drawingml/2006/main">
              <a:ext uri="{FF2B5EF4-FFF2-40B4-BE49-F238E27FC236}">
                <a16:creationId xmlns:a16="http://schemas.microsoft.com/office/drawing/2014/main" id="{511DBA63-1844-4E95-95F6-AB26A7F4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E8DC5B25-63AB-4835-A084-3470148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บทบาทของคุณ  /  สายวิชาการ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69230694-89B5-4DB2-B577-E45DF7D3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กรอกข้อมูลของคุณให้ครบ แล้วส่งให้ผู้ประเมิน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1F5F3-73A6-4C9A-B15D-E1F5C06B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ผู้รับการประเมินกรอกข้อมูลวิชาการและแนบหลักฐานให้ครบ ก่อนส่งให้ผู้ประเมินตรวจ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E1C97-78CE-40C0-97F4-F5BE112B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12A56-919C-4F65-A668-7F500895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เตรียม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5F21A-02C1-4875-8CEF-0FF7C31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A9BFB-AFA0-4126-AE6B-E086BB5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ข้อมูลรายวิชา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ภาระงาน และผลงาน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796B7-369B-4A4B-A37A-F7D072DF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5CA37-26F7-48D5-9500-E22246E7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0A1F7-2C4C-4980-B459-204D498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6A083-A99B-493A-B31C-E195437A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ค่าที่กรอก สูตรคำนวณ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และลิงก์หลักฐาน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273E0-8F56-4E46-BEA1-0FB057C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FB78A-9AEF-4CD3-8398-19F26FC8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ตัดสินใจ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DD88F-168E-42E9-BFE5-50EEE30F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6DE6E-8381-4A12-A71D-DA26702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หรือส่งแบบประเมิน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15936-A1A0-4C6E-AB15-FCF9238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3009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47A8F-134E-4C3A-9FE5-5B378E3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907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งานเสร็จเมื่อผู้ประเมิน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ลำดับสุดท้ายยืนยันผล</a:t>
            </a:r>
          </a:p>
        </p:txBody>
      </p:sp>
      <p:sp>
        <p:nvSpPr>
          <p:cNvPr id="1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3B00B5E3-9503-48E5-B91A-74803231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B6BA59B2-9B25-4CB7-AC67-8B8B903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F7D1429-BD37-486F-BEE4-A06D0BB1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1233449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ide-accent-7">
            <a:extLst xmlns:a="http://schemas.openxmlformats.org/drawingml/2006/main">
              <a:ext uri="{FF2B5EF4-FFF2-40B4-BE49-F238E27FC236}">
                <a16:creationId xmlns:a16="http://schemas.microsoft.com/office/drawing/2014/main" id="{117944D3-3BDF-4307-A8F5-E08FFE3C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734649C0-9414-413A-873A-C7789A7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จุดเริ่มต้น  /  สายวิชาการ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0DC4879-C138-47D0-82D3-81D6BBB7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ตรวจสอบรอบประเมินและรายการที่ได้รับมอบหมาย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6DCF4-547F-412D-98F0-F5F899E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ก่อนเปิดงาน ให้ตรวจ 3 อย่างนี้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82400-EF2A-4F3A-8422-D67B95E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DAA8C-B6B5-424E-92BF-8FA0900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23379-8DAE-4483-A629-F4474370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รอบประเมิน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C9DE4-33D8-43DE-8F52-6F46BA40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ผู้ดูแลระบบกำหนดไว้ถูกต้อง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3C7F0-EA66-4401-A1F7-1EEA36EF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C2CEE-35B1-4C3E-8455-2C5F6FB8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E0F36-F9F6-4A67-A80D-03399A53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รายการงาน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14909-46C5-4C23-BE66-8E3FE245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เป็นงานของคุณและตรงประเภท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254A5-7805-4C60-B05B-E7B8ACD5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3A27E-AF97-441C-AE23-9C99E63A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8B7E9-430B-4AE8-AEB2-87F7D7F2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D7F40-DF6C-465C-B70F-148D173E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00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ยังอยู่ในขั้นที่คุณดำเนินการได้</a:t>
            </a:r>
          </a:p>
        </p:txBody>
      </p:sp>
      <p:sp>
        <p:nvSpPr>
          <p:cNvPr id="17" name="dashboard-preview">
            <a:extLst xmlns:a="http://schemas.openxmlformats.org/drawingml/2006/main">
              <a:ext uri="{FF2B5EF4-FFF2-40B4-BE49-F238E27FC236}">
                <a16:creationId xmlns:a16="http://schemas.microsoft.com/office/drawing/2014/main" id="{6FC33AEB-880C-4542-AF2C-9834599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124200" cy="33528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189F0-FC2A-447D-A2A4-B062DC2E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แดชบอร์ดของฉัน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C1B9D-C58B-4CE2-9827-B57EBE63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EEDEC-BF47-4A82-BD97-9B71CBEF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สายวิชาการ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E33B5-A542-4860-8575-DA4180B8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97459-2C5C-40DE-8D35-88FE75B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341EF-CFC0-4548-85B2-AF8CE4D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1543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9D564-686A-481E-A287-895FDFC6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เปิดรายการ</a:t>
            </a:r>
          </a:p>
        </p:txBody>
      </p:sp>
      <p:sp>
        <p:nvSpPr>
          <p:cNvPr id="2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8064F24E-55B9-4324-A251-9744AFA3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2B009DAF-5ED8-4AF5-A726-1FD6B38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FBCEF0D7-E0CC-4B1F-9733-EAC08444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695976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ide-accent-8">
            <a:extLst xmlns:a="http://schemas.openxmlformats.org/drawingml/2006/main">
              <a:ext uri="{FF2B5EF4-FFF2-40B4-BE49-F238E27FC236}">
                <a16:creationId xmlns:a16="http://schemas.microsoft.com/office/drawing/2014/main" id="{4FE0F47D-3E3E-4122-AC1F-CFC45FE5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8">
            <a:extLst xmlns:a="http://schemas.openxmlformats.org/drawingml/2006/main">
              <a:ext uri="{FF2B5EF4-FFF2-40B4-BE49-F238E27FC236}">
                <a16:creationId xmlns:a16="http://schemas.microsoft.com/office/drawing/2014/main" id="{0F27A498-3EA1-4D0F-B993-AD0E4316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โครงสร้างข้อมูล  /  สายวิชาการ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014FA77E-9906-400B-A3B6-DE1DF5E4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ตรวจให้แน่ใจว่ารายวิชา ภาระงาน ผลงาน และหลักฐานสอดคล้องกัน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D7D68-1FA6-4250-A6C4-D8DFF08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ตรวจความเชื่อมโยงของข้อมูลทุกส่วน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DB22E-5A7A-4874-B0E8-3C9F9E0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05200"/>
            <a:ext cx="769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EB688-3194-4C9F-8DA4-AC09826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8BF0A-4BAD-446C-A143-8DB9770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13D44-E16F-48B4-AC13-6E8EF85E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รายวิชา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27775-953D-47CC-8B7A-D0CD99D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บริบทของงานสอน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9BF01-0E21-4997-B954-1DD9454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50489-B37F-4250-B792-246BFF77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2A9EC-994F-4D34-A459-7C355575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ภาระงาน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62708-97F1-49EB-8F88-DBB1C72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สิ่งที่ทำและปริมาณ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43ED6-BA12-4A6F-B845-8CF10FDE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94A4D-8B8B-4127-8021-87F5F9C6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46DAB-71CD-4363-B621-9B919AAB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F02FE-1819-42E3-A559-F76314F4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ผลลัพธ์เชิงคุณภาพ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DEDEB-82A4-4FC4-96A5-FFB1E659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149EB-D976-41FF-A0FE-5A720143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50438-E334-407C-ADE0-3826F0C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122F5-9436-452E-80BD-C69B8FFA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สิ่งที่ตรวจสอบได้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1F265-408B-4B9E-AFF6-8888E749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ถ้าข้อมูลส่วนหนึ่งไม่สอดคล้อง ผู้ประเมินจะตีความงานได้ยาก</a:t>
            </a:r>
          </a:p>
        </p:txBody>
      </p:sp>
      <p:sp>
        <p:nvSpPr>
          <p:cNvPr id="2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49B474A-FB7B-4C71-9CED-6F23EFB1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F51C2937-3D2C-45E7-B245-911732EA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BFDEE606-B5A4-4BB6-AAF4-EB823446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753872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9">
            <a:extLst xmlns:a="http://schemas.openxmlformats.org/drawingml/2006/main">
              <a:ext uri="{FF2B5EF4-FFF2-40B4-BE49-F238E27FC236}">
                <a16:creationId xmlns:a16="http://schemas.microsoft.com/office/drawing/2014/main" id="{C78283B8-FB1F-4507-AEC2-2AC92E88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9">
            <a:extLst xmlns:a="http://schemas.openxmlformats.org/drawingml/2006/main">
              <a:ext uri="{FF2B5EF4-FFF2-40B4-BE49-F238E27FC236}">
                <a16:creationId xmlns:a16="http://schemas.microsoft.com/office/drawing/2014/main" id="{76960CCE-2440-4D95-AD36-0ABDDAE7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ข้อมูลเชิงปริมาณ  /  สายวิชาการ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28EE3143-AB6E-47C3-9DD0-CD2FA106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กรอกภาระงานที่ทำได้ แล้วตรวจคะแนนที่ระบบคำนวณ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05851-C159-4D81-B8F0-0112A883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อ่านช่อง A–D ให้เป็นลำดับเดียวกัน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1FE74-0E03-4963-8C70-A3BF19B2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2C39B-79AB-4AE7-823E-0FC7EF98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43402-3A60-404D-AAEA-451B10E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ค่าน้ำหนัก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12859-5C03-495F-8E90-42038C40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กำหนดจากเกณฑ์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0448E-C8E3-4125-9116-E93A5825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AB583-F6A4-4C15-BADD-F83CB489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544F7-7D4B-4980-8087-53E6D819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ภาระงานมาตรฐาน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22E94-38DA-4CC2-A5F4-21106C87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ค่าฐานของรายการ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6CFD2-8D3C-43B5-B82D-1402472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48A75-E29F-48DB-B0A5-D54B4101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153C0-703F-4998-8461-2426DE0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ภาระงานที่ทำได้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5377B-80EA-4948-86C2-0186864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ข้อมูลที่คุณกรอก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CFCB9-1D2A-4A3D-B7FC-08CC6CF3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9525">
            <a:solidFill>
              <a:srgbClr val="4356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3B1B4-9EE7-4E39-BB5A-AC22FD1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38341-A464-4487-ADF3-0741638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คะแนนที่คำนวณ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14010-A5E1-49FB-AAD1-12D97D6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ตรวจผลจากระบบ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363B8-F7EC-4FAA-B8B7-88DEECF3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ตรวจหน่วยและค่าทศนิยมก่อนบันทึก</a:t>
            </a:r>
          </a:p>
        </p:txBody>
      </p:sp>
      <p:sp>
        <p:nvSpPr>
          <p:cNvPr id="22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89FA8AC9-30BD-4556-BE55-4BECFD2C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A2A21B2A-8599-41DA-942C-22E78F04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B92965BE-538F-4B1A-BAC2-BB338EF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1540877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ide-accent-10">
            <a:extLst xmlns:a="http://schemas.openxmlformats.org/drawingml/2006/main">
              <a:ext uri="{FF2B5EF4-FFF2-40B4-BE49-F238E27FC236}">
                <a16:creationId xmlns:a16="http://schemas.microsoft.com/office/drawing/2014/main" id="{5E8CF509-4823-48B5-91E5-25608C7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8C74F8-EC76-4387-8E9F-208BF10C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ข้อมูลเชิงคุณภาพ  /  สายวิชาการ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96A29111-45F6-4C90-ABB2-ABA2CEB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อธิบายผลงานให้ผู้ประเมินเข้าใจได้ในครั้งเดียว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8B602-AE63-4C9A-9467-24A0405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เขียนให้เห็นว่า “ทำอะไร — เกิดผลอย่างไร — ตรวจจากไหน”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9A885-D05B-42F8-811C-A83CC0D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02A84-3664-48C5-AAE2-7683132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F8C60-3403-4F5C-904A-A48DE12C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ระบุผลงานหรือบทบาทให้ชัด ไม่ใช้คำกว้าง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51D1C-EE2A-4958-8C4B-8B6CE3C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2236C-FFDF-4020-8CDE-C0A3779E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7AB1-5DFF-4D09-8A76-C8E7361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เกิดผลอย่างไร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110DD-C7AF-4E75-B5B5-1E74AFAC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สรุปผลลัพธ์ที่สัมพันธ์กับเกณฑ์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D235D-E6B5-4F02-9918-42E586E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649AB-6F31-4411-8833-9F58B270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4E6CC-1BF7-4CFE-A405-0CA9FE4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ตรวจจากไหน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52B2D-F1CC-48DD-9BB5-A9B3CF8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ชี้ไปยังเอกสารหรือหลักฐานที่ตรงรายการ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46652-90F6-4D77-BB2C-F9F97BF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2876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38011-8C98-41A1-AEB2-5BBBEBD5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ชัด • สั้น • ตรวจสอบได้</a:t>
            </a:r>
          </a:p>
        </p:txBody>
      </p:sp>
      <p:sp>
        <p:nvSpPr>
          <p:cNvPr id="18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19621DA8-B822-4EA8-837B-DDBFBC67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D6EBDBAD-DC89-4EAA-B9C6-088C77D2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B120B82-E62C-412B-B3EF-BBDAA1C5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265427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11">
            <a:extLst xmlns:a="http://schemas.openxmlformats.org/drawingml/2006/main">
              <a:ext uri="{FF2B5EF4-FFF2-40B4-BE49-F238E27FC236}">
                <a16:creationId xmlns:a16="http://schemas.microsoft.com/office/drawing/2014/main" id="{822C1089-E268-4676-B42F-D3910D9E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1">
            <a:extLst xmlns:a="http://schemas.openxmlformats.org/drawingml/2006/main">
              <a:ext uri="{FF2B5EF4-FFF2-40B4-BE49-F238E27FC236}">
                <a16:creationId xmlns:a16="http://schemas.microsoft.com/office/drawing/2014/main" id="{AED4B9E9-490C-4BF3-BD27-D6117D04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หลักฐาน  /  สายวิชาการ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C2024E65-737B-4604-91A8-59B62E6E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แนบหลักฐานที่เปิดดูได้และตรงกับผลงาน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E957F-89FA-48D1-AB9A-9F190189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หลักฐานที่ดีช่วยให้ผู้ประเมินตรวจได้เร็ว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F6A78-06C3-4C9C-855E-8A9ACCD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9766D-037A-4418-9934-6BD8A6D4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FA5AA-883A-4B4D-A253-6E37A8FB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7B4D8-F099-4810-B3FE-0BF77CB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ใช้ลิงก์ http/https ที่เข้าถึงได้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A8A2B-4BA5-4149-B51D-0E128A0A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30703-B819-45F5-8010-ED71C5ED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47044-7A8E-4BD6-81B3-E17D5AA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ตรงรายการ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45362-0076-41AB-B184-D8953423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สอดคล้องกับผลงานหรือเกณฑ์ที่เลือก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FD503-09D4-4D58-B8A2-A62B056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8B848-037B-4066-8721-E34D717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DF60C-1D66-4A48-B6C0-40845DDE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ตรวจสอบได้ชัดเจน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55FF2-AED7-4C4A-A80C-D99B4B86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เปิดลิงก์แล้วรู้ว่าเป็นหลักฐานของรายการใด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E2F58-3396-49AD-8B43-13EC8CA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9525">
            <a:solidFill>
              <a:srgbClr val="4356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076BD-8449-41EA-9E50-63452E2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97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รายการที่บังคับหลักฐาน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ต้องมีลิงก์ก่อนส่ง</a:t>
            </a:r>
          </a:p>
        </p:txBody>
      </p:sp>
      <p:sp>
        <p:nvSpPr>
          <p:cNvPr id="19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05C6DC7-9351-43EC-BF4C-F707A640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EC808725-422A-4B68-9608-37A057D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1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5B06FBD3-E8F2-422E-8A6F-560EB70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2038656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accent-12">
            <a:extLst xmlns:a="http://schemas.openxmlformats.org/drawingml/2006/main">
              <a:ext uri="{FF2B5EF4-FFF2-40B4-BE49-F238E27FC236}">
                <a16:creationId xmlns:a16="http://schemas.microsoft.com/office/drawing/2014/main" id="{FCACF24F-AA80-4772-A0DE-3665EC3C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2">
            <a:extLst xmlns:a="http://schemas.openxmlformats.org/drawingml/2006/main">
              <a:ext uri="{FF2B5EF4-FFF2-40B4-BE49-F238E27FC236}">
                <a16:creationId xmlns:a16="http://schemas.microsoft.com/office/drawing/2014/main" id="{F897A959-08A4-44E6-889C-8D5A525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ก่อนกดปุ่ม  /  สายวิชาการ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0B5716BA-BF55-457C-B1CD-B53BD4A5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หากข้อมูลยังไม่ครบ ให้บันทึกร่างไว้ก่อน</a:t>
            </a:r>
          </a:p>
        </p:txBody>
      </p:sp>
      <p:sp>
        <p:nvSpPr>
          <p:cNvPr id="4" name="draft-panel">
            <a:extLst xmlns:a="http://schemas.openxmlformats.org/drawingml/2006/main">
              <a:ext uri="{FF2B5EF4-FFF2-40B4-BE49-F238E27FC236}">
                <a16:creationId xmlns:a16="http://schemas.microsoft.com/office/drawing/2014/main" id="{A02584B7-D3AA-4F43-80D4-E82FD4C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8617F-5E64-482E-9F29-15371161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43DE8-0B74-423A-8842-0180975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038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กลับมาแก้ไขได้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เหมาะเมื่อข้อมูลยังไม่ครบ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งานยังไม่ส่งให้ผู้ประเมิน</a:t>
            </a:r>
          </a:p>
        </p:txBody>
      </p:sp>
      <p:sp>
        <p:nvSpPr>
          <p:cNvPr id="7" name="submit-panel">
            <a:extLst xmlns:a="http://schemas.openxmlformats.org/drawingml/2006/main">
              <a:ext uri="{FF2B5EF4-FFF2-40B4-BE49-F238E27FC236}">
                <a16:creationId xmlns:a16="http://schemas.microsoft.com/office/drawing/2014/main" id="{F8ACC95C-4B32-4213-B45A-1AD2BD3F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5626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19050">
            <a:solidFill>
              <a:srgbClr val="435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54FC-040A-4F24-A539-E3B64AF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ส่งแบบประเมิน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5D2AA-74F6-4027-88EB-4CC85D19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686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งานเข้าสู่ลำดับผู้ประเมิน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ผู้ส่งแก้ไขในขั้นนั้นไม่ได้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ตรวจข้อมูลและหลักฐานก่อนยืนยัน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E09B1-E2F4-489B-8317-29240B1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ถามตัวเองก่อนกดส่ง: “ผู้ประเมินเห็นข้อมูลครบหรือยัง?”</a:t>
            </a:r>
          </a:p>
        </p:txBody>
      </p:sp>
      <p:sp>
        <p:nvSpPr>
          <p:cNvPr id="11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65F12010-2200-4A84-870E-9287F2D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24BC07A5-03B7-4E04-BD9C-666E68C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13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F6808344-B338-474D-BE40-138DAF6F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20520141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3">
            <a:extLst xmlns:a="http://schemas.openxmlformats.org/drawingml/2006/main">
              <a:ext uri="{FF2B5EF4-FFF2-40B4-BE49-F238E27FC236}">
                <a16:creationId xmlns:a16="http://schemas.microsoft.com/office/drawing/2014/main" id="{02E6A072-9048-40CA-9EBE-F1F1A089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3">
            <a:extLst xmlns:a="http://schemas.openxmlformats.org/drawingml/2006/main">
              <a:ext uri="{FF2B5EF4-FFF2-40B4-BE49-F238E27FC236}">
                <a16:creationId xmlns:a16="http://schemas.microsoft.com/office/drawing/2014/main" id="{5C6DF204-9ADB-48D9-BFF1-9098F8FB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หลังจากส่ง  /  สายวิชาการ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7C30150E-1EA6-4A23-AE00-DF78A6C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หลังส่งแบบประเมิน ระบบจะส่งงานตามลำดับผู้ประเมิน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BC7F2-D7DC-4764-9D3A-C42BF281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AB717-B38B-4185-9E1B-FC74F94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077BA-9F2D-40F8-82B2-64D9FD17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74E68-002E-4A60-8D79-569A116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373F5-7130-4132-AA06-76A9493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ข้อมูลและหลักฐาน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A81F3-EB87-4FBA-B5FC-C9BCD98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CE0C4-AD95-409B-AD55-3D571E67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1E5AD-7FF9-4C0C-AB82-4A1FE462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ให้ผล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9A9FD-6626-4813-B0E9-3F23317B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คะแนนหรือความเห็น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580D9-139B-4621-B7C0-1FE346F8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05B21-525F-46C8-92D0-6E47E977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226E3-2AA1-48D2-9105-DAF00BA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ส่งต่อ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98603-1D38-4720-80C4-A04B46B8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ไปยังผู้ประเมินลำดับถัดไป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384BD-4235-45E8-A563-D0919E4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875DC-ED3E-42BF-8B02-16E08DA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0ECAD-6012-4210-8360-000F5B7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ยืนยันขั้นสุดท้าย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89C7C-D867-4C08-AE85-BD7FF219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เมื่ออยู่ในลำดับสุดท้าย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977F6-01EB-470D-A708-07D98A3F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จำนวนและบทบาทของผู้ประเมินอาจต่างกันในแต่ละงาน</a:t>
            </a:r>
          </a:p>
        </p:txBody>
      </p:sp>
      <p:sp>
        <p:nvSpPr>
          <p:cNvPr id="22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A27E8301-1CF0-47CF-8F62-D8528182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52AA75D-55BE-4556-A00B-4D35A83D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4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5A9F7C9A-AF32-4DB9-84AC-86E10B1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6196240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ide-accent-14">
            <a:extLst xmlns:a="http://schemas.openxmlformats.org/drawingml/2006/main">
              <a:ext uri="{FF2B5EF4-FFF2-40B4-BE49-F238E27FC236}">
                <a16:creationId xmlns:a16="http://schemas.microsoft.com/office/drawing/2014/main" id="{A11172F1-7E92-49DD-8EE6-2D096C2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4">
            <a:extLst xmlns:a="http://schemas.openxmlformats.org/drawingml/2006/main">
              <a:ext uri="{FF2B5EF4-FFF2-40B4-BE49-F238E27FC236}">
                <a16:creationId xmlns:a16="http://schemas.microsoft.com/office/drawing/2014/main" id="{9AFA4924-D60D-4B99-9840-904B22BB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สำหรับผู้ประเมิน  /  สายวิชาการ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06605C9A-CE21-494B-92E3-72FAD7F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เมื่อได้รับงานประเมิน ให้ตรวจข้อมูลและหลักฐานก่อนให้ผล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05457-4FC6-488F-A4A4-DF6BC95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63707-0073-499F-A7DC-E935F99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ตรวจข้อมูล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5BA5F-22C4-4AA8-B669-D640F6B2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เนื้อหาตรงกับเกณฑ์ที่เลือก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CD381-7EA1-4D11-80D9-1A7AB19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145A7-D174-44B1-B9CA-191360C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4A4A0-BB18-45AA-AA09-8D4CAD1B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เปิดหลักฐาน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16672-FFB0-4F00-A642-4D75EB6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ตรวจความสอดคล้องกับผลงาน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D2FF4-D41F-477A-81BE-7C57E0BD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F7A8-4EE6-4E5A-9993-5F075A7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E6134-7705-4E6C-99AC-C2E83019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ให้ผล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A0557-3A12-4522-9A49-35D34C7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ให้คะแนนหรือความเห็นตามสิทธิ์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E4A9B-0A32-4FCA-BCF5-FA59C99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9ABD8-C921-4F89-8A48-2D373B4C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F5E30-E292-413D-B1BD-4E5D44BA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ส่งต่องาน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64575-0250-4C00-9E97-31A3BA48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ดำเนินการเมื่อข้อมูลครบ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64055-4D8C-4DE0-BB7C-1069C7A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9D2EA-92E3-46D4-945A-603545A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ผู้ประเมินควรตัดสินใจจากข้อมูลและหลักฐานที่เปิดตรวจได้</a:t>
            </a:r>
          </a:p>
        </p:txBody>
      </p:sp>
      <p:sp>
        <p:nvSpPr>
          <p:cNvPr id="21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51492C18-E591-49D6-A8C7-A7E2EB7C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057BD51-B254-4F40-9FD3-3D6AD378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3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52A3D4CC-67BF-43E7-9AC3-EEF5F568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886921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ide-accent-15">
            <a:extLst xmlns:a="http://schemas.openxmlformats.org/drawingml/2006/main">
              <a:ext uri="{FF2B5EF4-FFF2-40B4-BE49-F238E27FC236}">
                <a16:creationId xmlns:a16="http://schemas.microsoft.com/office/drawing/2014/main" id="{0A85E8AE-B42E-41B3-9018-A48A55D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5">
            <a:extLst xmlns:a="http://schemas.openxmlformats.org/drawingml/2006/main">
              <a:ext uri="{FF2B5EF4-FFF2-40B4-BE49-F238E27FC236}">
                <a16:creationId xmlns:a16="http://schemas.microsoft.com/office/drawing/2014/main" id="{584D6BE3-10B5-4942-B663-68DEA10E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ลำดับการประเมิน  /  สายวิชาการ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AA77C788-2133-4D2D-BA62-324E14A6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ผู้ประเมินแต่ละคนส่งต่องานตามลำดับ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DFCF1-F38E-4767-87E5-511041F0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57575"/>
            <a:ext cx="7658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3556E-1B4E-444A-9C2A-5BC8D2E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14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C7B0D-5874-49A6-9E70-791EAF85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1A605-6218-41F4-A6E7-0C29283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ผู้ประเมินคนที่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E4260-272F-4E8C-9F8B-E46B0A65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ตรวจและให้ผล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39C08-2870-42A5-B3D3-A18DEA2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AF11D-F626-4D18-863F-AC9884FE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FC37D-CAD7-4520-815E-0B15140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ผู้ประเมินคนถัดไป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70AA2-A3D2-4C00-A8FD-5C46960C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รับงานตามลำดับ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5C234-1223-45AA-823E-FE1C7B39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C3D7F-B9FE-45D1-AE8D-228E18A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59452-56B2-4F1B-B881-C11C160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ผู้ประเมินคนสุดท้าย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43517-BB69-4330-BD0B-24B7250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1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ยืนยันขั้นสุดท้าย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120F1-F232-4ED4-8A2C-654EE16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ผู้ประเมินคนสุดท้ายยืนยันแล้ว สถานะจะเป็น ประเมินเสร็จสิ้น (Completed)</a:t>
            </a:r>
          </a:p>
        </p:txBody>
      </p:sp>
      <p:sp>
        <p:nvSpPr>
          <p:cNvPr id="18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FB83AEE7-9F8F-430A-814D-B25AB057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B073DFA2-F8B2-438C-AD45-B58D9912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AE810D6B-88BB-4F30-8CFF-AA9DF820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5740928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70A46-F2A9-4138-9890-C150EFC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DAEFB-5556-45F5-A6F7-381A9D23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สถานะสุดท้าย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478C7-122B-4509-92EE-99BACAA2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เมื่อผู้ประเมินคนสุดท้ายยืนยัน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งานจะเสร็จสมบูรณ์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6A329-0DFB-47BE-8446-BAEFA8B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>
                <a:solidFill>
                  <a:srgbClr val="AEB8FF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AEB8FF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47549-8FEA-45C0-A21A-0B86AB63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524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B1158-77B5-4C4D-AA40-40B4320E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จำไว้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F282E-9B20-4F6C-BF16-31D6300B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ผู้ปิดงานไม่จำเป็นต้องเป็นบทบาทเดิมเสมอไป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40774-A08E-4795-8EBA-42422FEE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ให้ดู “ลำดับผู้ประเมิน”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ที่กำหนดกับงานนั้น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C6D90-C4DC-4EDD-92B1-3BF7E3D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8C5D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B8C5D1"/>
                </a:solidFill>
                <a:latin typeface="Tahoma"/>
                <a:ea typeface="Tahoma"/>
                <a:cs typeface="Tahoma"/>
              </a:rPr>
              <a:t>MSU EVA  •  สายวิชาการ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D2B46-88F9-4D7C-8290-B1F44D88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3767274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accent-17">
            <a:extLst xmlns:a="http://schemas.openxmlformats.org/drawingml/2006/main">
              <a:ext uri="{FF2B5EF4-FFF2-40B4-BE49-F238E27FC236}">
                <a16:creationId xmlns:a16="http://schemas.microsoft.com/office/drawing/2014/main" id="{1F6B1BFD-FADD-4A60-AA51-8E3BAE65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7">
            <a:extLst xmlns:a="http://schemas.openxmlformats.org/drawingml/2006/main">
              <a:ext uri="{FF2B5EF4-FFF2-40B4-BE49-F238E27FC236}">
                <a16:creationId xmlns:a16="http://schemas.microsoft.com/office/drawing/2014/main" id="{E0849F2B-5C9F-4F77-8AE7-23105691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ภารกิจฝึกปฏิบัติ  /  สายวิชาการ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9ED6E25F-1E8D-4758-A9B3-A25FF2FD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ลองกรอกแบบประเมิน 1 รายการให้ครบ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FF2D8-7CDB-4020-9737-16C4A05B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ลิงก์นี้ใช้สำหรับทดสอบระบบ เมื่อทุกท่านตรวจสอบแล้วและไม่มีข้อเสนอให้ปรับแก้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ทีมงานจะนำระบบไปติดตั้งบนเซิร์ฟเวอร์ของคณะทันทีครับ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085C-8D56-4937-AD88-51212AB8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u="sng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100" b="1" u="sng">
                <a:solidFill>
                  <a:srgbClr val="283887"/>
                </a:solidFill>
                <a:latin typeface="Tahoma"/>
                <a:ea typeface="Tahoma"/>
                <a:cs typeface="Tahoma"/>
                <a:hlinkClick xmlns:r="http://schemas.openxmlformats.org/officeDocument/2006/relationships" r:id="R30b1b3724a6d4a7b"/>
              </a:rPr>
              <a:t>http://149.28.142.186/login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BEBFF-19A6-40DE-9CAF-31EC6620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9C2D1-D68C-4ADB-8113-CB61542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5B929-DE17-4719-B725-0D95A8C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เลือกรายการที่กำหนด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F0E1B-0DCB-4C50-BB89-8B937609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2CA1E-B287-4321-AC7D-593AC876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C4E26-0F18-46C6-9F66-E2E9BE6D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กรอกข้อมูลปริมาณ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99469-784D-40DA-A4BC-28EB76A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E0E1D-EEF4-491D-8ECC-37008A6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F9765-EFA5-49DA-B5D4-F0E8A25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เติมคุณภาพและหลักฐาน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A9CC5-A383-45CA-BDB1-7E35905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2FB71-C6F8-4654-BB2F-45DD647A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95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DDB93-8A7E-4597-A60F-850D8EB0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ตรวจแล้วบันทึกร่าง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B73B1-FC27-4F63-9636-0E93713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54C33-B61B-47E6-8A2B-A74B9BD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ผ่านเมื่อ: ข้อมูลครบ • หลักฐานเปิดได้ • พร้อมอธิบายที่มาของคะแนน</a:t>
            </a:r>
          </a:p>
        </p:txBody>
      </p:sp>
      <p:sp>
        <p:nvSpPr>
          <p:cNvPr id="20" name="footer-rule-17">
            <a:extLst xmlns:a="http://schemas.openxmlformats.org/drawingml/2006/main">
              <a:ext uri="{FF2B5EF4-FFF2-40B4-BE49-F238E27FC236}">
                <a16:creationId xmlns:a16="http://schemas.microsoft.com/office/drawing/2014/main" id="{7A3D5A9A-AA2A-4158-92F3-B5CDADBB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17">
            <a:extLst xmlns:a="http://schemas.openxmlformats.org/drawingml/2006/main">
              <a:ext uri="{FF2B5EF4-FFF2-40B4-BE49-F238E27FC236}">
                <a16:creationId xmlns:a16="http://schemas.microsoft.com/office/drawing/2014/main" id="{DDFB6971-B165-41CF-AB46-9478D54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2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E97955A9-396D-44EF-8216-2653812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054918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8">
            <a:extLst xmlns:a="http://schemas.openxmlformats.org/drawingml/2006/main">
              <a:ext uri="{FF2B5EF4-FFF2-40B4-BE49-F238E27FC236}">
                <a16:creationId xmlns:a16="http://schemas.microsoft.com/office/drawing/2014/main" id="{3D3C14CC-B649-4669-8CAF-5D310D80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8">
            <a:extLst xmlns:a="http://schemas.openxmlformats.org/drawingml/2006/main">
              <a:ext uri="{FF2B5EF4-FFF2-40B4-BE49-F238E27FC236}">
                <a16:creationId xmlns:a16="http://schemas.microsoft.com/office/drawing/2014/main" id="{A5A9F8EF-C745-4D68-B59A-DC84A48C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แก้ปัญหาเบื้องต้น  /  สายวิชาการ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6BF57099-B3F5-4472-A37B-27FF2A92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หากใช้งานไม่ได้ ให้ตรวจสอบ 4 จุดนี้ก่อน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A8E49-CC4C-4392-89F1-5392B69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ED2A7-FB53-4EBE-B638-7F750C9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งานไม่ปรากฏ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98736-AF8D-4DA0-8182-CDCC90F4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ตรวจงานที่ได้รับมอบหมาย และแจ้งผู้ดูแลระบบหากรอบไม่ถูกต้อง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B5548-FF92-493A-BC09-4DA719C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A0230-75C6-4FD9-BD55-5E6F8B53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0FC7F-8B18-463B-88D3-8E7EA732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ปุ่มใช้งานไม่ได้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FA22C-8246-4147-8127-851FA36B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ตรวจสถานะปัจจุบันและสิทธิ์ของบทบาท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E26AA-08B5-4973-9CD5-3AC7F21D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CEF3B-A5D7-4403-A507-BDEC828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3D2B6-DC8D-487A-836E-F75735E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บันทึกหรือส่งไม่ได้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18CDD-7772-4E37-9E7F-B9D4250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67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ตรวจช่องบังคับ ค่าตัวเลข และลิงก์หลักฐาน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9E29B-DC12-4720-86C0-5353B866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BA751-147C-4253-9E46-3D20C8E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954FC-6065-4FB4-A848-8941E4B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ยังแก้ไม่ได้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8AC3A-D00D-4C71-951A-329B256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43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จดชื่อรายการและสถานะ แล้วติดต่อผู้ดูแลระบบ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FB429-8775-4C9C-A7A8-4EEB831F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463CE-8D5D-491B-8E7D-03B7DFA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คู่มือผู้ใช้ • ผู้ดูแลระบบของหน่วยงาน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edd77728c463f"/>
          <a:stretch xmlns:a="http://schemas.openxmlformats.org/drawingml/2006/main"/>
        </p:blipFill>
        <p:spPr>
          <a:xfrm xmlns:a="http://schemas.openxmlformats.org/drawingml/2006/main">
            <a:off x="9018037" y="5638800"/>
            <a:ext cx="2309327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36072E0B-EDBE-4B3A-A13D-9C534E90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C64BDEC3-8527-4C32-839F-F414285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4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96889ACA-9A8A-4441-B9A8-9F8F30D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900363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2026-08-01T12:42:30.7810000Z</dcterms:created>
  <dcterms:modified xsi:type="dcterms:W3CDTF">2026-08-01T12:42:30.7810000Z</dcterms:modified>
</coreProperties>
</file>