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5a4acc8a3624d05" /><Relationship Type="http://schemas.openxmlformats.org/officeDocument/2006/relationships/extended-properties" Target="/docProps/app.xml" Id="R4addc6a3557c4f3b" /><Relationship Type="http://schemas.openxmlformats.org/officeDocument/2006/relationships/officeDocument" Target="/ppt/presentation.xml" Id="R7e13ce22a14f410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9021c31b38b4d55"/>
  </p:sldMasterIdLst>
  <p:notesMasterIdLst>
    <p:notesMasterId xmlns:r="http://schemas.openxmlformats.org/officeDocument/2006/relationships" r:id="Rdf32fbece9df492d"/>
  </p:notesMasterIdLst>
  <p:sldIdLst>
    <p:sldId xmlns:r="http://schemas.openxmlformats.org/officeDocument/2006/relationships" id="256" r:id="R2bc8af4fd37148a4"/>
    <p:sldId xmlns:r="http://schemas.openxmlformats.org/officeDocument/2006/relationships" id="257" r:id="R7f2df4a22aa44c32"/>
    <p:sldId xmlns:r="http://schemas.openxmlformats.org/officeDocument/2006/relationships" id="258" r:id="Rdf70a8c98a004301"/>
    <p:sldId xmlns:r="http://schemas.openxmlformats.org/officeDocument/2006/relationships" id="259" r:id="R4a5bfddb1b874b9a"/>
    <p:sldId xmlns:r="http://schemas.openxmlformats.org/officeDocument/2006/relationships" id="260" r:id="Rc5a30986f1ce4aaf"/>
    <p:sldId xmlns:r="http://schemas.openxmlformats.org/officeDocument/2006/relationships" id="261" r:id="Rc296ae0669c94f53"/>
    <p:sldId xmlns:r="http://schemas.openxmlformats.org/officeDocument/2006/relationships" id="262" r:id="Rd88a5213eb244c20"/>
    <p:sldId xmlns:r="http://schemas.openxmlformats.org/officeDocument/2006/relationships" id="263" r:id="Re5ed9512873a496d"/>
    <p:sldId xmlns:r="http://schemas.openxmlformats.org/officeDocument/2006/relationships" id="264" r:id="Rda9992d4db834ee1"/>
    <p:sldId xmlns:r="http://schemas.openxmlformats.org/officeDocument/2006/relationships" id="265" r:id="R2fa934525db9412d"/>
    <p:sldId xmlns:r="http://schemas.openxmlformats.org/officeDocument/2006/relationships" id="266" r:id="R2e08ff17b3d84f2b"/>
    <p:sldId xmlns:r="http://schemas.openxmlformats.org/officeDocument/2006/relationships" id="267" r:id="R12b09154aa474711"/>
    <p:sldId xmlns:r="http://schemas.openxmlformats.org/officeDocument/2006/relationships" id="268" r:id="R865c88a83a5a44f4"/>
    <p:sldId xmlns:r="http://schemas.openxmlformats.org/officeDocument/2006/relationships" id="269" r:id="Rcb200849748a4af3"/>
    <p:sldId xmlns:r="http://schemas.openxmlformats.org/officeDocument/2006/relationships" id="270" r:id="Rdd92d21bc30342a6"/>
    <p:sldId xmlns:r="http://schemas.openxmlformats.org/officeDocument/2006/relationships" id="271" r:id="R60e956c8da604ad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5c312c6728b4690" /><Relationship Type="http://schemas.openxmlformats.org/officeDocument/2006/relationships/slideMaster" Target="/ppt/slideMasters/slideMaster1.xml" Id="R99021c31b38b4d55" /><Relationship Type="http://schemas.openxmlformats.org/officeDocument/2006/relationships/notesMaster" Target="/ppt/notesMasters/notesMaster1.xml" Id="Rdf32fbece9df492d" /><Relationship Type="http://schemas.openxmlformats.org/officeDocument/2006/relationships/presProps" Target="/ppt/presProps.xml" Id="R739e7a00736240e0" /><Relationship Type="http://schemas.openxmlformats.org/officeDocument/2006/relationships/tableStyles" Target="/ppt/tableStyles.xml" Id="R2e1764f7701a4cb2" /><Relationship Type="http://schemas.openxmlformats.org/officeDocument/2006/relationships/slide" Target="/ppt/slides/slide1.xml" Id="R2bc8af4fd37148a4" /><Relationship Type="http://schemas.openxmlformats.org/officeDocument/2006/relationships/slide" Target="/ppt/slides/slide2.xml" Id="R7f2df4a22aa44c32" /><Relationship Type="http://schemas.openxmlformats.org/officeDocument/2006/relationships/slide" Target="/ppt/slides/slide3.xml" Id="Rdf70a8c98a004301" /><Relationship Type="http://schemas.openxmlformats.org/officeDocument/2006/relationships/slide" Target="/ppt/slides/slide4.xml" Id="R4a5bfddb1b874b9a" /><Relationship Type="http://schemas.openxmlformats.org/officeDocument/2006/relationships/slide" Target="/ppt/slides/slide5.xml" Id="Rc5a30986f1ce4aaf" /><Relationship Type="http://schemas.openxmlformats.org/officeDocument/2006/relationships/slide" Target="/ppt/slides/slide6.xml" Id="Rc296ae0669c94f53" /><Relationship Type="http://schemas.openxmlformats.org/officeDocument/2006/relationships/slide" Target="/ppt/slides/slide7.xml" Id="Rd88a5213eb244c20" /><Relationship Type="http://schemas.openxmlformats.org/officeDocument/2006/relationships/slide" Target="/ppt/slides/slide8.xml" Id="Re5ed9512873a496d" /><Relationship Type="http://schemas.openxmlformats.org/officeDocument/2006/relationships/slide" Target="/ppt/slides/slide9.xml" Id="Rda9992d4db834ee1" /><Relationship Type="http://schemas.openxmlformats.org/officeDocument/2006/relationships/slide" Target="/ppt/slides/slide10.xml" Id="R2fa934525db9412d" /><Relationship Type="http://schemas.openxmlformats.org/officeDocument/2006/relationships/slide" Target="/ppt/slides/slide11.xml" Id="R2e08ff17b3d84f2b" /><Relationship Type="http://schemas.openxmlformats.org/officeDocument/2006/relationships/slide" Target="/ppt/slides/slide12.xml" Id="R12b09154aa474711" /><Relationship Type="http://schemas.openxmlformats.org/officeDocument/2006/relationships/slide" Target="/ppt/slides/slide13.xml" Id="R865c88a83a5a44f4" /><Relationship Type="http://schemas.openxmlformats.org/officeDocument/2006/relationships/slide" Target="/ppt/slides/slide14.xml" Id="Rcb200849748a4af3" /><Relationship Type="http://schemas.openxmlformats.org/officeDocument/2006/relationships/slide" Target="/ppt/slides/slide15.xml" Id="Rdd92d21bc30342a6" /><Relationship Type="http://schemas.openxmlformats.org/officeDocument/2006/relationships/slide" Target="/ppt/slides/slide16.xml" Id="R60e956c8da604ad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44e0b6e1606440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482941fb54841a6" /><Relationship Type="http://schemas.openxmlformats.org/officeDocument/2006/relationships/notesMaster" Target="/ppt/notesMasters/notesMaster1.xml" Id="R3678821344054fc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c5f8241bc2e4457" /><Relationship Type="http://schemas.openxmlformats.org/officeDocument/2006/relationships/notesMaster" Target="/ppt/notesMasters/notesMaster1.xml" Id="Re3b12820b67a4ba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182bb32a7ed4e35" /><Relationship Type="http://schemas.openxmlformats.org/officeDocument/2006/relationships/notesMaster" Target="/ppt/notesMasters/notesMaster1.xml" Id="R5c324b74c0c54b0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1ce5b428e0c4764" /><Relationship Type="http://schemas.openxmlformats.org/officeDocument/2006/relationships/notesMaster" Target="/ppt/notesMasters/notesMaster1.xml" Id="R8ba4aa16ab644ed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eb7d9661434aab" /><Relationship Type="http://schemas.openxmlformats.org/officeDocument/2006/relationships/notesMaster" Target="/ppt/notesMasters/notesMaster1.xml" Id="R3c13d065f76f4b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6f72b8c76c04299" /><Relationship Type="http://schemas.openxmlformats.org/officeDocument/2006/relationships/notesMaster" Target="/ppt/notesMasters/notesMaster1.xml" Id="R7439493869ae4871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db25f9fb790469c" /><Relationship Type="http://schemas.openxmlformats.org/officeDocument/2006/relationships/notesMaster" Target="/ppt/notesMasters/notesMaster1.xml" Id="R894ddb35c379495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af485d719b74900" /><Relationship Type="http://schemas.openxmlformats.org/officeDocument/2006/relationships/notesMaster" Target="/ppt/notesMasters/notesMaster1.xml" Id="R2b39fa84a85d4d1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02ba8c00b484a17" /><Relationship Type="http://schemas.openxmlformats.org/officeDocument/2006/relationships/notesMaster" Target="/ppt/notesMasters/notesMaster1.xml" Id="R6f16c1618fc34f7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6fb1521dfe9433f" /><Relationship Type="http://schemas.openxmlformats.org/officeDocument/2006/relationships/notesMaster" Target="/ppt/notesMasters/notesMaster1.xml" Id="R49f40fc0d22c484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1043b66c9c9451d" /><Relationship Type="http://schemas.openxmlformats.org/officeDocument/2006/relationships/notesMaster" Target="/ppt/notesMasters/notesMaster1.xml" Id="Rf9fb10816df248f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f5b61bb7cd841ef" /><Relationship Type="http://schemas.openxmlformats.org/officeDocument/2006/relationships/notesMaster" Target="/ppt/notesMasters/notesMaster1.xml" Id="R7483a4407462429b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1c5db766d664d66" /><Relationship Type="http://schemas.openxmlformats.org/officeDocument/2006/relationships/notesMaster" Target="/ppt/notesMasters/notesMaster1.xml" Id="Ra23a62f876a249e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6167a576e4fd4731" /><Relationship Type="http://schemas.openxmlformats.org/officeDocument/2006/relationships/notesMaster" Target="/ppt/notesMasters/notesMaster1.xml" Id="R5b007b67566146b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d5c5ddfe49c4665" /><Relationship Type="http://schemas.openxmlformats.org/officeDocument/2006/relationships/notesMaster" Target="/ppt/notesMasters/notesMaster1.xml" Id="R7e2b58eb45da457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badf9436bacf4b60" /><Relationship Type="http://schemas.openxmlformats.org/officeDocument/2006/relationships/notesMaster" Target="/ppt/notesMasters/notesMaster1.xml" Id="Ra24d5ae11d55467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ทุกท่านเคยทดลองใช้ระบบมาแล้วบางส่วน แต่วันนี้อาจมีเพื่อนร่วมงานที่เพิ่งเริ่มใช้งาน รวมถึงผู้ประเมินและผู้บริหารที่ยังไม่เคยทดลองขั้นตอนของตนเอง เราจะทบทวนพื้นฐานสั้น ๆ แล้วทดลองทำหนึ่งรายการให้ครบ ตั้งแต่การเปิดงาน กรอกข้อมูล แนบหลักฐาน บันทึกร่าง ส่งแบบประเมิน จนถึงขั้นตอนของผู้ประเมิน เป้าหมายคือให้ทุกคนเห็นภาพเดียวกันและกลับไปใช้งานจริงได้อย่างมั่นใจ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เป้าหมายของช่วงเช้าไม่ใช่การจำทุกปุ่ม แต่คือการทำงานหนึ่งรายการให้พร้อมส่ง รอบประเมินจะกำหนดโดยผู้ดูแลระบบ ส่วนผู้ใช้งานมีหน้าที่ตรวจสอบว่ารอบและรายการที่ได้รับมอบหมายถูกต้อง จากนั้นเราจะกรอกภาระงานและผลงาน แนบหลักฐาน และแยกให้ชัดว่าบันทึกร่างต่างจากส่งแบบประเมินอย่างไร ผู้ที่เคยทดสอบแล้วช่วยตรวจความครบถ้วน ผู้ที่เพิ่งเริ่มให้ทำตามจังหวะของวิทยากร ส่วนผู้บริหารและผู้ประเมินให้สังเกตข้อมูลที่จะได้รับในขั้นถัดไป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ก่อนลงรายละเอียด เรามาดูเส้นทางทั้งหมดก่อน งานเริ่มจากผู้รับการประเมินเปิดรายการและกรอกข้อมูล เมื่อพร้อมจึงส่งแบบประเมิน ระบบจะส่งต่อไปยังผู้ประเมินตามลำดับที่กำหนด ผู้ประเมินแต่ละคนตรวจและส่งต่องาน จนผู้ประเมินคนสุดท้ายยืนยันและสถานะเปลี่ยนเป็น ประเมินเสร็จสิ้น หรือ Completed ภาพนี้จะช่วยให้เราเข้าใจว่าทุกปุ่มมีผลต่อคนถัดไปอย่างไร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ในขั้นแรก ผู้รับการประเมินเป็นเจ้าของความครบถ้วนของข้อมูล ต้องเตรียมข้อมูล ตรวจค่าที่กรอกและหลักฐาน แล้วตัดสินใจว่าจะบันทึกร่างหรือส่งแบบประเมิน หากข้อมูลยังไม่ครบให้บันทึกร่างไว้ก่อน การส่งควรทำเมื่อข้อมูลพร้อมให้ผู้อื่นตรวจแล้ว ผู้ประเมินไม่ได้เริ่มจากศูนย์ แต่จะตัดสินใจจากข้อมูลและหลักฐานที่เราเตรียมไว้ ดังนั้นความชัดเจนในขั้นนี้ช่วยลดการย้อนกลับมาแก้ไข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จุดเริ่มต้นคือแดชบอร์ดของฉัน ให้ตรวจสามอย่างก่อนเปิดงาน ได้แก่ รอบประเมินที่ผู้ดูแลระบบกำหนด รายการที่ได้รับมอบหมาย และสถานะของงาน ผู้ใช้งานไม่ต้องเลือกรอบประเมินเอง หากรอบหรือรายการไม่ถูกต้อง ให้แจ้งผู้ดูแลระบบก่อนดำเนินการต่อ ต่อไปผมจะเปิดหนึ่งรายการให้ดู ทุกท่านยังไม่ต้องทำตาม ให้สังเกตตำแหน่งรอบประเมิน ชื่อรายการ และปุ่มเปิดงาน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แล้วเปิดรายการสายวิชาการที่เตรียมไว้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ให้ตรวจว่ารายวิชา ภาระงาน ผลงาน และหลักฐานเล่าเรื่องเดียวกัน รายวิชาบอกบริบท ภาระงานบอกสิ่งที่ทำและปริมาณ ผลงานอธิบายผลที่เกิดขึ้น และหลักฐานยืนยันว่าข้อมูลนั้นตรวจสอบได้ หากส่วนใดไม่สอดคล้อง ผู้ประเมินจะต้องเดาความหมายหรือขอข้อมูลเพิ่ม ก่อนกรอกจึงควรเลือกเกณฑ์และเตรียมหลักฐานให้ตรงกับงานจริงของเรา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สำหรับข้อมูลเชิงปริมาณ ให้ไล่ดูจากค่าน้ำหนักและภาระงานมาตรฐานไปยังภาระงานที่ทำได้ ซึ่งเป็นช่องที่ผู้รับการประเมินกรอก จากนั้นตรวจคะแนนที่ระบบคำนวณ ไม่ควรดูเฉพาะตัวเลขสุดท้าย แต่ต้องตรวจหน่วย ช่วงค่า และทศนิยมด้วย หากตัวเลขผิดปกติให้ย้อนกลับไปตรวจค่าที่กรอกก่อนบันทึก วิธีนี้ช่วยให้พบข้อผิดพลาดได้ตั้งแต่ต้นและอธิบายที่มาของคะแนนได้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resources/views/criteria_config/partials/create-quantity-template.blade.php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ข้อมูลเชิงคุณภาพควรช่วยให้ผู้ประเมินเข้าใจผลงานได้ในครั้งเดียว ใช้โครงง่าย ๆ ว่าทำอะไร เกิดผลอย่างไร และตรวจจากหลักฐานใด หลีกเลี่ยงคำกว้างที่ไม่บอกบทบาทหรือผลลัพธ์ และไม่จำเป็นต้องเขียนยาวเกินไป ขอให้ข้อความสัมพันธ์กับเกณฑ์และหลักฐานที่เลือก หากผู้ประเมินอ่านแล้วรู้ว่างานคืออะไร ผลคืออะไร และเปิดตรวจจากที่ไหน แสดงว่าข้อมูลมีความพร้อม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หลักฐานที่ดีต้องเปิดได้ ตรงกับรายการ และระบุตัวตนของเอกสารได้ ควรทดลองเปิดลิงก์ในหน้าต่างที่ไม่ได้ใช้บัญชีเจ้าของเอกสาร เพื่อดูว่าผู้ประเมินเข้าถึงได้จริงหรือไม่ ตั้งชื่อไฟล์หรือโฟลเดอร์ให้เข้าใจง่าย และหลีกเลี่ยงการแนบหลักฐานรวมที่หาเนื้อหาของรายการไม่พบ</a:t>
            </a:r>
          </a:p>
          <a:p xmlns:a="http://schemas.openxmlformats.org/drawingml/2006/main">
            <a:r>
              <a:t>[สาธิต] กรอกผลงานหนึ่งรายการ แนบลิงก์หลักฐาน และทดลองเปิดลิงก์จากมุมมองผู้ประเมิน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resources/views/criteria_config/partials/create-quality-template.blade.php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หากข้อมูลยังไม่ครบ ให้เลือกบันทึกร่าง เพราะสามารถกลับมาแก้ไขได้และงานยังไม่ถูกส่งต่อ ส่วนส่งแบบประเมินควรใช้เมื่อข้อมูลบังคับและหลักฐานครบแล้ว ระบบจะนำงานเข้าสู่ลำดับผู้ประเมิน และผู้รับการประเมินอาจแก้ไขไม่ได้ในขั้นนั้น ก่อนกดส่งจึงควรถามตัวเองว่าผู้ประเมินเห็นข้อมูลครบและเข้าใจที่มาของคะแนนแล้วหรือยัง วันนี้ช่วงทดลองเราจะหยุดที่บันทึกร่างก่อน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งานจะไม่ไปถึงทุกคนพร้อมกัน แต่เดินตามลำดับผู้ประเมินที่ผู้ดูแลระบบกำหนด ผู้ประเมินแต่ละคนจะตรวจ ให้ผล และส่งต่องานไปยังคนถัดไป จำนวนผู้ประเมินอาจต่างกันในแต่ละรายการ จึงควรดูสถานะและลำดับของงานนั้น ไม่ควรคาดเดาจากชื่อตำแหน่ง เมื่อถึงผู้ประเมินคนสุดท้าย การยืนยันของบุคคลนั้นจะทำให้งานเข้าสู่สถานะสุดท้าย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เมื่อได้รับงานประเมิน ให้เริ่มจากตรวจว่าข้อมูลตรงกับเกณฑ์ เปิดหลักฐานได้ และเนื้อหาสอดคล้องกัน จากนั้นจึงให้คะแนนหรือความเห็นตามสิทธิ์ของตน หากข้อมูลไม่ครบควรใช้วิธีดำเนินการที่ระบบรองรับ ไม่ควรให้ผลจากการคาดเดา ผู้บริหารหรือผู้ประเมินที่ยังไม่เคยใช้ระบบ ให้สังเกตว่าหน้าจอของผู้ประเมินต่างจากหน้าของผู้รับการประเมินตรงไหน</a:t>
            </a:r>
          </a:p>
          <a:p xmlns:a="http://schemas.openxmlformats.org/drawingml/2006/main">
            <a:r>
              <a:t>[สาธิต] เปลี่ยนเป็นบัญชีผู้ประเมิน เปิดงาน ตรวจข้อมูลและหลักฐาน แล้วบันทึกผล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ผู้ประเมินแต่ละคนรับผิดชอบขั้นของตนเอง เมื่อตรวจครบแล้วจึงส่งต่องาน ผู้ประเมินคนถัดไปจะเห็นข้อมูลและผลตามสิทธิ์ที่กำหนด ส่วนผู้ประเมินคนสุดท้ายมีหน้าที่ยืนยันขั้นสุดท้าย ลำดับนี้อาจไม่ตรงกับตำแหน่งบริหารแบบตายตัว ให้ยึดลำดับที่แสดงในงานเป็นหลัก</a:t>
            </a:r>
          </a:p>
          <a:p xmlns:a="http://schemas.openxmlformats.org/drawingml/2006/main">
            <a:r>
              <a:t>[สาธิต] ส่งต่องานหนึ่งลำดับ แล้วเปิดด้วยบัญชีผู้ประเมินคนสุดท้ายเพื่อให้เห็นปุ่มและสถานะก่อนยืนยัน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เมื่อผู้ประเมินคนสุดท้ายยืนยัน สถานะงานจะเปลี่ยนเป็น ประเมินเสร็จสิ้น หรือ Completed นั่นหมายถึงกระบวนการของรายการนี้ครบตามลำดับแล้ว ผู้ปิดงานไม่จำเป็นต้องเป็นบทบาทเดิมในทุกงาน จึงต้องดูผู้ประเมินคนสุดท้ายที่กำหนดไว้กับรายการนั้นเสมอ</a:t>
            </a:r>
          </a:p>
          <a:p xmlns:a="http://schemas.openxmlformats.org/drawingml/2006/main">
            <a:r>
              <a:t>[สาธิต] ยืนยันขั้นสุดท้ายและแสดงสถานะ Completed</a:t>
            </a:r>
          </a:p>
          <a:p xmlns:a="http://schemas.openxmlformats.org/drawingml/2006/main">
            <a:r>
              <a:t>[กลับมาที่สไลด์] ย้ำว่าการปิดงานเกิดจากลำดับ ไม่ได้ผูกกับชื่อตำแหน่งเดียว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ต่อไปเป็นช่วงทดลองใช้งาน ผู้ที่เคยทดสอบแล้วให้เลือกตรวจความครบถ้วนและช่วยสังเกตจุดที่ต่างจากครั้งก่อน ผู้ที่เข้ามาใหม่ให้ทำตามรายการทีละข้อ เป้าหมายคือเปิดงาน กรอกข้อมูลหนึ่งรายการ แนบหลักฐาน และบันทึกร่าง เมื่อเสร็จให้ยกมือหรือเรียกผู้ช่วย ยังไม่ต้องกดส่งแบบประเมิน เพราะเราจะตรวจความพร้อมและทำขั้นส่งพร้อมกันภายหลัง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หากติดขัด ให้ตรวจสี่จุดก่อน ได้แก่ รอบและรายการ สิทธิ์ของบัญชี สถานะปัจจุบัน และข้อมูลบังคับหรือหลักฐาน หากยังแก้ไม่ได้ ให้จดชื่อรายการ สถานะ และข้อความที่ปรากฏ แล้วแจ้งผู้ดูแลระบบ ข้อมูลเหล่านี้ช่วยวิเคราะห์ได้เร็วกว่าแจ้งเพียงว่าใช้งานไม่ได้</a:t>
            </a:r>
          </a:p>
          <a:p xmlns:a="http://schemas.openxmlformats.org/drawingml/2006/main">
            <a:r>
              <a:t>[ถามผู้เข้าอบรม] มีใครติดที่การเปิดงาน การบันทึกร่าง หรือการเปิดหลักฐานหรือไม่</a:t>
            </a:r>
          </a:p>
          <a:p xmlns:a="http://schemas.openxmlformats.org/drawingml/2006/main">
            <a:r>
              <a:t>[พูด] เมื่อทุกคนพร้อม เราจะตรวจข้อมูลร่วมกัน กดส่งแบบประเมิน แล้วให้ผู้ประเมินทดลองรับงานต่อ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5509dcffc47f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ef46e78c8847e3" /><Relationship Type="http://schemas.openxmlformats.org/officeDocument/2006/relationships/slideLayout" Target="/ppt/slideLayouts/slideLayout1.xml" Id="R1e768acf76ae4b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768acf76ae4b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534779e2c44b21" /><Relationship Type="http://schemas.openxmlformats.org/officeDocument/2006/relationships/image" Target="/ppt/media/image.jpeg" Id="Rcb5e4453f8c446e7" /><Relationship Type="http://schemas.openxmlformats.org/officeDocument/2006/relationships/image" Target="/ppt/media/image.png" Id="R279b62d852ac4f6e" /><Relationship Type="http://schemas.openxmlformats.org/officeDocument/2006/relationships/image" Target="/ppt/media/image2.png" Id="R3fe55aa9655b4dc5" /><Relationship Type="http://schemas.openxmlformats.org/officeDocument/2006/relationships/notesSlide" Target="/ppt/notesSlides/notesSlide1.xml" Id="R077f5b2a918549b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9ffaa67ef4d93" /><Relationship Type="http://schemas.openxmlformats.org/officeDocument/2006/relationships/notesSlide" Target="/ppt/notesSlides/notesSlide2.xml" Id="R0f87993ed1c34be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31c150bee24b41" /><Relationship Type="http://schemas.openxmlformats.org/officeDocument/2006/relationships/notesSlide" Target="/ppt/notesSlides/notesSlide3.xml" Id="R52e08d0ea54e4f3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5ea0d843834217" /><Relationship Type="http://schemas.openxmlformats.org/officeDocument/2006/relationships/notesSlide" Target="/ppt/notesSlides/notesSlide4.xml" Id="R85aac8d8a3c64e4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ff1b4559684e8c" /><Relationship Type="http://schemas.openxmlformats.org/officeDocument/2006/relationships/notesSlide" Target="/ppt/notesSlides/notesSlide5.xml" Id="R572af176f92947a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798138c8394994" /><Relationship Type="http://schemas.openxmlformats.org/officeDocument/2006/relationships/notesSlide" Target="/ppt/notesSlides/notesSlide6.xml" Id="Rb9af2bfb6ea6472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3e05210d5e4f74" /><Relationship Type="http://schemas.openxmlformats.org/officeDocument/2006/relationships/notesSlide" Target="/ppt/notesSlides/notesSlide7.xml" Id="R497c2a9e6da64cf8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fa1f5f249c4d3f" /><Relationship Type="http://schemas.openxmlformats.org/officeDocument/2006/relationships/notesSlide" Target="/ppt/notesSlides/notesSlide8.xml" Id="R98d2a7c8e8994d9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29567c26724446" /><Relationship Type="http://schemas.openxmlformats.org/officeDocument/2006/relationships/notesSlide" Target="/ppt/notesSlides/notesSlide9.xml" Id="Rf1ca7806c780476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b04f1212b145e1" /><Relationship Type="http://schemas.openxmlformats.org/officeDocument/2006/relationships/notesSlide" Target="/ppt/notesSlides/notesSlide10.xml" Id="R7952a1e914ef4c6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f201e5d3204c8c" /><Relationship Type="http://schemas.openxmlformats.org/officeDocument/2006/relationships/notesSlide" Target="/ppt/notesSlides/notesSlide11.xml" Id="R0e2b3443f28d453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7aea4eca4b462f" /><Relationship Type="http://schemas.openxmlformats.org/officeDocument/2006/relationships/notesSlide" Target="/ppt/notesSlides/notesSlide12.xml" Id="Rd1d2a8e185f645e5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a9a4407bc40af" /><Relationship Type="http://schemas.openxmlformats.org/officeDocument/2006/relationships/notesSlide" Target="/ppt/notesSlides/notesSlide13.xml" Id="Re25a2aa397984bb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833cfdc0ed4708" /><Relationship Type="http://schemas.openxmlformats.org/officeDocument/2006/relationships/notesSlide" Target="/ppt/notesSlides/notesSlide14.xml" Id="R3376ba042d8d4f0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52632013124765" /><Relationship Type="http://schemas.openxmlformats.org/officeDocument/2006/relationships/notesSlide" Target="/ppt/notesSlides/notesSlide15.xml" Id="R779a225d7818483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f8f7940ca24f36" /><Relationship Type="http://schemas.openxmlformats.org/officeDocument/2006/relationships/image" Target="/ppt/media/image3.png" Id="R0548bceb68a34ac5" /><Relationship Type="http://schemas.openxmlformats.org/officeDocument/2006/relationships/notesSlide" Target="/ppt/notesSlides/notesSlide16.xml" Id="R210270f6b8d14c33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5e4453f8c446e7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D933ECFE-1EC5-4F52-B11E-2F6D719CA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2E43BE9E-3227-4129-8B40-388610453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9b62d852ac4f6e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BCB2B5E4-2137-482B-A7F0-092A87D32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27FB2FDE-DDB4-400B-AF88-60F79E28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ภาคเช้า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531D7982-9308-4B44-9E94-7B489F82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สำหรับบุคลากรสายวิชาการ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2DDA3660-538D-46A7-9777-FDD199630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F1D087DB-AECE-44BD-9FCF-83AD674A8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กรอกภาระงานและผลงานให้ครบ ตรวจหลักฐาน แล้วส่งแบบประเมินอย่างมั่นใจ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609EFAE0-403E-44DE-A298-6DC87227E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สายวิชาการ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e55aa9655b4dc5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11875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B0854040-7F63-4F73-A13F-450796088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08198DAA-29B3-4E11-A64E-770CD156D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เป้าหมายการอบรม  /  สายวิชาการ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0C19A1CF-FCCB-4DA7-BC24-D29E4A6D1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วันนี้เราจะทดลองกรอกแบบประเมิน 1 รายการให้พร้อมส่ง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60224A-B1FE-4297-AE9E-741DB4EF2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DAB654-9DDD-4617-9A09-203539078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FE68FE-6850-4728-ACB6-40FCC95F3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B230D-5598-4315-850A-D9E585B13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เปิดงานที่ได้รับมอบหมายได้ถูกต้อง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4BED09-18BF-41C8-B3AD-C17B30863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E8B1AA-30B4-4CC2-8B8F-E02AC6BC5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7006CE-AED6-4391-9E0D-73B0DDB49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 คุณภาพ และหลักฐานได้ครบ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9D3507-CA2E-4F43-AEC4-A518A197E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BAC655-2400-4DD3-9C93-9201A10BC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95A9E6-43DE-4FC8-9596-DFC789AD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แยกการบันทึกร่างออกจากการยืนยันส่ง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8FC2F258-A51A-412B-A7A9-053E3BCB4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DA38F24-9B0C-43FC-8823-D694F41B5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79A591-BD1E-4E7B-ABB0-77F9D811D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D2491CEF-1F6F-458D-864F-816A423E6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D9764220-237A-4D40-BC6C-7C9F37A1F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AE49F28F-5457-4FFB-874C-7C9F0D9DC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 / 16</a:t>
            </a:r>
          </a:p>
        </p:txBody>
      </p:sp>
    </p:spTree>
    <p:extLst>
      <p:ext uri="{BB962C8B-B14F-4D97-AF65-F5344CB8AC3E}">
        <p14:creationId xmlns:p14="http://schemas.microsoft.com/office/powerpoint/2010/main" val="153464539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75D4CF61-D461-4C10-A6D9-31CF7D504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8ADC3A55-646F-43BE-AE5B-995B9EAFC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ภาพรวมกระบวนการ  /  สายวิชาการ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EB56D318-D2BA-40CE-A3B6-A0252C284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8CA41E4-9A51-4618-A4D9-A1632188A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ตั้งแต่เปิดงาน กรอกข้อมูล ตรวจความพร้อม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07C6E741-B7AE-4B02-B06E-FFBBB1E4D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7F138BEE-CE70-463C-A0A1-309B1B12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DA4DA1-5B18-40F6-BCC8-5C2261E7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048C7-B2DC-48B3-A6BC-95CE07ECB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DF8A8F0-9159-4E88-8389-9CB3AFA37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8A6BE8-5887-41B3-B026-386ECF405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73178E-3607-410D-9543-C6856BA0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43A41D-745C-4584-A9E0-D5CAAABA3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551201-7B98-4C6B-AEA2-D0B205C6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3D2E49-23DF-4440-9FD2-A8C97D914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ปริมาณ • คุณภาพ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4714BF-3B91-40E1-836C-1E27A0ED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66800D-3AA5-4673-8378-A32230092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02E839-CEA7-46E8-848B-D89BFCF74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D1159E-930A-4AF2-B16B-B2DA7C8DC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4BCBE77-1B2E-4122-A2BE-3DF01E482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A36328-692B-40EF-827F-41947485C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ADA37A2-95B1-4058-A4C4-9D505B35D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931325D-BF85-4DD8-8343-D8ED9DD27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C2E6CF0-3462-4DA2-B9A3-322CEF47D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2389CE8-1614-45E9-9409-58D6D3317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4EBE5F-D108-4117-B0EE-BB3E0481F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CD41557-B428-4ECC-861A-EDC28AD1D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0A7AA00-7D02-4A92-883F-B1AD0BAA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0843C7AC-BAD2-41EC-BF02-6657AC9A2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777957AF-7F86-4E98-8187-3173087ED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6444A86D-DA91-4151-96B7-A4A95862C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 / 16</a:t>
            </a:r>
          </a:p>
        </p:txBody>
      </p:sp>
    </p:spTree>
    <p:extLst>
      <p:ext uri="{BB962C8B-B14F-4D97-AF65-F5344CB8AC3E}">
        <p14:creationId xmlns:p14="http://schemas.microsoft.com/office/powerpoint/2010/main" val="80055399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4FB840FA-F481-49F5-8216-2FAD91CA0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2A7EE57D-BB4C-46BA-AA94-1CB50BC41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บทบาทของคุณ  /  สายวิชาการ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2BE994D5-125D-494B-B7EF-AA2BC8700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กรอกข้อมูลของคุณให้ครบ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E0BD08-66C3-49D1-ACC2-A348F6B84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คุณเป็นเจ้าของความครบถ้วนของข้อมูลวิชาการในขั้นแรก ผู้ประเมินจึงตรวจต่อได้อย่างมีหลักฐาน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65ABD-7EBB-42D5-B31A-4B5BF556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FD66C9-4C27-41C4-9F19-C01BB4CE1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FFE33C-81EF-45C5-97C9-A5FE3A903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350E18-2AD2-42C8-94FC-7C2257088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ข้อมูลรายวิชา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ภาระงาน และผลงาน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850645-5BDD-4F87-97B5-B1E937D21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56F8B5-33C4-4858-A625-5E0E0B38C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A1C823-E964-4719-97E3-A5D03F9D3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D0D85-0848-403D-BEF6-FE12C30AE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9BB469-4BA8-4968-BD2E-3665216F8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522716D-1DD7-412F-910B-2582C1D3E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46E4B39-C937-4D6C-A517-20823E217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08E3D1-B53F-49A1-9990-A7FAC2758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02CDDEC-99A1-4C09-97EF-714E7066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D64D01-592F-4429-83FA-1CCB4C660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A34922B0-B46E-48AB-A7D4-8E5F74939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A9BF57A3-4646-4B44-9084-EE4500143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BCF8C06F-FA3A-41BD-8A3C-EA5D3017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04 / 16</a:t>
            </a:r>
          </a:p>
        </p:txBody>
      </p:sp>
    </p:spTree>
    <p:extLst>
      <p:ext uri="{BB962C8B-B14F-4D97-AF65-F5344CB8AC3E}">
        <p14:creationId xmlns:p14="http://schemas.microsoft.com/office/powerpoint/2010/main" val="88190681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A0491177-76E7-46EA-B7A0-F352BB2CC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8315EED3-3924-4009-B384-728ACA396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จุดเริ่มต้น  /  สายวิชาการ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F0408664-A2C6-4C35-AAE9-DEBC33A9E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728AB2-26E6-4FAC-94FA-E70A9EE01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C75DF3C-78A9-438B-A7E2-B3B63A552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5FF8200-0D92-4491-9050-554483D57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6D179E-64B9-4466-99DA-BE331D05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DF703B-A929-4038-904B-5636B788B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FA265F-152B-4642-ABB6-3F36FB9DE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B9388-0CBD-4C49-8376-5CD7BD608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1967B8D-6B5B-406A-A320-8BE1EF20A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758072-3AB8-4A6E-A33B-CAEE2C056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78F45AF-51BC-46ED-87E7-DE34F4040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E70706-99FE-4072-9E49-01B40722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56A59F-C98E-478B-8936-E460A027D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F0BF007-BCA3-47A3-9DE9-36663BC58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9ADCF46D-2466-4EF9-BB90-EC288DA55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26645B-95BE-4612-AD50-EF5B5365A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295E29-C389-4CE7-BB06-736A6DF9D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D9DF0F-9343-4AC6-B736-8F5BE00F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สายวิชาการ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4CC63A-B430-4BAB-A138-1C9BFEF49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56DBCE2-EF11-419C-B09C-DD032C3EE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1344CD-5E47-4D9B-854A-568558CF4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EABB7E-864C-4986-9504-A38E6195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D9D97D7A-0DBD-4D24-99BD-3DBF9FA7B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F80CF7A7-14AD-4A33-BD07-01A978C9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7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099CB187-7EF4-4145-B0FF-C2F451F0F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05 / 16</a:t>
            </a:r>
          </a:p>
        </p:txBody>
      </p:sp>
    </p:spTree>
    <p:extLst>
      <p:ext uri="{BB962C8B-B14F-4D97-AF65-F5344CB8AC3E}">
        <p14:creationId xmlns:p14="http://schemas.microsoft.com/office/powerpoint/2010/main" val="2034692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9445EB16-40A4-46CF-B2C1-E92ECF8EC9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A48013BF-43AD-4682-BC5E-D9EED2F2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โครงสร้างข้อมูล  /  สายวิชาการ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7E0E1E30-0796-4A2E-A912-533F5AECB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ตรวจให้แน่ใจว่ารายวิชา ภาระงาน ผลงาน และหลักฐานสอดคล้องกัน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39972D-9829-4CA0-B475-7D67B1BCE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D08B4A-3822-442B-A8A5-12476F17D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59EA17B-BBEE-40ED-BC1A-3F0AAA647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0411BC4-988E-43D4-90EA-A91FC838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48BFB8-499C-4886-A26A-4357076BA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รายวิชา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9CF10-E416-4BE1-A735-6A4FB608B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บริบทของงานสอน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6036CFA-7593-4489-ADE4-3346B54D8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666201-32FE-4929-9B64-DFFA28365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D63C05B-81A2-4F04-99AE-0A15AA94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18D22-29E1-4A05-90EE-9CB69E622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สิ่งที่ทำและปริมาณ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2E0EA4-9956-437A-88A1-AAD8B5B2F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24C764-FC80-4C86-9787-804BCE4E6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F438AD-B085-4D88-9907-0145750FE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39C03B-09BA-4E1D-990E-D04474830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ผลลัพธ์เชิงคุณภาพ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769D68-7AD6-4916-9604-92C87D4AF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101A8-58E3-4E48-86EF-2C29256F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0C2908-4264-4A5D-ACB0-E892D63B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6C15D3-598F-49C3-835E-504249A37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สิ่งที่ตรวจสอบได้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8005A4-F100-444A-BD8D-0FAA37DF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ถ้าข้อมูลส่วนหนึ่งไม่สอดคล้อง ผู้ประเมินจะตีความงานได้ยาก</a:t>
            </a:r>
          </a:p>
        </p:txBody>
      </p:sp>
      <p:sp>
        <p:nvSpPr>
          <p:cNvPr id="23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1DE4222-2938-4F13-B922-6B0CE9E58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26A7766D-6F8F-425F-A59B-BAED37AA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5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67EED4C2-D44A-44D3-BFEF-D4CE1003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06 / 16</a:t>
            </a:r>
          </a:p>
        </p:txBody>
      </p:sp>
    </p:spTree>
    <p:extLst>
      <p:ext uri="{BB962C8B-B14F-4D97-AF65-F5344CB8AC3E}">
        <p14:creationId xmlns:p14="http://schemas.microsoft.com/office/powerpoint/2010/main" val="180379732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24B17B88-AA1F-4B28-89D0-0C88EB47C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139C8D9D-F442-4EB2-B8A0-93E524324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ข้อมูลเชิงปริมาณ  /  สายวิชาการ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9711542A-9EED-43BF-816C-ED847925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กรอกภาระงานที่ทำได้ แล้วตรวจคะแนนที่ระบบคำนวณ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5B3C41-AFA7-425E-A5AB-700FE55E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572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อ่านช่อง A–D ให้เป็นลำดับเดียวกัน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34DE34-0DC7-470A-96E2-37F3AC63A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60567-4BDC-4667-99BE-8BE59ABEF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C2AA1B-CFAD-482C-97EE-F2E451435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ค่าน้ำหนัก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E685AE-1FC3-41CE-A44E-0E2553A49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กำหนดจากเกณฑ์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32B853-AAEF-4212-8FBC-A4DC5055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409605-2EF1-4680-AC2B-2632B8D6F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B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53D369-B40E-4AE7-BA8E-03D42A5E8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ภาระงานมาตรฐาน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93CA2E-D36D-4F29-85EE-ACF5EECA6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ค่าฐานของรายการ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71F1C5-7CBD-4CCB-ACE8-701253842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586AF7-985F-4E6F-A7AD-9CDFE2FA0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67A161-DFB9-4CE6-8C3C-2F179145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ภาระงานที่ทำได้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7463926-DC0D-4ED3-8133-24743F4AB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ข้อมูลที่คุณกรอก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866E86-799F-4A48-A35B-1862CAC9A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667000"/>
            <a:ext cx="2343150" cy="236220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31A1EA6-1AA5-42EA-9BD3-368AB137B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2857500"/>
            <a:ext cx="762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2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42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F88B96-979F-4B8C-BCE5-08317741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733800"/>
            <a:ext cx="19240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คะแนนที่คำนวณ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D37021-F652-46AE-916D-8A673AA49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419600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ตรวจผลจากระบบ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DFCC3D5-678D-4F50-9779-7E1C7086E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769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ตรวจหน่วยและค่าทศนิยมก่อนบันทึก</a:t>
            </a:r>
          </a:p>
        </p:txBody>
      </p:sp>
      <p:sp>
        <p:nvSpPr>
          <p:cNvPr id="22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07E12F1A-30E4-4E91-AECA-870B5A4C2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02C1CBC2-90CE-4628-AE6E-FF71D09AC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3C651546-2057-471A-B36E-3D5662D23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07 / 16</a:t>
            </a:r>
          </a:p>
        </p:txBody>
      </p:sp>
    </p:spTree>
    <p:extLst>
      <p:ext uri="{BB962C8B-B14F-4D97-AF65-F5344CB8AC3E}">
        <p14:creationId xmlns:p14="http://schemas.microsoft.com/office/powerpoint/2010/main" val="125051153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FDA5A7EB-12D0-4350-8EA8-4D9074CF8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BE20900A-AC94-4A49-B954-D2C5DDFD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ข้อมูลเชิงคุณภาพ  /  สายวิชาการ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ABB59984-A15F-4EC4-9CF7-4E071643F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อธิบายผลงานให้ผู้ประเมินเข้าใจได้ในครั้งเดียว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92F363-7680-44AB-A2C7-DCF939C2A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9048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เขียนให้เห็นว่า “ทำอะไร — เกิดผลอย่างไร — ตรวจจากไหน”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93ACE2-0F6D-45F2-90A7-DFAE62CF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028E6D-4652-4C16-B604-79F4E458E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27432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ทำอะไร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778118F-D8EF-48F1-9D6C-696391E53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7813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ระบุผลงานหรือบทบาทให้ชัด ไม่ใช้คำกว้าง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6A186D-0237-4AEA-93FA-25C09625D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42900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40FAA6-1515-4F11-93C6-BFC71532C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21EC42-8E5C-4E6E-B773-D3C7ABEE6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37147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เกิดผลอย่างไร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B5613C5-B956-415A-9677-CFBFBF4A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75285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สรุปผลลัพธ์ที่สัมพันธ์กับเกณฑ์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95F064-E061-401D-AF3E-C947635CD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400550"/>
            <a:ext cx="94107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CF19A3-84FD-4740-A652-53F85E95E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6096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7DA5367-BC5B-4F4B-9339-1966AD17E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46863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ตรวจจากไหน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7C4DFCE-F77B-4127-BC3F-809AA9770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724400"/>
            <a:ext cx="657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ชี้ไปยังเอกสารหรือหลักฐานที่ตรงรายการ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FEB7A1-9B0D-414B-918E-1C78C7501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885950"/>
            <a:ext cx="2876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2DEEBF-4054-48F1-B8D9-7E3FFF08F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38350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ชัด • สั้น • ตรวจสอบได้</a:t>
            </a:r>
          </a:p>
        </p:txBody>
      </p:sp>
      <p:sp>
        <p:nvSpPr>
          <p:cNvPr id="18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3B9E256C-132E-4D75-BF07-6880A0499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65EA5361-ED02-4127-B54B-77532CE52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BADA527C-AA7F-4A8B-A513-3C4D086D9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08 / 16</a:t>
            </a:r>
          </a:p>
        </p:txBody>
      </p:sp>
    </p:spTree>
    <p:extLst>
      <p:ext uri="{BB962C8B-B14F-4D97-AF65-F5344CB8AC3E}">
        <p14:creationId xmlns:p14="http://schemas.microsoft.com/office/powerpoint/2010/main" val="45041957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D2F262E0-EFF7-4A06-B78D-47F096CB5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D480F920-827C-465C-BE6D-8966055B3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หลักฐาน  /  สายวิชาการ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978142E1-51FF-4958-8DF2-FCB8140C1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แนบหลักฐานที่เปิดดูได้และตรงกับผลงาน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46499-7AB9-4EE1-B85D-928043BC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หลักฐานที่ดีช่วยให้ผู้ประเมินตรวจได้เร็ว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5C0C6-ADB1-4041-80C5-26823DA01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DBE81-C83D-407F-8BE4-3A64F6C54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12A96FA-E767-4A04-A7AF-0A6D6BC9C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ECFFAC-1110-4C5F-8CFD-188B39A80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5ACE1-B0F1-45BF-9E41-D344EACA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291B7B-CB9D-467D-BC76-C5B6AAD6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8100C2-E4D0-4594-8581-546D67E1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6EE559-65C7-4789-B496-C316AF75D0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สอดคล้องกับผลงานหรือเกณฑ์ที่เลือก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46B0CF-4ACF-4F0A-9ADE-E864E90E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AABCA7-72AC-4170-AB9C-BF899ED09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CD67E7A-9454-4A0D-9B7D-F313AE674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25A46D-1771-4CF2-8C4E-12CC3033D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9E2341-3152-4F35-A671-6D54A55E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9525">
            <a:solidFill>
              <a:srgbClr val="4356C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080F313-CF91-45D1-8F79-BC1CD412B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4059299D-2761-49C5-8431-CF9EE5114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25C9B808-075B-4DB6-B772-B7BE36155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71C3C1F4-91ED-4335-9054-9BB8D7B8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09 / 16</a:t>
            </a:r>
          </a:p>
        </p:txBody>
      </p:sp>
    </p:spTree>
    <p:extLst>
      <p:ext uri="{BB962C8B-B14F-4D97-AF65-F5344CB8AC3E}">
        <p14:creationId xmlns:p14="http://schemas.microsoft.com/office/powerpoint/2010/main" val="3889424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2A42A116-53CF-4875-BD9E-90B0A807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27AC9F3C-3A84-4280-A98A-1EA155D00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ก่อนกดปุ่ม  /  สายวิชาการ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964B9EEF-8E8C-46E8-9B6C-4EA4A1C9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BE33EAA4-D08C-4E6C-9F59-769EF6F9D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2E48298-2F5B-4AB0-A8C7-295C8F3D1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204051-892A-4B85-A71F-5B55BCB7C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1D458B92-F49B-4242-9996-3ACC08D0D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19050">
            <a:solidFill>
              <a:srgbClr val="4356C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F88D9A-0E77-4F64-92E9-02A9B5FFA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311C435-7F50-43E9-A3F7-DB5893A3F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ผู้ส่งแก้ไขในขั้นนั้นไม่ได้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ตรวจข้อมูลและหลักฐานก่อนยืนยัน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3C4AB4-956E-4178-B5E6-29E5DB53A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4C0F0850-9C76-4384-BAC2-B1F4ABF6A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7BE4CD8D-D20E-4361-AC3A-F989EBC9D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13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CD8CB78F-ED47-4E58-A648-305845100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10 / 16</a:t>
            </a:r>
          </a:p>
        </p:txBody>
      </p:sp>
    </p:spTree>
    <p:extLst>
      <p:ext uri="{BB962C8B-B14F-4D97-AF65-F5344CB8AC3E}">
        <p14:creationId xmlns:p14="http://schemas.microsoft.com/office/powerpoint/2010/main" val="175257159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905FB47A-5E5C-40D2-A678-7EF946432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CE00831D-4737-4F1E-AE29-70BB6362F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หลังจากส่ง  /  สายวิชาการ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EA203767-059A-4D10-9A6A-BF446ACEC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7B1A99-DD14-4735-B1B5-923D2C387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B3593F-79FF-49FA-9254-9EB38088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FACA70-86AC-44F6-A4D4-E9D7511D6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90D792-3880-4440-8B05-BD150259A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3C980B-FDEA-467A-BABA-DBE21C43D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3FCE9D-5DD3-4D1E-A2B7-1167EF1F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7A13F1-E82C-4878-BB6E-92C32119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1A49B8-CCC3-4FF0-8CA9-AB263A2E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FCAE29-2D1E-4337-81F5-F93C36D2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8FFBF9-4B4E-4AC9-BF60-20970113C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6EC9762-AD48-4EE4-86F9-2D42F0C4F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631F58-7F70-4D7F-85B1-A6847163D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A1AFDE3-FA0C-4906-8DF8-4B9B53ED2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127554B-9478-4118-AA04-DC08130428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A02A725-A99D-4E13-945D-01B6EEFFE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D2025B-2628-45BF-B0F7-436EC135F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549E2C-B70D-4E71-9BF1-934EDAAE5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44B5596-71AB-4859-97DB-CB8A416F4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F2C36D89-8319-45C4-A750-78B93EAF2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B9C55A43-A3A6-447E-AB82-C7EE7A536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71CB2021-CC71-4DB6-916A-3ACEEEDF6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11 / 16</a:t>
            </a:r>
          </a:p>
        </p:txBody>
      </p:sp>
    </p:spTree>
    <p:extLst>
      <p:ext uri="{BB962C8B-B14F-4D97-AF65-F5344CB8AC3E}">
        <p14:creationId xmlns:p14="http://schemas.microsoft.com/office/powerpoint/2010/main" val="129891081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72B3D41B-E7BF-41EE-B792-ED06659F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105A2C5C-C262-4881-A7B4-0893BF17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สำหรับผู้ประเมิน  /  สายวิชาการ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52B3002D-68B8-4314-AC6C-577FFBA8A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เมื่อได้รับงานประเมิน ให้ตรวจข้อมูลและหลักฐานก่อนให้ผล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D4DB5B-88FA-42DA-B76A-436F5FC2C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2688F-58D3-4A9D-ABEF-9856155D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B279D0-071D-448F-B639-42A22082E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เนื้อหาตรงกับเกณฑ์ที่เลือก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2042B8-9E2E-497C-B443-E92DB4C73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7F6005-F64D-475F-B74E-87ED3F2A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4286E5-87AF-475F-B9DE-1D12FCA2F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D2DB2B-D498-4327-ADFA-24ED6A7E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ตรวจความสอดคล้องกับผลงาน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F215E8-1533-4F15-BBB2-B938737C2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13DFD85-4117-4ED3-8DC4-8D4FDF2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35DEAF5-95D1-4286-8D89-321BBEA6E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DAB29DC-17E6-4291-BDA3-087509DC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ให้คะแนนหรือความเห็นตามสิทธิ์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468F41-9BB2-415B-8FA2-889033B53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790B24-8555-47F3-8555-6421F19AA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3756E16-6182-4831-967A-512D5F1B7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79F59F-AAF7-4C73-A85C-7929FB6A8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ดำเนินการเมื่อข้อมูลครบ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9ED053B-8262-46B7-AE17-126CB7CA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7DA12CC-4246-4417-8183-509641F98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E84259E0-5C12-475C-B4EA-1754E7E49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C52A09ED-D14B-42D7-93D0-823998DF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3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451F8ADD-EDA6-419B-99CD-E2D1C3D5B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12 / 16</a:t>
            </a:r>
          </a:p>
        </p:txBody>
      </p:sp>
    </p:spTree>
    <p:extLst>
      <p:ext uri="{BB962C8B-B14F-4D97-AF65-F5344CB8AC3E}">
        <p14:creationId xmlns:p14="http://schemas.microsoft.com/office/powerpoint/2010/main" val="74176795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458AE651-C05E-4775-BBC2-D6A1C15B3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183A4187-C6E8-469D-BA50-F4F4237B0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ลำดับการประเมิน  /  สายวิชาการ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5A8EE055-9D09-425F-B3E0-81FB39A51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4DFBF2-13E1-48EE-A1D0-C712F69FD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297C346-DB95-433A-BE08-CD7736385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BA852F-DC4D-4907-B636-6415A5E58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C908DE-A783-4E35-8A64-0A781CB82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52C448-E088-4E4A-AE7B-C8C523F1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9970407-37F0-45EA-B504-541B65E8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B0983F-2A2E-44CF-BBEE-365AE994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7188719-052F-42DC-B6E9-386476804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35C6AC-2F95-40F2-8665-B9FBBFB3B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F096C19-A735-4406-A988-A355025F2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51E3FD-070E-483B-9091-A1E0515F4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379609-888C-4362-AD40-DAE3F899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4C47C7-44F1-46FF-BB46-07653B7FD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56D537-DC91-4EE2-95B0-9CF00A09E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ADD16157-F6D0-44A6-9650-AE72E683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FB08CA2A-5802-4192-8E69-119318C29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0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E021203-3CCA-4005-B2BA-6CE8628E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13 / 16</a:t>
            </a:r>
          </a:p>
        </p:txBody>
      </p:sp>
    </p:spTree>
    <p:extLst>
      <p:ext uri="{BB962C8B-B14F-4D97-AF65-F5344CB8AC3E}">
        <p14:creationId xmlns:p14="http://schemas.microsoft.com/office/powerpoint/2010/main" val="50246527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102A4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30E6419-ED27-44B0-B4F8-374FBD6C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6645AE2-942C-404C-BD69-323F7088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334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สถานะสุดท้าย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38DB87-C45F-400E-8FDC-CC94335AD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504950"/>
            <a:ext cx="6667500" cy="1314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เมื่อผู้ประเมินคนสุดท้ายยืนยัน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36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36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งานจะเสร็จสมบูรณ์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328328-72BA-47F3-AD7B-E3D66A021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76600"/>
            <a:ext cx="7048500" cy="1028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150" b="1">
                <a:solidFill>
                  <a:srgbClr val="AEB8FF"/>
                </a:solidFill>
                <a:latin typeface="Tahoma"/>
                <a:ea typeface="Tahoma"/>
                <a:cs typeface="Tahoma"/>
              </a:defRPr>
            </a:pPr>
            <a:r>
              <a:rPr sz="6150" b="1">
                <a:solidFill>
                  <a:srgbClr val="AEB8FF"/>
                </a:solidFill>
                <a:latin typeface="Tahoma"/>
                <a:ea typeface="Tahoma"/>
                <a:cs typeface="Tahoma"/>
              </a:rPr>
              <a:t>Completed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DA70E4-3DAB-491A-AF48-5B0F48688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28750"/>
            <a:ext cx="352425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EF9543-A81B-4C8C-9FFA-1B0DA1BD2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809750"/>
            <a:ext cx="2800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จำไว้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DB026A-3C56-43C7-BD6E-807D262BC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400300"/>
            <a:ext cx="28003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ผู้ปิดงานไม่จำเป็นต้องเป็นบทบาทเดิมเสมอไป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F060D4-C10A-4E96-A939-75DBB5E4D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867150"/>
            <a:ext cx="28003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ให้ดู “ลำดับผู้ประเมิน”</a:t>
            </a:r>
          </a:p>
          <a:p xmlns:a="http://schemas.openxmlformats.org/drawingml/2006/main">
            <a:pPr algn="l">
              <a:lnSpc>
                <a:spcPct val="108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ที่กำหนดกับงานนั้น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AA6B4EC-966C-4103-9726-F67AF2129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229350"/>
            <a:ext cx="3810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0">
                <a:solidFill>
                  <a:srgbClr val="B8C5D1"/>
                </a:solidFill>
                <a:latin typeface="Tahoma"/>
                <a:ea typeface="Tahoma"/>
                <a:cs typeface="Tahoma"/>
              </a:defRPr>
            </a:pPr>
            <a:r>
              <a:rPr sz="1050" b="0">
                <a:solidFill>
                  <a:srgbClr val="B8C5D1"/>
                </a:solidFill>
                <a:latin typeface="Tahoma"/>
                <a:ea typeface="Tahoma"/>
                <a:cs typeface="Tahoma"/>
              </a:rPr>
              <a:t>MSU EVA  •  สายวิชาการ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EE5D97-4E28-4399-972D-25655F4AC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229350"/>
            <a:ext cx="1104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0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14 / 16</a:t>
            </a:r>
          </a:p>
        </p:txBody>
      </p:sp>
    </p:spTree>
    <p:extLst>
      <p:ext uri="{BB962C8B-B14F-4D97-AF65-F5344CB8AC3E}">
        <p14:creationId xmlns:p14="http://schemas.microsoft.com/office/powerpoint/2010/main" val="115553815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C82A7676-98C2-47B8-A3E3-7BD432A1E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68DF2160-5313-4E37-9022-1CB63574B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ภารกิจฝึกปฏิบัติ  /  สายวิชาการ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B35CE51F-1D9E-409E-8785-36A11A646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ลองกรอกแบบประเมิน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4D68F0-53B7-4838-B9D5-BBF3A9F43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27D407-EFA2-4CAE-A45E-669155C55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9797FB1-1754-4166-97B7-FAF71A02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9B2CE4-18D0-4A2C-8DD1-BA30789A0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เลือกรายการที่กำหนด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5BF157-713E-4624-8182-7214ACD6B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646DF9-5828-4801-BCD7-23C9DBE1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1E1F97-3685-4D66-85E3-3AA9C0F5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กรอกข้อมูลปริมาณ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F9B1CE-71EB-456C-A43F-C8E62397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19CFD95-F90A-4D3C-B960-B3E98BEBB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CD2FD39-4516-4704-A74B-968234F0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เติมคุณภาพและหลักฐาน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5D19307-406F-4DA6-B493-FE503BF76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894F92-85EE-4B57-BF6F-E6E034B0A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80EBF1A-0248-4A74-88EC-3B458A0F9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ตรวจแล้วบันทึกร่าง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56E1FC4-3838-485E-92E5-64B15741C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5EA1FF-C3B8-482A-885A-D8B53A6F6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E921E08F-0424-43A9-A6B7-B0CD6AE88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5F46F65F-3361-44AE-8ACB-9CA3D9529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1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F524A415-0C58-4655-9CFA-2879E788F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15 / 16</a:t>
            </a:r>
          </a:p>
        </p:txBody>
      </p:sp>
    </p:spTree>
    <p:extLst>
      <p:ext uri="{BB962C8B-B14F-4D97-AF65-F5344CB8AC3E}">
        <p14:creationId xmlns:p14="http://schemas.microsoft.com/office/powerpoint/2010/main" val="113547090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5E57E268-57B7-4E11-86BC-B0F1201F2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356C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DA595B37-32E1-4B67-906E-C8F624DC5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แก้ปัญหาเบื้องต้น  /  สายวิชาการ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11C746E9-8260-4CC2-926F-8977FBDF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73074C-B4E0-4EA1-BBB8-14F4B047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F46B2B-470B-4CDF-BDDF-5A43AAE1D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8ACCD9D-3D93-4328-BE09-2C3CC316A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631EEFF-BA3C-425D-B1A2-45DDBD044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28DA1-1B82-4757-996A-4C12D0977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52549-D43A-4E30-B1B1-DA44BEDF5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57197B-CEDB-4E7F-9143-54A85A27C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07CF7C-F071-4692-9F8B-37BC6FED2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F6448-C37E-42CA-833A-5C5C22D40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6FE5D3-E748-4C55-9583-5F38C8175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338B55-EF01-4769-8893-8A48A8A5C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ตรวจช่องบังคับ ค่าตัวเลข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E5044D-57C4-4EF7-895C-B57B03369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30588B-9022-4D33-B0F4-F742C84B3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A25929-466F-4D2A-AB31-C25D090F0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D6F649E-0783-4140-94C4-99B2A8D01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0F22667-C681-4B34-80DF-AB7C1FD8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9ECF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9DAA081-89C0-45C8-BD33-9F5F432E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283887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283887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8bceb68a34ac5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2E0EF384-BFF2-4AFF-9485-FA5CE5EA05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F377DF82-0182-4AEA-A8CE-0E506B2D9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ภาคเช้า สายวิชาการ</a:t>
            </a:r>
          </a:p>
        </p:txBody>
      </p:sp>
      <p:sp>
        <p:nvSpPr>
          <p:cNvPr id="24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E16989D5-3316-4AE2-B7EF-BF9155C02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4356C7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4356C7"/>
                </a:solidFill>
                <a:latin typeface="Tahoma"/>
                <a:ea typeface="Tahoma"/>
                <a:cs typeface="Tahoma"/>
              </a:rPr>
              <a:t>16 / 16</a:t>
            </a:r>
          </a:p>
        </p:txBody>
      </p:sp>
    </p:spTree>
    <p:extLst>
      <p:ext uri="{BB962C8B-B14F-4D97-AF65-F5344CB8AC3E}">
        <p14:creationId xmlns:p14="http://schemas.microsoft.com/office/powerpoint/2010/main" val="205351762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2026-07-30T03:01:25.6780000Z</dcterms:created>
  <dcterms:modified xsi:type="dcterms:W3CDTF">2026-07-30T03:01:25.6780000Z</dcterms:modified>
</coreProperties>
</file>