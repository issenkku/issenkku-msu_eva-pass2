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ef9813ee5b40cf" /><Relationship Type="http://schemas.openxmlformats.org/officeDocument/2006/relationships/extended-properties" Target="/docProps/app.xml" Id="R9d56cfb3f9ce424b" /><Relationship Type="http://schemas.openxmlformats.org/officeDocument/2006/relationships/officeDocument" Target="/ppt/presentation.xml" Id="R7689a16eb56f49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11d32156b442f5"/>
  </p:sldMasterIdLst>
  <p:notesMasterIdLst>
    <p:notesMasterId xmlns:r="http://schemas.openxmlformats.org/officeDocument/2006/relationships" r:id="Rbc28fcabc26a4dfb"/>
  </p:notesMasterIdLst>
  <p:sldIdLst>
    <p:sldId xmlns:r="http://schemas.openxmlformats.org/officeDocument/2006/relationships" id="256" r:id="R6ccc4321486a4137"/>
    <p:sldId xmlns:r="http://schemas.openxmlformats.org/officeDocument/2006/relationships" id="257" r:id="R90a3a745f0734b00"/>
    <p:sldId xmlns:r="http://schemas.openxmlformats.org/officeDocument/2006/relationships" id="258" r:id="Ra07d888c46f2479d"/>
    <p:sldId xmlns:r="http://schemas.openxmlformats.org/officeDocument/2006/relationships" id="259" r:id="Rb66bbd8551c44419"/>
    <p:sldId xmlns:r="http://schemas.openxmlformats.org/officeDocument/2006/relationships" id="260" r:id="R7676b3bc7d10404c"/>
    <p:sldId xmlns:r="http://schemas.openxmlformats.org/officeDocument/2006/relationships" id="261" r:id="R56fcfdb51a664976"/>
    <p:sldId xmlns:r="http://schemas.openxmlformats.org/officeDocument/2006/relationships" id="262" r:id="R7165cbe5d35741f0"/>
    <p:sldId xmlns:r="http://schemas.openxmlformats.org/officeDocument/2006/relationships" id="263" r:id="R2c32fe6a5b4443c2"/>
    <p:sldId xmlns:r="http://schemas.openxmlformats.org/officeDocument/2006/relationships" id="264" r:id="R21a97dbf181f49c5"/>
    <p:sldId xmlns:r="http://schemas.openxmlformats.org/officeDocument/2006/relationships" id="265" r:id="R6a21abdf65564b0b"/>
    <p:sldId xmlns:r="http://schemas.openxmlformats.org/officeDocument/2006/relationships" id="266" r:id="Raa41046c0d954e30"/>
    <p:sldId xmlns:r="http://schemas.openxmlformats.org/officeDocument/2006/relationships" id="267" r:id="R85868b9a15454521"/>
    <p:sldId xmlns:r="http://schemas.openxmlformats.org/officeDocument/2006/relationships" id="268" r:id="Rf34b23d06abf452f"/>
    <p:sldId xmlns:r="http://schemas.openxmlformats.org/officeDocument/2006/relationships" id="269" r:id="Rfa4412faca6e4ee3"/>
    <p:sldId xmlns:r="http://schemas.openxmlformats.org/officeDocument/2006/relationships" id="270" r:id="R3fb7fc9bd5da477a"/>
    <p:sldId xmlns:r="http://schemas.openxmlformats.org/officeDocument/2006/relationships" id="271" r:id="R7e163eb071d04098"/>
    <p:sldId xmlns:r="http://schemas.openxmlformats.org/officeDocument/2006/relationships" id="272" r:id="R2c29a33583164639"/>
    <p:sldId xmlns:r="http://schemas.openxmlformats.org/officeDocument/2006/relationships" id="273" r:id="R8737c7f9047845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45fdf381fc4a78" /><Relationship Type="http://schemas.openxmlformats.org/officeDocument/2006/relationships/slideMaster" Target="/ppt/slideMasters/slideMaster1.xml" Id="R3c11d32156b442f5" /><Relationship Type="http://schemas.openxmlformats.org/officeDocument/2006/relationships/notesMaster" Target="/ppt/notesMasters/notesMaster1.xml" Id="Rbc28fcabc26a4dfb" /><Relationship Type="http://schemas.openxmlformats.org/officeDocument/2006/relationships/presProps" Target="/ppt/presProps.xml" Id="R6df1f39ce1df4be9" /><Relationship Type="http://schemas.openxmlformats.org/officeDocument/2006/relationships/tableStyles" Target="/ppt/tableStyles.xml" Id="Rb0875302932743ca" /><Relationship Type="http://schemas.openxmlformats.org/officeDocument/2006/relationships/slide" Target="/ppt/slides/slide1.xml" Id="R6ccc4321486a4137" /><Relationship Type="http://schemas.openxmlformats.org/officeDocument/2006/relationships/slide" Target="/ppt/slides/slide2.xml" Id="R90a3a745f0734b00" /><Relationship Type="http://schemas.openxmlformats.org/officeDocument/2006/relationships/slide" Target="/ppt/slides/slide3.xml" Id="Ra07d888c46f2479d" /><Relationship Type="http://schemas.openxmlformats.org/officeDocument/2006/relationships/slide" Target="/ppt/slides/slide4.xml" Id="Rb66bbd8551c44419" /><Relationship Type="http://schemas.openxmlformats.org/officeDocument/2006/relationships/slide" Target="/ppt/slides/slide5.xml" Id="R7676b3bc7d10404c" /><Relationship Type="http://schemas.openxmlformats.org/officeDocument/2006/relationships/slide" Target="/ppt/slides/slide6.xml" Id="R56fcfdb51a664976" /><Relationship Type="http://schemas.openxmlformats.org/officeDocument/2006/relationships/slide" Target="/ppt/slides/slide7.xml" Id="R7165cbe5d35741f0" /><Relationship Type="http://schemas.openxmlformats.org/officeDocument/2006/relationships/slide" Target="/ppt/slides/slide8.xml" Id="R2c32fe6a5b4443c2" /><Relationship Type="http://schemas.openxmlformats.org/officeDocument/2006/relationships/slide" Target="/ppt/slides/slide9.xml" Id="R21a97dbf181f49c5" /><Relationship Type="http://schemas.openxmlformats.org/officeDocument/2006/relationships/slide" Target="/ppt/slides/slide10.xml" Id="R6a21abdf65564b0b" /><Relationship Type="http://schemas.openxmlformats.org/officeDocument/2006/relationships/slide" Target="/ppt/slides/slide11.xml" Id="Raa41046c0d954e30" /><Relationship Type="http://schemas.openxmlformats.org/officeDocument/2006/relationships/slide" Target="/ppt/slides/slide12.xml" Id="R85868b9a15454521" /><Relationship Type="http://schemas.openxmlformats.org/officeDocument/2006/relationships/slide" Target="/ppt/slides/slide13.xml" Id="Rf34b23d06abf452f" /><Relationship Type="http://schemas.openxmlformats.org/officeDocument/2006/relationships/slide" Target="/ppt/slides/slide14.xml" Id="Rfa4412faca6e4ee3" /><Relationship Type="http://schemas.openxmlformats.org/officeDocument/2006/relationships/slide" Target="/ppt/slides/slide15.xml" Id="R3fb7fc9bd5da477a" /><Relationship Type="http://schemas.openxmlformats.org/officeDocument/2006/relationships/slide" Target="/ppt/slides/slide16.xml" Id="R7e163eb071d04098" /><Relationship Type="http://schemas.openxmlformats.org/officeDocument/2006/relationships/slide" Target="/ppt/slides/slide17.xml" Id="R2c29a33583164639" /><Relationship Type="http://schemas.openxmlformats.org/officeDocument/2006/relationships/slide" Target="/ppt/slides/slide18.xml" Id="R8737c7f9047845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d981a16e8540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aa22ab9a84435c" /><Relationship Type="http://schemas.openxmlformats.org/officeDocument/2006/relationships/notesMaster" Target="/ppt/notesMasters/notesMaster1.xml" Id="R7a0820859f2244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d31fa46dfa4ef3" /><Relationship Type="http://schemas.openxmlformats.org/officeDocument/2006/relationships/notesMaster" Target="/ppt/notesMasters/notesMaster1.xml" Id="R09bc1de566b946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ca6a4e8dee4b55" /><Relationship Type="http://schemas.openxmlformats.org/officeDocument/2006/relationships/notesMaster" Target="/ppt/notesMasters/notesMaster1.xml" Id="R7f0874fe7c1a4d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92e30e60fd470c" /><Relationship Type="http://schemas.openxmlformats.org/officeDocument/2006/relationships/notesMaster" Target="/ppt/notesMasters/notesMaster1.xml" Id="R3f582d2df1dc4f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a3d1004db04e5b" /><Relationship Type="http://schemas.openxmlformats.org/officeDocument/2006/relationships/notesMaster" Target="/ppt/notesMasters/notesMaster1.xml" Id="R8b89ce77221341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de12d2a57941f1" /><Relationship Type="http://schemas.openxmlformats.org/officeDocument/2006/relationships/notesMaster" Target="/ppt/notesMasters/notesMaster1.xml" Id="R8c9f263f351c49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0722d6700b40e6" /><Relationship Type="http://schemas.openxmlformats.org/officeDocument/2006/relationships/notesMaster" Target="/ppt/notesMasters/notesMaster1.xml" Id="R175719bd794b4c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c54434d5c34d02" /><Relationship Type="http://schemas.openxmlformats.org/officeDocument/2006/relationships/notesMaster" Target="/ppt/notesMasters/notesMaster1.xml" Id="Rfa65694c8d7e4d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d38e8d266a4497" /><Relationship Type="http://schemas.openxmlformats.org/officeDocument/2006/relationships/notesMaster" Target="/ppt/notesMasters/notesMaster1.xml" Id="R9a790700c5aa4d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4d06b117e54c74" /><Relationship Type="http://schemas.openxmlformats.org/officeDocument/2006/relationships/notesMaster" Target="/ppt/notesMasters/notesMaster1.xml" Id="Rcd4a44aa1e0141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aef79885bc431d" /><Relationship Type="http://schemas.openxmlformats.org/officeDocument/2006/relationships/notesMaster" Target="/ppt/notesMasters/notesMaster1.xml" Id="R1c41f045f2a14a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71dfb7f1894a70" /><Relationship Type="http://schemas.openxmlformats.org/officeDocument/2006/relationships/notesMaster" Target="/ppt/notesMasters/notesMaster1.xml" Id="Rbd96b9c76a7f46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4124efebdd4255" /><Relationship Type="http://schemas.openxmlformats.org/officeDocument/2006/relationships/notesMaster" Target="/ppt/notesMasters/notesMaster1.xml" Id="R10b21945b03a492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f52ef8c35304e1f" /><Relationship Type="http://schemas.openxmlformats.org/officeDocument/2006/relationships/notesMaster" Target="/ppt/notesMasters/notesMaster1.xml" Id="R1d93d5b96b974c2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2fb812525424b32" /><Relationship Type="http://schemas.openxmlformats.org/officeDocument/2006/relationships/notesMaster" Target="/ppt/notesMasters/notesMaster1.xml" Id="R6136d1ae46884db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cecd6f12ba34598" /><Relationship Type="http://schemas.openxmlformats.org/officeDocument/2006/relationships/notesMaster" Target="/ppt/notesMasters/notesMaster1.xml" Id="Ra890ed4f04da4e5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5b04abce49406b" /><Relationship Type="http://schemas.openxmlformats.org/officeDocument/2006/relationships/notesMaster" Target="/ppt/notesMasters/notesMaster1.xml" Id="Rb404ad699e6c458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8df5e5504c64e74" /><Relationship Type="http://schemas.openxmlformats.org/officeDocument/2006/relationships/notesMaster" Target="/ppt/notesMasters/notesMaster1.xml" Id="Rccb46a1669ef4d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ขอต้อนรับเข้าสู่การอบรมการใช้งานระบบ MSU EVA สำหรับบุคลากรสายวิชาการนะครับ วันนี้ในห้องนี้มีทั้งท่านที่เคยช่วยทดสอบระบบมาแล้ว ท่านที่เพิ่งเข้ามาใช้งานครั้งแรก รวมถึงผู้ประเมิน กรรมการ และผู้บริหาร ไม่เป็นไรครับ เดี๋ยวเราจะค่อย ๆ ไปด้วยกัน ช่วงแรกผมจะพาทำความรู้จักระบบและบทบาทต่าง ๆ ก่อน หลังจากนั้นผมจะสาธิตหนึ่งรอบ แล้วทุกท่านจะได้ลองใช้บัญชีที่เตรียมไว้ครับ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ก่อนเริ่ม ขอชวนทุกท่านตั้งเป้าหมายร่วมกันนิดหนึ่งครับ วันนี้เราไม่จำเป็นต้องจำทุกปุ่ม สิ่งที่อยากให้ทำได้คือเปิดงานหนึ่งรายการ ตรวจข้อมูล กรอกผลงาน แนบหลักฐาน แล้วแยกให้ออกว่าเมื่อไรควรบันทึกร่างและเมื่อไรจึงควรส่งแบบประเมิน รอบประเมินเป็นสิ่งที่ผู้ดูแลระบบกำหนดไว้ให้แล้วนะครับ เรามีหน้าที่ตรวจว่ารอบและงานที่ได้รับมอบหมายถูกต้อง เมื่อเห็นเป้าหมายตรงกันแล้ว ต่อไปเรามาดูว่าระบบนี้ช่วยงานส่วนใดบ้างครับ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หลายท่านอาจคุ้นกับ MSU EVA ในฐานะหน้ากรอกแบบประเมิน แต่จริง ๆ ระบบดูแลงานตั้งแต่ต้นจนจบเลยครับ เริ่มจากผู้ใช้และสิทธิ์ เกณฑ์ประเมิน รอบและการมอบหมายงาน ไปจนถึงการกรอก การประเมิน การติดตามสถานะ และการส่งออกรายงาน ส่วนการเตรียมระบบเหล่านี้เป็นหน้าที่ของ Admin ผู้ใช้งานทั่วไปจึงไม่ต้องสร้างหรือเลือกรอบประเมินเองครับ เราเพียงตรวจรอบกับงานที่ได้รับ แล้วทำตามสิทธิ์ของเรา ทีนี้เรามาดูกันครับว่าในระบบมีใครบ้าง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ระบบมีผู้ใช้งานหลักห้าบทบาทครับ ได้แก่ Admin ผู้รับการประเมิน ผู้ประเมิน กรรมการ และผู้บริหาร แต่ละคนจะเห็นเมนูและปุ่มไม่เหมือนกัน ตรงนี้ขอเน้นนิดหนึ่งครับ Admin เป็นผู้กำหนดผู้ใช้ เกณฑ์ รอบประเมิน การมอบหมาย และลำดับผู้ประเมิน ส่วนผู้ประเมิน กรรมการ และผู้บริหารจะเป็นขั้นตรวจตามที่ Admin จัดไว้ บางงานอาจไม่ได้ใช้ครบทุกบทบาท และคนที่ปิดงานคือคนสุดท้ายในลำดับของงานนั้นครับ เมื่อรู้จักคนในระบบแล้ว ต่อไปมาดูเส้นทางของงานกันครับ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ทีนี้ลองมองภาพรวมจากซ้ายไปขวานะครับ งานเริ่มจากผู้รับการประเมินเปิดรายการและกรอกข้อมูล เมื่อข้อมูลพร้อมจึงกดส่งแบบประเมิน จากนั้นระบบจะส่งงานไปยังผู้ประเมินทีละคนตามลำดับที่กำหนดไว้ ไม่ได้ส่งให้ทุกคนพร้อมกันครับ เมื่อผู้ประเมินคนสุดท้ายยืนยัน สถานะจึงเปลี่ยนเป็นประเมินเสร็จสิ้น หรือ Completed จำภาพนี้ไว้ก่อนนะครับ เพราะอีกสักครู่ทุกปุ่มที่เราดูจะสัมพันธ์กับเส้นทางนี้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ในขั้นแรก ผู้รับการประเมินต้องกรอกข้อมูลและแนบหลักฐานให้ครบครับ ถ้ายังไม่ครบ ให้บันทึกร่างไว้ก่อน ยังไม่ต้องส่งแบบประเมิน ผู้ประเมินจะตัดสินใจจากสิ่งที่เราเตรียมไว้ ถ้าข้อมูลชัดและหลักฐานเปิดได้ งานก็เดินต่อได้ง่าย ตรงนี้เข้าใจตรงกันแล้ว เดี๋ยวผมพาไปดูจุดเริ่มต้นบนหน้าจอจริงครับ</a:t>
            </a:r>
          </a:p>
          <a:p xmlns:a="http://schemas.openxmlformats.org/drawingml/2006/main">
            <a:r>
              <a:t>[เตรียมสาธิต] ตั้งแต่สไลด์ถัดไป ผมจะเปิดระบบให้ดูเป็นช่วง ๆ ครับ ทุกท่านยังไม่ต้องกดตาม จนกว่าจะถึงช่วงทดลองใช้งาน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ต่อไปขอพาทุกท่านมาที่แดชบอร์ดของฉันครับ ก่อนเปิดงานให้ตรวจสามอย่าง คือรอบประเมินที่ผู้ดูแลระบบกำหนด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ถ้ารอบหรือรายการไม่ถูกต้องให้แจ้งผู้ดูแลระบบก่อน เดี๋ยวผมเปิดให้ดูก่อนครับ ทุกท่านยังไม่ต้องกดตาม ให้สังเกตตำแหน่งชื่อรอบ ชื่อรายการ และปุ่มเปิดงานครับ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เปิดแดชบอร์ด ตรวจสอบรอบประเมินที่ได้รับมอบหมาย แล้วเปิดรายการสายวิชาการที่เตรียมไว้</a:t>
            </a:r>
          </a:p>
          <a:p xmlns:a="http://schemas.openxmlformats.org/drawingml/2006/main">
            <a:r>
              <a:t>[กลับมานำเสนอ] เมื่อเห็นจุดเริ่มต้นบนระบบแล้ว ต่อไปเรามาดูว่าข้อมูลแต่ละส่วนต้องสัมพันธ์กันอย่างไรครับ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เมื่อเปิดรายการเข้ามาแล้ว ลองสังเกตนะครับว่ารายวิชา ภาระงาน ผลงาน และหลักฐานควรเล่าเรื่องเดียวกัน รายวิชาบอกบริบท ภาระงานบอกว่าเราทำอะไรและทำมากน้อยเพียงใด ผลงานบอกผลที่เกิดขึ้น ส่วนหลักฐานช่วยยืนยันข้อมูล ถ้าสี่ส่วนนี้ไม่สัมพันธ์กัน ผู้ประเมินก็จะต้องเดาหรือขอข้อมูลเพิ่มครับ เพราะฉะนั้นก่อนกรอก เราควรเลือกเกณฑ์ให้ตรงกับงานจริงก่อน แล้วค่อยไปดูข้อมูลเชิงปริมาณครับ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สำหรับข้อมูลเชิงปริมาณ ให้ไล่ดูทีละช่องนะครับ เริ่มจากค่าน้ำหนัก ภาระงานมาตรฐาน แล้วจึงกรอกภาระงานที่ทำได้ ระบบจะคำนวณคะแนนให้ ตรงนี้อย่าดูเฉพาะตัวเลขสุดท้ายครับ ให้ตรวจหน่วย ช่วงค่า และทศนิยมด้วย ถ้าคะแนนดูแปลก ให้ย้อนกลับไปดูค่าที่กรอกก่อนเป็นอันดับแรก วิธีนี้ช่วยให้เราอธิบายที่มาของคะแนนได้ชัดเจน แล้วต่อไปเราจะดูข้อมูลอีกแบบหนึ่ง คือผลงานเชิงคุณภาพครับ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ทีนี้มาดูข้อมูลเชิงคุณภาพครับ ส่วนนี้ไม่จำเป็นต้องเขียนยาว แต่ควรตอบให้ครบสามเรื่องว่าเราทำอะไร เกิดผลอย่างไร และตรวจจากหลักฐานใด ลองคิดว่าผู้ประเมินอ่านเพียงครั้งเดียวแล้วควรเห็นภาพงานของเราได้ครับ หลีกเลี่ยงคำกว้าง ๆ ที่ไม่บอกบทบาทหรือผลลัพธ์ ถ้าข้อความสัมพันธ์กับเกณฑ์และหลักฐาน ก็ถือว่าพร้อมในระดับหนึ่งแล้ว ต่อไปเรามาตรวจว่าหลักฐานแบบไหนจึงจะใช้งานได้จริงครับ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ตรงนี้ขอเน้นนิดหนึ่งครับ หลักฐานที่แนบไม่ได้วัดแค่ว่ามีหรือไม่มี แต่ต้องเปิดได้ ตรงกับรายการ และรู้ว่าเป็นเอกสารอะไร ทางที่ดีให้ทดลองเปิดลิงก์ในหน้าต่างที่ไม่ได้ใช้บัญชีเจ้าของเอกสาร จะได้เห็นเหมือนที่ผู้ประเมินเห็น เดี๋ยวผมทำให้ดูก่อนครับ ทุกท่านยังไม่ต้องทำตาม ให้สังเกตตั้งแต่การกรอกผลงาน การแนบลิงก์ ไปจนถึงการทดลองเปิดหลักฐานครับ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กรอกผลงานหนึ่งรายการ แนบลิงก์หลักฐาน และทดลองเปิดลิงก์จากมุมมองผู้ประเมิน</a:t>
            </a:r>
          </a:p>
          <a:p xmlns:a="http://schemas.openxmlformats.org/drawingml/2006/main">
            <a:r>
              <a:t>[กลับมานำเสนอ] เมื่อเห็นวิธีแนบและเปิดหลักฐานแล้ว ต่อไปเรามาแยกบันทึกร่างกับส่งแบบประเมินให้ชัดครับ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เมื่อกรอกข้อมูลแล้ว เราจะเจอสองทางเลือกครับ ถ้ายังมีส่วนที่ต้องกลับมาแก้ ให้เลือกบันทึกร่าง งานจะยังไม่ถูกส่งต่อ แต่ถ้าข้อมูลบังคับและหลักฐานครบแล้ว จึงเลือกส่งแบบประเมิน เพราะหลังส่ง งานจะเข้าสู่ลำดับผู้ประเมินและเราอาจแก้ไขไม่ได้ในช่วงนั้น ก่อนกดยืนยัน ลองถามตัวเองสั้น ๆ ครับว่า ผู้ประเมินเห็นข้อมูลครบและเข้าใจที่มาของคะแนนแล้วหรือยัง วันนี้ตอนทดลอง ทุกท่านหยุดที่บันทึกร่างก่อนนะครับ แล้วเรามาดูกันต่อว่าเมื่อส่งจริง งานจะไปไหน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หลังจากกดส่ง งานไม่ได้หายไปและไม่ได้ไปถึงทุกคนพร้อมกัน ระบบจะส่งให้ผู้ประเมินตามลำดับที่ Admin กำหนดไว้ ผู้ประเมินคนปัจจุบันจะเห็นงานและดำเนินการได้ ส่วนคนถัดไปต้องรอการส่งต่อก่อน จำนวนผู้ประเมินอาจต่างกันในแต่ละงานนะครับ เพราะฉะนั้นเวลาอยากรู้ว่างานอยู่ที่ใคร ให้ดูสถานะและลำดับของรายการนั้นเป็นหลัก ต่อไปผมจะสลับไปดูมุมของผู้ประเมินครับ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ตอนนี้เรามองจากฝั่งผู้ประเมินนะครับ เมื่อได้รับงาน สิ่งแรกที่ควรทำคืออ่านข้อมูลให้ตรงกับเกณฑ์ ตรวจคะแนน และเปิดหลักฐานจริงก่อนให้ผล ถ้าข้อมูลไม่ครบ ให้ใช้ตัวเลือกที่ระบบเปิดให้ตามสิทธิ์ ไม่ควรเดาจากชื่อรายการอย่างเดียว เดี๋ยวผมสาธิตให้ดูครับ ให้สังเกตว่าข้อมูลส่วนใดมาจากผู้รับการประเมิน และส่วนใดเป็นการตัดสินใจของผู้ประเมิน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เปิดรายการในบัญชีผู้ประเมิน ตรวจข้อมูล คะแนน และหลักฐาน แล้วบันทึกผลการประเมิน</a:t>
            </a:r>
          </a:p>
          <a:p xmlns:a="http://schemas.openxmlformats.org/drawingml/2006/main">
            <a:r>
              <a:t>[กลับมานำเสนอ] เมื่อเห็นมุมของผู้ประเมินแล้ว ต่อไปเรามาดูการส่งต่องานไปยังผู้ประเมินคนถัดไปครับ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เมื่อผู้ประเมินคนหนึ่งตรวจเสร็จ งานยังไม่ถือว่าปิดนะครับ ต้องส่งต่อไปยังคนถัดไปตามลำดับ ผู้ประเมินคนถัดไปจึงจะรับงานและเห็นข้อมูลที่เกี่ยวข้อง ตรงนี้สำคัญครับ เพราะแต่ละงานอาจมีจำนวนขั้นไม่เท่ากัน เดี๋ยวผมส่งต่องานหนึ่งขั้นให้ดู แล้วเปิดบัญชีของผู้ประเมินคนถัดไป เพื่อให้เห็นการเปลี่ยนสถานะจริงครับ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ส่งต่องานหนึ่งขั้น แล้วสลับไปยังบัญชีผู้ประเมินลำดับถัดไปเพื่อตรวจสถานะ</a:t>
            </a:r>
          </a:p>
          <a:p xmlns:a="http://schemas.openxmlformats.org/drawingml/2006/main">
            <a:r>
              <a:t>[กลับมานำเสนอ] เมื่อเห็นการส่งต่องานแล้ว ต่อไปเรามาดูว่าผู้ประเมินคนสุดท้ายปิดงานอย่างไรครับ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ทีนี้มาถึงขั้นสุดท้ายครับ เมื่อผู้ประเมินคนสุดท้ายยืนยัน ระบบจึงเปลี่ยนสถานะเป็นประเมินเสร็จสิ้น หรือ Completed คำว่า “คนสุดท้าย” ให้ดูจากลำดับของงานจริงนะครับ ไม่ได้หมายความว่าต้องเป็นผู้บริหารเสมอไป เดี๋ยวผมยืนยันขั้นสุดท้ายให้ดู แล้วเราจะกลับมาที่สไลด์เพื่อทบทวนว่าจุดสังเกตมีอะไรบ้างครับ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เปิดบัญชีผู้ประเมินคนสุดท้าย ยืนยันผล และแสดงสถานะ Completed</a:t>
            </a:r>
          </a:p>
          <a:p xmlns:a="http://schemas.openxmlformats.org/drawingml/2006/main">
            <a:r>
              <a:t>[กลับมานำเสนอ] เมื่อเห็นสถานะ Completed แล้ว ต่อไปจะเป็นช่วงที่ทุกท่านได้ทดลองใช้งานครับ</a:t>
            </a:r>
          </a:p>
          <a:p xmlns:a="http://schemas.openxmlformats.org/drawingml/2006/main">
            <a:r>
              <a:t> ชี้ให้เห็นว่างานปิดเมื่อผู้ประเมินคนสุดท้ายในลำดับยืนยันแล้ว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เมื่อเห็นภาพครบแล้ว ต่อไปเป็นเวลาของทุกท่านครับ ให้เปิดบัญชีที่เตรียมไว้ ผู้ที่เคยทดสอบแล้วลองเน้นตรวจความครบถ้วนและช่วยสังเกตสิ่งที่เปลี่ยนไป ส่วนผู้ที่เพิ่งเริ่ม ให้ทำทีละข้อ ไม่ต้องรีบครับ เลือกรายการ กรอกข้อมูล ตรวจคะแนน แนบหลักฐาน แล้วบันทึกร่าง เมื่อทำเสร็จให้ยกมือเรียกผมหรือทีมงานได้เลย ยังไม่ต้องกดส่งแบบประเมินนะครับ 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ก่อนจบช่วงนี้ ถ้าใครติดขัดให้ลองตรวจสี่จุดก่อนครับ หนึ่ง รอบและรายการที่ได้รับมอบหมาย สอง สิทธิ์ของบัญชี สาม สถานะปัจจุบันของงาน และสี่ ข้อมูลบังคับหรือหลักฐาน ถ้าคะแนนผิดปกติ ให้ย้อนดูค่าที่กรอกกับหน่วยก่อน หากยังแก้ไม่ได้ ให้จดชื่อรายการ สถานะ และข้อความที่พบ จะช่วยให้ผู้ดูแลระบบตรวจได้เร็วขึ้นครับ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ตอนนี้มีใครติดที่การเปิดงาน การกรอกข้อมูล การคำนวณคะแนน หรือการแนบหลักฐานไหมครับ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วันนี้ขอให้จำไว้สามเรื่องครับ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2f13ef091c46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955c68a4eb454e" /><Relationship Type="http://schemas.openxmlformats.org/officeDocument/2006/relationships/slideLayout" Target="/ppt/slideLayouts/slideLayout1.xml" Id="R4f49d2c4e61047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49d2c4e61047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6ad012ff64e81" /><Relationship Type="http://schemas.openxmlformats.org/officeDocument/2006/relationships/image" Target="/ppt/media/image.jpeg" Id="R823c57051a67428b" /><Relationship Type="http://schemas.openxmlformats.org/officeDocument/2006/relationships/image" Target="/ppt/media/image.png" Id="Rc2ad2bfa71a64297" /><Relationship Type="http://schemas.openxmlformats.org/officeDocument/2006/relationships/image" Target="/ppt/media/image2.png" Id="Rb1a5facf1ea64135" /><Relationship Type="http://schemas.openxmlformats.org/officeDocument/2006/relationships/notesSlide" Target="/ppt/notesSlides/notesSlide1.xml" Id="Rbce4ccb554b448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a463a42a740bf" /><Relationship Type="http://schemas.openxmlformats.org/officeDocument/2006/relationships/notesSlide" Target="/ppt/notesSlides/notesSlide2.xml" Id="Rfe190e9cdfa247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d60a76fc04f05" /><Relationship Type="http://schemas.openxmlformats.org/officeDocument/2006/relationships/notesSlide" Target="/ppt/notesSlides/notesSlide3.xml" Id="Rb9d582aea88642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dfc7eb0fc4233" /><Relationship Type="http://schemas.openxmlformats.org/officeDocument/2006/relationships/notesSlide" Target="/ppt/notesSlides/notesSlide4.xml" Id="Rd775389d7b6349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5bd2a73784bb1" /><Relationship Type="http://schemas.openxmlformats.org/officeDocument/2006/relationships/notesSlide" Target="/ppt/notesSlides/notesSlide5.xml" Id="R15359d4ef5c442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a5e8902f54ef2" /><Relationship Type="http://schemas.openxmlformats.org/officeDocument/2006/relationships/notesSlide" Target="/ppt/notesSlides/notesSlide6.xml" Id="Rca63a3712b7644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474cf771c4ab7" /><Relationship Type="http://schemas.openxmlformats.org/officeDocument/2006/relationships/notesSlide" Target="/ppt/notesSlides/notesSlide7.xml" Id="R22805de25b3149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a9deffcad4062" /><Relationship Type="http://schemas.openxmlformats.org/officeDocument/2006/relationships/notesSlide" Target="/ppt/notesSlides/notesSlide8.xml" Id="Rce7870aeaca846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853ca7cee4a82" /><Relationship Type="http://schemas.openxmlformats.org/officeDocument/2006/relationships/notesSlide" Target="/ppt/notesSlides/notesSlide9.xml" Id="R95b2f1bb56c54a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e675d96c546d8" /><Relationship Type="http://schemas.openxmlformats.org/officeDocument/2006/relationships/notesSlide" Target="/ppt/notesSlides/notesSlide10.xml" Id="Rdc0d76a0fc9e4a7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0549f56304007" /><Relationship Type="http://schemas.openxmlformats.org/officeDocument/2006/relationships/notesSlide" Target="/ppt/notesSlides/notesSlide11.xml" Id="Rc09b5481d23d44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6bf8c8c544cfe" /><Relationship Type="http://schemas.openxmlformats.org/officeDocument/2006/relationships/notesSlide" Target="/ppt/notesSlides/notesSlide12.xml" Id="Rae86dc2da52948f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b3f6a6c4849b6" /><Relationship Type="http://schemas.openxmlformats.org/officeDocument/2006/relationships/notesSlide" Target="/ppt/notesSlides/notesSlide13.xml" Id="R4310f1126525428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8fb137fd64163" /><Relationship Type="http://schemas.openxmlformats.org/officeDocument/2006/relationships/notesSlide" Target="/ppt/notesSlides/notesSlide14.xml" Id="R6a42d821e36645b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73d24990d4d4f" /><Relationship Type="http://schemas.openxmlformats.org/officeDocument/2006/relationships/notesSlide" Target="/ppt/notesSlides/notesSlide15.xml" Id="R87885d539cd8448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063ac854744ae8" /><Relationship Type="http://schemas.openxmlformats.org/officeDocument/2006/relationships/notesSlide" Target="/ppt/notesSlides/notesSlide16.xml" Id="Rb00558301e694e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a9f3c7e9c04bff" /><Relationship Type="http://schemas.openxmlformats.org/officeDocument/2006/relationships/notesSlide" Target="/ppt/notesSlides/notesSlide17.xml" Id="R9134b86160cb4e7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6c5612f144662" /><Relationship Type="http://schemas.openxmlformats.org/officeDocument/2006/relationships/image" Target="/ppt/media/image3.png" Id="R88e609d9314d464b" /><Relationship Type="http://schemas.openxmlformats.org/officeDocument/2006/relationships/notesSlide" Target="/ppt/notesSlides/notesSlide18.xml" Id="Rb6a7e691e82e4e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c57051a67428b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EDEDFE9A-3066-4793-A4F2-A7060248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E15F5367-19D2-42EF-8D53-4E0E8CC1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ad2bfa71a64297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90DB7532-2371-4634-B3A3-DAE7A3FF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5E3D0F6D-C201-4699-89F5-4E17CAC9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ภาคเช้า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6680FBE-C190-40CE-AC48-62C9F450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19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การใช้งานระบบ MSU EVA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สำหรับบุคลากรสายวิชาการ</a:t>
            </a:r>
          </a:p>
        </p:txBody>
      </p:sp>
      <p:sp>
        <p:nvSpPr>
          <p:cNvPr id="8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3865BD96-140B-4384-99BD-6C5DA49E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E9D520EA-C614-4957-84EE-C7AA6DE3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กรอกภาระงานและผลงานให้ครบ ตรวจหลักฐาน แล้วส่งแบบประเมินอย่างมั่นใจ</a:t>
            </a:r>
          </a:p>
        </p:txBody>
      </p:sp>
      <p:sp>
        <p:nvSpPr>
          <p:cNvPr id="10" name="cover-style">
            <a:extLst xmlns:a="http://schemas.openxmlformats.org/drawingml/2006/main">
              <a:ext uri="{FF2B5EF4-FFF2-40B4-BE49-F238E27FC236}">
                <a16:creationId xmlns:a16="http://schemas.microsoft.com/office/drawing/2014/main" id="{594271CF-1B2E-4132-B327-4C36032A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สายวิชาการ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a5facf1ea64135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7441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EE8A3F75-B425-406A-B6A9-30A30EE2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BDDDBBA2-59A2-4847-8A99-AEAA3AA1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เป้าหมายการอบรม  /  สายวิชาการ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7593CAD0-66FB-4C18-9A19-80234E46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วันนี้เราจะทดลองกรอกแบบประเมิน 1 รายการให้พร้อมส่ง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029C25-9C7E-460E-BCD0-AE5E0127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9D2F9-CA0E-4D40-9CEC-BF90B2B4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1E552-EBF8-4D6E-A249-068B8BAA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1B009-2DD2-4C7B-979C-7E16FBE5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เปิดงานที่ได้รับมอบหมายได้ถูกต้อง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C3D08-E09F-4B15-A1EE-38B6C209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75DAF-6F6A-4BAD-963B-0580D392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44EEA-65B8-4DC7-BCBB-2CA28132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 คุณภาพ และหลักฐานได้ครบ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12198E-4478-4B75-8FD7-A9477A84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71CEAE-6A1F-4800-AE16-CFB1F7B8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D0107-3079-4A45-8FFC-1CCF5273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แยกการบันทึกร่างออกจากการยืนยันส่ง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02E8A56F-AFFB-424C-BEEE-FA97CABF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EAFD99-1FED-4657-B621-2D3E0D4B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169EAD-BD52-4E62-AAD7-99C29070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DC6E4E1-5657-45A8-8A4C-CC2CD98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FE0F0C69-BF5A-44BD-A8A9-782E0650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004075C1-C592-4AF7-8DE1-8A0FA918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18380978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F2E350E8-9B64-4BA8-8EE1-F66125DF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755AF7D8-07C1-4B94-B6E5-47C0B56E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รู้จักระบบ  /  สายวิชาการ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C7C896D8-C0FF-43C4-9C68-575DBE16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MSU EVA 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C65A0-3DE4-4DB8-84C1-D802003D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F45968E9-5875-4A22-AC07-205A5ACF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5350C-610C-4CF3-B7B2-497BFAEF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358611-6D5F-4338-ABF2-23557F3C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44F85-BD7D-4592-986A-88B5C150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C76204-D484-46D7-B0F3-532A14D5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31E163-3942-4161-B3F8-E06C9BFE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F38157-8A5E-4FF4-9786-FD8BEF09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7FC8FA-1E74-4A46-970A-2BCA1CF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1FFD51-A058-4B9A-AB1A-1A75CD48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497B34-37EA-494E-B7E7-6CE077F6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FC374A-2C92-4777-90AF-5DDC10C8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A752C5-CE54-4415-98D2-AC8FAC45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6D1A83-69D9-4FDF-AD36-3301E046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53ADB7-262F-47AA-9812-D960A9E1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538E05-922F-42B2-8AAF-019D98CC7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3AB3C8-95A7-4130-90D5-49F078DD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722920-4CE9-4626-8B70-BA365969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759146-FA85-46C3-BFE5-F5D7E1E2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5F5DBB-ED5E-4842-8440-86E8E7EF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5BF76-BCE7-4C04-952C-54115CED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45F128-A7D1-4D32-B128-529857B8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03165F-FFD6-4E64-83C2-CDECD946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B96B50-978D-4B3D-9D2E-89B25732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5F456C0-CBD7-43C4-8075-074AA5A4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00D6ADE4-2136-4044-9CF5-E266E14F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20D260B9-E033-4037-9D16-02716B63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18161407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AF00E0AF-FBC2-4F69-9A99-733C509C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78DF0453-3038-49C3-BF02-8C9E5BA5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ผู้ใช้งานระบบ  /  สายวิชาการ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32C5FF77-525B-4F49-9BC1-D79AA6DB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D9A1B-F8C3-4EA1-9A6D-BEFCF5F5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C9ED7-6076-47BA-9098-4B9458F4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B19FC-4557-42DA-8C7D-F753EE96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3FEF46-8F29-4A79-B97A-D76F73C0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E2460-47A7-4D80-B84A-9E0549B9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03481-D8B8-4506-B823-290B386C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25E68-834A-462A-98B2-9537792F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27808A-71D4-4199-B0EF-2976D0C9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0DD5AB-5BB0-4AD3-8ABF-8E57D65F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F8B71A-1022-42A6-B677-953B41D0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7E9109-24B9-4DFC-A484-34C83745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E91CFD-BC97-4948-A56D-169855BF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B8EEFF-5CD6-49CF-A7BB-6D946724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4C4C80-D6D6-4A38-8B67-8562BBB1F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0698B3-9CBD-4183-BDC7-7AD872B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85E52B-38BD-4EBC-B257-76A13B6C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A922A5-11DC-40FB-8057-E5EDDB19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D9214B-CC63-4CFA-806C-BC60CA6A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F7E489-97D8-4F58-91B8-258AF833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F74158-B3CE-4F19-8A41-D58E73FF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C410E8-7D6E-4083-95C2-642F749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207E606E-2AC2-4034-ADAA-22FDCFC3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2FECCB80-E59D-45C5-807B-DCE5E418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A5C80AAB-7796-4F65-9783-171AC64F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10561368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A9F5310A-4A41-44D1-8484-0D01500E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AA0F3918-D138-46DA-8A6B-EE3FB657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ภาพรวมกระบวนการ  /  สายวิชาการ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2EA22B04-3AC6-46EE-A4B4-9217AB79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229A0-C3A6-43BB-9E92-67EDE55A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ตั้งแต่เปิดงาน กรอกข้อมูล ตรวจความพร้อม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7750DC37-722F-4671-9ADB-D47E5886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01D047B1-D31B-4D4E-8070-F9F058E3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3B625-8F4D-4D9B-8026-FBD80B362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08B744-7BB4-4F4D-8FB2-5C0AE626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18DAF8-8379-4542-A4C9-B09F264D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A0C8F-7CB0-4843-A358-AE435B1E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C74A2-9CDC-4622-B98B-A96A10E9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049EBF-395A-44D9-92BC-38450146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649315-39F7-4BE0-8CEB-4A147F9E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F1F14C-0AF2-4E17-AC77-A5865953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ปริมาณ • คุณภาพ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AEA397-4421-41DB-BBE1-35C5A4B2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5E57B-88AF-4FCC-AD7B-B683AE95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94A60D-6AAB-483E-9635-DEE54739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8167A5-2D17-469B-910C-B74F4E8E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6B5DF9-FC93-4768-A2EA-E2805E68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523114-BBDF-4270-8E2F-5C84F820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83A780-89E2-4F43-A9C6-EAD94C79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AD2AC-A501-4DAA-BAC5-9ADCF0D1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83E373-C750-488B-B1B0-59A1759F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323AFF-7926-4C56-A1E0-DBC91B48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AA7D33-0ACA-4609-8296-9B8051F4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899C7A-AEEB-479F-87E8-BE49F3ED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B6407D-ABC3-4A3F-ACF3-BAF30258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3BE14F22-552F-44ED-ACAE-C7B7DB87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D6CBDD24-7FBE-4F4D-81F3-0E840F18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BF6D9F3A-B7FE-4F2E-933D-4D712A78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2925948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08B82274-2676-4C98-B402-37841AAB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089E19ED-5626-4940-A5F4-FBE74982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บทบาทของคุณ  /  สายวิชาการ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8DAC3248-F7EC-469D-8913-C8621246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กรอกข้อมูลของคุณให้ครบ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C75AF-CE41-4467-AC81-DA35DD8A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คุณเป็นเจ้าของความครบถ้วนของข้อมูลวิชาการในขั้นแรก ผู้ประเมินจึงตรวจต่อได้อย่างมีหลักฐาน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C5118-7198-4FDE-AC82-7868C27D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E574C0-6B58-4495-853B-E7156B94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99F24B-4716-4749-A517-53861A70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7CA12D-A076-4A68-8834-E30D9B6D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ข้อมูลรายวิชา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ภาระงาน และผลงาน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EA5B3E-7F09-4BEB-8BA1-0BDF7EA7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470F9B-1E16-418C-B37C-A4435EEA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EE2C0-3CA9-43DF-807B-700EF312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E2F48-8AF0-4959-81EC-DE11133E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55F408-100C-4BB1-81C0-3404C616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5AC4E-5058-4844-87EE-F316CDAF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73A017-9A59-4588-9384-14A4FB16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FCDDD-D0FD-4AF4-B5AE-56E86F41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87133-F43E-4D05-AC6F-732CADEE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6E1ABF-EDC2-4B71-9C3B-401F4786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เป็นผู้ปิดงาน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F9AA92EA-9266-4868-B2FF-5CA1733C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E14B8F3F-E8AA-48D0-9EB5-794A482B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0D0E7C3E-E62B-4ECB-9111-B6F8A63C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5800586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743C3FDC-DA8F-499D-980B-F4668B08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94B8A7CF-0657-416D-BB1D-466442A5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จุดเริ่มต้น  /  สายวิชาการ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716230D0-FE21-48A0-BA3C-84D47A29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0CC01-FE85-4553-B035-D0D6AF22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558EF-906C-4DC3-917C-1AED70A3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14EA3-590B-4B42-B6F3-C95BB3E4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975472-9E56-4CD5-A95E-B6CC37F8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25A229-92B3-4E97-B3CD-6D7C321D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1FA25A-E9D7-42E8-98F1-25326B19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7F74DC-A21A-408F-9D8C-9F74DADC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AEF54B-D9C6-4920-B71C-4F78409C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E5241A-65F1-4F3D-8FB9-4430B65C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5FF8C5-129A-40B1-B3BC-4AFE1B83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2748DC-FFA9-432D-85A9-BF167F57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80B206-ADE0-490C-B106-C5012789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264074-9089-4236-9DE0-3ADA5066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AE3C4AE4-75FD-4E1A-8C62-0967DF69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F807D2-C72E-4865-A408-CBFDF338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7A7428-0EEE-4A98-8CAB-5E08BB2E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6D340B-0DEC-46B0-BCB4-F3448F8B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สายวิชาการ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9C8E0B-D410-46F6-B9D9-3EE431D3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01623E-CFA5-4ACB-8747-44B07716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D18998-39B8-4C5F-8588-03EDACA3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48911E-7F92-406A-AEB1-C351AE81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47B9DDCB-A88D-4FD1-9264-3FEB38D6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82651EA9-2095-47C5-A224-87B5952D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0ADCEE67-7A69-4C62-939D-BD396A0A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13793276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6088CEB0-DFC9-476E-BD4C-2AE91B75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097605F7-AE51-4C5A-90BB-7DE68BF9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โครงสร้างข้อมูล  /  สายวิชาการ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8EA7359A-4DFF-4D75-ADC0-E9505C0C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ตรวจให้แน่ใจว่ารายวิชา ภาระงาน ผลงาน และหลักฐานสอดคล้องกัน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6E1CBF-1CC0-47BF-8098-7A637AA7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85F4A-C957-45CF-80F3-0AC5B106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FF82B7-4FAD-4D94-B281-D3CA923B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79624-9434-4BA4-9A2F-D0E0415D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8E3A6-2108-4F58-B71B-6538EC55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รายวิชา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B24AB-EF61-42C5-A170-022FADCB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บริบทของงานสอน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48BE4F-D324-48A9-B2EA-5E5B2B13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601E7F-A568-4941-9627-DE1DA21F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F07C8D-FE62-4D70-BB77-B24BC188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3401C-4505-4535-83A1-6899DCF5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สิ่งที่ทำและปริมาณ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F97852-5025-4AD2-8E3F-8EBF610B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812787-4C2B-44A5-94A3-1A4F5C4F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E6DF6C-5BF1-4650-B940-02EFB096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14782A-EA78-4221-8B97-134D876E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ผลลัพธ์เชิงคุณภาพ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A0CBF2-3824-443F-B986-509DE34F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ABD2E4-82E1-47A9-96DC-6C81B19F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C70AC8-935C-434D-B0C8-9185C28E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5EB7FB-469A-44B4-9219-5DCE0C7D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สิ่งที่ตรวจสอบได้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399573-CC11-4F1C-9B6D-79CEA4F0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ถ้าข้อมูลส่วนหนึ่งไม่สอดคล้อง ผู้ประเมินจะตีความงานได้ยาก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359B2593-5AFF-4CF5-956E-6E6DD81A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3E545D3F-F3AE-4707-9A3B-1688D0B5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B8928B59-9720-44FF-8411-DBEF0A65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19246883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BB8B4E10-7A34-4B1D-B03A-5818E79C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7BEC781B-4647-48E5-A137-FCAE7CB4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ข้อมูลเชิงปริมาณ  /  สายวิชาการ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A04EE715-6D94-42C9-B490-B659F6F2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กรอกภาระงานที่ทำได้ แล้วตรวจคะแนนที่ระบบคำนวณ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9424B7-BBC4-42C6-B2B9-A8330EE4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อ่านช่อง A–D ให้เป็นลำดับเดียวกัน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398FA-0A1C-4714-9CEC-6F51B632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5F334-6B8B-4CF3-9983-9A92D60D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669488-1705-4C6B-AE2D-5D97E433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ค่าน้ำหนัก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61A7C8-0145-48E3-B774-C71F8B11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กำหนดจากเกณฑ์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53A077-6820-4FFE-BB52-62526CAD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B2814C-34E8-4C13-865F-F072A93B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8F45D3-D718-4B50-B9F0-F0D92766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ภาระงานมาตรฐาน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0C5460-A9F9-40BA-930A-2F908CAA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ค่าฐานของรายการ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D593FE-0107-439B-81E1-362CD836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7B5687-30F5-4ED0-8C35-A83203EC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C0FC4A-21B0-4F7F-88A4-72278520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ภาระงานที่ทำได้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CFD5A8-63AA-4EBA-AEBA-91F2F6DF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ข้อมูลที่คุณกรอก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403C0E-BB63-49A4-A15D-0A62D2BF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B1439F-4A20-4C65-B7EF-62A1928A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CB8CF4-795F-4A40-8D54-4BA11657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คะแนนที่คำนวณ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2986F3-464E-422D-AC0F-C69BC971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ตรวจผลจากระบบ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3550FD-F982-4C21-81DF-51C45B4C3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ตรวจหน่วยและค่าทศนิยมก่อนบันทึก</a:t>
            </a:r>
          </a:p>
        </p:txBody>
      </p:sp>
      <p:sp>
        <p:nvSpPr>
          <p:cNvPr id="22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DF07D955-E616-4E4E-BE94-C43D356B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C87C135E-8AE2-4733-8A83-9BD7DA93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2911B33D-5151-43B3-A18A-842E2D4A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15618134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469E2506-D8FD-4170-9C99-D3BC7B85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A474F4FF-734A-4DFF-BCAA-D5F11440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ข้อมูลเชิงคุณภาพ  /  สายวิชาการ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FE7E7304-F16E-4DB9-BEF1-6E9C66BE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อธิบายผลงานให้ผู้ประเมินเข้าใจได้ในครั้งเดียว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1000C-889F-4720-A871-4D224755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เขียนให้เห็นว่า “ทำอะไร — เกิดผลอย่างไร — ตรวจจากไหน”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1A5E81-A92A-43E1-90F1-E5D7528F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BFD44E-351D-44B1-93C8-4D3825DB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432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C34F9C-CECC-42CF-AFA8-60BBFBA6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ระบุผลงานหรือบทบาทให้ชัด ไม่ใช้คำกว้าง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24FD62-3A03-47F5-A6C4-E7E7B60F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2900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47494B-18CB-4345-BBFF-4D5CC002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0A62BA-33C2-48A9-8013-2091E99A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147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เกิดผลอย่างไร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5597E9-D86D-4FBC-B953-C88B1582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สรุปผลลัพธ์ที่สัมพันธ์กับเกณฑ์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CEC4C6-643A-471F-8E12-3F913FAE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00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044D7-2AA2-4A29-84F3-C33BC70D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9604BD-B72C-4374-83B2-F2AF2AF7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ตรวจจากไหน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65134A-167B-4781-8B91-60C41D96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ชี้ไปยังเอกสารหรือหลักฐานที่ตรงรายการ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A79529-C4E3-43F1-87D3-F6E13E3B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2876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FA7244-356F-480C-ACD0-8A73899D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ชัด • สั้น • ตรวจสอบได้</a:t>
            </a:r>
          </a:p>
        </p:txBody>
      </p:sp>
      <p:sp>
        <p:nvSpPr>
          <p:cNvPr id="18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A063E138-D417-4F7D-8A39-DC5C43F3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7EFD8D0C-77D7-4E44-B6EB-227D6D02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656F18F9-A675-481D-9293-E7B99769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7025070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894B4EC7-13E1-495D-9CC3-90FDEDA8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C368E8B2-1762-48E9-88C0-B8705D8D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หลักฐาน  /  สายวิชาการ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0A5762D6-15EA-4B96-80D1-03A889F2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แนบหลักฐานที่เปิดดูได้และตรงกับผลงาน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F7722-C62C-4992-9A17-E9319E06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หลักฐานที่ดีช่วยให้ผู้ประเมินตรวจได้เร็ว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9EC18-A341-46F9-B4BA-C69B15DC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C329A4-3341-4A66-9E16-67E8A03E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CE825-4EAB-41AA-9D17-24DA3FE4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A0B9E-82D2-4677-A3AE-A6299954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BA4A30-AB3B-4FF4-A2B5-D7C10ED4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606A2E-0EEF-4A3D-9390-D758BEB4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77D7A7-7D2A-400F-A2C8-59FA49FE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376867-0C00-42A9-83E6-28166B3E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สอดคล้องกับผลงานหรือเกณฑ์ที่เลือก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F3ECDA-174F-48A9-B1AA-CA53D8F6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C7E749-FB26-4119-9B94-F2347845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B32F34-CB38-44F4-94DB-6444EBBA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FEDC64-BA7F-4A2E-9912-42F022AF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5C6FF7-A675-4425-9CAF-3A54A5F2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8378E8-4E86-4386-9252-2C6883CB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ECB33085-38C5-4020-9A48-577252B6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FC726F7A-E046-485F-946E-DAD7C824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7916DEB0-97C6-41A4-B351-72D42FCA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6255517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CE5EDF8C-BA6C-43D0-9D4F-AFA0C80B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FF0AE551-BF92-45CD-B416-CC02EFD4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ก่อนกดปุ่ม  /  สายวิชาการ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85121D36-C873-4C40-84DB-6A0ADA72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C6E0E93E-06C7-42AA-9709-13E39640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5B32F-1B81-4F7F-AFA1-F4911F5F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4D7FC-AF9C-4F0E-9CA6-907A42BE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B6656F9A-7F52-4243-9D82-4A91E5A0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19050">
            <a:solidFill>
              <a:srgbClr val="4356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8F8AD-D281-4133-AD48-66C6FE17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87C12-347B-4DDC-91F3-B5AE9D22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ผู้ส่งแก้ไขในขั้นนั้นไม่ได้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816DD1-8A73-4F01-8872-E34DB06B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3E143C96-9793-4BE7-A0B8-DADA9E4D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1A96F4BC-C76C-4EE5-AD24-B777E72A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3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3785749E-FD17-4407-BB59-5DE77257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14562323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A95327C1-119B-4BBD-8E7E-99F3D592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97996D9B-B233-4A1C-995D-AFE7F665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หลังจากส่ง  /  สายวิชาการ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8748D4B5-30B8-4A4C-A464-2EBCC6C2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BE7F93-D0EB-413A-8196-27EC38D9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88A35-DEBC-4C22-B713-1D8EA090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2E588-E7B0-40F5-809A-5FC41922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DA91F4-561C-460A-9A9E-0130BFCA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1D346C-B280-48E1-811A-E88B9C01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BAA831-F18F-496F-B320-59B889A8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093179-3DBB-46A3-B653-83DBABCD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11E26E-85B0-44F3-9BA8-3EDE824B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68F111-A11B-48A5-9959-47BE2B82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B9BB6-2590-4A1A-806E-DAB4528F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0A63D-0AD4-4071-88EB-080DB6F4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EA03D-1E41-421E-9D0D-C784DFDA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85C4CD-AE51-46B9-AE2E-CA165D68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D77E96-C317-43E9-A080-D108BDCC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5558C6-5F96-487D-9BFA-93811EAD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A7EF6A-DCF9-4B60-B205-92740822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0C93BC-3762-4E44-9187-DCE83D46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เมื่อเป็นผู้ประเมินคนสุดท้าย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35FE72-D085-4E80-87BA-D75A7FC2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D97228D2-CF8B-42DB-8FDD-C475749C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D968E51C-4D1F-4914-86E4-08B3BAF9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8A6A3EC7-EF5F-4393-BFF1-DD2D2366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13011086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DD2CF9C4-BDD9-459D-9EF7-3D8D6505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34D7ADAC-B11F-46B9-88D2-B1A627B6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สำหรับผู้ประเมิน  /  สายวิชาการ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85A71818-E03F-4EE2-8C4C-162703B8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เมื่อได้รับงานประเมิน ให้ตรวจข้อมูลและหลักฐานก่อนให้ผล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85A16-2622-424F-95F4-EEA21B9A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3FFA7D-E241-4F92-9230-85B061F2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D3FFC-24BC-4F3F-B6DD-802EEFED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เนื้อหาตรงกับเกณฑ์ที่เลือก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E8E096-7A55-4C86-A347-034AB71A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595B5-DA5E-4E8A-ADFB-8CBF11F5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3CCDD-339E-4EF7-9FBE-9C112997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C0201D-13B3-418D-9131-57DD12B4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ตรวจความสอดคล้องกับผลงาน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193EE9-F1EA-431A-8972-3791ADC7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2AE5FA-9C87-4965-B92D-2D049C04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D8F55A-D7F7-4EC9-885F-5A3339F1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6E7B3-BCA1-450C-9D36-0EC21398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ให้คะแนนหรือความเห็นตามสิทธิ์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2E0063-B19A-4015-9232-23EC5367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D389A7-F2F5-485D-8251-81F40DCB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4EA714-C0D7-4407-AE63-557916E9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EF1225-DD40-454A-AF8D-09BB56D3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ดำเนินการเมื่อข้อมูลครบ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2F7152-9BF8-4076-966F-6B78E082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0FCC07-F458-477D-9393-53B28231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09A2B17F-31CF-426D-B070-4300B4E7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CAD364FB-FE66-4EBA-A48C-1DCB0068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3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A4067B83-0AC5-4ED3-A996-94564CEF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12722569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C6B52308-FB10-4F77-8D3B-E3204B5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C264ABFD-1543-4935-B5D8-A9B024CB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ลำดับการประเมิน  /  สายวิชาการ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17D37D0A-2504-4DA2-AD5E-D31BA6C3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06BF7-BFDD-4843-AFFE-B2523927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92596-C9F0-44A2-AFF6-5EC62779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6B01F-7506-46B9-9A37-F1349CA8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8B205D-577E-4789-BE22-0870E864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50560D-06C8-49B1-9EC7-56E1CE71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5E01CA-2149-4435-BE3D-1D403AF6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A054E-3CCC-4291-8EFD-7E5289F1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10FFBF-354D-4E36-B1B1-687CC3F2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9B4B83-7DF0-4F50-A847-8355622B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4CE83D-0943-46BD-B1C8-350E506F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7527E6-7ED0-43B1-99CD-1AEE2F29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76916A-AAB5-47AE-8FB7-6798651D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2891F2-2BC1-4AA4-8E08-5F646D68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DC4BF2-7B8D-4D5B-B79B-7ADC3951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0814231B-0D57-4EDF-A17D-72A92E88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87CDDD18-8A3F-4BB3-B7D6-69A5449E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45E108D1-7EFC-45AA-B983-1ABF90B5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59817633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C0D08-F98F-44D1-B5CA-C27234A5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0F0916-11C0-4A71-A1DA-F810957A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สถานะสุดท้าย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9450D7-F92E-45D6-B055-168B1304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เมื่อผู้ประเมินคนสุดท้ายยืนยัน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งานจะเสร็จสมบูรณ์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E8B3F-5C6D-4C01-AC09-EBB22DA8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0" b="1">
                <a:solidFill>
                  <a:srgbClr val="AEB8FF"/>
                </a:solidFill>
                <a:latin typeface="Tahoma"/>
                <a:ea typeface="Tahoma"/>
                <a:cs typeface="Tahoma"/>
              </a:defRPr>
            </a:pPr>
            <a:r>
              <a:rPr sz="6150" b="1">
                <a:solidFill>
                  <a:srgbClr val="AEB8FF"/>
                </a:solidFill>
                <a:latin typeface="Tahoma"/>
                <a:ea typeface="Tahoma"/>
                <a:cs typeface="Tahoma"/>
              </a:rPr>
              <a:t>Completed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CCAB1-F866-4BF6-B180-85683033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28750"/>
            <a:ext cx="35242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C960E-E2E8-42F6-98BC-2430C509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จำไว้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DFD911-C729-4B7A-AA66-E3982CDA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800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ผู้ปิดงานไม่จำเป็นต้องเป็นบทบาทเดิมเสมอไป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1AB1A-35A0-440B-8447-3D9FD85B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2800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ให้ดู “ลำดับผู้ประเมิน”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ที่กำหนดกับงานนั้น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B52404-B2BD-4BCC-BA44-B434D787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B8C5D1"/>
                </a:solidFill>
                <a:latin typeface="Tahoma"/>
                <a:ea typeface="Tahoma"/>
                <a:cs typeface="Tahoma"/>
              </a:defRPr>
            </a:pPr>
            <a:r>
              <a:rPr sz="1050" b="0">
                <a:solidFill>
                  <a:srgbClr val="B8C5D1"/>
                </a:solidFill>
                <a:latin typeface="Tahoma"/>
                <a:ea typeface="Tahoma"/>
                <a:cs typeface="Tahoma"/>
              </a:rPr>
              <a:t>MSU EVA  •  สายวิชาการ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111124-4C93-443C-8587-47A5A479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293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20546468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CE669EEA-70FC-4EEE-BFB0-189183B1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792B58D1-2FB2-4D03-9CC9-FCAB0644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ภารกิจฝึกปฏิบัติ  /  สายวิชาการ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A7D0019C-4B75-44D0-BC1E-41EBA49F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ลองกรอกแบบประเมิน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15665-8848-425E-A937-313BA066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884C0-2E18-4A2B-88F6-736C5B33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83B70E-8183-4EDE-93FC-8426AB1D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8ECF9-A3C2-4F71-A78D-E0437095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เลือกรายการที่กำหนด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C92AB5-68D7-4978-B349-BB29ADFC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3C7C7-3D8D-4E06-8ABC-B118D153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C329C-B4E4-4B0D-82F9-7683971B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B100B7-8CA6-4B0B-B4B9-1E932A46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8ABE1-D6ED-490E-AD1B-AF69F764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2E2367-AB9C-4C75-B61E-4706AB4E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เติมคุณภาพและหลักฐาน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440C20-5DDA-4385-8F1D-910E9E75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6BEDF8-0F8B-469C-AA36-32D86989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052DC4-B073-4899-A55E-A6415AD0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ตรวจแล้วบันทึกร่าง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ED56BB-6C4B-4159-8AC0-CA057B99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74FA3E-188F-48B9-969C-8E018064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363D99BB-603D-4BB2-A488-108C99CF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EA46A3EA-049A-4399-BD65-8CAF1D2C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9B09BBAE-441E-4BDF-B801-0803D001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13882381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D208D931-7560-4EFE-A7D9-D5D4A92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37012921-8C41-4B7D-8BFF-A262C734E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แก้ปัญหาเบื้องต้น  /  สายวิชาการ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24AC7303-5C79-4EE2-9839-6FEA5969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A8FC33-163D-490F-8D3C-7B880EAD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CD318C-5F97-4B54-8669-8E55ABC6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7CFA0D-72E4-4F18-931D-237DCE51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FCBC81-0692-49A0-B2A4-886DBC3D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2B4E05-6D03-49C2-B8A6-1567A94D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4FB094-2E02-47EC-B424-2844A4D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0D9BF5-7575-4CC7-A3EF-50C04F19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394D6B-1626-45C3-857B-E0C4DEA2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173D45-BFFE-4164-84AA-1ACBE6A6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EA503-6024-4413-81E5-02344565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7A9F9C-72FB-4A01-8100-45FC0EEC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ตรวจช่องบังคับ ค่าตัวเลข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5C7F8B-01E3-4AEA-908C-080A6350B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9ACC67-395E-4741-A200-37A9DBE8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05064E-4153-40EA-B9CF-0BA10E4A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5731F3-25F0-4BB0-A04F-D72AEC72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E25F73-7AAE-4D1B-9AC4-5636B25D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3D69E9-05A6-4B26-814F-E4C1C5E2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609d9314d464b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B3D8DDDC-04CA-428A-89B6-05766775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0CCD65DF-D858-43DF-97CD-7C4E1C19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C053B509-92B5-4DC2-BE6D-9A773DA5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8975204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2026-07-30T07:59:52.6700000Z</dcterms:created>
  <dcterms:modified xsi:type="dcterms:W3CDTF">2026-07-30T07:59:52.6700000Z</dcterms:modified>
</coreProperties>
</file>