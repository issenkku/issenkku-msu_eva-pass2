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672e6984ff49a4" /><Relationship Type="http://schemas.openxmlformats.org/officeDocument/2006/relationships/extended-properties" Target="/docProps/app.xml" Id="Redd3cffb8704403d" /><Relationship Type="http://schemas.openxmlformats.org/officeDocument/2006/relationships/officeDocument" Target="/ppt/presentation.xml" Id="R3c8f2830917d4a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34d4fd84e4a4e5b"/>
  </p:sldMasterIdLst>
  <p:notesMasterIdLst>
    <p:notesMasterId xmlns:r="http://schemas.openxmlformats.org/officeDocument/2006/relationships" r:id="R735cb67919df472e"/>
  </p:notesMasterIdLst>
  <p:sldIdLst>
    <p:sldId xmlns:r="http://schemas.openxmlformats.org/officeDocument/2006/relationships" id="256" r:id="Raa48ceaddca54b4a"/>
    <p:sldId xmlns:r="http://schemas.openxmlformats.org/officeDocument/2006/relationships" id="257" r:id="R017f3b77cad2429c"/>
    <p:sldId xmlns:r="http://schemas.openxmlformats.org/officeDocument/2006/relationships" id="258" r:id="R4709647d88544122"/>
    <p:sldId xmlns:r="http://schemas.openxmlformats.org/officeDocument/2006/relationships" id="259" r:id="R939814f76aab4abb"/>
    <p:sldId xmlns:r="http://schemas.openxmlformats.org/officeDocument/2006/relationships" id="260" r:id="R327919f6a82d463d"/>
    <p:sldId xmlns:r="http://schemas.openxmlformats.org/officeDocument/2006/relationships" id="261" r:id="R099966fb4e344031"/>
    <p:sldId xmlns:r="http://schemas.openxmlformats.org/officeDocument/2006/relationships" id="262" r:id="Rf43be59709204059"/>
    <p:sldId xmlns:r="http://schemas.openxmlformats.org/officeDocument/2006/relationships" id="263" r:id="R657c25397ac6411c"/>
    <p:sldId xmlns:r="http://schemas.openxmlformats.org/officeDocument/2006/relationships" id="264" r:id="Rceb1c459ce5f4c0e"/>
    <p:sldId xmlns:r="http://schemas.openxmlformats.org/officeDocument/2006/relationships" id="265" r:id="R8b2fb7d5864d4241"/>
    <p:sldId xmlns:r="http://schemas.openxmlformats.org/officeDocument/2006/relationships" id="266" r:id="Rbbb608ab0e9b4ea1"/>
    <p:sldId xmlns:r="http://schemas.openxmlformats.org/officeDocument/2006/relationships" id="267" r:id="Ra49e36cdbf654a6a"/>
    <p:sldId xmlns:r="http://schemas.openxmlformats.org/officeDocument/2006/relationships" id="268" r:id="R2f88b511128a4c96"/>
    <p:sldId xmlns:r="http://schemas.openxmlformats.org/officeDocument/2006/relationships" id="269" r:id="R7c7b15022d0041c7"/>
    <p:sldId xmlns:r="http://schemas.openxmlformats.org/officeDocument/2006/relationships" id="270" r:id="Rd908844a9c624d4b"/>
    <p:sldId xmlns:r="http://schemas.openxmlformats.org/officeDocument/2006/relationships" id="271" r:id="R30cf6ed5d8c14966"/>
    <p:sldId xmlns:r="http://schemas.openxmlformats.org/officeDocument/2006/relationships" id="272" r:id="R7b2eceba641d40f4"/>
    <p:sldId xmlns:r="http://schemas.openxmlformats.org/officeDocument/2006/relationships" id="273" r:id="R0b802848cd3c476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9869c899ae942e6" /><Relationship Type="http://schemas.openxmlformats.org/officeDocument/2006/relationships/slideMaster" Target="/ppt/slideMasters/slideMaster1.xml" Id="Rd34d4fd84e4a4e5b" /><Relationship Type="http://schemas.openxmlformats.org/officeDocument/2006/relationships/notesMaster" Target="/ppt/notesMasters/notesMaster1.xml" Id="R735cb67919df472e" /><Relationship Type="http://schemas.openxmlformats.org/officeDocument/2006/relationships/presProps" Target="/ppt/presProps.xml" Id="R7f2e9e21ed1e429c" /><Relationship Type="http://schemas.openxmlformats.org/officeDocument/2006/relationships/tableStyles" Target="/ppt/tableStyles.xml" Id="R7315dfbfe151434b" /><Relationship Type="http://schemas.openxmlformats.org/officeDocument/2006/relationships/slide" Target="/ppt/slides/slide1.xml" Id="Raa48ceaddca54b4a" /><Relationship Type="http://schemas.openxmlformats.org/officeDocument/2006/relationships/slide" Target="/ppt/slides/slide2.xml" Id="R017f3b77cad2429c" /><Relationship Type="http://schemas.openxmlformats.org/officeDocument/2006/relationships/slide" Target="/ppt/slides/slide3.xml" Id="R4709647d88544122" /><Relationship Type="http://schemas.openxmlformats.org/officeDocument/2006/relationships/slide" Target="/ppt/slides/slide4.xml" Id="R939814f76aab4abb" /><Relationship Type="http://schemas.openxmlformats.org/officeDocument/2006/relationships/slide" Target="/ppt/slides/slide5.xml" Id="R327919f6a82d463d" /><Relationship Type="http://schemas.openxmlformats.org/officeDocument/2006/relationships/slide" Target="/ppt/slides/slide6.xml" Id="R099966fb4e344031" /><Relationship Type="http://schemas.openxmlformats.org/officeDocument/2006/relationships/slide" Target="/ppt/slides/slide7.xml" Id="Rf43be59709204059" /><Relationship Type="http://schemas.openxmlformats.org/officeDocument/2006/relationships/slide" Target="/ppt/slides/slide8.xml" Id="R657c25397ac6411c" /><Relationship Type="http://schemas.openxmlformats.org/officeDocument/2006/relationships/slide" Target="/ppt/slides/slide9.xml" Id="Rceb1c459ce5f4c0e" /><Relationship Type="http://schemas.openxmlformats.org/officeDocument/2006/relationships/slide" Target="/ppt/slides/slide10.xml" Id="R8b2fb7d5864d4241" /><Relationship Type="http://schemas.openxmlformats.org/officeDocument/2006/relationships/slide" Target="/ppt/slides/slide11.xml" Id="Rbbb608ab0e9b4ea1" /><Relationship Type="http://schemas.openxmlformats.org/officeDocument/2006/relationships/slide" Target="/ppt/slides/slide12.xml" Id="Ra49e36cdbf654a6a" /><Relationship Type="http://schemas.openxmlformats.org/officeDocument/2006/relationships/slide" Target="/ppt/slides/slide13.xml" Id="R2f88b511128a4c96" /><Relationship Type="http://schemas.openxmlformats.org/officeDocument/2006/relationships/slide" Target="/ppt/slides/slide14.xml" Id="R7c7b15022d0041c7" /><Relationship Type="http://schemas.openxmlformats.org/officeDocument/2006/relationships/slide" Target="/ppt/slides/slide15.xml" Id="Rd908844a9c624d4b" /><Relationship Type="http://schemas.openxmlformats.org/officeDocument/2006/relationships/slide" Target="/ppt/slides/slide16.xml" Id="R30cf6ed5d8c14966" /><Relationship Type="http://schemas.openxmlformats.org/officeDocument/2006/relationships/slide" Target="/ppt/slides/slide17.xml" Id="R7b2eceba641d40f4" /><Relationship Type="http://schemas.openxmlformats.org/officeDocument/2006/relationships/slide" Target="/ppt/slides/slide18.xml" Id="R0b802848cd3c47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33e7b1e3d04ae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a48fe8885a4b59" /><Relationship Type="http://schemas.openxmlformats.org/officeDocument/2006/relationships/notesMaster" Target="/ppt/notesMasters/notesMaster1.xml" Id="Re9dd411e1e404c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fd3ef71ddce429d" /><Relationship Type="http://schemas.openxmlformats.org/officeDocument/2006/relationships/notesMaster" Target="/ppt/notesMasters/notesMaster1.xml" Id="R8af9274f9abd46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3672854f9504074" /><Relationship Type="http://schemas.openxmlformats.org/officeDocument/2006/relationships/notesMaster" Target="/ppt/notesMasters/notesMaster1.xml" Id="R6f3fb1e7db3049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14e0158fe24fc0" /><Relationship Type="http://schemas.openxmlformats.org/officeDocument/2006/relationships/notesMaster" Target="/ppt/notesMasters/notesMaster1.xml" Id="R5db059c4fb494d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613ac24941e453b" /><Relationship Type="http://schemas.openxmlformats.org/officeDocument/2006/relationships/notesMaster" Target="/ppt/notesMasters/notesMaster1.xml" Id="R6e00f8ebefc04ae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a99624f84f430a" /><Relationship Type="http://schemas.openxmlformats.org/officeDocument/2006/relationships/notesMaster" Target="/ppt/notesMasters/notesMaster1.xml" Id="R23c792e9200348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e9c4969a1054858" /><Relationship Type="http://schemas.openxmlformats.org/officeDocument/2006/relationships/notesMaster" Target="/ppt/notesMasters/notesMaster1.xml" Id="Rdef8e82ae7994d1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10b5dacdbf4f26" /><Relationship Type="http://schemas.openxmlformats.org/officeDocument/2006/relationships/notesMaster" Target="/ppt/notesMasters/notesMaster1.xml" Id="R51d4bf4b282d447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abca702e3a64597" /><Relationship Type="http://schemas.openxmlformats.org/officeDocument/2006/relationships/notesMaster" Target="/ppt/notesMasters/notesMaster1.xml" Id="R61b13526e9cb4ed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1410d17803f4ea2" /><Relationship Type="http://schemas.openxmlformats.org/officeDocument/2006/relationships/notesMaster" Target="/ppt/notesMasters/notesMaster1.xml" Id="R7ed78b910e1b404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0f06ad933384726" /><Relationship Type="http://schemas.openxmlformats.org/officeDocument/2006/relationships/notesMaster" Target="/ppt/notesMasters/notesMaster1.xml" Id="Raac11f39af254dd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b069901bebc48b1" /><Relationship Type="http://schemas.openxmlformats.org/officeDocument/2006/relationships/notesMaster" Target="/ppt/notesMasters/notesMaster1.xml" Id="R96fe02d540d9494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33e566e41f342d8" /><Relationship Type="http://schemas.openxmlformats.org/officeDocument/2006/relationships/notesMaster" Target="/ppt/notesMasters/notesMaster1.xml" Id="R0d3e6ded81f1415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1b58a096e4b41b1" /><Relationship Type="http://schemas.openxmlformats.org/officeDocument/2006/relationships/notesMaster" Target="/ppt/notesMasters/notesMaster1.xml" Id="R6b838bae0a564c6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61a7fb9a8834957" /><Relationship Type="http://schemas.openxmlformats.org/officeDocument/2006/relationships/notesMaster" Target="/ppt/notesMasters/notesMaster1.xml" Id="Raa7d733867f7489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6b4be5510ce4176" /><Relationship Type="http://schemas.openxmlformats.org/officeDocument/2006/relationships/notesMaster" Target="/ppt/notesMasters/notesMaster1.xml" Id="R287e8b62178b447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589c1258f60423c" /><Relationship Type="http://schemas.openxmlformats.org/officeDocument/2006/relationships/notesMaster" Target="/ppt/notesMasters/notesMaster1.xml" Id="Rcb35eb639f434f5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7c3da11ca664fff" /><Relationship Type="http://schemas.openxmlformats.org/officeDocument/2006/relationships/notesMaster" Target="/ppt/notesMasters/notesMaster1.xml" Id="Rcc5cd5cbd4ca446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สวัสดีทุกท่าน ขอต้อนรับเข้าสู่การอบรมการใช้งานระบบ MSU EVA สำหรับบุคลากรสายวิชาการ วันนี้มีทั้งท่านที่เคยร่วมทดสอบระบบแล้ว ท่านที่เพิ่งเริ่มใช้งาน รวมถึงผู้ประเมิน กรรมการ และผู้บริหาร เราจะเริ่มจากทำความรู้จักระบบ บทบาท และฟังก์ชันที่เกี่ยวข้อง จากนั้นผมจะสาธิตการกรอกแบบประเมินหนึ่งรายการให้ดูก่อน แล้วทุกท่านจะได้ทดลองด้วยบัญชีที่เตรียมไว้ เป้าหมายคือให้ทุกคนเข้าใจทั้งงานของตนเองและขั้นตอนที่ส่งต่อไปยังบุคคลถัดไป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public/favicon-msu.png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- public/images/workload-background.jpg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เป้าหมายของช่วงเช้าไม่ใช่การจำทุกปุ่ม แต่คือการทำงานหนึ่งรายการให้พร้อมส่ง รอบประเมินจะกำหนดโดยผู้ดูแลระบบ ส่วนผู้ใช้งานมีหน้าที่ตรวจสอบว่ารอบและรายการที่ได้รับมอบหมายถูกต้อง จากนั้นเราจะกรอกภาระงานและผลงาน แนบหลักฐาน และแยกให้ชัดว่าบันทึกร่างต่างจากส่งแบบประเมินอย่างไร ผู้ที่เคยทดสอบแล้วช่วยตรวจความครบถ้วน ผู้ที่เพิ่งเริ่มให้ทำตามจังหวะของวิทยากร ส่วนผู้บริหารและผู้ประเมินให้สังเกตข้อมูลที่จะได้รับในขั้นถัดไป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MSU EVA ไม่ได้มีเฉพาะหน้ากรอกแบบประเมิน แต่ช่วยจัดการงานตั้งแต่การเตรียมผู้ใช้และสิทธิ์ จัดทำเกณฑ์ สร้างรอบและมอบหมายงาน ไปจนถึงการกรอกข้อมูล การประเมิน ติดตามสถานะ และส่งออกรายงาน ฟังก์ชันด้านการเตรียมระบบเป็นหน้าที่ของ Admin ผู้เข้าอบรมทั่วไปจึงไม่ต้องสร้างหรือเลือกรอบประเมินเอง แต่ตรวจสอบรอบและรายการที่ได้รับมอบหมาย แล้วดำเนินงานตามสิทธิ์ของตน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ระบบมีห้าบทบาทหลัก ได้แก่ Admin ผู้รับการประเมิน ผู้ประเมิน กรรมการ และผู้บริหาร แต่ละบทบาทจะเห็นเมนูและปุ่มไม่เหมือนกัน Admin เป็นผู้กำหนดผู้ใช้งาน เกณฑ์ รอบประเมิน การมอบหมาย และลำดับผู้ประเมิน ส่วนผู้ประเมิน กรรมการ และผู้บริหารเป็นขั้นการตรวจที่ Admin เลือกใช้และจัดลำดับในแต่ละรอบ บางรอบอาจใช้ไม่ครบทุกบทบาท และผู้ปิดงานคือผู้ที่อยู่ลำดับสุดท้ายของงานนั้น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ก่อนลงรายละเอียด เรามาดูเส้นทางทั้งหมดก่อน งานเริ่มจากผู้รับการประเมินเปิดรายการและกรอกข้อมูล เมื่อพร้อมจึงส่งแบบประเมิน ระบบจะส่งต่อไปยังผู้ประเมินตามลำดับที่กำหนด ผู้ประเมินแต่ละคนตรวจและส่งต่องาน จนผู้ประเมินคนสุดท้ายยืนยันและสถานะเปลี่ยนเป็น ประเมินเสร็จสิ้น หรือ Completed ภาพนี้จะช่วยให้เราเข้าใจว่าทุกปุ่มมีผลต่อคนถัดไปอย่างไร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ในขั้นแรก ผู้รับการประเมินเป็นเจ้าของความครบถ้วนของข้อมูล ต้องเตรียมข้อมูล ตรวจค่าที่กรอกและหลักฐาน แล้วตัดสินใจว่าจะบันทึกร่างหรือส่งแบบประเมิน หากข้อมูลยังไม่ครบให้บันทึกร่างไว้ก่อน การส่งควรทำเมื่อข้อมูลพร้อมให้ผู้อื่นตรวจแล้ว ผู้ประเมินไม่ได้เริ่มจากศูนย์ แต่จะตัดสินใจจากข้อมูลและหลักฐานที่เราเตรียมไว้ ดังนั้นความชัดเจนในขั้นนี้ช่วยลดการย้อนกลับมาแก้ไข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จุดเริ่มต้นคือแดชบอร์ดของฉัน ให้ตรวจสามอย่างก่อนเปิดงาน ได้แก่ รอบประเมินที่ผู้ดูแลระบบกำหนด รายการที่ได้รับมอบหมาย และสถานะของงาน ผู้ใช้งานไม่ต้องเลือกรอบประเมินเอง หากรอบหรือรายการไม่ถูกต้อง ให้แจ้งผู้ดูแลระบบก่อนดำเนินการต่อ ต่อไปผมจะเปิดหนึ่งรายการให้ดู ทุกท่านยังไม่ต้องทำตาม ให้สังเกตตำแหน่งรอบประเมิน ชื่อรายการ และปุ่มเปิดงาน</a:t>
            </a:r>
          </a:p>
          <a:p xmlns:a="http://schemas.openxmlformats.org/drawingml/2006/main">
            <a:r>
              <a:t>[สาธิต] เปิดแดชบอร์ด ตรวจสอบรอบประเมินที่ได้รับมอบหมาย แล้วเปิดรายการสายวิชาการที่เตรียมไว้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เมื่อเปิดรายการแล้ว ให้ตรวจว่ารายวิชา ภาระงาน ผลงาน และหลักฐานเล่าเรื่องเดียวกัน รายวิชาบอกบริบท ภาระงานบอกสิ่งที่ทำและปริมาณ ผลงานอธิบายผลที่เกิดขึ้น และหลักฐานยืนยันว่าข้อมูลนั้นตรวจสอบได้ หากส่วนใดไม่สอดคล้อง ผู้ประเมินจะต้องเดาความหมายหรือขอข้อมูลเพิ่ม ก่อนกรอกจึงควรเลือกเกณฑ์และเตรียมหลักฐานให้ตรงกับงานจริงของเรา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resources/views/criteria_config/partials/create-quantity-template.blade.php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สำหรับข้อมูลเชิงปริมาณ ให้ไล่ดูจากค่าน้ำหนักและภาระงานมาตรฐานไปยังภาระงานที่ทำได้ ซึ่งเป็นช่องที่ผู้รับการประเมินกรอก จากนั้นตรวจคะแนนที่ระบบคำนวณ ไม่ควรดูเฉพาะตัวเลขสุดท้าย แต่ต้องตรวจหน่วย ช่วงค่า และทศนิยมด้วย หากตัวเลขผิดปกติให้ย้อนกลับไปตรวจค่าที่กรอกก่อนบันทึก วิธีนี้ช่วยให้พบข้อผิดพลาดได้ตั้งแต่ต้นและอธิบายที่มาของคะแนนได้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resources/views/criteria_config/partials/create-quantity-template.blade.php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ข้อมูลเชิงคุณภาพควรช่วยให้ผู้ประเมินเข้าใจผลงานได้ในครั้งเดียว ใช้โครงง่าย ๆ ว่าทำอะไร เกิดผลอย่างไร และตรวจจากหลักฐานใด หลีกเลี่ยงคำกว้างที่ไม่บอกบทบาทหรือผลลัพธ์ และไม่จำเป็นต้องเขียนยาวเกินไป ขอให้ข้อความสัมพันธ์กับเกณฑ์และหลักฐานที่เลือก หากผู้ประเมินอ่านแล้วรู้ว่างานคืออะไร ผลคืออะไร และเปิดตรวจจากที่ไหน แสดงว่าข้อมูลมีความพร้อม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หลักฐานที่ดีต้องเปิดได้ ตรงกับรายการ และระบุตัวตนของเอกสารได้ ควรทดลองเปิดลิงก์ในหน้าต่างที่ไม่ได้ใช้บัญชีเจ้าของเอกสาร เพื่อดูว่าผู้ประเมินเข้าถึงได้จริงหรือไม่ ตั้งชื่อไฟล์หรือโฟลเดอร์ให้เข้าใจง่าย และหลีกเลี่ยงการแนบหลักฐานรวมที่หาเนื้อหาของรายการไม่พบ</a:t>
            </a:r>
          </a:p>
          <a:p xmlns:a="http://schemas.openxmlformats.org/drawingml/2006/main">
            <a:r>
              <a:t>[สาธิต] กรอกผลงานหนึ่งรายการ แนบลิงก์หลักฐาน และทดลองเปิดลิงก์จากมุมมองผู้ประเมิน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หากข้อมูลยังไม่ครบ ให้เลือกบันทึกร่าง เพราะสามารถกลับมาแก้ไขได้และงานยังไม่ถูกส่งต่อ ส่วนส่งแบบประเมินควรใช้เมื่อข้อมูลบังคับและหลักฐานครบแล้ว ระบบจะนำงานเข้าสู่ลำดับผู้ประเมิน และผู้รับการประเมินอาจแก้ไขไม่ได้ในขั้นนั้น ก่อนกดส่งจึงควรถามตัวเองว่าผู้ประเมินเห็นข้อมูลครบและเข้าใจที่มาของคะแนนแล้วหรือยัง วันนี้ช่วงทดลองเราจะหยุดที่บันทึกร่างก่อน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หลังส่งแบบประเมิน งานจะไม่ไปถึงทุกคนพร้อมกัน แต่เดินตามลำดับผู้ประเมินที่ผู้ดูแลระบบกำหนด ผู้ประเมินแต่ละคนจะตรวจ ให้ผล และส่งต่องานไปยังคนถัดไป จำนวนผู้ประเมินอาจต่างกันในแต่ละรายการ จึงควรดูสถานะและลำดับของงานนั้น ไม่ควรคาดเดาจากชื่อตำแหน่ง เมื่อถึงผู้ประเมินคนสุดท้าย การยืนยันของบุคคลนั้นจะทำให้งานเข้าสู่สถานะสุดท้าย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เมื่อได้รับงานประเมิน ให้เริ่มจากตรวจว่าข้อมูลตรงกับเกณฑ์ เปิดหลักฐานได้ และเนื้อหาสอดคล้องกัน จากนั้นจึงให้คะแนนหรือความเห็นตามสิทธิ์ของตน หากข้อมูลไม่ครบควรใช้วิธีดำเนินการที่ระบบรองรับ ไม่ควรให้ผลจากการคาดเดา ผู้บริหารหรือผู้ประเมินที่ยังไม่เคยใช้ระบบ ให้สังเกตว่าหน้าจอของผู้ประเมินต่างจากหน้าของผู้รับการประเมินตรงไหน</a:t>
            </a:r>
          </a:p>
          <a:p xmlns:a="http://schemas.openxmlformats.org/drawingml/2006/main">
            <a:r>
              <a:t>[สาธิต] เปลี่ยนเป็นบัญชีผู้ประเมิน เปิดงาน ตรวจข้อมูลและหลักฐาน แล้วบันทึกผล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ผู้ประเมินแต่ละคนรับผิดชอบขั้นของตนเอง เมื่อตรวจครบแล้วจึงส่งต่องาน ผู้ประเมินคนถัดไปจะเห็นข้อมูลและผลตามสิทธิ์ที่กำหนด ส่วนผู้ประเมินคนสุดท้ายมีหน้าที่ยืนยันขั้นสุดท้าย ลำดับนี้อาจไม่ตรงกับตำแหน่งบริหารแบบตายตัว ให้ยึดลำดับที่แสดงในงานเป็นหลัก</a:t>
            </a:r>
          </a:p>
          <a:p xmlns:a="http://schemas.openxmlformats.org/drawingml/2006/main">
            <a:r>
              <a:t>[สาธิต] ส่งต่องานหนึ่งลำดับ แล้วเปิดด้วยบัญชีผู้ประเมินคนสุดท้ายเพื่อให้เห็นปุ่มและสถานะก่อนยืนยัน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เมื่อผู้ประเมินคนสุดท้ายยืนยัน สถานะงานจะเปลี่ยนเป็น ประเมินเสร็จสิ้น หรือ Completed นั่นหมายถึงกระบวนการของรายการนี้ครบตามลำดับแล้ว ผู้ปิดงานไม่จำเป็นต้องเป็นบทบาทเดิมในทุกงาน จึงต้องดูผู้ประเมินคนสุดท้ายที่กำหนดไว้กับรายการนั้นเสมอ</a:t>
            </a:r>
          </a:p>
          <a:p xmlns:a="http://schemas.openxmlformats.org/drawingml/2006/main">
            <a:r>
              <a:t>[สาธิต] ยืนยันขั้นสุดท้ายและแสดงสถานะ Completed</a:t>
            </a:r>
          </a:p>
          <a:p xmlns:a="http://schemas.openxmlformats.org/drawingml/2006/main">
            <a:r>
              <a:t>[กลับมาที่สไลด์] ย้ำว่าการปิดงานเกิดจากลำดับ ไม่ได้ผูกกับชื่อตำแหน่งเดียว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ต่อไปเป็นช่วงทดลองใช้งาน ผู้ที่เคยทดสอบแล้วให้เลือกตรวจความครบถ้วนและช่วยสังเกตจุดที่ต่างจากครั้งก่อน ผู้ที่เข้ามาใหม่ให้ทำตามรายการทีละข้อ เป้าหมายคือเปิดงาน กรอกข้อมูลหนึ่งรายการ แนบหลักฐาน และบันทึกร่าง เมื่อเสร็จให้ยกมือหรือเรียกผู้ช่วย ยังไม่ต้องกดส่งแบบประเมิน เพราะเราจะตรวจความพร้อมและทำขั้นส่งพร้อมกันภายหลัง</a:t>
            </a:r>
          </a:p>
          <a:p xmlns:a="http://schemas.openxmlformats.org/drawingml/2006/main">
            <a:r>
              <a:t>[เริ่มทดลองใช้งาน — 30 นาที]</a:t>
            </a:r>
          </a:p>
          <a:p xmlns:a="http://schemas.openxmlformats.org/drawingml/2006/main">
            <a:r>
              <a:t>[ให้ผู้เข้าอบรมหยุดที่บันทึกร่าง]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หากติดขัด ให้ตรวจสี่จุดก่อน ได้แก่ รอบและรายการ สิทธิ์ของบัญชี สถานะปัจจุบัน และข้อมูลบังคับหรือหลักฐาน หากยังแก้ไม่ได้ ให้จดชื่อรายการ สถานะ และข้อความที่ปรากฏ แล้วแจ้งผู้ดูแลระบบ ข้อมูลเหล่านี้ช่วยวิเคราะห์ได้เร็วกว่าแจ้งเพียงว่าใช้งานไม่ได้</a:t>
            </a:r>
          </a:p>
          <a:p xmlns:a="http://schemas.openxmlformats.org/drawingml/2006/main">
            <a:r>
              <a:t>[ถามผู้เข้าอบรม] มีใครติดที่การเปิดงาน การบันทึกร่าง หรือการเปิดหลักฐานหรือไม่</a:t>
            </a:r>
          </a:p>
          <a:p xmlns:a="http://schemas.openxmlformats.org/drawingml/2006/main">
            <a:r>
              <a:t>[พูด] เมื่อทุกคนพร้อม เราจะตรวจข้อมูลร่วมกัน กดส่งแบบประเมิน แล้วให้ผู้ประเมินทดลองรับงานต่อ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5fbd045c264ef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4a8ea848764d15" /><Relationship Type="http://schemas.openxmlformats.org/officeDocument/2006/relationships/slideLayout" Target="/ppt/slideLayouts/slideLayout1.xml" Id="R2e632a66e66745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e632a66e66745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9de64200be43aa" /><Relationship Type="http://schemas.openxmlformats.org/officeDocument/2006/relationships/image" Target="/ppt/media/image.jpeg" Id="R8220d083e10b4fb7" /><Relationship Type="http://schemas.openxmlformats.org/officeDocument/2006/relationships/image" Target="/ppt/media/image.png" Id="Rb48302174df14012" /><Relationship Type="http://schemas.openxmlformats.org/officeDocument/2006/relationships/image" Target="/ppt/media/image2.png" Id="R8913fa83345245b8" /><Relationship Type="http://schemas.openxmlformats.org/officeDocument/2006/relationships/notesSlide" Target="/ppt/notesSlides/notesSlide1.xml" Id="Rf0291286b33f4a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f6b87270ce43d4" /><Relationship Type="http://schemas.openxmlformats.org/officeDocument/2006/relationships/notesSlide" Target="/ppt/notesSlides/notesSlide2.xml" Id="R79ff8eb480a149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990ddfb360411d" /><Relationship Type="http://schemas.openxmlformats.org/officeDocument/2006/relationships/notesSlide" Target="/ppt/notesSlides/notesSlide3.xml" Id="Rbaa3296b221c499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0df58f2db744f6" /><Relationship Type="http://schemas.openxmlformats.org/officeDocument/2006/relationships/notesSlide" Target="/ppt/notesSlides/notesSlide4.xml" Id="R89d22be09a1141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418c39d2d346f2" /><Relationship Type="http://schemas.openxmlformats.org/officeDocument/2006/relationships/notesSlide" Target="/ppt/notesSlides/notesSlide5.xml" Id="R11648600e72f412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640e4ad35a4e2d" /><Relationship Type="http://schemas.openxmlformats.org/officeDocument/2006/relationships/notesSlide" Target="/ppt/notesSlides/notesSlide6.xml" Id="Rfd95908855854bf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c646207bda4f81" /><Relationship Type="http://schemas.openxmlformats.org/officeDocument/2006/relationships/notesSlide" Target="/ppt/notesSlides/notesSlide7.xml" Id="Rf504f90670904c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5b84e1e53748e2" /><Relationship Type="http://schemas.openxmlformats.org/officeDocument/2006/relationships/notesSlide" Target="/ppt/notesSlides/notesSlide8.xml" Id="R5086148a25634d2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81b14f91164bd0" /><Relationship Type="http://schemas.openxmlformats.org/officeDocument/2006/relationships/notesSlide" Target="/ppt/notesSlides/notesSlide9.xml" Id="R7c72ac341c32497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53549df69a4e86" /><Relationship Type="http://schemas.openxmlformats.org/officeDocument/2006/relationships/notesSlide" Target="/ppt/notesSlides/notesSlide10.xml" Id="Re5279f2ce02d4e6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3e7d84ed514c52" /><Relationship Type="http://schemas.openxmlformats.org/officeDocument/2006/relationships/notesSlide" Target="/ppt/notesSlides/notesSlide11.xml" Id="R91c8c4c45bb144f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97760e933c401d" /><Relationship Type="http://schemas.openxmlformats.org/officeDocument/2006/relationships/notesSlide" Target="/ppt/notesSlides/notesSlide12.xml" Id="R31ae8a8eb799489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bdb4ff12c3473d" /><Relationship Type="http://schemas.openxmlformats.org/officeDocument/2006/relationships/notesSlide" Target="/ppt/notesSlides/notesSlide13.xml" Id="R141c4ac9bf3645f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c2e2aebc53413f" /><Relationship Type="http://schemas.openxmlformats.org/officeDocument/2006/relationships/notesSlide" Target="/ppt/notesSlides/notesSlide14.xml" Id="Rb6e89e653e96487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5bbc294aca49d3" /><Relationship Type="http://schemas.openxmlformats.org/officeDocument/2006/relationships/notesSlide" Target="/ppt/notesSlides/notesSlide15.xml" Id="R9733d3d3dc104ba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6ff097b90e43fa" /><Relationship Type="http://schemas.openxmlformats.org/officeDocument/2006/relationships/notesSlide" Target="/ppt/notesSlides/notesSlide16.xml" Id="Rd03570364263433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092ed254da4db1" /><Relationship Type="http://schemas.openxmlformats.org/officeDocument/2006/relationships/notesSlide" Target="/ppt/notesSlides/notesSlide17.xml" Id="Rc4aa62287bab4ac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4afe67eae34f02" /><Relationship Type="http://schemas.openxmlformats.org/officeDocument/2006/relationships/image" Target="/ppt/media/image3.png" Id="R06f8e8bec77349ac" /><Relationship Type="http://schemas.openxmlformats.org/officeDocument/2006/relationships/notesSlide" Target="/ppt/notesSlides/notesSlide18.xml" Id="R60c0d5ecfb63486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20d083e10b4fb7"/>
          <a:srcRect xmlns:a="http://schemas.openxmlformats.org/drawingml/2006/main" l="2579" t="0" r="25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panel">
            <a:extLst xmlns:a="http://schemas.openxmlformats.org/drawingml/2006/main">
              <a:ext uri="{FF2B5EF4-FFF2-40B4-BE49-F238E27FC236}">
                <a16:creationId xmlns:a16="http://schemas.microsoft.com/office/drawing/2014/main" id="{9242EDEC-1B4C-4781-A81E-8FFD7A62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52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D08C9BA9-824F-4F49-B7FE-460CCA6B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8302174df14012"/>
          <a:stretch xmlns:a="http://schemas.openxmlformats.org/drawingml/2006/main"/>
        </p:blipFill>
        <p:spPr>
          <a:xfrm xmlns:a="http://schemas.openxmlformats.org/drawingml/2006/main">
            <a:off x="628650" y="419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5" name="cover-institution">
            <a:extLst xmlns:a="http://schemas.openxmlformats.org/drawingml/2006/main">
              <a:ext uri="{FF2B5EF4-FFF2-40B4-BE49-F238E27FC236}">
                <a16:creationId xmlns:a16="http://schemas.microsoft.com/office/drawing/2014/main" id="{83F7CC74-1BAF-4FF6-B635-F61A138A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 xmlns:a="http://schemas.openxmlformats.org/drawingml/2006/main">
              <a:ext uri="{FF2B5EF4-FFF2-40B4-BE49-F238E27FC236}">
                <a16:creationId xmlns:a16="http://schemas.microsoft.com/office/drawing/2014/main" id="{E2BA134D-4FCD-4082-8244-2AEE97520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ภาคเช้า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282C833-0753-44A6-843A-DBCD5E27E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6191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การใช้งานระบบ MSU EVA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สำหรับบุคลากรสายวิชาการ</a:t>
            </a:r>
          </a:p>
        </p:txBody>
      </p:sp>
      <p:sp>
        <p:nvSpPr>
          <p:cNvPr id="8" name="cover-gold-rule">
            <a:extLst xmlns:a="http://schemas.openxmlformats.org/drawingml/2006/main">
              <a:ext uri="{FF2B5EF4-FFF2-40B4-BE49-F238E27FC236}">
                <a16:creationId xmlns:a16="http://schemas.microsoft.com/office/drawing/2014/main" id="{FA0544A7-4936-4360-9EA0-D5ADF46F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541F68F8-AA0A-4324-A036-CB02F488F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5770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กรอกภาระงานและผลงานให้ครบ ตรวจหลักฐาน แล้วส่งแบบประเมินอย่างมั่นใจ</a:t>
            </a:r>
          </a:p>
        </p:txBody>
      </p:sp>
      <p:sp>
        <p:nvSpPr>
          <p:cNvPr id="10" name="cover-style">
            <a:extLst xmlns:a="http://schemas.openxmlformats.org/drawingml/2006/main">
              <a:ext uri="{FF2B5EF4-FFF2-40B4-BE49-F238E27FC236}">
                <a16:creationId xmlns:a16="http://schemas.microsoft.com/office/drawing/2014/main" id="{EED69F5C-A9FE-4D17-BEF7-D6A23D43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•  สายวิชาการ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13fa83345245b8"/>
          <a:stretch xmlns:a="http://schemas.openxmlformats.org/drawingml/2006/main"/>
        </p:blipFill>
        <p:spPr>
          <a:xfrm xmlns:a="http://schemas.openxmlformats.org/drawingml/2006/main">
            <a:off x="9186571" y="5962650"/>
            <a:ext cx="2029408" cy="55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1002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de-accent-2">
            <a:extLst xmlns:a="http://schemas.openxmlformats.org/drawingml/2006/main">
              <a:ext uri="{FF2B5EF4-FFF2-40B4-BE49-F238E27FC236}">
                <a16:creationId xmlns:a16="http://schemas.microsoft.com/office/drawing/2014/main" id="{9332EC01-06D2-4E39-8917-C2352B2E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674C4074-8954-4645-ABA1-0F01498C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เป้าหมายการอบรม  /  สายวิชาการ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D0B222E7-3744-421D-9B07-6E0895FD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วันนี้เราจะทดลองกรอกแบบประเมิน 1 รายการให้พร้อมส่ง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295794-D3AC-4E04-866D-0259078E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1B03C3-F25E-4546-AF96-44825037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79F327-EB47-4A55-9834-7063B163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765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2A01BD-4446-493C-AA65-CAEA9ABF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289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เปิดงานที่ได้รับมอบหมายได้ถูกต้อง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5DFB0C-9A7B-4B9D-8F0C-85363024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F89A4C-CB5F-4756-AF56-7F4E17A8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A6D56A-F588-4786-8243-03210D758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0045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 คุณภาพ และหลักฐานได้ครบ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34C66E-93C3-4767-814E-AE40D436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D7D337-2921-4DA1-9D08-EECD3C52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196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4453CC-6C6D-4328-970D-2A3036911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แยกการบันทึกร่างออกจากการยืนยันส่ง</a:t>
            </a:r>
          </a:p>
        </p:txBody>
      </p:sp>
      <p:sp>
        <p:nvSpPr>
          <p:cNvPr id="14" name="outcome-mark">
            <a:extLst xmlns:a="http://schemas.openxmlformats.org/drawingml/2006/main">
              <a:ext uri="{FF2B5EF4-FFF2-40B4-BE49-F238E27FC236}">
                <a16:creationId xmlns:a16="http://schemas.microsoft.com/office/drawing/2014/main" id="{152BFBF4-AD87-494A-B840-3E61E0E8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2324100" cy="32956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75476D-3434-4D84-A466-0A8E7B40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7907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A54EFF-D78F-4E11-87D4-9DD4BA4CF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52850"/>
            <a:ext cx="1790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BEED8F76-B1FD-40B3-BA1B-2FE7D61A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D1C96599-2204-437D-84C7-408E33DF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19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B77811F2-33C3-48BA-840F-E857B74A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 / 18</a:t>
            </a:r>
          </a:p>
        </p:txBody>
      </p:sp>
    </p:spTree>
    <p:extLst>
      <p:ext uri="{BB962C8B-B14F-4D97-AF65-F5344CB8AC3E}">
        <p14:creationId xmlns:p14="http://schemas.microsoft.com/office/powerpoint/2010/main" val="17246121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3">
            <a:extLst xmlns:a="http://schemas.openxmlformats.org/drawingml/2006/main">
              <a:ext uri="{FF2B5EF4-FFF2-40B4-BE49-F238E27FC236}">
                <a16:creationId xmlns:a16="http://schemas.microsoft.com/office/drawing/2014/main" id="{D61C985E-CCFE-4EC1-A16A-AE3613F70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27FC400C-EB2A-4DBB-85D7-FD3EC247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รู้จักระบบ  /  สายวิชาการ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F1D6536C-056F-4FBA-BB0D-DE4DDF0A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MSU EVA ช่วยจัดการงานประเมินตั้งแต่เตรียมรอบจนถึงรายงานผล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074998-3697-4006-AFBA-D934B53D4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ฟังก์ชันหลัก 5 ด้าน เชื่อมต่อกันเป็นกระบวนการเดียว</a:t>
            </a:r>
          </a:p>
        </p:txBody>
      </p:sp>
      <p:sp>
        <p:nvSpPr>
          <p:cNvPr id="5" name="system-function-line">
            <a:extLst xmlns:a="http://schemas.openxmlformats.org/drawingml/2006/main">
              <a:ext uri="{FF2B5EF4-FFF2-40B4-BE49-F238E27FC236}">
                <a16:creationId xmlns:a16="http://schemas.microsoft.com/office/drawing/2014/main" id="{41EDD8AD-FB3C-44F9-B41A-15B9DEF66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67100"/>
            <a:ext cx="8705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7BE578-31A0-4D74-A90D-1CAEFA09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B57FF4-067C-4454-A797-E0606586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A64692-A834-43B2-9735-ECFFFB285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ผู้ใช้และสิทธิ์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96D765-CE47-49CE-95FA-7B2BE245B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จัดการบัญชีและบทบาท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8299F4-A9A5-4684-BAFC-C1248EB0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6499C0-2556-40D0-8816-7ADEE01E0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C9BC2F-29AA-413B-BFDF-454AD975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เกณฑ์ประเมิน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D2D9B7-E31D-4CF9-BADE-08B37E3B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จัดการแบบและเกณฑ์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6E15F2-F5FE-4CC7-AA64-C0766FDB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0F84A0-C700-45AC-B8C2-92F11A20B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850952-3641-4F73-A1E6-051EBCEF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รอบและงาน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AB14E6-06C5-4118-8400-29928E0E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สร้างรอบและมอบหมาย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AB5F41-F6E6-430C-BE65-33FF54A2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54E6E6-7800-4748-BF3F-438757F2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AD6644-66CB-4178-9DF7-A3C804A90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กรอกและประเมิน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992086-F462-4947-913D-C64ACEDF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 ตรวจ และส่งต่อ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0C59CC-6F38-421D-8DA7-75182E84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261C94-4683-4175-92F8-B9988B862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94DC47-2868-422B-9CFF-D176C0AC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ติดตาม/รายงาน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E2405E-D5C8-4977-BA42-38B5F15A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ติดตามสถานะและส่งออก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64FE83-303B-40EF-801E-B5D35D2D1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F6B230-E751-484D-99F7-615C7A4B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1051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Admin เตรียมระบบและมอบหมายงาน ก่อนผู้ใช้งานเริ่มดำเนินการ</a:t>
            </a:r>
          </a:p>
        </p:txBody>
      </p:sp>
      <p:sp>
        <p:nvSpPr>
          <p:cNvPr id="2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1C11A256-F3B3-4B40-AA1D-1B9D3C56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60FB5FD7-F688-46AA-A68B-73AFACAF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3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B31B76F2-AF00-45C3-96CE-22110BA12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 / 18</a:t>
            </a:r>
          </a:p>
        </p:txBody>
      </p:sp>
    </p:spTree>
    <p:extLst>
      <p:ext uri="{BB962C8B-B14F-4D97-AF65-F5344CB8AC3E}">
        <p14:creationId xmlns:p14="http://schemas.microsoft.com/office/powerpoint/2010/main" val="1303192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4">
            <a:extLst xmlns:a="http://schemas.openxmlformats.org/drawingml/2006/main">
              <a:ext uri="{FF2B5EF4-FFF2-40B4-BE49-F238E27FC236}">
                <a16:creationId xmlns:a16="http://schemas.microsoft.com/office/drawing/2014/main" id="{7B42B271-6EC8-4EE8-ADAF-95571545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44AEF445-226E-4879-9CEC-FBE6E7C57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ผู้ใช้งานระบบ  /  สายวิชาการ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51778203-E848-4C42-B23B-29EABA97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ระบบมี 5 บทบาท และแต่ละคนเห็นงานต่างกัน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41F879-5B9F-4FB6-B162-B7151C01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5E0BC2-35D3-4648-9290-46C88967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288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Admin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0734C7-0CD1-4871-A8EE-A01F5060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ผู้ใช้ • สิทธิ์ • เกณฑ์ • รอบประเมิน • งาน • ลำดับผู้ประเมิน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ACD655-2285-4AC9-9C97-9294CD1C4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8125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4F8046-AFB0-42E4-BF79-1B5F76D9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88753E-7F7D-460A-A590-884C54FD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622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ผู้รับการประเมิน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EE1C79-1633-44CE-8E1D-18F851CA8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032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กรอกข้อมูล • แนบหลักฐาน • บันทึกร่าง • ส่งแบบประเมิน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EE5BE2-C506-4D43-9DEB-E3D541BAE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1467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2014AA-BF02-4FCF-A57A-9E8D0E44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BE669F-FF6E-425C-99FC-C7DDE33A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1CF12B-0130-4AFD-AD87-2613D42E1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3375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 • ให้คะแนนหรือความเห็น • ส่งต่องาน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2E6C6D-3702-4FD9-AEA7-093ECE1D3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DEBB25-9796-4568-B45B-29413866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0F2E17-894A-4CAA-B3F2-663A1ED52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2907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กรรมการ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8F2097-E220-4B19-81F0-B57B2C004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6717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ตรวจและรับรองผลตามขั้นที่ได้รับมอบหมาย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7BF628-33A8-43AE-860B-1B60A61F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8152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95796C-A3F7-42CD-8D1A-91AA13711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478619-1A2A-4DE3-8052-31E7AAB9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62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ผู้บริหาร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4FC6DE-C722-43C1-9C26-CEF9921A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006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ตรวจหรือยืนยันตามลำดับ • ดูรายงานตามสิทธิ์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D7EAA6-68A9-4892-AEEE-32F4358E0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5E5B9F-D608-435A-A132-462693EF1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977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แต่ละรอบอาจใช้ผู้ประเมินไม่ครบทุกบทบาท ให้ยึดลำดับที่ Admin กำหนด</a:t>
            </a:r>
          </a:p>
        </p:txBody>
      </p:sp>
      <p:sp>
        <p:nvSpPr>
          <p:cNvPr id="25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2F35BB4D-AEC4-4F79-97B2-A72EED8F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A0015350-1845-4059-BE62-F16A3F61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7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ACCD8E68-7287-46BF-B9D5-2D661131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04 / 18</a:t>
            </a:r>
          </a:p>
        </p:txBody>
      </p:sp>
    </p:spTree>
    <p:extLst>
      <p:ext uri="{BB962C8B-B14F-4D97-AF65-F5344CB8AC3E}">
        <p14:creationId xmlns:p14="http://schemas.microsoft.com/office/powerpoint/2010/main" val="8619449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5">
            <a:extLst xmlns:a="http://schemas.openxmlformats.org/drawingml/2006/main">
              <a:ext uri="{FF2B5EF4-FFF2-40B4-BE49-F238E27FC236}">
                <a16:creationId xmlns:a16="http://schemas.microsoft.com/office/drawing/2014/main" id="{D4B251A3-BCE3-45DB-AEFE-258561F4B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EFBF045A-628F-4F21-8C08-6DC59AD9A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ภาพรวมกระบวนการ  /  สายวิชาการ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B8EF9CEC-DBE8-4925-93F9-C22EE6A0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307A59-10A3-48A4-9B61-4DFEC8D0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ตั้งแต่เปิดงาน กรอกข้อมูล ตรวจความพร้อม จนถึงผู้ประเมินคนสุดท้าย</a:t>
            </a:r>
          </a:p>
        </p:txBody>
      </p:sp>
      <p:sp>
        <p:nvSpPr>
          <p:cNvPr id="5" name="workflow-line">
            <a:extLst xmlns:a="http://schemas.openxmlformats.org/drawingml/2006/main">
              <a:ext uri="{FF2B5EF4-FFF2-40B4-BE49-F238E27FC236}">
                <a16:creationId xmlns:a16="http://schemas.microsoft.com/office/drawing/2014/main" id="{9C1CC4B5-413E-4D0A-B20C-EB36245D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866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workflow-arrow">
            <a:extLst xmlns:a="http://schemas.openxmlformats.org/drawingml/2006/main">
              <a:ext uri="{FF2B5EF4-FFF2-40B4-BE49-F238E27FC236}">
                <a16:creationId xmlns:a16="http://schemas.microsoft.com/office/drawing/2014/main" id="{52CBF924-5503-4A60-96DA-A12CE1DD9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432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8F0EC8-E7EE-44C4-BF51-46151EBB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BE9915-9239-472B-ACEB-096EF14A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552915-E26B-42FE-9351-2468B8F1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64DE8-28C8-4047-82F4-56938573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ตรวจรอบและรายการ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9FED89-094F-4036-BCD2-1BD0A2CA6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558F39-49CA-4045-82E8-BAD42D623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59C6E6-D1EF-4D09-8EDF-60F1385C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C56FB3-F4F6-4CC6-9181-F7E1F5A0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ปริมาณ • คุณภาพ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84579C-744C-4CA4-9ACC-2A4CE3A7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B52EE0-BA1E-45BC-BC93-C2FBD66A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664984-4014-41E4-AE16-04463172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912DA4-2A7F-4C74-870F-34A53CDE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8EC3B3-80BC-435F-84FA-109352D5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CA7E28-245D-4C80-9CB7-3B637744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155F56-314B-409A-9E67-1AC6A84F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9CC764-C0DD-424E-8ACB-C72A8D0D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5EC289-E9B5-4370-BDAA-AEB32A67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3176AF-E9A7-4D4D-BF29-147EB9B5E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102BC8-1812-458B-B853-5FBAEB7F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950E24-2837-4DDD-B332-15CDAB8EE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F9AAD5-D6E9-438E-B305-997D7F634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41A28CAC-8078-4AA9-A130-215154AC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285B1F73-F465-450A-8907-B3E2736E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30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69B78C32-F44D-4AA9-A04D-C2798F906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05 / 18</a:t>
            </a:r>
          </a:p>
        </p:txBody>
      </p:sp>
    </p:spTree>
    <p:extLst>
      <p:ext uri="{BB962C8B-B14F-4D97-AF65-F5344CB8AC3E}">
        <p14:creationId xmlns:p14="http://schemas.microsoft.com/office/powerpoint/2010/main" val="18881938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6">
            <a:extLst xmlns:a="http://schemas.openxmlformats.org/drawingml/2006/main">
              <a:ext uri="{FF2B5EF4-FFF2-40B4-BE49-F238E27FC236}">
                <a16:creationId xmlns:a16="http://schemas.microsoft.com/office/drawing/2014/main" id="{F02EA730-C2A7-4489-8D1A-5F3119E0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24D4BB08-63EE-4450-8929-BB93B8CB7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บทบาทของคุณ  /  สายวิชาการ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9DAAB156-5307-47CC-9E36-FD556F01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กรอกข้อมูลของคุณให้ครบ แล้วส่งให้ผู้ประเมิน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33490-4BD7-4919-8605-75CED540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09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คุณเป็นเจ้าของความครบถ้วนของข้อมูลวิชาการในขั้นแรก ผู้ประเมินจึงตรวจต่อได้อย่างมีหลักฐาน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246B51-C05D-44DE-BF4D-CA734745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A043FC-C10C-40EA-9361-FF73B22FF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BE81DE-F81C-4206-8DFD-38883F2A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01F317-6C61-4939-8E35-DF393F28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ข้อมูลรายวิชา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ภาระงาน และผลงาน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1F7416-2E7B-4AEF-9174-6B6D4B24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130F38-24C8-4E04-B343-B0AC95055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EB7732-7F5F-48D5-99A6-1BF0B197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95C453-ED1E-4B20-BC8F-871344B4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D2CCB8-BA89-43C1-9024-76C27BE6F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D6BFFD-E023-4249-9EB3-DF845D131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FACE93-B9BD-40D6-BA7E-AE1BF1F22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7F1030-0294-477A-B522-3C37349F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9BAD16-63F3-427B-BCDA-ECA39CF1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3009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762FDD-5792-43F2-8C9C-181ABD92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90725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เป็นผู้ปิดงาน</a:t>
            </a:r>
          </a:p>
        </p:txBody>
      </p:sp>
      <p:sp>
        <p:nvSpPr>
          <p:cNvPr id="19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14E3714-6BCD-42A0-9B65-664CF227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766F02FA-D12A-4492-9DFD-981EFB03A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011C9920-DB05-4FD8-8202-229EA1428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06 / 18</a:t>
            </a:r>
          </a:p>
        </p:txBody>
      </p:sp>
    </p:spTree>
    <p:extLst>
      <p:ext uri="{BB962C8B-B14F-4D97-AF65-F5344CB8AC3E}">
        <p14:creationId xmlns:p14="http://schemas.microsoft.com/office/powerpoint/2010/main" val="19007460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7">
            <a:extLst xmlns:a="http://schemas.openxmlformats.org/drawingml/2006/main">
              <a:ext uri="{FF2B5EF4-FFF2-40B4-BE49-F238E27FC236}">
                <a16:creationId xmlns:a16="http://schemas.microsoft.com/office/drawing/2014/main" id="{F7F23E5C-05EA-4CA2-B932-936A4DE2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61FBF00F-42CF-453A-92A6-4365B2C0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จุดเริ่มต้น  /  สายวิชาการ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E0773657-5533-46BC-A73F-DD59B394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ตรวจสอบรอบประเมินและรายการที่ได้รับมอบหมาย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8C8B68-91F3-4D13-901F-6DA6B3C82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82078C-5676-44D7-B210-4FE4D1286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AF214D-8017-426E-8864-441F1FC1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3140C0-E624-43A5-96D2-9E894C86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7A3401-7FC3-46E2-8058-3F6290D8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ผู้ดูแลระบบกำหนดไว้ถูกต้อง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F137A1-25B9-44E6-8FA0-09A11EE6F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C44A02-F0F2-4DC0-808F-779D2E0C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6AE628-B5D2-4A64-AE24-FE9EFED8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957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5AB2ED-D37B-44F4-931A-AF00136F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5D47AE-A04A-4EEC-9FCB-129D3DF0E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8F1788-8717-496E-ABCF-3EF2EEDF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757240-1219-493C-BF3A-D82A7AE9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7E2D2-4F25-47B6-8AEF-F8B93FEDD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00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17" name="dashboard-preview">
            <a:extLst xmlns:a="http://schemas.openxmlformats.org/drawingml/2006/main">
              <a:ext uri="{FF2B5EF4-FFF2-40B4-BE49-F238E27FC236}">
                <a16:creationId xmlns:a16="http://schemas.microsoft.com/office/drawing/2014/main" id="{99223EF1-430F-44E0-BAD5-984756B9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9800"/>
            <a:ext cx="3124200" cy="33528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BE4F3B-9AB6-4599-9CC6-43866CC6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9555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แดชบอร์ดของฉัน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C1998A-A3D3-470D-87E5-614C938F4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0F0D6E-7149-474D-96F4-AE33BD85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992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สายวิชาการ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F0541E-5EA8-40BF-B588-64B8F622C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52850"/>
            <a:ext cx="1943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AF8A78-9D00-488B-B35B-2B3B6D57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14800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EE4405-1637-4DFA-9E22-C05DB273D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15430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4F096F-31D7-4BB8-8215-CDEF582A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291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เปิดรายการ</a:t>
            </a:r>
          </a:p>
        </p:txBody>
      </p:sp>
      <p:sp>
        <p:nvSpPr>
          <p:cNvPr id="25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A0F45E81-CAD9-4A7D-B8D5-8B23397F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490DD374-DE31-445E-895C-C57A4B6CA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7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C0EEB473-92E2-4CEB-B426-D3AB6FAC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07 / 18</a:t>
            </a:r>
          </a:p>
        </p:txBody>
      </p:sp>
    </p:spTree>
    <p:extLst>
      <p:ext uri="{BB962C8B-B14F-4D97-AF65-F5344CB8AC3E}">
        <p14:creationId xmlns:p14="http://schemas.microsoft.com/office/powerpoint/2010/main" val="18204853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de-accent-8">
            <a:extLst xmlns:a="http://schemas.openxmlformats.org/drawingml/2006/main">
              <a:ext uri="{FF2B5EF4-FFF2-40B4-BE49-F238E27FC236}">
                <a16:creationId xmlns:a16="http://schemas.microsoft.com/office/drawing/2014/main" id="{61129F19-9D26-4C34-802F-8F236341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9621EFC9-D7D3-403B-9475-C9D3FC4E5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โครงสร้างข้อมูล  /  สายวิชาการ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8FD23C6B-BED2-454F-ADF5-A232CBCD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ตรวจให้แน่ใจว่ารายวิชา ภาระงาน ผลงาน และหลักฐานสอดคล้องกัน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804277-C396-41F2-B4DB-BA1A594B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7C7108-D4FC-4799-9941-AA9A3F5D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7696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51EC0F-AFA1-4325-B0D1-FB68A98C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8FE144-EC31-4F51-B365-4565A28A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F2FF50-D21C-47F1-8EF3-693C3A590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รายวิชา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71CB07-4A61-44AA-BA31-BA3974F77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บริบทของงานสอน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F86FFF-C3AE-45DF-8157-C2049102D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4F92C6-4EB2-41CD-9193-FAC536BE1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8EDABE-1B8B-44A4-BDE9-5D4C5C11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A25F41-37E6-4E20-8EA0-09A935E1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สิ่งที่ทำและปริมาณ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7F68FD-EBCC-473F-BA7A-90B8ED392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85180A-7756-4C22-9EAB-04104157F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1AC018-E708-4BA4-BAB4-2666B1ECD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D2DD82-C079-45F6-BB46-D06FA9BE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ผลลัพธ์เชิงคุณภาพ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DA1A75-39F7-409E-8BC5-07CCD39D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C73EE4-184B-4FCF-A313-31DE969D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7F5C4A-9E40-4A45-BC05-4B1A5CAB4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A37E71-FB25-450E-AE10-C9567058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สิ่งที่ตรวจสอบได้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0E5E87-01CF-4992-B814-1EB50C7E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ถ้าข้อมูลส่วนหนึ่งไม่สอดคล้อง ผู้ประเมินจะตีความงานได้ยาก</a:t>
            </a:r>
          </a:p>
        </p:txBody>
      </p:sp>
      <p:sp>
        <p:nvSpPr>
          <p:cNvPr id="2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B2CA0351-BA38-4FED-B216-6744EB0D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C9068024-D850-4534-A680-F476BA82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5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DE14E792-8600-468B-BE59-6D71FCB9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08 / 18</a:t>
            </a:r>
          </a:p>
        </p:txBody>
      </p:sp>
    </p:spTree>
    <p:extLst>
      <p:ext uri="{BB962C8B-B14F-4D97-AF65-F5344CB8AC3E}">
        <p14:creationId xmlns:p14="http://schemas.microsoft.com/office/powerpoint/2010/main" val="4356080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9">
            <a:extLst xmlns:a="http://schemas.openxmlformats.org/drawingml/2006/main">
              <a:ext uri="{FF2B5EF4-FFF2-40B4-BE49-F238E27FC236}">
                <a16:creationId xmlns:a16="http://schemas.microsoft.com/office/drawing/2014/main" id="{D2D6A377-7385-4A59-AE23-B9A58D15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EE62A615-E86D-4090-A038-628EF6DE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ข้อมูลเชิงปริมาณ  /  สายวิชาการ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D82B576F-C721-4157-B6B4-B70EE9B6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กรอกภาระงานที่ทำได้ แล้วตรวจคะแนนที่ระบบคำนวณ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F06A60-629F-48ED-B83F-8C6B0264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อ่านช่อง A–D ให้เป็นลำดับเดียวกัน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2E8E20-A6B6-4C92-9FBA-5E566D2EE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76F2C9-29C9-4359-B158-13D2241D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4AB7FA-9BA7-44DE-8026-466A0324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ค่าน้ำหนัก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45D3CD-8160-4F72-80EF-D2662430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กำหนดจากเกณฑ์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161DAA-9BC8-4128-A3CA-8857F35C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063A46-FA2B-488B-8D67-9039ED493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42A99F-77ED-478E-B2D1-7A08CA19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ภาระงานมาตรฐาน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8DA19E-7720-4347-A87C-3B56DE64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ค่าฐานของรายการ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D5067F-6CD6-4C45-BA78-1D0D82B85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C0ADBF-1F51-4BE5-B154-2D8EE77B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01FEBE-6AA6-4DFC-BAB2-23370684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ภาระงานที่ทำได้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6B980E-4429-4E70-BB57-7ADC5F99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ข้อมูลที่คุณกรอก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D19F60-B7AE-4ADB-8F97-A9FA92E3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7D7048-E833-462F-9136-9A1732D9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402FC1-A3A7-4C54-983D-7AE340A3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คะแนนที่คำนวณ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52EE70-26C4-485A-8E6C-AB0A37FF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ตรวจผลจากระบบ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F827AE-C64A-4839-BD39-DDA63C38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ตรวจหน่วยและค่าทศนิยมก่อนบันทึก</a:t>
            </a:r>
          </a:p>
        </p:txBody>
      </p:sp>
      <p:sp>
        <p:nvSpPr>
          <p:cNvPr id="22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FB278C13-AF0A-41F0-B6D4-934FB45F5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9">
            <a:extLst xmlns:a="http://schemas.openxmlformats.org/drawingml/2006/main">
              <a:ext uri="{FF2B5EF4-FFF2-40B4-BE49-F238E27FC236}">
                <a16:creationId xmlns:a16="http://schemas.microsoft.com/office/drawing/2014/main" id="{2B68AAB9-609B-477B-A4B1-E751D8FA6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2A8256D5-5C32-4377-B7BA-56F6BB24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09 / 18</a:t>
            </a:r>
          </a:p>
        </p:txBody>
      </p:sp>
    </p:spTree>
    <p:extLst>
      <p:ext uri="{BB962C8B-B14F-4D97-AF65-F5344CB8AC3E}">
        <p14:creationId xmlns:p14="http://schemas.microsoft.com/office/powerpoint/2010/main" val="26057112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0">
            <a:extLst xmlns:a="http://schemas.openxmlformats.org/drawingml/2006/main">
              <a:ext uri="{FF2B5EF4-FFF2-40B4-BE49-F238E27FC236}">
                <a16:creationId xmlns:a16="http://schemas.microsoft.com/office/drawing/2014/main" id="{6EE22F4F-7FC5-4132-80F7-9708F9F8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7E981119-B365-4DA5-83D9-A6F724A3A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ข้อมูลเชิงคุณภาพ  /  สายวิชาการ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1C0D6A2D-62A4-491F-919D-1671365B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อธิบายผลงานให้ผู้ประเมินเข้าใจได้ในครั้งเดียว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11E435-A604-4700-BA0C-DAD11340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904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เขียนให้เห็นว่า “ทำอะไร — เกิดผลอย่างไร — ตรวจจากไหน”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9FD301-CBA5-49AE-93FC-F7C3DDC5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6AD64D-B17F-4A40-BF3C-BA816FDC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432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ทำอะไร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D84E0D-E386-4F21-B6DC-7F4078BD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813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ระบุผลงานหรือบทบาทให้ชัด ไม่ใช้คำกว้าง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B40287-9703-4678-B95E-2FE56754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42900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9C1B4C-1982-452F-9D60-9054E0CC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E8B378-6AE0-49DD-8634-B195C276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7147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เกิดผลอย่างไร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193105-A38E-42FD-B088-8447B4D7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5285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สรุปผลลัพธ์ที่สัมพันธ์กับเกณฑ์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051BF2-3834-46C5-8F7B-1F74B262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0055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678BB0-F3FA-4A52-81EA-1A7262A4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50C387-A0C3-488A-BEB0-3AD16576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6863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ตรวจจากไหน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459594-CFFA-41CE-BC1E-AFD2E26FC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244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ชี้ไปยังเอกสารหรือหลักฐานที่ตรงรายการ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420F54-E3E4-4115-BBF8-29802260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85950"/>
            <a:ext cx="2876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1000C8-27EA-4CB4-A803-7DACD29C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383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ชัด • สั้น • ตรวจสอบได้</a:t>
            </a:r>
          </a:p>
        </p:txBody>
      </p:sp>
      <p:sp>
        <p:nvSpPr>
          <p:cNvPr id="18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40D47AB6-DA1E-4F9A-B872-ECCE5D87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0">
            <a:extLst xmlns:a="http://schemas.openxmlformats.org/drawingml/2006/main">
              <a:ext uri="{FF2B5EF4-FFF2-40B4-BE49-F238E27FC236}">
                <a16:creationId xmlns:a16="http://schemas.microsoft.com/office/drawing/2014/main" id="{0D496566-95FA-41D2-A0C9-A2651EFA4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0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8F559CA5-9505-48D4-B667-E3ECABCD9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10 / 18</a:t>
            </a:r>
          </a:p>
        </p:txBody>
      </p:sp>
    </p:spTree>
    <p:extLst>
      <p:ext uri="{BB962C8B-B14F-4D97-AF65-F5344CB8AC3E}">
        <p14:creationId xmlns:p14="http://schemas.microsoft.com/office/powerpoint/2010/main" val="104434030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1">
            <a:extLst xmlns:a="http://schemas.openxmlformats.org/drawingml/2006/main">
              <a:ext uri="{FF2B5EF4-FFF2-40B4-BE49-F238E27FC236}">
                <a16:creationId xmlns:a16="http://schemas.microsoft.com/office/drawing/2014/main" id="{D2714398-5BF6-4E6E-A36E-14BB00E1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BEA924F7-546E-4934-9E70-5F7A9A1C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หลักฐาน  /  สายวิชาการ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AF87D112-A70A-4CC2-AD98-01B4593DD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แนบหลักฐานที่เปิดดูได้และตรงกับผลงาน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4E2314-C7A8-454F-81F6-41DBB4B5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หลักฐานที่ดีช่วยให้ผู้ประเมินตรวจได้เร็ว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728AA2-62AC-4A5A-AF16-48DC7241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4B040B-C18F-4781-913E-F60381BA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5F755E-B5E8-4CDE-8E91-D9993420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2B6C1D-8D8C-46E0-B6B7-A99F53857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6BDF43-BE21-447A-BF17-FBFAB491F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BBC259-6FF9-461C-8D78-CEA485027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47D9DA-9691-4545-8E0B-28F3BF3DD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95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60ECFD-D949-4E2C-86C4-C3301351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147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สอดคล้องกับผลงานหรือเกณฑ์ที่เลือก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29798E-EB4E-41DD-A8D0-1068DCC27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FAEDA2-646A-43D6-8B8B-4FDD58C9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645165-7765-4455-9455-303E5E7E0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ระบุตัวตนได้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01914B-C237-4A71-8D12-0C751CFC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482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ตั้งชื่อไฟล์หรือเอกสารให้เข้าใจง่าย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D651E8-65B1-4B44-88C4-9BF53954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244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FFCA3C-E966-4854-8FAD-26D1B219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9700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79FA44BA-161E-4657-A6D9-E5AB111E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1">
            <a:extLst xmlns:a="http://schemas.openxmlformats.org/drawingml/2006/main">
              <a:ext uri="{FF2B5EF4-FFF2-40B4-BE49-F238E27FC236}">
                <a16:creationId xmlns:a16="http://schemas.microsoft.com/office/drawing/2014/main" id="{504692BF-3552-48BF-929B-2A21C18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4F7CE26A-0C4B-4A0F-B333-F72780EF2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11 / 18</a:t>
            </a:r>
          </a:p>
        </p:txBody>
      </p:sp>
    </p:spTree>
    <p:extLst>
      <p:ext uri="{BB962C8B-B14F-4D97-AF65-F5344CB8AC3E}">
        <p14:creationId xmlns:p14="http://schemas.microsoft.com/office/powerpoint/2010/main" val="10130898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ide-accent-12">
            <a:extLst xmlns:a="http://schemas.openxmlformats.org/drawingml/2006/main">
              <a:ext uri="{FF2B5EF4-FFF2-40B4-BE49-F238E27FC236}">
                <a16:creationId xmlns:a16="http://schemas.microsoft.com/office/drawing/2014/main" id="{84289187-5394-4918-B24B-523B39C1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C7206BB4-6590-4F0B-A9DB-D1174F014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ก่อนกดปุ่ม  /  สายวิชาการ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60C19E1E-C8A5-4F18-A37A-9A1367C04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 xmlns:a="http://schemas.openxmlformats.org/drawingml/2006/main">
              <a:ext uri="{FF2B5EF4-FFF2-40B4-BE49-F238E27FC236}">
                <a16:creationId xmlns:a16="http://schemas.microsoft.com/office/drawing/2014/main" id="{E518F7BC-5296-4EC8-ABC5-85CC1342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9530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14E548-4757-4623-BCDC-0237D94A9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D2D8A5-FDAA-40DB-B3FD-9C7266C8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403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 xmlns:a="http://schemas.openxmlformats.org/drawingml/2006/main">
              <a:ext uri="{FF2B5EF4-FFF2-40B4-BE49-F238E27FC236}">
                <a16:creationId xmlns:a16="http://schemas.microsoft.com/office/drawing/2014/main" id="{DBF2AC59-33A3-46EB-A220-9C949577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43150"/>
            <a:ext cx="55626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19050">
            <a:solidFill>
              <a:srgbClr val="4356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D98C1F-0682-4EE7-9273-174AAECD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42A2D1-D17E-4106-B21B-0FCCFE3A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86150"/>
            <a:ext cx="4686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ผู้ส่งแก้ไขในขั้นนั้นไม่ได้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ตรวจข้อมูลและหลักฐานก่อนยืนยัน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A1C638-718F-4A55-957B-ABC32A819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ถามตัวเองก่อนกดส่ง: “ผู้ประเมินเห็นข้อมูลครบหรือยัง?”</a:t>
            </a:r>
          </a:p>
        </p:txBody>
      </p:sp>
      <p:sp>
        <p:nvSpPr>
          <p:cNvPr id="11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7CEAD7C1-6D73-4CBC-92A1-6AAAD18D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label-12">
            <a:extLst xmlns:a="http://schemas.openxmlformats.org/drawingml/2006/main">
              <a:ext uri="{FF2B5EF4-FFF2-40B4-BE49-F238E27FC236}">
                <a16:creationId xmlns:a16="http://schemas.microsoft.com/office/drawing/2014/main" id="{FE2DD1E0-9314-47A0-83EC-16BC459B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13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27A5E40B-F2F4-4404-AD8E-24C19B603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12 / 18</a:t>
            </a:r>
          </a:p>
        </p:txBody>
      </p:sp>
    </p:spTree>
    <p:extLst>
      <p:ext uri="{BB962C8B-B14F-4D97-AF65-F5344CB8AC3E}">
        <p14:creationId xmlns:p14="http://schemas.microsoft.com/office/powerpoint/2010/main" val="18905080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3">
            <a:extLst xmlns:a="http://schemas.openxmlformats.org/drawingml/2006/main">
              <a:ext uri="{FF2B5EF4-FFF2-40B4-BE49-F238E27FC236}">
                <a16:creationId xmlns:a16="http://schemas.microsoft.com/office/drawing/2014/main" id="{6C1950B0-7A37-4EFE-85B4-9B4337EE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3">
            <a:extLst xmlns:a="http://schemas.openxmlformats.org/drawingml/2006/main">
              <a:ext uri="{FF2B5EF4-FFF2-40B4-BE49-F238E27FC236}">
                <a16:creationId xmlns:a16="http://schemas.microsoft.com/office/drawing/2014/main" id="{73D77D46-46B2-45BF-9729-D65AB78F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หลังจากส่ง  /  สายวิชาการ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A3D2C004-F41A-4D8A-A8CA-D0E49054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8D4E8-79A4-4CBB-ADA0-103ED6B06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86150"/>
            <a:ext cx="880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AE401F-680F-4DFD-89B5-0AB7725C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E2864D-D4DE-4A61-80A3-756F1A4F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6EE86B-68C2-4C7C-8032-A81BB57B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0C5E9E-2660-458D-B8CB-D0E3BD3A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EFE3DA-FED3-43C5-824B-AFCEDCCAF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C5EB88-05F6-4A11-AF33-09B9E0E4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6F4C29-B8E1-481B-9645-D9016353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53037E-51B1-4E00-9AC2-AFFA6D6EA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8BA672-B335-4F04-854F-B04E56B4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779D18-A1B4-46A6-A54D-592A6413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108165-8438-4ACE-BA97-E14F05B7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9A3068-0A60-482C-9DA9-B9DAC70E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4603FC-EEF0-4B28-B9D9-184DDDD9A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22277C-4762-407B-A5DC-935D63CF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2D32AF-F8A8-4874-A4FD-4985023F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AD0949-07D6-4C47-BBD6-CDCFD996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เมื่อเป็นผู้ประเมินคนสุดท้าย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5F31B2-2C5E-4CEB-A6F2-EEDB8297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BF8D7340-A1AD-4EBC-9973-0F90BE2A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3">
            <a:extLst xmlns:a="http://schemas.openxmlformats.org/drawingml/2006/main">
              <a:ext uri="{FF2B5EF4-FFF2-40B4-BE49-F238E27FC236}">
                <a16:creationId xmlns:a16="http://schemas.microsoft.com/office/drawing/2014/main" id="{78066F77-A11F-43E1-9BE0-9B05094F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2095CA90-40DD-44C8-93A7-1F5E8360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13 / 18</a:t>
            </a:r>
          </a:p>
        </p:txBody>
      </p:sp>
    </p:spTree>
    <p:extLst>
      <p:ext uri="{BB962C8B-B14F-4D97-AF65-F5344CB8AC3E}">
        <p14:creationId xmlns:p14="http://schemas.microsoft.com/office/powerpoint/2010/main" val="96168266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de-accent-14">
            <a:extLst xmlns:a="http://schemas.openxmlformats.org/drawingml/2006/main">
              <a:ext uri="{FF2B5EF4-FFF2-40B4-BE49-F238E27FC236}">
                <a16:creationId xmlns:a16="http://schemas.microsoft.com/office/drawing/2014/main" id="{FD0DDA3D-F2B3-4169-8ADC-AF3A4524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4">
            <a:extLst xmlns:a="http://schemas.openxmlformats.org/drawingml/2006/main">
              <a:ext uri="{FF2B5EF4-FFF2-40B4-BE49-F238E27FC236}">
                <a16:creationId xmlns:a16="http://schemas.microsoft.com/office/drawing/2014/main" id="{3B79C55C-53AB-48A8-9727-4C9A5E2F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สำหรับผู้ประเมิน  /  สายวิชาการ</a:t>
            </a:r>
          </a:p>
        </p:txBody>
      </p:sp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F8C661A0-7141-4235-9582-934D4672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เมื่อได้รับงานประเมิน ให้ตรวจข้อมูลและหลักฐานก่อนให้ผล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25F9D0-2A91-4A3D-81F5-039747EFC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045362-426C-4637-931E-F1E7FCE7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6491B0-DA6D-4D49-BADC-BF4E3A2A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เนื้อหาตรงกับเกณฑ์ที่เลือก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DE3E18-7328-483F-88B8-BC288532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0F2879-BB52-424F-BA64-A9BEEFF6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6EA6A2-1E3E-4133-8E2B-A4E8A2C7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66181B-B766-4688-AC8D-A9B78CEB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718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ตรวจความสอดคล้องกับผลงาน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8928FD-AA68-495A-9C3F-53538055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0D5565-38DA-4BBB-AA4D-A419C7AA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8B4116-1133-42DD-934C-8B4E0C1E7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643A6F-9F98-414D-BE89-6E4D7772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ให้คะแนนหรือความเห็นตามสิทธิ์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070B0B-1DD5-4637-B526-12644975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47B969-6BDC-4CFC-9358-1524FE263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CA3740-CA25-4C4B-8F3D-21BA6BA1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ส่งต่องาน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67848B-274C-4D14-BDC5-0C7A2FA4E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ดำเนินการเมื่อข้อมูลครบ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140C6C-BA06-49B7-BF32-FD0CA7F7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701F47-EA7E-4C0E-90FD-764520DC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ผู้ประเมินควรตัดสินใจจากข้อมูลและหลักฐานที่เปิดตรวจได้</a:t>
            </a:r>
          </a:p>
        </p:txBody>
      </p:sp>
      <p:sp>
        <p:nvSpPr>
          <p:cNvPr id="21" name="footer-rule-14">
            <a:extLst xmlns:a="http://schemas.openxmlformats.org/drawingml/2006/main">
              <a:ext uri="{FF2B5EF4-FFF2-40B4-BE49-F238E27FC236}">
                <a16:creationId xmlns:a16="http://schemas.microsoft.com/office/drawing/2014/main" id="{EF0BF6AE-7028-4DC8-909C-B3C685C6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label-14">
            <a:extLst xmlns:a="http://schemas.openxmlformats.org/drawingml/2006/main">
              <a:ext uri="{FF2B5EF4-FFF2-40B4-BE49-F238E27FC236}">
                <a16:creationId xmlns:a16="http://schemas.microsoft.com/office/drawing/2014/main" id="{DEFAB2B6-6439-4974-BD57-9332CCC9A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3" name="footer-page-14">
            <a:extLst xmlns:a="http://schemas.openxmlformats.org/drawingml/2006/main">
              <a:ext uri="{FF2B5EF4-FFF2-40B4-BE49-F238E27FC236}">
                <a16:creationId xmlns:a16="http://schemas.microsoft.com/office/drawing/2014/main" id="{2BC54362-552F-4CB4-B9D0-76FD3303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14 / 18</a:t>
            </a:r>
          </a:p>
        </p:txBody>
      </p:sp>
    </p:spTree>
    <p:extLst>
      <p:ext uri="{BB962C8B-B14F-4D97-AF65-F5344CB8AC3E}">
        <p14:creationId xmlns:p14="http://schemas.microsoft.com/office/powerpoint/2010/main" val="146956217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5">
            <a:extLst xmlns:a="http://schemas.openxmlformats.org/drawingml/2006/main">
              <a:ext uri="{FF2B5EF4-FFF2-40B4-BE49-F238E27FC236}">
                <a16:creationId xmlns:a16="http://schemas.microsoft.com/office/drawing/2014/main" id="{B665A6A1-5CE6-44B9-8B63-BCB7A6BA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5">
            <a:extLst xmlns:a="http://schemas.openxmlformats.org/drawingml/2006/main">
              <a:ext uri="{FF2B5EF4-FFF2-40B4-BE49-F238E27FC236}">
                <a16:creationId xmlns:a16="http://schemas.microsoft.com/office/drawing/2014/main" id="{8752682D-0280-4844-9884-C1263317B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ลำดับการประเมิน  /  สายวิชาการ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A70D4B35-3ABD-4BF5-A1BF-2A7A043B1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8C6202-4EF5-43D4-BB1B-D6AC7564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57575"/>
            <a:ext cx="7658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71DD30-05A0-47E2-9908-C04103D7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99A2FF-A610-48AA-9F73-B29D7E3E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20F350-B39F-48A9-B6EF-76AD1607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2A4C51-6F82-4AF2-95D2-A8834293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BE5B80-0E1C-4039-B64A-C7336FD7F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B1BA9A-FA14-4171-86CF-D90CBE29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CDCDBD-E6A2-4285-B5B0-91C81A61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3CFCEC-6F5F-4AE1-9D8B-95F0063F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0FD511-65FF-4284-A9C6-C78DB91F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E0218C-D6BF-4EDB-9DAA-E24A6268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0F18EF-348E-4EFD-940D-9AB36147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1A32B4-D3E4-4E53-B035-861C41A8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3B9A5E-6A47-465B-B43F-638D00CE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5">
            <a:extLst xmlns:a="http://schemas.openxmlformats.org/drawingml/2006/main">
              <a:ext uri="{FF2B5EF4-FFF2-40B4-BE49-F238E27FC236}">
                <a16:creationId xmlns:a16="http://schemas.microsoft.com/office/drawing/2014/main" id="{EC8C07B2-195A-4063-9538-2A6CD9E0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5">
            <a:extLst xmlns:a="http://schemas.openxmlformats.org/drawingml/2006/main">
              <a:ext uri="{FF2B5EF4-FFF2-40B4-BE49-F238E27FC236}">
                <a16:creationId xmlns:a16="http://schemas.microsoft.com/office/drawing/2014/main" id="{4D95CEEC-2495-4CD0-B1C1-4E02B388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0" name="footer-page-15">
            <a:extLst xmlns:a="http://schemas.openxmlformats.org/drawingml/2006/main">
              <a:ext uri="{FF2B5EF4-FFF2-40B4-BE49-F238E27FC236}">
                <a16:creationId xmlns:a16="http://schemas.microsoft.com/office/drawing/2014/main" id="{51BAEA40-0D46-4139-9274-CFF0D12D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15 / 18</a:t>
            </a:r>
          </a:p>
        </p:txBody>
      </p:sp>
    </p:spTree>
    <p:extLst>
      <p:ext uri="{BB962C8B-B14F-4D97-AF65-F5344CB8AC3E}">
        <p14:creationId xmlns:p14="http://schemas.microsoft.com/office/powerpoint/2010/main" val="59322793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D30274-151C-4034-8E0C-5C4252321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ED5BE8-74B0-4127-91AA-5C08F23D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สถานะสุดท้าย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E94D3E-8504-4128-8D25-1C9795B9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6667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เมื่อผู้ประเมินคนสุดท้ายยืนยัน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งานจะเสร็จสมบูรณ์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68C9D1-187B-45DC-A9A9-421D444ED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704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0" b="1">
                <a:solidFill>
                  <a:srgbClr val="AEB8FF"/>
                </a:solidFill>
                <a:latin typeface="Tahoma"/>
                <a:ea typeface="Tahoma"/>
                <a:cs typeface="Tahoma"/>
              </a:defRPr>
            </a:pPr>
            <a:r>
              <a:rPr sz="6150" b="1">
                <a:solidFill>
                  <a:srgbClr val="AEB8FF"/>
                </a:solidFill>
                <a:latin typeface="Tahoma"/>
                <a:ea typeface="Tahoma"/>
                <a:cs typeface="Tahoma"/>
              </a:rPr>
              <a:t>Completed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6CCB34-D4F5-480F-B430-D361C9371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428750"/>
            <a:ext cx="3524250" cy="33528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E191AD-FFF3-4F14-B2B9-C28B71E4E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0975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จำไว้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8BBD68-182B-4AC0-9D49-08E83EBD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28003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ผู้ปิดงานไม่จำเป็นต้องเป็นบทบาทเดิมเสมอไป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012D6D-05A2-42C8-A352-1A60C70D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67150"/>
            <a:ext cx="2800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ให้ดู “ลำดับผู้ประเมิน”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ที่กำหนดกับงานนั้น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3B8FB3-E4B4-4676-9FB5-9BA437A6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293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B8C5D1"/>
                </a:solidFill>
                <a:latin typeface="Tahoma"/>
                <a:ea typeface="Tahoma"/>
                <a:cs typeface="Tahoma"/>
              </a:defRPr>
            </a:pPr>
            <a:r>
              <a:rPr sz="1050" b="0">
                <a:solidFill>
                  <a:srgbClr val="B8C5D1"/>
                </a:solidFill>
                <a:latin typeface="Tahoma"/>
                <a:ea typeface="Tahoma"/>
                <a:cs typeface="Tahoma"/>
              </a:rPr>
              <a:t>MSU EVA  •  สายวิชาการ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3FABEA-E3A3-457B-9EEC-167943CC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2935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16 / 18</a:t>
            </a:r>
          </a:p>
        </p:txBody>
      </p:sp>
    </p:spTree>
    <p:extLst>
      <p:ext uri="{BB962C8B-B14F-4D97-AF65-F5344CB8AC3E}">
        <p14:creationId xmlns:p14="http://schemas.microsoft.com/office/powerpoint/2010/main" val="117398844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7">
            <a:extLst xmlns:a="http://schemas.openxmlformats.org/drawingml/2006/main">
              <a:ext uri="{FF2B5EF4-FFF2-40B4-BE49-F238E27FC236}">
                <a16:creationId xmlns:a16="http://schemas.microsoft.com/office/drawing/2014/main" id="{74D74FE4-2578-4901-86C5-AB969AC5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7">
            <a:extLst xmlns:a="http://schemas.openxmlformats.org/drawingml/2006/main">
              <a:ext uri="{FF2B5EF4-FFF2-40B4-BE49-F238E27FC236}">
                <a16:creationId xmlns:a16="http://schemas.microsoft.com/office/drawing/2014/main" id="{C5E1BB44-ED13-4CB6-8896-5CD0D15B5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ภารกิจฝึกปฏิบัติ  /  สายวิชาการ</a:t>
            </a:r>
          </a:p>
        </p:txBody>
      </p:sp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9A33E2B6-961D-4BB8-84EC-794DF64F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ลองกรอกแบบประเมิน 1 รายการให้ครบ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2BFCC6-55FB-4EDD-AB2D-6AF8AE2A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ทำตามลำดับ แล้วเรียกวิทยากรตรวจเมื่อครบ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612FDE-D22B-41E6-8CA0-C2753CBB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F54690-87BA-42B4-A337-F0F3D9DB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EC2820-36F9-4CB4-B0E8-6A145CEE5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เลือกรายการที่กำหนด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E35FAE-68DB-4072-91A1-A58259AE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190FC3-6BF2-4A36-BBE4-18E0D5C9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36D88B-8156-49C5-A717-A84CF849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1E462-6922-466C-BC58-2759450A4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6D0C5D-419E-4112-88E2-678E7F64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9894D9-1391-445E-84E8-FC299F18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เติมคุณภาพและหลักฐาน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C1DEE9-AF1A-424E-8F9D-403180D2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F8E3F6-22BB-4C21-8712-5BEC60AD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0A8E68-3A98-4D43-8C66-4168038F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ตรวจแล้วบันทึกร่าง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402B50-E222-4D44-82D1-F3B9B8D04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CC0CA9-6A7D-448C-AF39-8061FF64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• พร้อมอธิบายที่มาของคะแนน</a:t>
            </a:r>
          </a:p>
        </p:txBody>
      </p:sp>
      <p:sp>
        <p:nvSpPr>
          <p:cNvPr id="19" name="footer-rule-17">
            <a:extLst xmlns:a="http://schemas.openxmlformats.org/drawingml/2006/main">
              <a:ext uri="{FF2B5EF4-FFF2-40B4-BE49-F238E27FC236}">
                <a16:creationId xmlns:a16="http://schemas.microsoft.com/office/drawing/2014/main" id="{6723F60A-F7E3-45B1-94D6-C43BE422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7">
            <a:extLst xmlns:a="http://schemas.openxmlformats.org/drawingml/2006/main">
              <a:ext uri="{FF2B5EF4-FFF2-40B4-BE49-F238E27FC236}">
                <a16:creationId xmlns:a16="http://schemas.microsoft.com/office/drawing/2014/main" id="{EDF57969-FA51-4E7E-8D1A-6D0826D7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17">
            <a:extLst xmlns:a="http://schemas.openxmlformats.org/drawingml/2006/main">
              <a:ext uri="{FF2B5EF4-FFF2-40B4-BE49-F238E27FC236}">
                <a16:creationId xmlns:a16="http://schemas.microsoft.com/office/drawing/2014/main" id="{25DBCDED-D13D-4B1B-A0B7-223F84AA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17 / 18</a:t>
            </a:r>
          </a:p>
        </p:txBody>
      </p:sp>
    </p:spTree>
    <p:extLst>
      <p:ext uri="{BB962C8B-B14F-4D97-AF65-F5344CB8AC3E}">
        <p14:creationId xmlns:p14="http://schemas.microsoft.com/office/powerpoint/2010/main" val="38745110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8">
            <a:extLst xmlns:a="http://schemas.openxmlformats.org/drawingml/2006/main">
              <a:ext uri="{FF2B5EF4-FFF2-40B4-BE49-F238E27FC236}">
                <a16:creationId xmlns:a16="http://schemas.microsoft.com/office/drawing/2014/main" id="{DB4DD2F2-CCFA-422A-8A8B-329FFFF5F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8">
            <a:extLst xmlns:a="http://schemas.openxmlformats.org/drawingml/2006/main">
              <a:ext uri="{FF2B5EF4-FFF2-40B4-BE49-F238E27FC236}">
                <a16:creationId xmlns:a16="http://schemas.microsoft.com/office/drawing/2014/main" id="{FD4A6512-EC10-45B8-971C-5295F7D8D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แก้ปัญหาเบื้องต้น  /  สายวิชาการ</a:t>
            </a:r>
          </a:p>
        </p:txBody>
      </p:sp>
      <p:sp>
        <p:nvSpPr>
          <p:cNvPr id="3" name="title-18">
            <a:extLst xmlns:a="http://schemas.openxmlformats.org/drawingml/2006/main">
              <a:ext uri="{FF2B5EF4-FFF2-40B4-BE49-F238E27FC236}">
                <a16:creationId xmlns:a16="http://schemas.microsoft.com/office/drawing/2014/main" id="{C3F40A4F-45F0-47B1-A100-0BA22524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78F252-BE4E-41BE-ACC3-AC7736C49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874918-A6F9-413A-81D0-DAC9A6BF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764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F56A30-A40E-4C78-A7BA-1E76FDC1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145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ตรวจงานที่ได้รับมอบหมาย และแจ้งผู้ดูแลระบบหากรอบไม่ถูกต้อง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1F3D14-95E1-41E4-9B00-2BA68A28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05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9E1A23-0C64-442C-9084-1ED9305AB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49C62E-8770-4CA4-88C3-744FC87F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527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3816B9-217D-4020-B4D0-C026A6D6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AF622E-03BA-403C-8554-AD7A8F3F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66FD88-B1CF-48F2-84A3-84B059A2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0CFA89-B6E8-4D38-9943-98FCCF5D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290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D87DBF-FDA2-43E0-9B27-FAA2EC29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ตรวจช่องบังคับ ค่าตัวเลข และลิงก์หลักฐาน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EAEE4C-1B73-4E69-8D91-E66624B4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577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5E666B-A6D2-4125-8D20-A12E56A3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A7464D-0C40-4921-BBDE-FDA37B1D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053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933D88-CB31-4AE7-A2E2-751C8517E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EC494B-69BD-41B2-9C98-96E17ACA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7239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1CE959-E489-4932-95B0-E8B07EBE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f8e8bec77349ac"/>
          <a:stretch xmlns:a="http://schemas.openxmlformats.org/drawingml/2006/main"/>
        </p:blipFill>
        <p:spPr>
          <a:xfrm xmlns:a="http://schemas.openxmlformats.org/drawingml/2006/main">
            <a:off x="9018037" y="5638800"/>
            <a:ext cx="2309327" cy="628650"/>
          </a:xfrm>
          <a:prstGeom xmlns:a="http://schemas.openxmlformats.org/drawingml/2006/main" prst="rect">
            <a:avLst/>
          </a:prstGeom>
        </p:spPr>
      </p:pic>
      <p:sp>
        <p:nvSpPr>
          <p:cNvPr id="22" name="footer-rule-18">
            <a:extLst xmlns:a="http://schemas.openxmlformats.org/drawingml/2006/main">
              <a:ext uri="{FF2B5EF4-FFF2-40B4-BE49-F238E27FC236}">
                <a16:creationId xmlns:a16="http://schemas.microsoft.com/office/drawing/2014/main" id="{328D1FDA-D950-4318-B7DA-44E4E6BE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8">
            <a:extLst xmlns:a="http://schemas.openxmlformats.org/drawingml/2006/main">
              <a:ext uri="{FF2B5EF4-FFF2-40B4-BE49-F238E27FC236}">
                <a16:creationId xmlns:a16="http://schemas.microsoft.com/office/drawing/2014/main" id="{46CE13FA-8B2D-4566-93F7-2EED7571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18">
            <a:extLst xmlns:a="http://schemas.openxmlformats.org/drawingml/2006/main">
              <a:ext uri="{FF2B5EF4-FFF2-40B4-BE49-F238E27FC236}">
                <a16:creationId xmlns:a16="http://schemas.microsoft.com/office/drawing/2014/main" id="{9014A6A1-7B31-4088-A8EA-F28DD36C9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15630512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2026-07-30T03:22:44.0390000Z</dcterms:created>
  <dcterms:modified xsi:type="dcterms:W3CDTF">2026-07-30T03:22:44.0390000Z</dcterms:modified>
</coreProperties>
</file>