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f8dac4e74134083" /><Relationship Type="http://schemas.openxmlformats.org/officeDocument/2006/relationships/extended-properties" Target="/docProps/app.xml" Id="Rd44d95dd26944d07" /><Relationship Type="http://schemas.openxmlformats.org/officeDocument/2006/relationships/officeDocument" Target="/ppt/presentation.xml" Id="Rd85ff3c5f3e7445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594becfddc94061"/>
  </p:sldMasterIdLst>
  <p:notesMasterIdLst>
    <p:notesMasterId xmlns:r="http://schemas.openxmlformats.org/officeDocument/2006/relationships" r:id="R872114b434e041b5"/>
  </p:notesMasterIdLst>
  <p:sldIdLst>
    <p:sldId xmlns:r="http://schemas.openxmlformats.org/officeDocument/2006/relationships" id="256" r:id="R62b45ff64af9436e"/>
    <p:sldId xmlns:r="http://schemas.openxmlformats.org/officeDocument/2006/relationships" id="257" r:id="R0377878b46794d06"/>
    <p:sldId xmlns:r="http://schemas.openxmlformats.org/officeDocument/2006/relationships" id="258" r:id="Re8b785c47ee049ac"/>
    <p:sldId xmlns:r="http://schemas.openxmlformats.org/officeDocument/2006/relationships" id="259" r:id="Rcee89dfdb6ae49d6"/>
    <p:sldId xmlns:r="http://schemas.openxmlformats.org/officeDocument/2006/relationships" id="260" r:id="R3c5c1c4cc4a6422a"/>
    <p:sldId xmlns:r="http://schemas.openxmlformats.org/officeDocument/2006/relationships" id="261" r:id="Ra8dcc7be8081475e"/>
    <p:sldId xmlns:r="http://schemas.openxmlformats.org/officeDocument/2006/relationships" id="262" r:id="R3f5f180afdd94b14"/>
    <p:sldId xmlns:r="http://schemas.openxmlformats.org/officeDocument/2006/relationships" id="263" r:id="R602afda7d9e4410b"/>
    <p:sldId xmlns:r="http://schemas.openxmlformats.org/officeDocument/2006/relationships" id="264" r:id="Rb73134d20b0a46b6"/>
    <p:sldId xmlns:r="http://schemas.openxmlformats.org/officeDocument/2006/relationships" id="265" r:id="Rd6de1162bf714bbe"/>
    <p:sldId xmlns:r="http://schemas.openxmlformats.org/officeDocument/2006/relationships" id="266" r:id="Rfd9aa8c91f17464a"/>
    <p:sldId xmlns:r="http://schemas.openxmlformats.org/officeDocument/2006/relationships" id="267" r:id="R69e03d56fd8d4021"/>
    <p:sldId xmlns:r="http://schemas.openxmlformats.org/officeDocument/2006/relationships" id="268" r:id="R55aa15a3e2ec4e8c"/>
    <p:sldId xmlns:r="http://schemas.openxmlformats.org/officeDocument/2006/relationships" id="269" r:id="R77105109b8234e93"/>
    <p:sldId xmlns:r="http://schemas.openxmlformats.org/officeDocument/2006/relationships" id="270" r:id="R4254d6c37a4f46f6"/>
    <p:sldId xmlns:r="http://schemas.openxmlformats.org/officeDocument/2006/relationships" id="271" r:id="R297973c6cb104715"/>
    <p:sldId xmlns:r="http://schemas.openxmlformats.org/officeDocument/2006/relationships" id="272" r:id="R80280e627d2d44ec"/>
    <p:sldId xmlns:r="http://schemas.openxmlformats.org/officeDocument/2006/relationships" id="273" r:id="R34103bbd841343a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8e2c0f7a384063" /><Relationship Type="http://schemas.openxmlformats.org/officeDocument/2006/relationships/slideMaster" Target="/ppt/slideMasters/slideMaster1.xml" Id="R6594becfddc94061" /><Relationship Type="http://schemas.openxmlformats.org/officeDocument/2006/relationships/notesMaster" Target="/ppt/notesMasters/notesMaster1.xml" Id="R872114b434e041b5" /><Relationship Type="http://schemas.openxmlformats.org/officeDocument/2006/relationships/presProps" Target="/ppt/presProps.xml" Id="Reb70bc93d2f3454e" /><Relationship Type="http://schemas.openxmlformats.org/officeDocument/2006/relationships/tableStyles" Target="/ppt/tableStyles.xml" Id="Ra0e1f97dc97347e5" /><Relationship Type="http://schemas.openxmlformats.org/officeDocument/2006/relationships/slide" Target="/ppt/slides/slide1.xml" Id="R62b45ff64af9436e" /><Relationship Type="http://schemas.openxmlformats.org/officeDocument/2006/relationships/slide" Target="/ppt/slides/slide2.xml" Id="R0377878b46794d06" /><Relationship Type="http://schemas.openxmlformats.org/officeDocument/2006/relationships/slide" Target="/ppt/slides/slide3.xml" Id="Re8b785c47ee049ac" /><Relationship Type="http://schemas.openxmlformats.org/officeDocument/2006/relationships/slide" Target="/ppt/slides/slide4.xml" Id="Rcee89dfdb6ae49d6" /><Relationship Type="http://schemas.openxmlformats.org/officeDocument/2006/relationships/slide" Target="/ppt/slides/slide5.xml" Id="R3c5c1c4cc4a6422a" /><Relationship Type="http://schemas.openxmlformats.org/officeDocument/2006/relationships/slide" Target="/ppt/slides/slide6.xml" Id="Ra8dcc7be8081475e" /><Relationship Type="http://schemas.openxmlformats.org/officeDocument/2006/relationships/slide" Target="/ppt/slides/slide7.xml" Id="R3f5f180afdd94b14" /><Relationship Type="http://schemas.openxmlformats.org/officeDocument/2006/relationships/slide" Target="/ppt/slides/slide8.xml" Id="R602afda7d9e4410b" /><Relationship Type="http://schemas.openxmlformats.org/officeDocument/2006/relationships/slide" Target="/ppt/slides/slide9.xml" Id="Rb73134d20b0a46b6" /><Relationship Type="http://schemas.openxmlformats.org/officeDocument/2006/relationships/slide" Target="/ppt/slides/slide10.xml" Id="Rd6de1162bf714bbe" /><Relationship Type="http://schemas.openxmlformats.org/officeDocument/2006/relationships/slide" Target="/ppt/slides/slide11.xml" Id="Rfd9aa8c91f17464a" /><Relationship Type="http://schemas.openxmlformats.org/officeDocument/2006/relationships/slide" Target="/ppt/slides/slide12.xml" Id="R69e03d56fd8d4021" /><Relationship Type="http://schemas.openxmlformats.org/officeDocument/2006/relationships/slide" Target="/ppt/slides/slide13.xml" Id="R55aa15a3e2ec4e8c" /><Relationship Type="http://schemas.openxmlformats.org/officeDocument/2006/relationships/slide" Target="/ppt/slides/slide14.xml" Id="R77105109b8234e93" /><Relationship Type="http://schemas.openxmlformats.org/officeDocument/2006/relationships/slide" Target="/ppt/slides/slide15.xml" Id="R4254d6c37a4f46f6" /><Relationship Type="http://schemas.openxmlformats.org/officeDocument/2006/relationships/slide" Target="/ppt/slides/slide16.xml" Id="R297973c6cb104715" /><Relationship Type="http://schemas.openxmlformats.org/officeDocument/2006/relationships/slide" Target="/ppt/slides/slide17.xml" Id="R80280e627d2d44ec" /><Relationship Type="http://schemas.openxmlformats.org/officeDocument/2006/relationships/slide" Target="/ppt/slides/slide18.xml" Id="R34103bbd841343a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b07f07f8b004b8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1b972ed1c8b4e35" /><Relationship Type="http://schemas.openxmlformats.org/officeDocument/2006/relationships/notesMaster" Target="/ppt/notesMasters/notesMaster1.xml" Id="Rc291dfbc495e464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80619e018a047d3" /><Relationship Type="http://schemas.openxmlformats.org/officeDocument/2006/relationships/notesMaster" Target="/ppt/notesMasters/notesMaster1.xml" Id="R1a9172f41a064dd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600400301414419" /><Relationship Type="http://schemas.openxmlformats.org/officeDocument/2006/relationships/notesMaster" Target="/ppt/notesMasters/notesMaster1.xml" Id="Rb0621e2a79234db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5406759282e4266" /><Relationship Type="http://schemas.openxmlformats.org/officeDocument/2006/relationships/notesMaster" Target="/ppt/notesMasters/notesMaster1.xml" Id="Rf9b02da547184e8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a1942d517b94f8c" /><Relationship Type="http://schemas.openxmlformats.org/officeDocument/2006/relationships/notesMaster" Target="/ppt/notesMasters/notesMaster1.xml" Id="Raaf99e9941c5444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45c22f6ed13421b" /><Relationship Type="http://schemas.openxmlformats.org/officeDocument/2006/relationships/notesMaster" Target="/ppt/notesMasters/notesMaster1.xml" Id="R38223bad2a7f41f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6bd6a71c95041bb" /><Relationship Type="http://schemas.openxmlformats.org/officeDocument/2006/relationships/notesMaster" Target="/ppt/notesMasters/notesMaster1.xml" Id="Ra205ddd477084b1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ef737d6a6fe46fe" /><Relationship Type="http://schemas.openxmlformats.org/officeDocument/2006/relationships/notesMaster" Target="/ppt/notesMasters/notesMaster1.xml" Id="R2590157b8c204c9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a2cf3ba0afc42b0" /><Relationship Type="http://schemas.openxmlformats.org/officeDocument/2006/relationships/notesMaster" Target="/ppt/notesMasters/notesMaster1.xml" Id="R3672c4bd91c845e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9c66b3fef9a48f1" /><Relationship Type="http://schemas.openxmlformats.org/officeDocument/2006/relationships/notesMaster" Target="/ppt/notesMasters/notesMaster1.xml" Id="R26298989179c4a1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26b27b34b314567" /><Relationship Type="http://schemas.openxmlformats.org/officeDocument/2006/relationships/notesMaster" Target="/ppt/notesMasters/notesMaster1.xml" Id="Rea2b27a938bc46b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e0c936448df4ab4" /><Relationship Type="http://schemas.openxmlformats.org/officeDocument/2006/relationships/notesMaster" Target="/ppt/notesMasters/notesMaster1.xml" Id="Rca09acb3ce8d46b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c225da4375d4153" /><Relationship Type="http://schemas.openxmlformats.org/officeDocument/2006/relationships/notesMaster" Target="/ppt/notesMasters/notesMaster1.xml" Id="R6bafa07cea3c45e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3373d7d63254ba1" /><Relationship Type="http://schemas.openxmlformats.org/officeDocument/2006/relationships/notesMaster" Target="/ppt/notesMasters/notesMaster1.xml" Id="Ref8fdcdf8581429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6a7c70b183f4eea" /><Relationship Type="http://schemas.openxmlformats.org/officeDocument/2006/relationships/notesMaster" Target="/ppt/notesMasters/notesMaster1.xml" Id="R8ad3a8589e4e454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a9dab876bf7483c" /><Relationship Type="http://schemas.openxmlformats.org/officeDocument/2006/relationships/notesMaster" Target="/ppt/notesMasters/notesMaster1.xml" Id="R45ce22d88b3d4bb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89206a6caa7453f" /><Relationship Type="http://schemas.openxmlformats.org/officeDocument/2006/relationships/notesMaster" Target="/ppt/notesMasters/notesMaster1.xml" Id="R117c4c612fa042a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5f4d58e8f514ff2" /><Relationship Type="http://schemas.openxmlformats.org/officeDocument/2006/relationships/notesMaster" Target="/ppt/notesMasters/notesMaster1.xml" Id="R7f3189803288400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สวัสดีทุกท่านครับ ขอต้อนรับเข้าสู่การอบรมการใช้งานระบบประเมินผลการปฏิบัติงานบุคลากร หรือ MSU EVA สำหรับบุคลากรสายวิชาการนะครับ วันนี้ในห้องนี้มีทั้งท่านที่เคยช่วยทดสอบระบบมาแล้ว ท่านที่เพิ่งเข้ามาใช้งานครั้งแรก รวมถึงผู้ประเมิน กรรมการ และผู้บริหาร ไม่เป็นไรครับ เดี๋ยวเราจะค่อย ๆ ไปด้วยกัน ช่วงแรกผมจะพาทำความรู้จักระบบและบทบาทต่าง ๆ ก่อน หลังจากนั้นผมจะสาธิตหนึ่งรอบ แล้วทุกท่านจะได้ลองใช้บัญชีที่เตรียมไว้ครับ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public/favicon-msu.png</a:t>
            </a:r>
          </a:p>
          <a:p xmlns:a="http://schemas.openxmlformats.org/drawingml/2006/main">
            <a:r>
              <a:t>- C:\Users\pisut\Downloads\logoบริษัท.svg</a:t>
            </a:r>
          </a:p>
          <a:p xmlns:a="http://schemas.openxmlformats.org/drawingml/2006/main">
            <a:r>
              <a:t>- public/images/workload-background.jpg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ก่อนเริ่ม ขอชวนทุกท่านตั้งเป้าหมายร่วมกันนิดหนึ่งครับ วันนี้เราไม่จำเป็นต้องจำทุกปุ่ม สิ่งที่อยากให้ทำได้คือเปิดงานหนึ่งรายการ ตรวจข้อมูล กรอกผลงาน แนบหลักฐาน ถ้าข้อมูลยังไม่ครบ ให้บันทึกร่างไว้ก่อน เมื่อข้อมูลและหลักฐานครบแล้วจึงส่งแบบประเมินครับ รอบประเมินเป็นสิ่งที่ผู้ดูแลระบบกำหนดไว้ให้แล้วนะครับ เรามีหน้าที่ตรวจว่ารอบและงานที่ได้รับมอบหมายถูกต้อง เมื่อเห็นเป้าหมายตรงกันแล้ว ต่อไปเรามาดูว่าระบบนี้ช่วยงานส่วนใดบ้างครับ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ใช่ครับ หลายท่านอาจคุ้นกับระบบจากหน้ากรอกแบบประเมิน แต่ระบบครอบคลุมขั้นตอนอื่นด้วยครับ Admin จะจัดการผู้ใช้ สิทธิ์ เกณฑ์ รอบประเมิน และการมอบหมายงาน ส่วนผู้ใช้งานจะทำงานตามรายการและสิทธิ์ที่ได้รับ ตั้งแต่การกรอกข้อมูล การประเมิน การติดตามสถานะ จนถึงการออกรายงาน ดังนั้นผู้ใช้งานทั่วไปไม่ต้องสร้างหรือเลือกรอบประเมินเองครับ เพียงตรวจว่ารอบและรายการที่ได้รับถูกต้อง แล้วทำหน้าที่ของตนเอง ต่อไปเรามาดูกันว่าในระบบมีผู้ใช้งานกลุ่มใดบ้างครับ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database/seeders/RoleSeeder.php</a:t>
            </a:r>
          </a:p>
          <a:p xmlns:a="http://schemas.openxmlformats.org/drawingml/2006/main">
            <a:r>
              <a:t>- app/Http/Controllers/AssignmentDataController.php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ระบบมีผู้ใช้งานหลักห้าบทบาทครับ ได้แก่ Admin ผู้รับการประเมิน ผู้ประเมิน กรรมการ และผู้บริหาร แต่ละคนจะเห็นเมนูและปุ่มไม่เหมือนกัน ตรงนี้ขอเน้นนิดหนึ่งครับ Admin เป็นผู้กำหนดผู้ใช้ เกณฑ์ รอบประเมิน การมอบหมาย และลำดับผู้ประเมิน ส่วนผู้ประเมิน กรรมการ และผู้บริหารจะเป็นขั้นตรวจตามที่ Admin จัดไว้ บางงานอาจไม่ได้ใช้ครบทุกบทบาท และงานจะเสร็จสมบูรณ์เมื่อผู้ประเมินลำดับสุดท้ายกดยืนยันผลครับ เมื่อรู้จักคนในระบบแล้ว ต่อไปมาดูเส้นทางของงานกันครับ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database/seeders/RoleSeeder.php</a:t>
            </a:r>
          </a:p>
          <a:p xmlns:a="http://schemas.openxmlformats.org/drawingml/2006/main">
            <a:r>
              <a:t>- app/Http/Controllers/AssignmentDataController.php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ทีนี้ลองมองภาพรวมจากซ้ายไปขวานะครับ งานเริ่มจากผู้รับการประเมินเปิดรายการและกรอกข้อมูล เมื่อข้อมูลพร้อมจึงกดส่งแบบประเมิน จากนั้นระบบจะส่งงานไปยังผู้ประเมินทีละคนตามลำดับที่กำหนดไว้ ไม่ได้ส่งให้ทุกคนพร้อมกันครับ เมื่อผู้ประเมินคนสุดท้ายยืนยัน สถานะจึงเปลี่ยนเป็นประเมินเสร็จสิ้น หรือ Completed จำภาพนี้ไว้ก่อนนะครับ เพราะอีกสักครู่ทุกปุ่มที่เราดูจะสัมพันธ์กับเส้นทางนี้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ในขั้นแรก ผู้รับการประเมินต้องกรอกข้อมูลและแนบหลักฐานให้ครบครับ ถ้ายังไม่ครบ ให้บันทึกร่างไว้ก่อน ยังไม่ต้องส่งแบบประเมิน ผู้ประเมินจะใช้ข้อมูลและหลักฐานนี้ในการประเมิน ดังนั้นควรตรวจให้ชัดเจนและเปิดหลักฐานได้ก่อนส่งครับ ต่อไปเรามาดูจุดเริ่มต้นบนแดชบอร์ดครับ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ต่อไปขอพาทุกท่านมาที่แดชบอร์ดของฉันครับ ก่อนเปิดงานให้ตรวจสามอย่าง คือรอบประเมินที่ผู้ดูแลระบบกำหนด รายการที่ได้รับมอบหมาย และสถานะปัจจุบัน ผู้ใช้งานไม่ต้องเลือกรอบเองนะครับ ถ้ารอบหรือรายการไม่ถูกต้องให้แจ้งผู้ดูแลระบบก่อน บนแดชบอร์ดให้สังเกตตำแหน่งชื่อรอบ ชื่อรายการ และปุ่มเปิดงานครับ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เมื่อเปิดรายการแล้ว ให้ตรวจว่าข้อมูล 4 ส่วนสอดคล้องกันครับ หนึ่ง รายวิชาบอกว่างานนี้อยู่ในบริบทใด สอง ภาระงานบอกว่าทำอะไรและมีปริมาณเท่าไร สาม ผลงานบอกผลที่เกิดขึ้น และสี่ หลักฐานใช้ยืนยันข้อมูลที่กรอก หากข้อมูลส่วนใดไม่ตรงกัน ผู้ประเมินอาจต้องขอข้อมูลเพิ่มครับ ดังนั้นให้เลือกเกณฑ์ที่ตรงกับงานจริงก่อน แล้วจึงกรอกข้อมูลเชิงปริมาณครับ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resources/views/criteria_config/partials/create-quantity-template.blade.php</a:t>
            </a:r>
          </a:p>
          <a:p xmlns:a="http://schemas.openxmlformats.org/drawingml/2006/main">
            <a:r>
              <a:t>- resources/views/criteria_config/partials/create-quality-template.blade.php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สำหรับข้อมูลเชิงปริมาณ ให้ไล่ดูทีละช่องนะครับ เริ่มจากค่าน้ำหนัก ภาระงานมาตรฐาน แล้วจึงกรอกภาระงานที่ทำได้ ระบบจะคำนวณคะแนนให้ ตรงนี้อย่าดูเฉพาะตัวเลขสุดท้ายครับ ให้ตรวจหน่วย ช่วงค่า และทศนิยมด้วย ถ้าคะแนนดูแปลก ให้ย้อนกลับไปดูค่าที่กรอกก่อนเป็นอันดับแรก วิธีนี้ช่วยให้เราอธิบายที่มาของคะแนนได้ชัดเจน แล้วต่อไปเราจะดูข้อมูลอีกแบบหนึ่ง คือผลงานเชิงคุณภาพครับ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resources/views/criteria_config/partials/create-quantity-template.blade.php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ข้อมูลเชิงคุณภาพไม่จำเป็นต้องเขียนยาวครับ แต่ควรตอบให้ครบ 3 เรื่อง คือ ทำอะไร เกิดผลอย่างไร และใช้หลักฐานใดตรวจสอบ ผู้ประเมินควรอ่านครั้งเดียวแล้วเข้าใจงานได้ หลีกเลี่ยงข้อความกว้าง ๆ ที่ไม่บอกบทบาทหรือผลลัพธ์ เมื่อข้อความตรงกับเกณฑ์และหลักฐาน ข้อมูลก็พร้อมให้ผู้ประเมินตรวจครับ ต่อไปเรามาดูวิธีตรวจหลักฐานกันครับ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resources/views/criteria_config/partials/create-quality-template.blade.php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หลักฐานที่แนบต้องตรวจได้จริงครับ ให้ตรวจ 3 เรื่อง คือ เปิดได้ ตรงกับรายการ และชื่อเอกสารบอกได้ว่าเป็นหลักฐานอะไร ควรทดลองเปิดลิงก์ในหน้าต่างที่ไม่ได้ใช้บัญชีเจ้าของเอกสาร เพื่อให้เห็นเหมือนที่ผู้ประเมินเห็นครับ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resources/views/criteria_config/partials/create-quality-template.blade.php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เมื่อกรอกข้อมูลแล้ว เราจะเจอสองทางเลือกครับ ถ้ายังมีส่วนที่ต้องกลับมาแก้ ให้เลือกบันทึกร่าง งานจะยังไม่ถูกส่งต่อ แต่ถ้าข้อมูลบังคับและหลักฐานครบแล้ว จึงเลือกส่งแบบประเมิน เพราะหลังส่ง งานจะเข้าสู่ลำดับผู้ประเมินและเราอาจแก้ไขไม่ได้ในช่วงนั้น ก่อนกดยืนยัน ลองถามตัวเองสั้น ๆ ครับว่า ผู้ประเมินเห็นข้อมูลครบและเข้าใจที่มาของคะแนนแล้วหรือยัง วันนี้ตอนทดลอง ทุกท่านหยุดที่บันทึกร่างก่อนนะครับ แล้วเรามาดูกันต่อว่าเมื่อส่งจริง งานจะไปไหน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resources/views/partials/evaluation-form-action-buttons.blade.php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ใช่ครับ หลังจากกดส่ง งานไม่ได้หายไปและไม่ได้ไปถึงทุกคนพร้อมกัน ระบบจะส่งให้ผู้ประเมินตามลำดับที่ Admin กำหนดไว้ ผู้ประเมินคนปัจจุบันจะเห็นงานและดำเนินการได้ ส่วนคนถัดไปต้องรอการส่งต่อก่อน จำนวนผู้ประเมินอาจต่างกันในแต่ละงานนะครับ เพราะฉะนั้นเวลาอยากรู้ว่างานอยู่ที่ใคร ให้ดูสถานะและลำดับของรายการนั้นเป็นหลัก ต่อไปเรามาดูมุมของผู้ประเมินครับ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ตอนนี้เรามาดูฝั่งผู้ประเมินครับ เมื่อได้รับงาน ให้ตรวจ 3 เรื่องตามลำดับ คือ ข้อมูลตรงกับเกณฑ์หรือไม่ คะแนนถูกต้องหรือไม่ และหลักฐานเปิดได้และตรงกับข้อมูลหรือไม่ หากข้อมูลยังไม่ครบ ยังไม่ต้องบันทึกผล ให้แจ้งผู้เกี่ยวข้องตามขั้นตอนที่หน่วยงานกำหนดครับ บนหน้าจอให้สังเกตด้วยว่า ส่วนใดเป็นข้อมูลที่ผู้รับการประเมินกรอก และส่วนใดเป็นผลที่ผู้ประเมินต้องบันทึกครับ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เมื่อผู้ประเมินคนหนึ่งตรวจเสร็จ งานยังไม่ถือว่าปิดนะครับ ต้องส่งต่อไปยังคนถัดไปตามลำดับ ผู้ประเมินคนถัดไปจึงจะรับงานและเห็นข้อมูลที่เกี่ยวข้อง ตรงนี้สำคัญครับ เพราะแต่ละงานอาจมีจำนวนขั้นไม่เท่ากัน เมื่อส่งต่องาน สถานะและผู้รับผิดชอบจะเปลี่ยนไปตามลำดับที่กำหนดครับ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ทีนี้มาถึงขั้นสุดท้ายครับ เมื่อผู้ประเมินคนสุดท้ายยืนยัน ระบบจึงเปลี่ยนสถานะเป็นประเมินเสร็จสิ้น หรือ Completed คำว่า “คนสุดท้าย” ให้ดูจากลำดับของงานจริงนะครับ ไม่ได้หมายความว่าต้องเป็นผู้บริหารเสมอไป จากภาพรวมนี้ งานจะปิดเมื่อผู้ประเมินลำดับสุดท้ายยืนยันผลครับ</a:t>
            </a:r>
          </a:p>
          <a:p xmlns:a="http://schemas.openxmlformats.org/drawingml/2006/main">
            <a:r>
              <a:t>[เริ่มสาธิตระบบ] ต่อไปผมจะสาธิตขั้นตอนทั้งหมดบนระบบให้ดู ตั้งแต่เริ่มต้นจนงานเสร็จครับ ทุกท่านยังไม่ต้องกดตาม ให้สังเกตลำดับการทำงานก่อน</a:t>
            </a:r>
          </a:p>
          <a:p xmlns:a="http://schemas.openxmlformats.org/drawingml/2006/main">
            <a:r>
              <a:t>[สาธิตต่อเนื่อง]</a:t>
            </a:r>
          </a:p>
          <a:p xmlns:a="http://schemas.openxmlformats.org/drawingml/2006/main">
            <a:r>
              <a:t>1. เปิดแดชบอร์ดและรายการที่ได้รับมอบหมาย</a:t>
            </a:r>
          </a:p>
          <a:p xmlns:a="http://schemas.openxmlformats.org/drawingml/2006/main">
            <a:r>
              <a:t>2. กรอกภาระงานและผลงาน</a:t>
            </a:r>
          </a:p>
          <a:p xmlns:a="http://schemas.openxmlformats.org/drawingml/2006/main">
            <a:r>
              <a:t>3. ตรวจคะแนนที่ระบบคำนวณ</a:t>
            </a:r>
          </a:p>
          <a:p xmlns:a="http://schemas.openxmlformats.org/drawingml/2006/main">
            <a:r>
              <a:t>4. แนบและเปิดหลักฐาน</a:t>
            </a:r>
          </a:p>
          <a:p xmlns:a="http://schemas.openxmlformats.org/drawingml/2006/main">
            <a:r>
              <a:t>5. บันทึกร่าง</a:t>
            </a:r>
          </a:p>
          <a:p xmlns:a="http://schemas.openxmlformats.org/drawingml/2006/main">
            <a:r>
              <a:t>6. ตรวจความพร้อมและส่งแบบประเมิน</a:t>
            </a:r>
          </a:p>
          <a:p xmlns:a="http://schemas.openxmlformats.org/drawingml/2006/main">
            <a:r>
              <a:t>7. เปิดมุมผู้ประเมิน</a:t>
            </a:r>
          </a:p>
          <a:p xmlns:a="http://schemas.openxmlformats.org/drawingml/2006/main">
            <a:r>
              <a:t>8. ตรวจข้อมูล ให้ผล และส่งต่อ</a:t>
            </a:r>
          </a:p>
          <a:p xmlns:a="http://schemas.openxmlformats.org/drawingml/2006/main">
            <a:r>
              <a:t>9. เปิดบัญชีผู้ประเมินลำดับสุดท้าย</a:t>
            </a:r>
          </a:p>
          <a:p xmlns:a="http://schemas.openxmlformats.org/drawingml/2006/main">
            <a:r>
              <a:t>10. ยืนยันผลจนสถานะเป็น ประเมินเสร็จสิ้น (Completed)</a:t>
            </a:r>
          </a:p>
          <a:p xmlns:a="http://schemas.openxmlformats.org/drawingml/2006/main">
            <a:r>
              <a:t>[กลับมานำเสนอ] เมื่อเห็นขั้นตอนทั้งหมดแล้ว ต่อไปทุกท่านจะได้ทดลองทำด้วยบัญชีที่เตรียมไว้ครับ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เมื่อเห็นภาพครบแล้ว ต่อไปเป็นเวลาของทุกท่านครับ ลิงก์ที่แสดงบนหน้าจอใช้สำหรับทดสอบระบบ ให้เปิด http://149.28.142.186/login แล้วเข้าสู่ระบบด้วยบัญชีที่เตรียมไว้ ลิงก์นี้ใช้สำหรับทดสอบระบบ เมื่อทุกท่านตรวจสอบแล้วและไม่มีประเด็นที่ต้องปรับแก้เพิ่มเติม ทีมงานจะนำระบบไปติดตั้งบนเซิร์ฟเวอร์ของคณะทันทีครับ สำหรับการทดลอง ให้เลือกรายการ กรอกข้อมูล ตรวจคะแนน แนบหลักฐาน แล้วบันทึกร่างครับ ผู้ที่เคยทดสอบแล้วให้ช่วยตรวจความครบถ้วน ส่วนผู้ที่เพิ่งเริ่มให้ทำทีละข้อ ไม่ต้องรีบ หากติดขัดให้ยกมือเรียกผมหรือทีมงานได้เลย ยังไม่ต้องกดส่งแบบประเมินนะครับ เราจะตรวจความพร้อมร่วมกันก่อน</a:t>
            </a:r>
          </a:p>
          <a:p xmlns:a="http://schemas.openxmlformats.org/drawingml/2006/main">
            <a:r>
              <a:t>[เริ่มทดลองใช้งาน — 30 นาที]</a:t>
            </a:r>
          </a:p>
          <a:p xmlns:a="http://schemas.openxmlformats.org/drawingml/2006/main">
            <a:r>
              <a:t>[ให้ผู้เข้าอบรมหยุดที่บันทึกร่าง]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ก่อนจบช่วงนี้ ถ้าใครติดขัดให้ลองตรวจสี่จุดก่อนครับ หนึ่ง รอบและรายการที่ได้รับมอบหมาย สอง สิทธิ์ของบัญชี สาม สถานะปัจจุบันของงาน และสี่ ข้อมูลบังคับหรือหลักฐาน ถ้าคะแนนผิดปกติ ให้ย้อนดูค่าที่กรอกกับหน่วยก่อน หากยังแก้ไม่ได้ ให้จดชื่อรายการ สถานะ และข้อความที่พบ จะช่วยให้ผู้ดูแลระบบตรวจได้เร็วขึ้นครับ</a:t>
            </a:r>
          </a:p>
          <a:p xmlns:a="http://schemas.openxmlformats.org/drawingml/2006/main">
            <a:r>
              <a:t>[ถามผู้เข้าอบรม] ตอนนี้มีใครติดที่การเปิดงาน การกรอกข้อมูล การคำนวณคะแนน หรือการแนบหลักฐานไหมครับ</a:t>
            </a:r>
          </a:p>
          <a:p xmlns:a="http://schemas.openxmlformats.org/drawingml/2006/main">
            <a:r>
              <a:t>[พูด] ถ้าไม่มีคำถามเพิ่มเติม วันนี้ขอให้จำไว้สามเรื่องครับ ตรวจงานให้ถูก กรอกข้อมูลให้ครบ และบันทึกร่างก่อนส่งจริง ขอบคุณทุกท่านครับ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resources/views/partials/evaluation-form-action-buttons.blade.php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C:\Users\pisut\Downloads\logoบริษัท.svg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f469f0c1af433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4dfd13531214940" /><Relationship Type="http://schemas.openxmlformats.org/officeDocument/2006/relationships/slideLayout" Target="/ppt/slideLayouts/slideLayout1.xml" Id="Rf0c23d0697814a7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0c23d0697814a7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37de1037754f26" /><Relationship Type="http://schemas.openxmlformats.org/officeDocument/2006/relationships/image" Target="/ppt/media/image.jpeg" Id="R49f8b4439ded4034" /><Relationship Type="http://schemas.openxmlformats.org/officeDocument/2006/relationships/image" Target="/ppt/media/image.png" Id="Rbd8774dc63ea4173" /><Relationship Type="http://schemas.openxmlformats.org/officeDocument/2006/relationships/image" Target="/ppt/media/image2.png" Id="R8c25570b21914144" /><Relationship Type="http://schemas.openxmlformats.org/officeDocument/2006/relationships/notesSlide" Target="/ppt/notesSlides/notesSlide1.xml" Id="R80fd59643f40452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4bdcc8f80042d3" /><Relationship Type="http://schemas.openxmlformats.org/officeDocument/2006/relationships/notesSlide" Target="/ppt/notesSlides/notesSlide2.xml" Id="Ra4d75e51d2bd441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d80a804ec04dd5" /><Relationship Type="http://schemas.openxmlformats.org/officeDocument/2006/relationships/notesSlide" Target="/ppt/notesSlides/notesSlide3.xml" Id="R6d9dd0c9e38c435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2c36ffacc94fd9" /><Relationship Type="http://schemas.openxmlformats.org/officeDocument/2006/relationships/notesSlide" Target="/ppt/notesSlides/notesSlide4.xml" Id="Rcb39780173f14d9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271518484546bf" /><Relationship Type="http://schemas.openxmlformats.org/officeDocument/2006/relationships/notesSlide" Target="/ppt/notesSlides/notesSlide5.xml" Id="R11c0e658f56b4dd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c09fc3c3864e21" /><Relationship Type="http://schemas.openxmlformats.org/officeDocument/2006/relationships/notesSlide" Target="/ppt/notesSlides/notesSlide6.xml" Id="R5f85dcf0624e4d5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ad23ae007341ba" /><Relationship Type="http://schemas.openxmlformats.org/officeDocument/2006/relationships/notesSlide" Target="/ppt/notesSlides/notesSlide7.xml" Id="Re230c788ceb4451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1fa377f8ef4887" /><Relationship Type="http://schemas.openxmlformats.org/officeDocument/2006/relationships/notesSlide" Target="/ppt/notesSlides/notesSlide8.xml" Id="R7c9cff72b0b24b0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673b7b92594f16" /><Relationship Type="http://schemas.openxmlformats.org/officeDocument/2006/relationships/notesSlide" Target="/ppt/notesSlides/notesSlide9.xml" Id="Ra4ec7490eb924ed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c5bb6e18dc4288" /><Relationship Type="http://schemas.openxmlformats.org/officeDocument/2006/relationships/notesSlide" Target="/ppt/notesSlides/notesSlide10.xml" Id="R6a79349a06744d0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c17ecc40b940b1" /><Relationship Type="http://schemas.openxmlformats.org/officeDocument/2006/relationships/notesSlide" Target="/ppt/notesSlides/notesSlide11.xml" Id="Rd8e9b2ea2dc5426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9b917ce7214bb8" /><Relationship Type="http://schemas.openxmlformats.org/officeDocument/2006/relationships/notesSlide" Target="/ppt/notesSlides/notesSlide12.xml" Id="Re2e62104653e4af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57a55ae2e54ad2" /><Relationship Type="http://schemas.openxmlformats.org/officeDocument/2006/relationships/notesSlide" Target="/ppt/notesSlides/notesSlide13.xml" Id="R1290991c7a384d8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b04381a7504297" /><Relationship Type="http://schemas.openxmlformats.org/officeDocument/2006/relationships/notesSlide" Target="/ppt/notesSlides/notesSlide14.xml" Id="Rdbeeb78bfa7e442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40ae74cc0349c3" /><Relationship Type="http://schemas.openxmlformats.org/officeDocument/2006/relationships/notesSlide" Target="/ppt/notesSlides/notesSlide15.xml" Id="Rea716772cb1841e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65530d46ea4cd5" /><Relationship Type="http://schemas.openxmlformats.org/officeDocument/2006/relationships/notesSlide" Target="/ppt/notesSlides/notesSlide16.xml" Id="R14361ce5910a494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fc197e018e402d" /><Relationship Type="http://schemas.openxmlformats.org/officeDocument/2006/relationships/hyperlink" Target="http://149.28.142.186/login" TargetMode="External" Id="R37ca6c9f41e44bea" /><Relationship Type="http://schemas.openxmlformats.org/officeDocument/2006/relationships/notesSlide" Target="/ppt/notesSlides/notesSlide17.xml" Id="R7dc0554233af472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065a99ebf74bc5" /><Relationship Type="http://schemas.openxmlformats.org/officeDocument/2006/relationships/image" Target="/ppt/media/image3.png" Id="Rd7630af23c624370" /><Relationship Type="http://schemas.openxmlformats.org/officeDocument/2006/relationships/notesSlide" Target="/ppt/notesSlides/notesSlide18.xml" Id="R0b293b81c1b44fd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f8b4439ded4034"/>
          <a:srcRect xmlns:a="http://schemas.openxmlformats.org/drawingml/2006/main" l="2579" t="0" r="257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panel">
            <a:extLst xmlns:a="http://schemas.openxmlformats.org/drawingml/2006/main">
              <a:ext uri="{FF2B5EF4-FFF2-40B4-BE49-F238E27FC236}">
                <a16:creationId xmlns:a16="http://schemas.microsoft.com/office/drawing/2014/main" id="{6CABBDA7-9F13-4FB7-97B8-FE2449584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524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620ADE58-8FF5-4F0C-B43F-B432E34E0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8774dc63ea4173"/>
          <a:stretch xmlns:a="http://schemas.openxmlformats.org/drawingml/2006/main"/>
        </p:blipFill>
        <p:spPr>
          <a:xfrm xmlns:a="http://schemas.openxmlformats.org/drawingml/2006/main">
            <a:off x="628650" y="419100"/>
            <a:ext cx="800100" cy="800100"/>
          </a:xfrm>
          <a:prstGeom xmlns:a="http://schemas.openxmlformats.org/drawingml/2006/main" prst="rect">
            <a:avLst/>
          </a:prstGeom>
        </p:spPr>
      </p:pic>
      <p:sp>
        <p:nvSpPr>
          <p:cNvPr id="5" name="cover-institution">
            <a:extLst xmlns:a="http://schemas.openxmlformats.org/drawingml/2006/main">
              <a:ext uri="{FF2B5EF4-FFF2-40B4-BE49-F238E27FC236}">
                <a16:creationId xmlns:a16="http://schemas.microsoft.com/office/drawing/2014/main" id="{CD4BE0B5-2015-472B-AE8C-975E04E4E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43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5F2A84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5F2A84"/>
                </a:solidFill>
                <a:latin typeface="Tahoma"/>
                <a:ea typeface="Tahoma"/>
                <a:cs typeface="Tahoma"/>
              </a:rPr>
              <a:t>คณะสาธารณสุขศาสตร์  •  มหาวิทยาลัยมหาสารคาม</a:t>
            </a:r>
          </a:p>
        </p:txBody>
      </p:sp>
      <p:sp>
        <p:nvSpPr>
          <p:cNvPr id="6" name="cover-session">
            <a:extLst xmlns:a="http://schemas.openxmlformats.org/drawingml/2006/main">
              <a:ext uri="{FF2B5EF4-FFF2-40B4-BE49-F238E27FC236}">
                <a16:creationId xmlns:a16="http://schemas.microsoft.com/office/drawing/2014/main" id="{C6A1E8A4-116D-4B72-96C5-515CADB11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ภาคเช้า</a:t>
            </a:r>
          </a:p>
        </p:txBody>
      </p:sp>
      <p:sp>
        <p:nvSpPr>
          <p:cNvPr id="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9C355E65-D3EC-4B9A-9283-E1248FBFB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64770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5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5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ระบบประเมินผลการปฏิบัติงานบุคลากร</a:t>
            </a:r>
          </a:p>
        </p:txBody>
      </p:sp>
      <p:sp>
        <p:nvSpPr>
          <p:cNvPr id="8" name="cover-system-short-name">
            <a:extLst xmlns:a="http://schemas.openxmlformats.org/drawingml/2006/main">
              <a:ext uri="{FF2B5EF4-FFF2-40B4-BE49-F238E27FC236}">
                <a16:creationId xmlns:a16="http://schemas.microsoft.com/office/drawing/2014/main" id="{AD836E94-EA91-46F7-979D-1FE0633FE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1475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(MSU EVA)  •  สายวิชาการ</a:t>
            </a:r>
          </a:p>
        </p:txBody>
      </p:sp>
      <p:sp>
        <p:nvSpPr>
          <p:cNvPr id="9" name="cover-gold-rule">
            <a:extLst xmlns:a="http://schemas.openxmlformats.org/drawingml/2006/main">
              <a:ext uri="{FF2B5EF4-FFF2-40B4-BE49-F238E27FC236}">
                <a16:creationId xmlns:a16="http://schemas.microsoft.com/office/drawing/2014/main" id="{7DF97864-7B8E-48A9-ADF8-0F9CC5BF3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05300"/>
            <a:ext cx="876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over-promise">
            <a:extLst xmlns:a="http://schemas.openxmlformats.org/drawingml/2006/main">
              <a:ext uri="{FF2B5EF4-FFF2-40B4-BE49-F238E27FC236}">
                <a16:creationId xmlns:a16="http://schemas.microsoft.com/office/drawing/2014/main" id="{F2DDFF40-F48D-4C35-982A-5D033AB8E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590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กรอกภาระงานและผลงานให้ครบ ตรวจหลักฐาน แล้วส่งแบบประเมินอย่างมั่นใจ</a:t>
            </a:r>
          </a:p>
        </p:txBody>
      </p:sp>
      <p:sp>
        <p:nvSpPr>
          <p:cNvPr id="11" name="cover-style">
            <a:extLst xmlns:a="http://schemas.openxmlformats.org/drawingml/2006/main">
              <a:ext uri="{FF2B5EF4-FFF2-40B4-BE49-F238E27FC236}">
                <a16:creationId xmlns:a16="http://schemas.microsoft.com/office/drawing/2014/main" id="{5D839FC5-AA05-4F0B-B745-CDA298002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0007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1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Professional Training  •  สายวิชาการ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25570b21914144"/>
          <a:stretch xmlns:a="http://schemas.openxmlformats.org/drawingml/2006/main"/>
        </p:blipFill>
        <p:spPr>
          <a:xfrm xmlns:a="http://schemas.openxmlformats.org/drawingml/2006/main">
            <a:off x="9186571" y="5962650"/>
            <a:ext cx="2029408" cy="552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23322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ide-accent-2">
            <a:extLst xmlns:a="http://schemas.openxmlformats.org/drawingml/2006/main">
              <a:ext uri="{FF2B5EF4-FFF2-40B4-BE49-F238E27FC236}">
                <a16:creationId xmlns:a16="http://schemas.microsoft.com/office/drawing/2014/main" id="{338B8330-F36C-4B9E-B80B-1F0B68ACF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2">
            <a:extLst xmlns:a="http://schemas.openxmlformats.org/drawingml/2006/main">
              <a:ext uri="{FF2B5EF4-FFF2-40B4-BE49-F238E27FC236}">
                <a16:creationId xmlns:a16="http://schemas.microsoft.com/office/drawing/2014/main" id="{B202D29F-764D-4EEC-AE99-768485D2E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เป้าหมายการอบรม  /  สายวิชาการ</a:t>
            </a:r>
          </a:p>
        </p:txBody>
      </p:sp>
      <p:sp>
        <p:nvSpPr>
          <p:cNvPr id="3" name="title-2">
            <a:extLst xmlns:a="http://schemas.openxmlformats.org/drawingml/2006/main">
              <a:ext uri="{FF2B5EF4-FFF2-40B4-BE49-F238E27FC236}">
                <a16:creationId xmlns:a16="http://schemas.microsoft.com/office/drawing/2014/main" id="{1E5F87A8-227D-4B67-AB84-D1B0C268F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วันนี้เราจะทดลองกรอกแบบประเมิน 1 รายการให้พร้อมส่ง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E90743-873E-4554-B06D-8643BE93F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เมื่อจบช่วงนี้ คุณจะทำได้ด้วยตัวเอง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3A34CA-BE5B-4232-9970-9AA08ED55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BB841B-DD93-4732-A56F-9852F2FAB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67652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1A8F72-4D9A-45D2-8A0B-FA98B7245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289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เปิดงานที่ได้รับมอบหมายได้ถูกต้อง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266733-0950-4CEB-B4F5-FF41E2340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E9DA23-69D7-4C9C-909A-2F0795D0E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64807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ACE2C2-4165-4CE2-B249-84C43D1CC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60045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กรอกข้อมูลปริมาณ คุณภาพ และหลักฐานได้ครบ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02DAB8-5B98-4158-BBB6-2B12717D9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6FB513-3464-4142-90C8-F10DE17BC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61962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4B5865-8ABD-4600-8380-D043200B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5720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แยกการบันทึกร่างออกจากการยืนยันส่ง</a:t>
            </a:r>
          </a:p>
        </p:txBody>
      </p:sp>
      <p:sp>
        <p:nvSpPr>
          <p:cNvPr id="14" name="outcome-mark">
            <a:extLst xmlns:a="http://schemas.openxmlformats.org/drawingml/2006/main">
              <a:ext uri="{FF2B5EF4-FFF2-40B4-BE49-F238E27FC236}">
                <a16:creationId xmlns:a16="http://schemas.microsoft.com/office/drawing/2014/main" id="{19819231-9EB5-497A-8B4E-7CF41ACD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076450"/>
            <a:ext cx="2324100" cy="329565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9525">
            <a:solidFill>
              <a:srgbClr val="4356C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3554D8-24BE-4A0F-B208-EF6DDB4A2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24100"/>
            <a:ext cx="17907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0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780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9A4478-9135-41AD-9CA9-B79F6C4FB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52850"/>
            <a:ext cx="1790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รายการ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พร้อมส่ง</a:t>
            </a:r>
          </a:p>
        </p:txBody>
      </p:sp>
      <p:sp>
        <p:nvSpPr>
          <p:cNvPr id="17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424896EA-3497-4DD4-A318-512EE5507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footer-label-2">
            <a:extLst xmlns:a="http://schemas.openxmlformats.org/drawingml/2006/main">
              <a:ext uri="{FF2B5EF4-FFF2-40B4-BE49-F238E27FC236}">
                <a16:creationId xmlns:a16="http://schemas.microsoft.com/office/drawing/2014/main" id="{633D6486-6ED9-43A5-B6C3-1F8E501F0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19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8BCBD3B8-BAAB-4399-8224-2E2C93C39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 / 18</a:t>
            </a:r>
          </a:p>
        </p:txBody>
      </p:sp>
    </p:spTree>
    <p:extLst>
      <p:ext uri="{BB962C8B-B14F-4D97-AF65-F5344CB8AC3E}">
        <p14:creationId xmlns:p14="http://schemas.microsoft.com/office/powerpoint/2010/main" val="120038913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ide-accent-3">
            <a:extLst xmlns:a="http://schemas.openxmlformats.org/drawingml/2006/main">
              <a:ext uri="{FF2B5EF4-FFF2-40B4-BE49-F238E27FC236}">
                <a16:creationId xmlns:a16="http://schemas.microsoft.com/office/drawing/2014/main" id="{22BAE097-C269-47A7-9F60-A06CCCD24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3">
            <a:extLst xmlns:a="http://schemas.openxmlformats.org/drawingml/2006/main">
              <a:ext uri="{FF2B5EF4-FFF2-40B4-BE49-F238E27FC236}">
                <a16:creationId xmlns:a16="http://schemas.microsoft.com/office/drawing/2014/main" id="{C844F45D-5178-40AB-866B-0482CFE2A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รู้จักระบบ  /  สายวิชาการ</a:t>
            </a:r>
          </a:p>
        </p:txBody>
      </p:sp>
      <p:sp>
        <p:nvSpPr>
          <p:cNvPr id="3" name="title-3">
            <a:extLst xmlns:a="http://schemas.openxmlformats.org/drawingml/2006/main">
              <a:ext uri="{FF2B5EF4-FFF2-40B4-BE49-F238E27FC236}">
                <a16:creationId xmlns:a16="http://schemas.microsoft.com/office/drawing/2014/main" id="{FEC98D71-3CF1-4D92-A5B4-9CA1D01CE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ระบบช่วยจัดการงานประเมินตั้งแต่เตรียมรอบจนถึงรายงานผล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8AA832-856B-4F68-A55C-C258BFA38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ฟังก์ชันหลัก 5 ด้าน เชื่อมต่อกันเป็นกระบวนการเดียว</a:t>
            </a:r>
          </a:p>
        </p:txBody>
      </p:sp>
      <p:sp>
        <p:nvSpPr>
          <p:cNvPr id="5" name="system-function-line">
            <a:extLst xmlns:a="http://schemas.openxmlformats.org/drawingml/2006/main">
              <a:ext uri="{FF2B5EF4-FFF2-40B4-BE49-F238E27FC236}">
                <a16:creationId xmlns:a16="http://schemas.microsoft.com/office/drawing/2014/main" id="{C6ABC659-85B8-414B-BE11-5EECBFE0C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67100"/>
            <a:ext cx="8705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FCE43F-FDC8-4872-A139-6EF93F1D7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AF1775-612B-4C3F-B1C1-3C3547A2B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0E3161-CE35-4AF1-A7AD-4EBBFBDB6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ผู้ใช้และสิทธิ์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8B0E10-4DC4-4F4C-ADF5-1434D5F17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จัดการบัญชีและบทบาท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832419-1F8B-4C53-9AD9-6CA94C71A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323E74-0CEC-405E-A9EE-DF50CC4A0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3AE556-194C-4071-8CEB-1588B2684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เกณฑ์ประเมิน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39C092-B6C8-4EF7-AD6C-87823CF76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จัดการแบบและเกณฑ์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5E5DA6-9DF6-4340-8376-53293721F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D98DFF-C831-4B05-935F-22AD7F42F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2972C2-1076-4F69-981A-ABAC8E82B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รอบและงาน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8D745C-55B6-4867-B112-436D59099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สร้างรอบและมอบหมาย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E50C16-A77F-4D10-B7ED-D11BA4AB7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8EF5D8-0A08-4D6D-9A3D-413643312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5A8F9A-E28D-4DAF-8C8C-00D528329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กรอกและประเมิน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554718-285F-40AA-A005-CCADCC363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บันทึก ตรวจ และส่งต่อ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A37460-B057-4B56-9652-987FE854E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4BED3B2-E4C2-4121-BCF1-D582A17B3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828CA7-6860-4B58-92E3-D9675B36E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ติดตาม/รายงาน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AA6C54-4961-49C4-B439-708052FDB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ติดตามสถานะและส่งออก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D17D18-602A-4EDB-8BC5-80FC578E6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2249A3-029B-42B7-942B-4551B1FA1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91200"/>
            <a:ext cx="1051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Admin เตรียมระบบและมอบหมายงาน ก่อนผู้ใช้งานเริ่มดำเนินการ</a:t>
            </a:r>
          </a:p>
        </p:txBody>
      </p:sp>
      <p:sp>
        <p:nvSpPr>
          <p:cNvPr id="28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8121DEDD-37DA-4899-8DF7-7A4C382B6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footer-label-3">
            <a:extLst xmlns:a="http://schemas.openxmlformats.org/drawingml/2006/main">
              <a:ext uri="{FF2B5EF4-FFF2-40B4-BE49-F238E27FC236}">
                <a16:creationId xmlns:a16="http://schemas.microsoft.com/office/drawing/2014/main" id="{AA8EF157-7CB0-4B61-A3A7-DC5E372F2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30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0F66195C-3EDE-4F12-8417-A7CD5BDB6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 / 18</a:t>
            </a:r>
          </a:p>
        </p:txBody>
      </p:sp>
    </p:spTree>
    <p:extLst>
      <p:ext uri="{BB962C8B-B14F-4D97-AF65-F5344CB8AC3E}">
        <p14:creationId xmlns:p14="http://schemas.microsoft.com/office/powerpoint/2010/main" val="84651814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ide-accent-4">
            <a:extLst xmlns:a="http://schemas.openxmlformats.org/drawingml/2006/main">
              <a:ext uri="{FF2B5EF4-FFF2-40B4-BE49-F238E27FC236}">
                <a16:creationId xmlns:a16="http://schemas.microsoft.com/office/drawing/2014/main" id="{71B96F99-D5A7-437C-8E67-C7F4B6740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4">
            <a:extLst xmlns:a="http://schemas.openxmlformats.org/drawingml/2006/main">
              <a:ext uri="{FF2B5EF4-FFF2-40B4-BE49-F238E27FC236}">
                <a16:creationId xmlns:a16="http://schemas.microsoft.com/office/drawing/2014/main" id="{2F8EDD19-3930-40B1-83EB-3E6F7090F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ผู้ใช้งานระบบ  /  สายวิชาการ</a:t>
            </a:r>
          </a:p>
        </p:txBody>
      </p:sp>
      <p:sp>
        <p:nvSpPr>
          <p:cNvPr id="3" name="title-4">
            <a:extLst xmlns:a="http://schemas.openxmlformats.org/drawingml/2006/main">
              <a:ext uri="{FF2B5EF4-FFF2-40B4-BE49-F238E27FC236}">
                <a16:creationId xmlns:a16="http://schemas.microsoft.com/office/drawing/2014/main" id="{6A74F638-640F-46FF-B3B0-EF440046D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ระบบมี 5 บทบาท และแต่ละคนเห็นงานต่างกัน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D0238C-85EA-4DE6-81AC-9E17B058C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B6E0A1-6A6D-4913-A32F-3CABCA0D9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288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Admin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D2E5C5-E971-42C6-9977-A3E312822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86690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ผู้ใช้ • สิทธิ์ • เกณฑ์ • รอบประเมิน • งาน • ลำดับผู้ประเมิน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E103D8-A775-43C5-9019-43CF02462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38125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E3F37A-8348-4F35-9FF0-011C8C6C8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182E28-1267-49EC-9987-5FC140373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56222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ผู้รับการประเมิน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23364B-A8C0-400C-A21E-DDDB7AEC0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00325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กรอกข้อมูล • แนบหลักฐาน • บันทึกร่าง • ส่งแบบประเมิน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06976C-4846-431E-80A6-7717501F0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114675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37EA5F-D45F-4830-BD4B-E942EC3F1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52D322-1F2A-47F4-9B53-6BC022449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956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A2DF91-B350-4F71-9CCE-9BACFB6E4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33375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ตรวจข้อมูล • ให้คะแนนหรือความเห็น • ส่งต่องาน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A0EA04-4D1D-4DA4-B3AF-EB3EF0692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481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F9A1D9-71DB-47A2-96C8-6329DE872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FC706E-09A6-429D-A97D-8EE4CF785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2907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กรรมการ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4E1CDD-A2DE-4DD9-866B-FB9670C1E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067175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ตรวจและรับรองผลตามขั้นที่ได้รับมอบหมาย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A9511E-D619-4EE7-860F-16605EE3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581525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579ADB-16B1-4EB0-8F7C-5050B803B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F84FC3-C639-4D7A-A82B-998C0E701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7625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ผู้บริหาร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1FFDB0-8BBC-44D2-820A-FF0B6CD65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80060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ตรวจหรือยืนยันตามลำดับ • ดูรายงานตามสิทธิ์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335B0B-C451-4635-BC4F-2531AADD4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510C19-4540-4E06-A7F2-A3E8F520D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19775"/>
            <a:ext cx="1051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แต่ละรอบอาจใช้ผู้ประเมินไม่ครบทุกบทบาท ให้ยึดลำดับที่ Admin กำหนด</a:t>
            </a:r>
          </a:p>
        </p:txBody>
      </p:sp>
      <p:sp>
        <p:nvSpPr>
          <p:cNvPr id="25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724D14E2-34E4-40B3-88DC-C16EEBBD9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footer-label-4">
            <a:extLst xmlns:a="http://schemas.openxmlformats.org/drawingml/2006/main">
              <a:ext uri="{FF2B5EF4-FFF2-40B4-BE49-F238E27FC236}">
                <a16:creationId xmlns:a16="http://schemas.microsoft.com/office/drawing/2014/main" id="{5ECA35FA-FEFD-479F-9CBB-35D93885B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7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093EA907-9A1D-4056-8E59-9008DB2B2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04 / 18</a:t>
            </a:r>
          </a:p>
        </p:txBody>
      </p:sp>
    </p:spTree>
    <p:extLst>
      <p:ext uri="{BB962C8B-B14F-4D97-AF65-F5344CB8AC3E}">
        <p14:creationId xmlns:p14="http://schemas.microsoft.com/office/powerpoint/2010/main" val="95455631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ide-accent-5">
            <a:extLst xmlns:a="http://schemas.openxmlformats.org/drawingml/2006/main">
              <a:ext uri="{FF2B5EF4-FFF2-40B4-BE49-F238E27FC236}">
                <a16:creationId xmlns:a16="http://schemas.microsoft.com/office/drawing/2014/main" id="{511A7AC0-45B7-4EB2-ACEC-6757DDDC5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5">
            <a:extLst xmlns:a="http://schemas.openxmlformats.org/drawingml/2006/main">
              <a:ext uri="{FF2B5EF4-FFF2-40B4-BE49-F238E27FC236}">
                <a16:creationId xmlns:a16="http://schemas.microsoft.com/office/drawing/2014/main" id="{0E8A9A36-4D62-4E08-A340-5A4F53489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ภาพรวมกระบวนการ  /  สายวิชาการ</a:t>
            </a:r>
          </a:p>
        </p:txBody>
      </p:sp>
      <p:sp>
        <p:nvSpPr>
          <p:cNvPr id="3" name="title-5">
            <a:extLst xmlns:a="http://schemas.openxmlformats.org/drawingml/2006/main">
              <a:ext uri="{FF2B5EF4-FFF2-40B4-BE49-F238E27FC236}">
                <a16:creationId xmlns:a16="http://schemas.microsoft.com/office/drawing/2014/main" id="{F5B2890E-622F-4B96-B429-0C9F40402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มาดูขั้นตอนทั้งหมดก่อนเริ่มกรอกข้อมูล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A84E6A-EB4D-47A9-82F4-CB49041E1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ตั้งแต่เปิดงาน กรอกข้อมูล ตรวจความพร้อม จนถึงผู้ประเมินคนสุดท้าย</a:t>
            </a:r>
          </a:p>
        </p:txBody>
      </p:sp>
      <p:sp>
        <p:nvSpPr>
          <p:cNvPr id="5" name="workflow-line">
            <a:extLst xmlns:a="http://schemas.openxmlformats.org/drawingml/2006/main">
              <a:ext uri="{FF2B5EF4-FFF2-40B4-BE49-F238E27FC236}">
                <a16:creationId xmlns:a16="http://schemas.microsoft.com/office/drawing/2014/main" id="{7A8D3CA6-6EFA-49B2-AEB8-515861F33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57575"/>
            <a:ext cx="866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workflow-arrow">
            <a:extLst xmlns:a="http://schemas.openxmlformats.org/drawingml/2006/main">
              <a:ext uri="{FF2B5EF4-FFF2-40B4-BE49-F238E27FC236}">
                <a16:creationId xmlns:a16="http://schemas.microsoft.com/office/drawing/2014/main" id="{E631874B-B7C2-404C-B3CB-ECB83BFBE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343275"/>
            <a:ext cx="4572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7AAAE7-5D27-40A4-A468-7095FDFDB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ADA7A3-95F3-4425-9017-6EF1ACB6C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C03597-572A-41CA-8DDE-3D520CC31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รับงาน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0DD15A-93F6-456B-924A-CE858910E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ตรวจรอบและรายการ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914BBD-56FA-4ACE-96B6-475618B86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240E82-C53E-4FB1-AB8F-BCBAE3516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A50AA9-265B-45F1-8CA5-776E6913D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C7F78F-99D6-4F4E-850F-A1B1F3174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ปริมาณ • คุณภาพ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71B7E9-A435-4109-9581-EC1355588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74C69B-F5B3-4B98-8F27-2C669F2A0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9B9A51-71EC-46D7-8382-032CB31F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ตรวจความพร้อม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B7D6D5-C0D7-4547-B20E-B48DAA365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 • หลักฐาน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A6B8DC-DD34-41E7-B543-7197162D3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93CCE0-92CB-4009-B83C-1454DBD0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5E446A-7637-4C47-A494-DDF8DF6DA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C786DC-90D7-4710-AECB-4D70B34E4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เข้าสู่ลำดับผู้ประเมิน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912A10-F608-49C0-8D7A-6C0BECBD2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F01206-B127-4E85-8D31-8EBB2F353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26EAF8-687B-4419-ABC0-89B877193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ปิดงาน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52ECB7-53CC-4737-9BC7-E637A7D77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สถานะ Completed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A077182-790B-4C7A-9696-820D3F51A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742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งานเดินตามลำดับผู้ประเมินที่ผู้ดูแลระบบกำหนด</a:t>
            </a:r>
          </a:p>
        </p:txBody>
      </p:sp>
      <p:sp>
        <p:nvSpPr>
          <p:cNvPr id="28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CB0E1738-9779-4CB1-B75E-9DFD87055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footer-label-5">
            <a:extLst xmlns:a="http://schemas.openxmlformats.org/drawingml/2006/main">
              <a:ext uri="{FF2B5EF4-FFF2-40B4-BE49-F238E27FC236}">
                <a16:creationId xmlns:a16="http://schemas.microsoft.com/office/drawing/2014/main" id="{5AF53DBA-9D83-4DEF-8F4D-CB5593D9D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30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726FC2EA-43B1-4096-8F1C-2754C9CB6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05 / 18</a:t>
            </a:r>
          </a:p>
        </p:txBody>
      </p:sp>
    </p:spTree>
    <p:extLst>
      <p:ext uri="{BB962C8B-B14F-4D97-AF65-F5344CB8AC3E}">
        <p14:creationId xmlns:p14="http://schemas.microsoft.com/office/powerpoint/2010/main" val="6423015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6">
            <a:extLst xmlns:a="http://schemas.openxmlformats.org/drawingml/2006/main">
              <a:ext uri="{FF2B5EF4-FFF2-40B4-BE49-F238E27FC236}">
                <a16:creationId xmlns:a16="http://schemas.microsoft.com/office/drawing/2014/main" id="{9421C0EA-E239-411C-BE73-23846B24D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6">
            <a:extLst xmlns:a="http://schemas.openxmlformats.org/drawingml/2006/main">
              <a:ext uri="{FF2B5EF4-FFF2-40B4-BE49-F238E27FC236}">
                <a16:creationId xmlns:a16="http://schemas.microsoft.com/office/drawing/2014/main" id="{82E9ED72-8C97-43EE-9CC1-6D68B5428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บทบาทของคุณ  /  สายวิชาการ</a:t>
            </a:r>
          </a:p>
        </p:txBody>
      </p:sp>
      <p:sp>
        <p:nvSpPr>
          <p:cNvPr id="3" name="title-6">
            <a:extLst xmlns:a="http://schemas.openxmlformats.org/drawingml/2006/main">
              <a:ext uri="{FF2B5EF4-FFF2-40B4-BE49-F238E27FC236}">
                <a16:creationId xmlns:a16="http://schemas.microsoft.com/office/drawing/2014/main" id="{92624DA7-511A-4D18-B4DE-3EBE032B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กรอกข้อมูลของคุณให้ครบ แล้วส่งให้ผู้ประเมิน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E9A20C-3CC0-4E6D-9436-1488B04D5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609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ผู้รับการประเมินกรอกข้อมูลวิชาการและแนบหลักฐานให้ครบ ก่อนส่งให้ผู้ประเมินตรวจ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AC82DD-CAB5-432E-85D3-7491D8457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3C0B55-6734-4B9E-BE11-9182296DF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เตรียม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321C85-D577-42B7-B965-42065F51F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EA3A36-C03F-4818-A6F8-E9B123078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ข้อมูลรายวิชา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ภาระงาน และผลงาน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BF256D-D2FE-4B72-9C26-D5FEC272C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8D07D9-B257-482D-8E9F-AE4C8005F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AEEFAC-378F-4557-BFA1-442FCC480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C0B3F3-13C1-437D-8859-26B645630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ค่าที่กรอก สูตรคำนวณ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และลิงก์หลักฐาน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13F828-DD13-4E7C-B1CF-A4AC06BED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331190-1D44-4445-8B6A-45149C51E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ตัดสินใจ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AB76AB-D5CE-4216-9779-DC935E9D9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914221-AEF9-4C59-AB88-46A2A2959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หรือส่งแบบประเมิน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D71BC0-B928-4E2F-8684-F2FE68625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66900"/>
            <a:ext cx="30099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71BA59-6047-485B-A6A0-15A8DBF8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990725"/>
            <a:ext cx="2476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งานเสร็จเมื่อผู้ประเมิน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ลำดับสุดท้ายยืนยันผล</a:t>
            </a:r>
          </a:p>
        </p:txBody>
      </p:sp>
      <p:sp>
        <p:nvSpPr>
          <p:cNvPr id="19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73513B1A-EFFF-4E94-AB76-4829E998B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6">
            <a:extLst xmlns:a="http://schemas.openxmlformats.org/drawingml/2006/main">
              <a:ext uri="{FF2B5EF4-FFF2-40B4-BE49-F238E27FC236}">
                <a16:creationId xmlns:a16="http://schemas.microsoft.com/office/drawing/2014/main" id="{E00A64EB-4AE1-49AC-AAAF-94CE248DE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1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2AFB564C-1CF3-4BEB-981A-EF6630159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06 / 18</a:t>
            </a:r>
          </a:p>
        </p:txBody>
      </p:sp>
    </p:spTree>
    <p:extLst>
      <p:ext uri="{BB962C8B-B14F-4D97-AF65-F5344CB8AC3E}">
        <p14:creationId xmlns:p14="http://schemas.microsoft.com/office/powerpoint/2010/main" val="151814234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ide-accent-7">
            <a:extLst xmlns:a="http://schemas.openxmlformats.org/drawingml/2006/main">
              <a:ext uri="{FF2B5EF4-FFF2-40B4-BE49-F238E27FC236}">
                <a16:creationId xmlns:a16="http://schemas.microsoft.com/office/drawing/2014/main" id="{9CD1C123-8AE2-48A0-B6AE-36A0CA8CF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7">
            <a:extLst xmlns:a="http://schemas.openxmlformats.org/drawingml/2006/main">
              <a:ext uri="{FF2B5EF4-FFF2-40B4-BE49-F238E27FC236}">
                <a16:creationId xmlns:a16="http://schemas.microsoft.com/office/drawing/2014/main" id="{16DE649A-20FF-4B4E-9B75-5091FAB9A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จุดเริ่มต้น  /  สายวิชาการ</a:t>
            </a:r>
          </a:p>
        </p:txBody>
      </p:sp>
      <p:sp>
        <p:nvSpPr>
          <p:cNvPr id="3" name="title-7">
            <a:extLst xmlns:a="http://schemas.openxmlformats.org/drawingml/2006/main">
              <a:ext uri="{FF2B5EF4-FFF2-40B4-BE49-F238E27FC236}">
                <a16:creationId xmlns:a16="http://schemas.microsoft.com/office/drawing/2014/main" id="{7C8D752C-224D-48ED-B882-D6D3C869D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ตรวจสอบรอบประเมินและรายการที่ได้รับมอบหมาย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53E51C-294E-4952-8D5B-DFC672E16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ก่อนเปิดงาน ให้ตรวจ 3 อย่างนี้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C730EC-90E4-4027-83BD-7C8CBE643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4D8879-AA7B-45C1-AA86-3C9C6AB65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607D71-3944-4487-8BDC-C79469D86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289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รอบประเมิน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EDCB8A-26C4-4C9F-A585-7DAE4360F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670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ผู้ดูแลระบบกำหนดไว้ถูกต้อง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DE8D5C-72AA-4249-AD26-79F7ED2F7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D6CD00-CC30-4F41-97DE-C6938EE94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C4C404-63FE-4E13-B1F9-1EF919984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957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รายการงาน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A2D0DD-AE16-4FEB-99F8-502D1E242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7338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เป็นงานของคุณและตรงประเภท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A010C8-B1C6-427B-9667-8362F9FD0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80DB05-6695-4D1D-965C-F7EBDF628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672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583D82-FC20-4EC2-B79E-90D957560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625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สถานะ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19398B-D7B3-4351-9421-AFB21765E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8006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ยังอยู่ในขั้นที่คุณดำเนินการได้</a:t>
            </a:r>
          </a:p>
        </p:txBody>
      </p:sp>
      <p:sp>
        <p:nvSpPr>
          <p:cNvPr id="17" name="dashboard-preview">
            <a:extLst xmlns:a="http://schemas.openxmlformats.org/drawingml/2006/main">
              <a:ext uri="{FF2B5EF4-FFF2-40B4-BE49-F238E27FC236}">
                <a16:creationId xmlns:a16="http://schemas.microsoft.com/office/drawing/2014/main" id="{F11FF85D-D5FF-495E-AE24-A3FBBAD8E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09800"/>
            <a:ext cx="3124200" cy="335280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92D6A0-6E5A-4EFB-BDD0-E969C48BA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95550"/>
            <a:ext cx="2514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9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แดชบอร์ดของฉัน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4E63D7-2217-419B-B6E3-2BB2EE07D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05150"/>
            <a:ext cx="2514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C42416-5BFD-4FE7-9A2C-754BC22BA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209925"/>
            <a:ext cx="2171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สายวิชาการ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52D44F-B319-42C4-BC9F-507779749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752850"/>
            <a:ext cx="1943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6E790A-B0E5-4468-9573-5446FDC30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114800"/>
            <a:ext cx="2266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286B4B-DA0E-4C2F-B041-5841798AF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05350"/>
            <a:ext cx="15430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5E21E2-EFE6-400C-864B-7169E5B2F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82917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เปิดรายการ</a:t>
            </a:r>
          </a:p>
        </p:txBody>
      </p:sp>
      <p:sp>
        <p:nvSpPr>
          <p:cNvPr id="25" name="footer-rule-7">
            <a:extLst xmlns:a="http://schemas.openxmlformats.org/drawingml/2006/main">
              <a:ext uri="{FF2B5EF4-FFF2-40B4-BE49-F238E27FC236}">
                <a16:creationId xmlns:a16="http://schemas.microsoft.com/office/drawing/2014/main" id="{791F3EC0-C106-47C3-A9DB-6685AA8C0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footer-label-7">
            <a:extLst xmlns:a="http://schemas.openxmlformats.org/drawingml/2006/main">
              <a:ext uri="{FF2B5EF4-FFF2-40B4-BE49-F238E27FC236}">
                <a16:creationId xmlns:a16="http://schemas.microsoft.com/office/drawing/2014/main" id="{561ABF90-4623-47AB-9AF1-8EF025842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7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BE51249D-DCFA-4223-BC73-16F765579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07 / 18</a:t>
            </a:r>
          </a:p>
        </p:txBody>
      </p:sp>
    </p:spTree>
    <p:extLst>
      <p:ext uri="{BB962C8B-B14F-4D97-AF65-F5344CB8AC3E}">
        <p14:creationId xmlns:p14="http://schemas.microsoft.com/office/powerpoint/2010/main" val="72610884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ide-accent-8">
            <a:extLst xmlns:a="http://schemas.openxmlformats.org/drawingml/2006/main">
              <a:ext uri="{FF2B5EF4-FFF2-40B4-BE49-F238E27FC236}">
                <a16:creationId xmlns:a16="http://schemas.microsoft.com/office/drawing/2014/main" id="{0A95D1E5-853D-4B6F-A346-C5467F50A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8">
            <a:extLst xmlns:a="http://schemas.openxmlformats.org/drawingml/2006/main">
              <a:ext uri="{FF2B5EF4-FFF2-40B4-BE49-F238E27FC236}">
                <a16:creationId xmlns:a16="http://schemas.microsoft.com/office/drawing/2014/main" id="{ECB10EBA-7E2F-4307-8AE4-7003D40A6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โครงสร้างข้อมูล  /  สายวิชาการ</a:t>
            </a:r>
          </a:p>
        </p:txBody>
      </p:sp>
      <p:sp>
        <p:nvSpPr>
          <p:cNvPr id="3" name="title-8">
            <a:extLst xmlns:a="http://schemas.openxmlformats.org/drawingml/2006/main">
              <a:ext uri="{FF2B5EF4-FFF2-40B4-BE49-F238E27FC236}">
                <a16:creationId xmlns:a16="http://schemas.microsoft.com/office/drawing/2014/main" id="{3C6555F9-73FF-4C43-A434-C1353B346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ตรวจให้แน่ใจว่ารายวิชา ภาระงาน ผลงาน และหลักฐานสอดคล้องกัน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94C5F6-5099-4DB0-96AF-48E80B917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ตรวจความเชื่อมโยงของข้อมูลทุกส่วน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146459-07F0-403C-9CB8-8362D25B6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505200"/>
            <a:ext cx="7696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6D0F15-DDD2-4B90-A2ED-706499C56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C1EB3A-B6CE-45F8-A646-C870492BB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EFF98E-77C6-486D-A294-0115953F5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รายวิชา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E85E21-1696-4706-816C-669039BDC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บริบทของงานสอน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5EFC7A-0B70-4CDF-B9AF-4EA40D94A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8EBD17-7FA6-423C-B890-E6C7F3D98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38FC4A-DC23-45E5-9F55-89CF57E53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ภาระงาน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23C092-F847-4ACB-AC8A-925C1FB4F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สิ่งที่ทำและปริมาณ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A09661-9DF4-486B-907C-D9053BAA0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128D72-DDAF-40E1-9814-638721FDD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D8500A-5E93-4C21-9C27-FBE486B59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ผลงาน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625546-E0D5-45C3-BE2F-FBB2434FC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ผลลัพธ์เชิงคุณภาพ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F1985C-31C5-4EEE-8BC8-FDC5BAE3E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D1CAB5-292B-4B85-A8C6-7510B503B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2DDD77-E389-476E-942A-1C234317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หลักฐาน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6B4244-4E31-448A-BBB9-583D2514E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สิ่งที่ตรวจสอบได้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C1130C-01A3-463C-9045-D5C4D2C29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ถ้าข้อมูลส่วนหนึ่งไม่สอดคล้อง ผู้ประเมินจะตีความงานได้ยาก</a:t>
            </a:r>
          </a:p>
        </p:txBody>
      </p:sp>
      <p:sp>
        <p:nvSpPr>
          <p:cNvPr id="23" name="footer-rule-8">
            <a:extLst xmlns:a="http://schemas.openxmlformats.org/drawingml/2006/main">
              <a:ext uri="{FF2B5EF4-FFF2-40B4-BE49-F238E27FC236}">
                <a16:creationId xmlns:a16="http://schemas.microsoft.com/office/drawing/2014/main" id="{B59AAB43-E89E-4EC7-AAEC-8E2E67524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footer-label-8">
            <a:extLst xmlns:a="http://schemas.openxmlformats.org/drawingml/2006/main">
              <a:ext uri="{FF2B5EF4-FFF2-40B4-BE49-F238E27FC236}">
                <a16:creationId xmlns:a16="http://schemas.microsoft.com/office/drawing/2014/main" id="{33A64181-CBC0-4A19-9958-593D19948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5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E1002F01-7438-42F8-ACB7-3C3F32CF5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08 / 18</a:t>
            </a:r>
          </a:p>
        </p:txBody>
      </p:sp>
    </p:spTree>
    <p:extLst>
      <p:ext uri="{BB962C8B-B14F-4D97-AF65-F5344CB8AC3E}">
        <p14:creationId xmlns:p14="http://schemas.microsoft.com/office/powerpoint/2010/main" val="70247441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9">
            <a:extLst xmlns:a="http://schemas.openxmlformats.org/drawingml/2006/main">
              <a:ext uri="{FF2B5EF4-FFF2-40B4-BE49-F238E27FC236}">
                <a16:creationId xmlns:a16="http://schemas.microsoft.com/office/drawing/2014/main" id="{5985D43E-F987-4619-8FFD-077FDE440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9">
            <a:extLst xmlns:a="http://schemas.openxmlformats.org/drawingml/2006/main">
              <a:ext uri="{FF2B5EF4-FFF2-40B4-BE49-F238E27FC236}">
                <a16:creationId xmlns:a16="http://schemas.microsoft.com/office/drawing/2014/main" id="{73F933FE-93F0-4E50-802C-96DA7D1DB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ข้อมูลเชิงปริมาณ  /  สายวิชาการ</a:t>
            </a:r>
          </a:p>
        </p:txBody>
      </p:sp>
      <p:sp>
        <p:nvSpPr>
          <p:cNvPr id="3" name="title-9">
            <a:extLst xmlns:a="http://schemas.openxmlformats.org/drawingml/2006/main">
              <a:ext uri="{FF2B5EF4-FFF2-40B4-BE49-F238E27FC236}">
                <a16:creationId xmlns:a16="http://schemas.microsoft.com/office/drawing/2014/main" id="{5FB83FF5-CD7E-49F4-8F36-3F2DB63A4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กรอกภาระงานที่ทำได้ แล้วตรวจคะแนนที่ระบบคำนวณ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19BCC3-EE5A-4DAF-9D9E-27ED59ECC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57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อ่านช่อง A–D ให้เป็นลำดับเดียวกัน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43CAFE-E078-413E-B616-F01948507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275875-31B9-4EF5-9DF7-9568FD06D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5B07ED-4D87-428D-9CC0-B15F5BE10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338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ค่าน้ำหนัก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49E953-BA13-4DB5-B103-5DE0805D8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196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กำหนดจากเกณฑ์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385952-E2A5-499E-B7FD-2C413CA2E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6670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F18D95-38BA-44BA-BF97-C65802916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067939-5611-4B99-A1B6-B3A0BB55D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ภาระงานมาตรฐาน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683D6E-D1A8-4A9E-A3BF-702520A6A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196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ค่าฐานของรายการ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B93D2A-212E-451A-810F-B3559924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670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6567A7-3AC8-49EE-B0D3-667E494A4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85750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F9FB05-8C09-4AD3-9AB3-641AF0247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7338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ภาระงานที่ทำได้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6542B0-8547-4C49-A628-A3D3CD297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4196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ข้อมูลที่คุณกรอก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D64A54-5519-43B6-9CBB-8EA1AB611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670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9525">
            <a:solidFill>
              <a:srgbClr val="4356C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0D9EAF-3FB6-4281-AA40-9BB0C41BE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85750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835626-E9B3-4B2F-95BB-905500C8A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7338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คะแนนที่คำนวณ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D65322-538E-4669-B2AF-445EF9E6B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4196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ตรวจผลจากระบบ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5A54F6-F9BC-4857-BEE3-89C45A288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ตรวจหน่วยและค่าทศนิยมก่อนบันทึก</a:t>
            </a:r>
          </a:p>
        </p:txBody>
      </p:sp>
      <p:sp>
        <p:nvSpPr>
          <p:cNvPr id="22" name="footer-rule-9">
            <a:extLst xmlns:a="http://schemas.openxmlformats.org/drawingml/2006/main">
              <a:ext uri="{FF2B5EF4-FFF2-40B4-BE49-F238E27FC236}">
                <a16:creationId xmlns:a16="http://schemas.microsoft.com/office/drawing/2014/main" id="{4C945C22-18DA-4FF8-9529-7E68C6492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9">
            <a:extLst xmlns:a="http://schemas.openxmlformats.org/drawingml/2006/main">
              <a:ext uri="{FF2B5EF4-FFF2-40B4-BE49-F238E27FC236}">
                <a16:creationId xmlns:a16="http://schemas.microsoft.com/office/drawing/2014/main" id="{5480F5E6-CAAC-447C-91B3-08FD81E2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4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B766764C-EF9B-45C1-A4F9-0C3D71EB3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09 / 18</a:t>
            </a:r>
          </a:p>
        </p:txBody>
      </p:sp>
    </p:spTree>
    <p:extLst>
      <p:ext uri="{BB962C8B-B14F-4D97-AF65-F5344CB8AC3E}">
        <p14:creationId xmlns:p14="http://schemas.microsoft.com/office/powerpoint/2010/main" val="56943213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de-accent-10">
            <a:extLst xmlns:a="http://schemas.openxmlformats.org/drawingml/2006/main">
              <a:ext uri="{FF2B5EF4-FFF2-40B4-BE49-F238E27FC236}">
                <a16:creationId xmlns:a16="http://schemas.microsoft.com/office/drawing/2014/main" id="{93A135D8-B992-4221-8FE3-FFCBFCE93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0">
            <a:extLst xmlns:a="http://schemas.openxmlformats.org/drawingml/2006/main">
              <a:ext uri="{FF2B5EF4-FFF2-40B4-BE49-F238E27FC236}">
                <a16:creationId xmlns:a16="http://schemas.microsoft.com/office/drawing/2014/main" id="{2CAC109D-959D-4B55-B628-9AF2BF677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ข้อมูลเชิงคุณภาพ  /  สายวิชาการ</a:t>
            </a:r>
          </a:p>
        </p:txBody>
      </p:sp>
      <p:sp>
        <p:nvSpPr>
          <p:cNvPr id="3" name="title-10">
            <a:extLst xmlns:a="http://schemas.openxmlformats.org/drawingml/2006/main">
              <a:ext uri="{FF2B5EF4-FFF2-40B4-BE49-F238E27FC236}">
                <a16:creationId xmlns:a16="http://schemas.microsoft.com/office/drawing/2014/main" id="{794D7026-26D6-4190-83F1-B38B699D5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อธิบายผลงานให้ผู้ประเมินเข้าใจได้ในครั้งเดียว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6713F9-0B02-471D-952B-2CEC3DBF6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904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เขียนให้เห็นว่า “ทำอะไร — เกิดผลอย่างไร — ตรวจจากไหน”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293987-8D79-4CEA-9E76-BB4FAC0D6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5209F1-BDAC-421C-A044-FA6923559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432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ทำอะไร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034C15-98B6-4480-B7C0-8CCB7CCED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81300"/>
            <a:ext cx="657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ระบุผลงานหรือบทบาทให้ชัด ไม่ใช้คำกว้าง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06E3E1-829B-45AD-A88D-E5C23A3BE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429000"/>
            <a:ext cx="9410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CBBD48-3AAD-4F2B-895A-B1991EF17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6EEECB-CB34-485A-BE03-5FF6B5D99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7147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เกิดผลอย่างไร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AF18D6-8799-46A2-A957-E371F07CE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52850"/>
            <a:ext cx="657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สรุปผลลัพธ์ที่สัมพันธ์กับเกณฑ์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48770C-CE9D-4C98-A944-00D3E308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400550"/>
            <a:ext cx="9410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CE8866-105C-457B-B1BF-1F6D86ACD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B69AFA-22BE-44AA-B1F0-DC10F0801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6863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ตรวจจากไหน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E2AA52-4AE6-4A86-8312-5A61ACFCD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24400"/>
            <a:ext cx="657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ชี้ไปยังเอกสารหรือหลักฐานที่ตรงรายการ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210652-594E-424B-9D94-647C4F2D1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885950"/>
            <a:ext cx="2876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1944AE-AB6F-4395-822F-609DCA320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383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ชัด • สั้น • ตรวจสอบได้</a:t>
            </a:r>
          </a:p>
        </p:txBody>
      </p:sp>
      <p:sp>
        <p:nvSpPr>
          <p:cNvPr id="18" name="footer-rule-10">
            <a:extLst xmlns:a="http://schemas.openxmlformats.org/drawingml/2006/main">
              <a:ext uri="{FF2B5EF4-FFF2-40B4-BE49-F238E27FC236}">
                <a16:creationId xmlns:a16="http://schemas.microsoft.com/office/drawing/2014/main" id="{C01DEF9B-28B6-43B2-A040-37740098B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label-10">
            <a:extLst xmlns:a="http://schemas.openxmlformats.org/drawingml/2006/main">
              <a:ext uri="{FF2B5EF4-FFF2-40B4-BE49-F238E27FC236}">
                <a16:creationId xmlns:a16="http://schemas.microsoft.com/office/drawing/2014/main" id="{814014FF-E209-4224-A25C-5356A8370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0" name="footer-page-10">
            <a:extLst xmlns:a="http://schemas.openxmlformats.org/drawingml/2006/main">
              <a:ext uri="{FF2B5EF4-FFF2-40B4-BE49-F238E27FC236}">
                <a16:creationId xmlns:a16="http://schemas.microsoft.com/office/drawing/2014/main" id="{07F195E2-15A4-4B6E-9E00-5B3C1B1DF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10 / 18</a:t>
            </a:r>
          </a:p>
        </p:txBody>
      </p:sp>
    </p:spTree>
    <p:extLst>
      <p:ext uri="{BB962C8B-B14F-4D97-AF65-F5344CB8AC3E}">
        <p14:creationId xmlns:p14="http://schemas.microsoft.com/office/powerpoint/2010/main" val="202714928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11">
            <a:extLst xmlns:a="http://schemas.openxmlformats.org/drawingml/2006/main">
              <a:ext uri="{FF2B5EF4-FFF2-40B4-BE49-F238E27FC236}">
                <a16:creationId xmlns:a16="http://schemas.microsoft.com/office/drawing/2014/main" id="{E06C723F-DCBE-44A0-A4DA-89C12E0DF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1">
            <a:extLst xmlns:a="http://schemas.openxmlformats.org/drawingml/2006/main">
              <a:ext uri="{FF2B5EF4-FFF2-40B4-BE49-F238E27FC236}">
                <a16:creationId xmlns:a16="http://schemas.microsoft.com/office/drawing/2014/main" id="{C47EC59F-9722-418E-855F-FD493E924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หลักฐาน  /  สายวิชาการ</a:t>
            </a:r>
          </a:p>
        </p:txBody>
      </p:sp>
      <p:sp>
        <p:nvSpPr>
          <p:cNvPr id="3" name="title-11">
            <a:extLst xmlns:a="http://schemas.openxmlformats.org/drawingml/2006/main">
              <a:ext uri="{FF2B5EF4-FFF2-40B4-BE49-F238E27FC236}">
                <a16:creationId xmlns:a16="http://schemas.microsoft.com/office/drawing/2014/main" id="{21A24228-3AEC-4035-9D16-E2956EFC7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แนบหลักฐานที่เปิดดูได้และตรงกับผลงาน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C9B0D0-06BF-46F9-8515-22F094E21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847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หลักฐานที่ดีช่วยให้ผู้ประเมินตรวจได้เร็ว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7A2A9B-1C5C-4B7F-B059-492E49697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34C448-F054-4728-839E-6FCAFF8EC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6F0897-8DA7-4550-B133-8BFA8594E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622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เปิดได้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ECF5F7-FFEB-4DDF-946C-32A90578A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813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ใช้ลิงก์ http/https ที่เข้าถึงได้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A7DE8D-374A-47CC-BFDB-0DB811DC9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2A160F-DA6E-4769-B8F6-C5FB1FD64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C134AD-C4F8-494B-9489-25430C629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957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ตรงรายการ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F05342-BAE9-457C-AA2A-DA9CAEF6F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1475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สอดคล้องกับผลงานหรือเกณฑ์ที่เลือก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A90D15-26CD-4E4B-9835-BD14CA25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D1434D-575B-492A-874C-DF716171B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C6105C-7CAF-45F1-9795-B1DC1B330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291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ระบุตัวตนได้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A8D8B3-428F-4FC4-9781-178597F88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482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ตั้งชื่อไฟล์หรือเอกสารให้เข้าใจง่าย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ECF44D-131D-4313-872F-286164529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124450"/>
            <a:ext cx="3524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9525">
            <a:solidFill>
              <a:srgbClr val="4356C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77478C-5281-444D-9453-0852C203B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19700"/>
            <a:ext cx="3028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รายการที่บังคับหลักฐาน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ต้องมีลิงก์ก่อนส่ง</a:t>
            </a:r>
          </a:p>
        </p:txBody>
      </p:sp>
      <p:sp>
        <p:nvSpPr>
          <p:cNvPr id="19" name="footer-rule-11">
            <a:extLst xmlns:a="http://schemas.openxmlformats.org/drawingml/2006/main">
              <a:ext uri="{FF2B5EF4-FFF2-40B4-BE49-F238E27FC236}">
                <a16:creationId xmlns:a16="http://schemas.microsoft.com/office/drawing/2014/main" id="{F0A5BC53-D7F0-4982-9A5C-1BF7EA8B5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11">
            <a:extLst xmlns:a="http://schemas.openxmlformats.org/drawingml/2006/main">
              <a:ext uri="{FF2B5EF4-FFF2-40B4-BE49-F238E27FC236}">
                <a16:creationId xmlns:a16="http://schemas.microsoft.com/office/drawing/2014/main" id="{09317719-387A-470D-9713-F2C440C93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1" name="footer-page-11">
            <a:extLst xmlns:a="http://schemas.openxmlformats.org/drawingml/2006/main">
              <a:ext uri="{FF2B5EF4-FFF2-40B4-BE49-F238E27FC236}">
                <a16:creationId xmlns:a16="http://schemas.microsoft.com/office/drawing/2014/main" id="{0136F0CC-CA40-4499-9EA0-E7C6A485E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11 / 18</a:t>
            </a:r>
          </a:p>
        </p:txBody>
      </p:sp>
    </p:spTree>
    <p:extLst>
      <p:ext uri="{BB962C8B-B14F-4D97-AF65-F5344CB8AC3E}">
        <p14:creationId xmlns:p14="http://schemas.microsoft.com/office/powerpoint/2010/main" val="69832188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ide-accent-12">
            <a:extLst xmlns:a="http://schemas.openxmlformats.org/drawingml/2006/main">
              <a:ext uri="{FF2B5EF4-FFF2-40B4-BE49-F238E27FC236}">
                <a16:creationId xmlns:a16="http://schemas.microsoft.com/office/drawing/2014/main" id="{9CA8E64A-5DA3-46AA-8A45-B196CC48C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2">
            <a:extLst xmlns:a="http://schemas.openxmlformats.org/drawingml/2006/main">
              <a:ext uri="{FF2B5EF4-FFF2-40B4-BE49-F238E27FC236}">
                <a16:creationId xmlns:a16="http://schemas.microsoft.com/office/drawing/2014/main" id="{8D77D764-D209-42E2-91D9-155FBCBC0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ก่อนกดปุ่ม  /  สายวิชาการ</a:t>
            </a:r>
          </a:p>
        </p:txBody>
      </p:sp>
      <p:sp>
        <p:nvSpPr>
          <p:cNvPr id="3" name="title-12">
            <a:extLst xmlns:a="http://schemas.openxmlformats.org/drawingml/2006/main">
              <a:ext uri="{FF2B5EF4-FFF2-40B4-BE49-F238E27FC236}">
                <a16:creationId xmlns:a16="http://schemas.microsoft.com/office/drawing/2014/main" id="{ADDEA42A-44C6-43FB-A4D7-D4ED298B1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หากข้อมูลยังไม่ครบ ให้บันทึกร่างไว้ก่อน</a:t>
            </a:r>
          </a:p>
        </p:txBody>
      </p:sp>
      <p:sp>
        <p:nvSpPr>
          <p:cNvPr id="4" name="draft-panel">
            <a:extLst xmlns:a="http://schemas.openxmlformats.org/drawingml/2006/main">
              <a:ext uri="{FF2B5EF4-FFF2-40B4-BE49-F238E27FC236}">
                <a16:creationId xmlns:a16="http://schemas.microsoft.com/office/drawing/2014/main" id="{8DC37421-FFE1-4DAE-90F1-FAD2A828D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495300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3D4B2D-6A04-4789-BAA1-AE62C436C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86050"/>
            <a:ext cx="419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DCF48D-9E4A-42C2-AE99-ADBFFF0DD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86150"/>
            <a:ext cx="4038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กลับมาแก้ไขได้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เหมาะเมื่อข้อมูลยังไม่ครบ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งานยังไม่ส่งให้ผู้ประเมิน</a:t>
            </a:r>
          </a:p>
        </p:txBody>
      </p:sp>
      <p:sp>
        <p:nvSpPr>
          <p:cNvPr id="7" name="submit-panel">
            <a:extLst xmlns:a="http://schemas.openxmlformats.org/drawingml/2006/main">
              <a:ext uri="{FF2B5EF4-FFF2-40B4-BE49-F238E27FC236}">
                <a16:creationId xmlns:a16="http://schemas.microsoft.com/office/drawing/2014/main" id="{B9EFED19-38E5-4254-8CDE-DC8694CE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343150"/>
            <a:ext cx="556260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19050">
            <a:solidFill>
              <a:srgbClr val="4356C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853CEF-D4D4-4D1D-BF95-1FC15EBB8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860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A57F7B-72FF-409B-8139-575AB94F9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86150"/>
            <a:ext cx="4686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งานเข้าสู่ลำดับผู้ประเมิน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ผู้ส่งแก้ไขในขั้นนั้นไม่ได้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ตรวจข้อมูลและหลักฐานก่อนยืนยัน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D782B9-A465-42DC-8DA7-D03623D82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ถามตัวเองก่อนกดส่ง: “ผู้ประเมินเห็นข้อมูลครบหรือยัง?”</a:t>
            </a:r>
          </a:p>
        </p:txBody>
      </p:sp>
      <p:sp>
        <p:nvSpPr>
          <p:cNvPr id="11" name="footer-rule-12">
            <a:extLst xmlns:a="http://schemas.openxmlformats.org/drawingml/2006/main">
              <a:ext uri="{FF2B5EF4-FFF2-40B4-BE49-F238E27FC236}">
                <a16:creationId xmlns:a16="http://schemas.microsoft.com/office/drawing/2014/main" id="{D2BF0F77-4326-4416-9A05-C4E644706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footer-label-12">
            <a:extLst xmlns:a="http://schemas.openxmlformats.org/drawingml/2006/main">
              <a:ext uri="{FF2B5EF4-FFF2-40B4-BE49-F238E27FC236}">
                <a16:creationId xmlns:a16="http://schemas.microsoft.com/office/drawing/2014/main" id="{D7F65B39-6597-43F2-896E-1925FCB78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13" name="footer-page-12">
            <a:extLst xmlns:a="http://schemas.openxmlformats.org/drawingml/2006/main">
              <a:ext uri="{FF2B5EF4-FFF2-40B4-BE49-F238E27FC236}">
                <a16:creationId xmlns:a16="http://schemas.microsoft.com/office/drawing/2014/main" id="{6CE39BE8-73D6-4777-99B9-574E625EC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12 / 18</a:t>
            </a:r>
          </a:p>
        </p:txBody>
      </p:sp>
    </p:spTree>
    <p:extLst>
      <p:ext uri="{BB962C8B-B14F-4D97-AF65-F5344CB8AC3E}">
        <p14:creationId xmlns:p14="http://schemas.microsoft.com/office/powerpoint/2010/main" val="112259203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13">
            <a:extLst xmlns:a="http://schemas.openxmlformats.org/drawingml/2006/main">
              <a:ext uri="{FF2B5EF4-FFF2-40B4-BE49-F238E27FC236}">
                <a16:creationId xmlns:a16="http://schemas.microsoft.com/office/drawing/2014/main" id="{57E44C8A-6D0F-4B7F-9164-3C444EB7B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3">
            <a:extLst xmlns:a="http://schemas.openxmlformats.org/drawingml/2006/main">
              <a:ext uri="{FF2B5EF4-FFF2-40B4-BE49-F238E27FC236}">
                <a16:creationId xmlns:a16="http://schemas.microsoft.com/office/drawing/2014/main" id="{0CBF2408-894F-4A94-9DE5-D7D801E32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หลังจากส่ง  /  สายวิชาการ</a:t>
            </a:r>
          </a:p>
        </p:txBody>
      </p:sp>
      <p:sp>
        <p:nvSpPr>
          <p:cNvPr id="3" name="title-13">
            <a:extLst xmlns:a="http://schemas.openxmlformats.org/drawingml/2006/main">
              <a:ext uri="{FF2B5EF4-FFF2-40B4-BE49-F238E27FC236}">
                <a16:creationId xmlns:a16="http://schemas.microsoft.com/office/drawing/2014/main" id="{6AC04F84-29BF-4924-9241-EE19D2CD3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หลังส่งแบบประเมิน ระบบจะส่งงานตามลำดับผู้ประเมิน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F2B309-58B9-4D64-A2F3-7B7A928F5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86150"/>
            <a:ext cx="8801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D3171E-ACBA-4D31-9C18-DAB5F55DA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A82FA3-CB91-4F87-A0E3-A569B1E0E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5A8180-F006-4A77-BCA1-2F98B8F10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82BCB3-03A5-4D75-BF25-32C43A0C4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ข้อมูลและหลักฐาน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EF22EC-1D7F-441A-9815-DDF44B90A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323CF5-0863-4E2A-A272-008F668A9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4FBF08-8DC6-441F-881D-0C2C9082C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ให้ผล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E44274-9EFD-4DFC-8734-AD780966E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คะแนนหรือความเห็น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7688F6-46C1-47CD-9746-E742DD9B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BDBD0F-B1C4-4144-A0AC-8E21B564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EC644B-6C48-480D-8F1C-58038572D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033829-DD5F-47EA-9648-2BEC804F9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ไปยังผู้ประเมินลำดับถัดไป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FF1364-7DA2-4F8D-8A3C-1EBB5E3C3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050005-2A8B-423F-8635-2BEC73BF9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863D41-659F-46FB-86A9-E6DD550D6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ยืนยันขั้นสุดท้าย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33C3FD-7165-4331-877A-CF12F2499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เมื่ออยู่ในลำดับสุดท้าย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DB03B7-C5B7-4114-8060-B8AD315D2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838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จำนวนและบทบาทของผู้ประเมินอาจต่างกันในแต่ละงาน</a:t>
            </a:r>
          </a:p>
        </p:txBody>
      </p:sp>
      <p:sp>
        <p:nvSpPr>
          <p:cNvPr id="22" name="footer-rule-13">
            <a:extLst xmlns:a="http://schemas.openxmlformats.org/drawingml/2006/main">
              <a:ext uri="{FF2B5EF4-FFF2-40B4-BE49-F238E27FC236}">
                <a16:creationId xmlns:a16="http://schemas.microsoft.com/office/drawing/2014/main" id="{B38187DC-1722-47D4-9233-7759C652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13">
            <a:extLst xmlns:a="http://schemas.openxmlformats.org/drawingml/2006/main">
              <a:ext uri="{FF2B5EF4-FFF2-40B4-BE49-F238E27FC236}">
                <a16:creationId xmlns:a16="http://schemas.microsoft.com/office/drawing/2014/main" id="{B280351D-45A3-47E6-9F06-67D4DEDBD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4" name="footer-page-13">
            <a:extLst xmlns:a="http://schemas.openxmlformats.org/drawingml/2006/main">
              <a:ext uri="{FF2B5EF4-FFF2-40B4-BE49-F238E27FC236}">
                <a16:creationId xmlns:a16="http://schemas.microsoft.com/office/drawing/2014/main" id="{7E077CAD-2F5E-48F7-A09A-126B7A432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13 / 18</a:t>
            </a:r>
          </a:p>
        </p:txBody>
      </p:sp>
    </p:spTree>
    <p:extLst>
      <p:ext uri="{BB962C8B-B14F-4D97-AF65-F5344CB8AC3E}">
        <p14:creationId xmlns:p14="http://schemas.microsoft.com/office/powerpoint/2010/main" val="30745137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ide-accent-14">
            <a:extLst xmlns:a="http://schemas.openxmlformats.org/drawingml/2006/main">
              <a:ext uri="{FF2B5EF4-FFF2-40B4-BE49-F238E27FC236}">
                <a16:creationId xmlns:a16="http://schemas.microsoft.com/office/drawing/2014/main" id="{708E2CD7-2F91-4F2D-9003-AB5B0FB33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4">
            <a:extLst xmlns:a="http://schemas.openxmlformats.org/drawingml/2006/main">
              <a:ext uri="{FF2B5EF4-FFF2-40B4-BE49-F238E27FC236}">
                <a16:creationId xmlns:a16="http://schemas.microsoft.com/office/drawing/2014/main" id="{6E70A515-20BC-4A19-A482-2E1566158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สำหรับผู้ประเมิน  /  สายวิชาการ</a:t>
            </a:r>
          </a:p>
        </p:txBody>
      </p:sp>
      <p:sp>
        <p:nvSpPr>
          <p:cNvPr id="3" name="title-14">
            <a:extLst xmlns:a="http://schemas.openxmlformats.org/drawingml/2006/main">
              <a:ext uri="{FF2B5EF4-FFF2-40B4-BE49-F238E27FC236}">
                <a16:creationId xmlns:a16="http://schemas.microsoft.com/office/drawing/2014/main" id="{D09AF672-EE82-4143-9959-CAE1C89C4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เมื่อได้รับงานประเมิน ให้ตรวจข้อมูลและหลักฐานก่อนให้ผล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52D8FE-76BC-48EF-BDC6-4FCB385B9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8AA832-9E5E-4DBA-ADAE-9FEBEF7E9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383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ตรวจข้อมูล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999719-32B0-4218-831F-32E11B98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764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เนื้อหาตรงกับเกณฑ์ที่เลือก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54E16D-C48E-48E0-94F2-C11F01E67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6700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4DB345-0384-438B-B643-E47BA3C92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2F07D2-BA33-4755-B20A-91CBE6F6E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337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เปิดหลักฐาน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C489E4-18A9-4D6D-96F6-9BDAD8EC4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9718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ตรวจความสอดคล้องกับผลงาน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8E508B-B64D-4184-8CDA-E49055BB4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6235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BFEFBC-8DF7-4ED0-9755-0E0570F5E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59BD0A-A715-499A-925F-D16E1D869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290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ให้ผล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920A27-9AFC-4756-A3BE-CACF5C406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671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ให้คะแนนหรือความเห็นตามสิทธิ์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3EC367-CD14-47BD-8F7C-19B13AA25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5770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3C888D-D2AE-4E4D-83D9-02EB2BA50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3BB785-7395-4D43-89DD-517B8180C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244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ส่งต่องาน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55F7EF-7F42-4E9F-BD81-18711A692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625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ดำเนินการเมื่อข้อมูลครบ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333974-FC41-40D7-87AE-1A24106F2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E47084-EE02-4544-9DCE-0B9AB3C90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38825"/>
            <a:ext cx="1051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ผู้ประเมินควรตัดสินใจจากข้อมูลและหลักฐานที่เปิดตรวจได้</a:t>
            </a:r>
          </a:p>
        </p:txBody>
      </p:sp>
      <p:sp>
        <p:nvSpPr>
          <p:cNvPr id="21" name="footer-rule-14">
            <a:extLst xmlns:a="http://schemas.openxmlformats.org/drawingml/2006/main">
              <a:ext uri="{FF2B5EF4-FFF2-40B4-BE49-F238E27FC236}">
                <a16:creationId xmlns:a16="http://schemas.microsoft.com/office/drawing/2014/main" id="{3DD560BB-496C-4E9F-99F1-B8D883078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footer-label-14">
            <a:extLst xmlns:a="http://schemas.openxmlformats.org/drawingml/2006/main">
              <a:ext uri="{FF2B5EF4-FFF2-40B4-BE49-F238E27FC236}">
                <a16:creationId xmlns:a16="http://schemas.microsoft.com/office/drawing/2014/main" id="{457B9EFF-1D47-47DE-B7E2-5A17F3187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3" name="footer-page-14">
            <a:extLst xmlns:a="http://schemas.openxmlformats.org/drawingml/2006/main">
              <a:ext uri="{FF2B5EF4-FFF2-40B4-BE49-F238E27FC236}">
                <a16:creationId xmlns:a16="http://schemas.microsoft.com/office/drawing/2014/main" id="{76FD468D-AF97-4558-9026-9C3A2D103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14 / 18</a:t>
            </a:r>
          </a:p>
        </p:txBody>
      </p:sp>
    </p:spTree>
    <p:extLst>
      <p:ext uri="{BB962C8B-B14F-4D97-AF65-F5344CB8AC3E}">
        <p14:creationId xmlns:p14="http://schemas.microsoft.com/office/powerpoint/2010/main" val="135859763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de-accent-15">
            <a:extLst xmlns:a="http://schemas.openxmlformats.org/drawingml/2006/main">
              <a:ext uri="{FF2B5EF4-FFF2-40B4-BE49-F238E27FC236}">
                <a16:creationId xmlns:a16="http://schemas.microsoft.com/office/drawing/2014/main" id="{78303166-DAD7-45BC-ADB9-1AE2C2E9F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5">
            <a:extLst xmlns:a="http://schemas.openxmlformats.org/drawingml/2006/main">
              <a:ext uri="{FF2B5EF4-FFF2-40B4-BE49-F238E27FC236}">
                <a16:creationId xmlns:a16="http://schemas.microsoft.com/office/drawing/2014/main" id="{20B193B2-2EE4-46B4-9CB4-DE0E643D4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ลำดับการประเมิน  /  สายวิชาการ</a:t>
            </a:r>
          </a:p>
        </p:txBody>
      </p:sp>
      <p:sp>
        <p:nvSpPr>
          <p:cNvPr id="3" name="title-15">
            <a:extLst xmlns:a="http://schemas.openxmlformats.org/drawingml/2006/main">
              <a:ext uri="{FF2B5EF4-FFF2-40B4-BE49-F238E27FC236}">
                <a16:creationId xmlns:a16="http://schemas.microsoft.com/office/drawing/2014/main" id="{F2D11C67-4F2B-44E1-84EA-644D4C783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ผู้ประเมินแต่ละคนส่งต่องานตามลำดับ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BF6EF5-4249-4507-8665-4F61FE5AE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457575"/>
            <a:ext cx="76581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78CAF5-BCBB-4EA5-8DB6-2DB17550B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B155EA-606B-4E3E-9FAB-56C3388FE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96260D-AF4C-4F07-A246-5B3FF940D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ผู้ประเมินคนที่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2F192D-6030-45A4-A1B5-C206F51F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ตรวจและให้ผล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AE6A81-DE38-44DD-954E-3B9855BE4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92D458-16A5-41AD-80D3-E820654EE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D9B7E3-0A2C-43CC-AFD3-13589AF0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ผู้ประเมินคนถัดไป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ECA370-DDC2-4036-9B22-3A66FDF59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รับงานตามลำดับ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0CC19B-B79E-49A8-B402-2273DCE8A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93581C-A142-4813-AB40-0377A72BA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A669F7-A43A-46C1-A63B-ED8C3BA66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ผู้ประเมินคนสุดท้าย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C96EE9-EAA0-4DDA-BE45-43BABDF3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ยืนยันขั้นสุดท้าย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2006C2-19BA-4712-9F45-295CEC414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ผู้ประเมินคนสุดท้ายยืนยันแล้ว สถานะจะเป็น ประเมินเสร็จสิ้น (Completed)</a:t>
            </a:r>
          </a:p>
        </p:txBody>
      </p:sp>
      <p:sp>
        <p:nvSpPr>
          <p:cNvPr id="18" name="footer-rule-15">
            <a:extLst xmlns:a="http://schemas.openxmlformats.org/drawingml/2006/main">
              <a:ext uri="{FF2B5EF4-FFF2-40B4-BE49-F238E27FC236}">
                <a16:creationId xmlns:a16="http://schemas.microsoft.com/office/drawing/2014/main" id="{0C91A751-9EEB-40E8-80D0-CB62CBE4E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label-15">
            <a:extLst xmlns:a="http://schemas.openxmlformats.org/drawingml/2006/main">
              <a:ext uri="{FF2B5EF4-FFF2-40B4-BE49-F238E27FC236}">
                <a16:creationId xmlns:a16="http://schemas.microsoft.com/office/drawing/2014/main" id="{302092E7-E649-44E7-B26C-5BDA9D300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0" name="footer-page-15">
            <a:extLst xmlns:a="http://schemas.openxmlformats.org/drawingml/2006/main">
              <a:ext uri="{FF2B5EF4-FFF2-40B4-BE49-F238E27FC236}">
                <a16:creationId xmlns:a16="http://schemas.microsoft.com/office/drawing/2014/main" id="{8039386E-CB30-445B-B771-E5ED3F266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15 / 18</a:t>
            </a:r>
          </a:p>
        </p:txBody>
      </p:sp>
    </p:spTree>
    <p:extLst>
      <p:ext uri="{BB962C8B-B14F-4D97-AF65-F5344CB8AC3E}">
        <p14:creationId xmlns:p14="http://schemas.microsoft.com/office/powerpoint/2010/main" val="86034838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711DB4-0E01-476E-A44F-633A975B9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8073B7-BCBB-4B55-8550-EFD10A5E8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สถานะสุดท้าย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E681CE-6D43-4BFA-BFA9-748558B16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66675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36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เมื่อผู้ประเมินคนสุดท้ายยืนยัน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6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36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งานจะเสร็จสมบูรณ์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5DC250-451F-4720-B87F-13BC511E2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76600"/>
            <a:ext cx="7048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0" b="1">
                <a:solidFill>
                  <a:srgbClr val="AEB8FF"/>
                </a:solidFill>
                <a:latin typeface="Tahoma"/>
                <a:ea typeface="Tahoma"/>
                <a:cs typeface="Tahoma"/>
              </a:defRPr>
            </a:pPr>
            <a:r>
              <a:rPr sz="6150" b="1">
                <a:solidFill>
                  <a:srgbClr val="AEB8FF"/>
                </a:solidFill>
                <a:latin typeface="Tahoma"/>
                <a:ea typeface="Tahoma"/>
                <a:cs typeface="Tahoma"/>
              </a:rPr>
              <a:t>Completed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A251E9-37A5-4AA5-8EA4-C9158AB6D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428750"/>
            <a:ext cx="3524250" cy="335280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0C0217-D7BF-4E13-A615-75D32DB5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809750"/>
            <a:ext cx="2800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จำไว้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FBD3CF-FE4D-445B-B5B3-0AEC23949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00300"/>
            <a:ext cx="28003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ผู้ปิดงานไม่จำเป็นต้องเป็นบทบาทเดิมเสมอไป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AD74D4-3BF0-4BFD-A04A-1631DD96E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867150"/>
            <a:ext cx="28003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ให้ดู “ลำดับผู้ประเมิน”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ที่กำหนดกับงานนั้น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CCE40E-336E-4B7A-8A70-9E6B70B1B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293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B8C5D1"/>
                </a:solidFill>
                <a:latin typeface="Tahoma"/>
                <a:ea typeface="Tahoma"/>
                <a:cs typeface="Tahoma"/>
              </a:defRPr>
            </a:pPr>
            <a:r>
              <a:rPr sz="1050" b="0">
                <a:solidFill>
                  <a:srgbClr val="B8C5D1"/>
                </a:solidFill>
                <a:latin typeface="Tahoma"/>
                <a:ea typeface="Tahoma"/>
                <a:cs typeface="Tahoma"/>
              </a:rPr>
              <a:t>MSU EVA  •  สายวิชาการ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05A543-2349-452D-887A-768994AF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29350"/>
            <a:ext cx="110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16 / 18</a:t>
            </a:r>
          </a:p>
        </p:txBody>
      </p:sp>
    </p:spTree>
    <p:extLst>
      <p:ext uri="{BB962C8B-B14F-4D97-AF65-F5344CB8AC3E}">
        <p14:creationId xmlns:p14="http://schemas.microsoft.com/office/powerpoint/2010/main" val="128197539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side-accent-17">
            <a:extLst xmlns:a="http://schemas.openxmlformats.org/drawingml/2006/main">
              <a:ext uri="{FF2B5EF4-FFF2-40B4-BE49-F238E27FC236}">
                <a16:creationId xmlns:a16="http://schemas.microsoft.com/office/drawing/2014/main" id="{27D542DB-9A7E-44C9-9AF1-36F2B9759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7">
            <a:extLst xmlns:a="http://schemas.openxmlformats.org/drawingml/2006/main">
              <a:ext uri="{FF2B5EF4-FFF2-40B4-BE49-F238E27FC236}">
                <a16:creationId xmlns:a16="http://schemas.microsoft.com/office/drawing/2014/main" id="{FD9873F2-5A08-4110-9BA6-1D329F092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ภารกิจฝึกปฏิบัติ  /  สายวิชาการ</a:t>
            </a:r>
          </a:p>
        </p:txBody>
      </p:sp>
      <p:sp>
        <p:nvSpPr>
          <p:cNvPr id="3" name="title-17">
            <a:extLst xmlns:a="http://schemas.openxmlformats.org/drawingml/2006/main">
              <a:ext uri="{FF2B5EF4-FFF2-40B4-BE49-F238E27FC236}">
                <a16:creationId xmlns:a16="http://schemas.microsoft.com/office/drawing/2014/main" id="{C2AB776D-81CF-401D-B397-D9EC5A5A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ลองกรอกแบบประเมิน 1 รายการให้ครบ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92EA7E-7AAB-4619-8A35-6E879DC4A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ลิงก์นี้ใช้สำหรับทดสอบระบบ เมื่อทุกท่านตรวจสอบแล้วและไม่มีข้อเสนอให้ปรับแก้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ทีมงานจะนำระบบไปติดตั้งบนเซิร์ฟเวอร์ของคณะทันทีครับ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0C3FB9-6F7A-43E7-911F-38DDAEB3C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u="sng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2100" b="1" u="sng">
                <a:solidFill>
                  <a:srgbClr val="283887"/>
                </a:solidFill>
                <a:latin typeface="Tahoma"/>
                <a:ea typeface="Tahoma"/>
                <a:cs typeface="Tahoma"/>
                <a:hlinkClick xmlns:r="http://schemas.openxmlformats.org/officeDocument/2006/relationships" r:id="R37ca6c9f41e44bea"/>
              </a:rPr>
              <a:t>http://149.28.142.186/login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3DCF46-A2A7-4D50-8767-F5C632595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02485B-B4BD-4F09-B0B3-03495ADEA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527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F596FF-D1B6-4E4C-A336-DF6379CB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480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เลือกรายการที่กำหนด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290F3A-BEDC-467E-88E5-80BF3ABC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670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2CEBDB-3999-4264-9F7F-427A238D7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1527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904F06-6E44-4632-B80D-0893A727B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0480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กรอกข้อมูลปริมาณ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13EEED-9DB7-40D1-9D05-B7614542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38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357445-3358-439B-92BB-597ACD99A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95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94BE04-E23C-4DA5-81CD-D487AF154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เติมคุณภาพและหลักฐาน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25BC65-62FF-41E7-B914-54568CDF7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338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08E12C-6836-48C1-9933-C4620FF51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195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7DF842-B29C-45F9-A179-60BBC456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1148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ตรวจแล้วบันทึกร่าง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D4DE4C-DDDF-484B-92DE-CC7EEE79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833DC4-8FC3-4315-8FA6-0631E4C21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19750"/>
            <a:ext cx="10515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ผ่านเมื่อ: ข้อมูลครบ • หลักฐานเปิดได้ • พร้อมอธิบายที่มาของคะแนน</a:t>
            </a:r>
          </a:p>
        </p:txBody>
      </p:sp>
      <p:sp>
        <p:nvSpPr>
          <p:cNvPr id="20" name="footer-rule-17">
            <a:extLst xmlns:a="http://schemas.openxmlformats.org/drawingml/2006/main">
              <a:ext uri="{FF2B5EF4-FFF2-40B4-BE49-F238E27FC236}">
                <a16:creationId xmlns:a16="http://schemas.microsoft.com/office/drawing/2014/main" id="{0F0E61D6-18D1-44F4-A1C5-BD0428B2B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footer-label-17">
            <a:extLst xmlns:a="http://schemas.openxmlformats.org/drawingml/2006/main">
              <a:ext uri="{FF2B5EF4-FFF2-40B4-BE49-F238E27FC236}">
                <a16:creationId xmlns:a16="http://schemas.microsoft.com/office/drawing/2014/main" id="{BA3A9B4B-7D8E-454A-80DA-11D6153A4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2" name="footer-page-17">
            <a:extLst xmlns:a="http://schemas.openxmlformats.org/drawingml/2006/main">
              <a:ext uri="{FF2B5EF4-FFF2-40B4-BE49-F238E27FC236}">
                <a16:creationId xmlns:a16="http://schemas.microsoft.com/office/drawing/2014/main" id="{DB5D6309-2417-400D-8177-F402800A9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17 / 18</a:t>
            </a:r>
          </a:p>
        </p:txBody>
      </p:sp>
    </p:spTree>
    <p:extLst>
      <p:ext uri="{BB962C8B-B14F-4D97-AF65-F5344CB8AC3E}">
        <p14:creationId xmlns:p14="http://schemas.microsoft.com/office/powerpoint/2010/main" val="102147059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18">
            <a:extLst xmlns:a="http://schemas.openxmlformats.org/drawingml/2006/main">
              <a:ext uri="{FF2B5EF4-FFF2-40B4-BE49-F238E27FC236}">
                <a16:creationId xmlns:a16="http://schemas.microsoft.com/office/drawing/2014/main" id="{DC0BD7BA-F558-4D89-900D-F9C9C219F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8">
            <a:extLst xmlns:a="http://schemas.openxmlformats.org/drawingml/2006/main">
              <a:ext uri="{FF2B5EF4-FFF2-40B4-BE49-F238E27FC236}">
                <a16:creationId xmlns:a16="http://schemas.microsoft.com/office/drawing/2014/main" id="{782EBDD5-84BF-4DFB-9358-5ED846374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แก้ปัญหาเบื้องต้น  /  สายวิชาการ</a:t>
            </a:r>
          </a:p>
        </p:txBody>
      </p:sp>
      <p:sp>
        <p:nvSpPr>
          <p:cNvPr id="3" name="title-18">
            <a:extLst xmlns:a="http://schemas.openxmlformats.org/drawingml/2006/main">
              <a:ext uri="{FF2B5EF4-FFF2-40B4-BE49-F238E27FC236}">
                <a16:creationId xmlns:a16="http://schemas.microsoft.com/office/drawing/2014/main" id="{405B6229-916D-4C00-8CE6-7DF5C97B4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หากใช้งานไม่ได้ ให้ตรวจสอบ 4 จุดนี้ก่อน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2E5A14-F338-48DC-92BD-6B2B20DEB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C60080-3530-4C1B-A092-B96D1699D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0764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งานไม่ปรากฏ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558017-387A-4001-A4BE-4E9788B8C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1145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ตรวจงานที่ได้รับมอบหมาย และแจ้งผู้ดูแลระบบหากรอบไม่ถูกต้อง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A692C4-55C1-4762-9AAE-D112A39EC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7051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7F0283-E35A-4C10-8512-BD7307BF3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82A883-C5A0-432C-9BC9-DD1DD758E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9527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ปุ่มใช้งานไม่ได้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27B235-DD67-413A-8996-E847BE25D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908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ตรวจสถานะปัจจุบันและสิทธิ์ของบทบาท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D84521-79D9-4068-B7F4-8405D6AFD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5814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F34063-4BEA-46BF-AB1E-EDC2F8290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41A066-9962-443D-9240-5FD157C67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290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บันทึกหรือส่งไม่ได้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7FDC6D-FC49-425A-8481-8B3D4DF8F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671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ตรวจช่องบังคับ ค่าตัวเลข และลิงก์หลักฐาน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8917BA-FB6F-4AE0-829D-9DA958E5C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4577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0D640C-FFB1-4B81-81A2-921258F96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8864C7-B9F2-4E49-A49B-F04CD1B95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7053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ยังแก้ไม่ได้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E0FCE5-A899-4DFA-A8B3-133CB2BE0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434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จดชื่อรายการและสถานะ แล้วติดต่อผู้ดูแลระบบ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1CF75A-462F-46CB-8DB2-B51DF7437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72390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079555-1FC1-40AB-8EFC-83BE1EB86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42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คู่มือผู้ใช้ • ผู้ดูแลระบบของหน่วยงาน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630af23c624370"/>
          <a:stretch xmlns:a="http://schemas.openxmlformats.org/drawingml/2006/main"/>
        </p:blipFill>
        <p:spPr>
          <a:xfrm xmlns:a="http://schemas.openxmlformats.org/drawingml/2006/main">
            <a:off x="9018037" y="5638800"/>
            <a:ext cx="2309327" cy="628650"/>
          </a:xfrm>
          <a:prstGeom xmlns:a="http://schemas.openxmlformats.org/drawingml/2006/main" prst="rect">
            <a:avLst/>
          </a:prstGeom>
        </p:spPr>
      </p:pic>
      <p:sp>
        <p:nvSpPr>
          <p:cNvPr id="22" name="footer-rule-18">
            <a:extLst xmlns:a="http://schemas.openxmlformats.org/drawingml/2006/main">
              <a:ext uri="{FF2B5EF4-FFF2-40B4-BE49-F238E27FC236}">
                <a16:creationId xmlns:a16="http://schemas.microsoft.com/office/drawing/2014/main" id="{8763C335-3B10-4680-9C69-10681DE2D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18">
            <a:extLst xmlns:a="http://schemas.openxmlformats.org/drawingml/2006/main">
              <a:ext uri="{FF2B5EF4-FFF2-40B4-BE49-F238E27FC236}">
                <a16:creationId xmlns:a16="http://schemas.microsoft.com/office/drawing/2014/main" id="{C6284399-3BB1-49D0-B087-BF42C9079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4" name="footer-page-18">
            <a:extLst xmlns:a="http://schemas.openxmlformats.org/drawingml/2006/main">
              <a:ext uri="{FF2B5EF4-FFF2-40B4-BE49-F238E27FC236}">
                <a16:creationId xmlns:a16="http://schemas.microsoft.com/office/drawing/2014/main" id="{2185AB8E-10B6-4261-9D08-D0E1DCC34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18 / 18</a:t>
            </a:r>
          </a:p>
        </p:txBody>
      </p:sp>
    </p:spTree>
    <p:extLst>
      <p:ext uri="{BB962C8B-B14F-4D97-AF65-F5344CB8AC3E}">
        <p14:creationId xmlns:p14="http://schemas.microsoft.com/office/powerpoint/2010/main" val="20758989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2026-08-01T10:43:25.2550000Z</dcterms:created>
  <dcterms:modified xsi:type="dcterms:W3CDTF">2026-08-01T10:43:25.2550000Z</dcterms:modified>
</coreProperties>
</file>