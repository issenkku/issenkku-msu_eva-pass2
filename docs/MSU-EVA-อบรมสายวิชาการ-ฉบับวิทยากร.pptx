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a81c35107004780" /><Relationship Type="http://schemas.openxmlformats.org/officeDocument/2006/relationships/extended-properties" Target="/docProps/app.xml" Id="R222b81562d044ee4" /><Relationship Type="http://schemas.openxmlformats.org/officeDocument/2006/relationships/officeDocument" Target="/ppt/presentation.xml" Id="Rcb282bcc2f7b431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1010d4792f44304"/>
  </p:sldMasterIdLst>
  <p:notesMasterIdLst>
    <p:notesMasterId xmlns:r="http://schemas.openxmlformats.org/officeDocument/2006/relationships" r:id="R2d8c23fd8a864642"/>
  </p:notesMasterIdLst>
  <p:sldIdLst>
    <p:sldId xmlns:r="http://schemas.openxmlformats.org/officeDocument/2006/relationships" id="256" r:id="R682b4cc223d64642"/>
    <p:sldId xmlns:r="http://schemas.openxmlformats.org/officeDocument/2006/relationships" id="257" r:id="Ra401ba5c9bad44d3"/>
    <p:sldId xmlns:r="http://schemas.openxmlformats.org/officeDocument/2006/relationships" id="258" r:id="R6f54b557eaf64d10"/>
    <p:sldId xmlns:r="http://schemas.openxmlformats.org/officeDocument/2006/relationships" id="259" r:id="R5ac53dd30cf34a45"/>
    <p:sldId xmlns:r="http://schemas.openxmlformats.org/officeDocument/2006/relationships" id="260" r:id="R293764fc8dfc4171"/>
    <p:sldId xmlns:r="http://schemas.openxmlformats.org/officeDocument/2006/relationships" id="261" r:id="Rdb21b033615744ab"/>
    <p:sldId xmlns:r="http://schemas.openxmlformats.org/officeDocument/2006/relationships" id="262" r:id="Rd37f424a62044f78"/>
    <p:sldId xmlns:r="http://schemas.openxmlformats.org/officeDocument/2006/relationships" id="263" r:id="R42bfb9e26f524eda"/>
    <p:sldId xmlns:r="http://schemas.openxmlformats.org/officeDocument/2006/relationships" id="264" r:id="Rd286f93f33514710"/>
    <p:sldId xmlns:r="http://schemas.openxmlformats.org/officeDocument/2006/relationships" id="265" r:id="R5939fcd18888485c"/>
    <p:sldId xmlns:r="http://schemas.openxmlformats.org/officeDocument/2006/relationships" id="266" r:id="R242ebc30cd0a40f7"/>
    <p:sldId xmlns:r="http://schemas.openxmlformats.org/officeDocument/2006/relationships" id="267" r:id="Rafc956c5f2554476"/>
    <p:sldId xmlns:r="http://schemas.openxmlformats.org/officeDocument/2006/relationships" id="268" r:id="R724797f174a64ecd"/>
    <p:sldId xmlns:r="http://schemas.openxmlformats.org/officeDocument/2006/relationships" id="269" r:id="Rf900bf09e2f84b76"/>
    <p:sldId xmlns:r="http://schemas.openxmlformats.org/officeDocument/2006/relationships" id="270" r:id="Rbf346bd8e133449b"/>
    <p:sldId xmlns:r="http://schemas.openxmlformats.org/officeDocument/2006/relationships" id="271" r:id="Rf33643b9ba914ff6"/>
    <p:sldId xmlns:r="http://schemas.openxmlformats.org/officeDocument/2006/relationships" id="272" r:id="R5e1ad202a0664d32"/>
    <p:sldId xmlns:r="http://schemas.openxmlformats.org/officeDocument/2006/relationships" id="273" r:id="R3d274938c9c149e3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ee65bf15083442c" /><Relationship Type="http://schemas.openxmlformats.org/officeDocument/2006/relationships/slideMaster" Target="/ppt/slideMasters/slideMaster1.xml" Id="R31010d4792f44304" /><Relationship Type="http://schemas.openxmlformats.org/officeDocument/2006/relationships/notesMaster" Target="/ppt/notesMasters/notesMaster1.xml" Id="R2d8c23fd8a864642" /><Relationship Type="http://schemas.openxmlformats.org/officeDocument/2006/relationships/presProps" Target="/ppt/presProps.xml" Id="Rd3ad6730875a4dc1" /><Relationship Type="http://schemas.openxmlformats.org/officeDocument/2006/relationships/tableStyles" Target="/ppt/tableStyles.xml" Id="Rda8dd797b1054be4" /><Relationship Type="http://schemas.openxmlformats.org/officeDocument/2006/relationships/slide" Target="/ppt/slides/slide1.xml" Id="R682b4cc223d64642" /><Relationship Type="http://schemas.openxmlformats.org/officeDocument/2006/relationships/slide" Target="/ppt/slides/slide2.xml" Id="Ra401ba5c9bad44d3" /><Relationship Type="http://schemas.openxmlformats.org/officeDocument/2006/relationships/slide" Target="/ppt/slides/slide3.xml" Id="R6f54b557eaf64d10" /><Relationship Type="http://schemas.openxmlformats.org/officeDocument/2006/relationships/slide" Target="/ppt/slides/slide4.xml" Id="R5ac53dd30cf34a45" /><Relationship Type="http://schemas.openxmlformats.org/officeDocument/2006/relationships/slide" Target="/ppt/slides/slide5.xml" Id="R293764fc8dfc4171" /><Relationship Type="http://schemas.openxmlformats.org/officeDocument/2006/relationships/slide" Target="/ppt/slides/slide6.xml" Id="Rdb21b033615744ab" /><Relationship Type="http://schemas.openxmlformats.org/officeDocument/2006/relationships/slide" Target="/ppt/slides/slide7.xml" Id="Rd37f424a62044f78" /><Relationship Type="http://schemas.openxmlformats.org/officeDocument/2006/relationships/slide" Target="/ppt/slides/slide8.xml" Id="R42bfb9e26f524eda" /><Relationship Type="http://schemas.openxmlformats.org/officeDocument/2006/relationships/slide" Target="/ppt/slides/slide9.xml" Id="Rd286f93f33514710" /><Relationship Type="http://schemas.openxmlformats.org/officeDocument/2006/relationships/slide" Target="/ppt/slides/slide10.xml" Id="R5939fcd18888485c" /><Relationship Type="http://schemas.openxmlformats.org/officeDocument/2006/relationships/slide" Target="/ppt/slides/slide11.xml" Id="R242ebc30cd0a40f7" /><Relationship Type="http://schemas.openxmlformats.org/officeDocument/2006/relationships/slide" Target="/ppt/slides/slide12.xml" Id="Rafc956c5f2554476" /><Relationship Type="http://schemas.openxmlformats.org/officeDocument/2006/relationships/slide" Target="/ppt/slides/slide13.xml" Id="R724797f174a64ecd" /><Relationship Type="http://schemas.openxmlformats.org/officeDocument/2006/relationships/slide" Target="/ppt/slides/slide14.xml" Id="Rf900bf09e2f84b76" /><Relationship Type="http://schemas.openxmlformats.org/officeDocument/2006/relationships/slide" Target="/ppt/slides/slide15.xml" Id="Rbf346bd8e133449b" /><Relationship Type="http://schemas.openxmlformats.org/officeDocument/2006/relationships/slide" Target="/ppt/slides/slide16.xml" Id="Rf33643b9ba914ff6" /><Relationship Type="http://schemas.openxmlformats.org/officeDocument/2006/relationships/slide" Target="/ppt/slides/slide17.xml" Id="R5e1ad202a0664d32" /><Relationship Type="http://schemas.openxmlformats.org/officeDocument/2006/relationships/slide" Target="/ppt/slides/slide18.xml" Id="R3d274938c9c149e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9cf614bdefc4de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c8f861e79cd4907" /><Relationship Type="http://schemas.openxmlformats.org/officeDocument/2006/relationships/notesMaster" Target="/ppt/notesMasters/notesMaster1.xml" Id="Rdb0f113e5a9240e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765c044b1414ca1" /><Relationship Type="http://schemas.openxmlformats.org/officeDocument/2006/relationships/notesMaster" Target="/ppt/notesMasters/notesMaster1.xml" Id="R15b1b4fc2ae6413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d5d7310d1cf4a1e" /><Relationship Type="http://schemas.openxmlformats.org/officeDocument/2006/relationships/notesMaster" Target="/ppt/notesMasters/notesMaster1.xml" Id="R3e0616ef02f3493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84f43ec328148bc" /><Relationship Type="http://schemas.openxmlformats.org/officeDocument/2006/relationships/notesMaster" Target="/ppt/notesMasters/notesMaster1.xml" Id="R2a0d9578db09461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e004d3996c74f9b" /><Relationship Type="http://schemas.openxmlformats.org/officeDocument/2006/relationships/notesMaster" Target="/ppt/notesMasters/notesMaster1.xml" Id="R33f3398f85b242c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1a646bf818f465f" /><Relationship Type="http://schemas.openxmlformats.org/officeDocument/2006/relationships/notesMaster" Target="/ppt/notesMasters/notesMaster1.xml" Id="R121054e23b9b4d2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227bc5597d746f8" /><Relationship Type="http://schemas.openxmlformats.org/officeDocument/2006/relationships/notesMaster" Target="/ppt/notesMasters/notesMaster1.xml" Id="R1272ae1c419f426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3ff13d50a2a410d" /><Relationship Type="http://schemas.openxmlformats.org/officeDocument/2006/relationships/notesMaster" Target="/ppt/notesMasters/notesMaster1.xml" Id="R4c20b6f45dcb4f0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73a45a424f834aae" /><Relationship Type="http://schemas.openxmlformats.org/officeDocument/2006/relationships/notesMaster" Target="/ppt/notesMasters/notesMaster1.xml" Id="Rea881d09b5ab4ac8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db72953699b242cc" /><Relationship Type="http://schemas.openxmlformats.org/officeDocument/2006/relationships/notesMaster" Target="/ppt/notesMasters/notesMaster1.xml" Id="Rb580b6d0296c45b2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887f58168d0f4832" /><Relationship Type="http://schemas.openxmlformats.org/officeDocument/2006/relationships/notesMaster" Target="/ppt/notesMasters/notesMaster1.xml" Id="Rf0cd4abc0e2f4587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8b98e9cd57a649dc" /><Relationship Type="http://schemas.openxmlformats.org/officeDocument/2006/relationships/notesMaster" Target="/ppt/notesMasters/notesMaster1.xml" Id="R04c7feeeb5e14a21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07ea127cd0e34937" /><Relationship Type="http://schemas.openxmlformats.org/officeDocument/2006/relationships/notesMaster" Target="/ppt/notesMasters/notesMaster1.xml" Id="R3cb5f818fb324ba3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7f24e4ac61e443a7" /><Relationship Type="http://schemas.openxmlformats.org/officeDocument/2006/relationships/notesMaster" Target="/ppt/notesMasters/notesMaster1.xml" Id="R5f54e9f8af3646c5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15608b09807f47b1" /><Relationship Type="http://schemas.openxmlformats.org/officeDocument/2006/relationships/notesMaster" Target="/ppt/notesMasters/notesMaster1.xml" Id="Rc9e4ea097c6f4abb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f37796161c37480d" /><Relationship Type="http://schemas.openxmlformats.org/officeDocument/2006/relationships/notesMaster" Target="/ppt/notesMasters/notesMaster1.xml" Id="Raa50e4968aeb4b67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1f9c85f9c21a48bd" /><Relationship Type="http://schemas.openxmlformats.org/officeDocument/2006/relationships/notesMaster" Target="/ppt/notesMasters/notesMaster1.xml" Id="Rd2227a6e170b4d37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ca563cc118274c52" /><Relationship Type="http://schemas.openxmlformats.org/officeDocument/2006/relationships/notesMaster" Target="/ppt/notesMasters/notesMaster1.xml" Id="R0945f6c14896438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สวัสดีทุกท่านครับ ขอต้อนรับเข้าสู่การอบรมการใช้งานระบบ MSU EVA สำหรับบุคลากรสายวิชาการนะครับ วันนี้ในห้องนี้มีทั้งท่านที่เคยช่วยทดสอบระบบมาแล้ว ท่านที่เพิ่งเข้ามาใช้งานครั้งแรก รวมถึงผู้ประเมิน กรรมการ และผู้บริหาร ไม่เป็นไรครับ เดี๋ยวเราจะค่อย ๆ ไปด้วยกัน ช่วงแรกผมจะพาทำความรู้จักระบบและบทบาทต่าง ๆ ก่อน หลังจากนั้นผมจะสาธิตหนึ่งรอบ แล้วทุกท่านจะได้ลองใช้บัญชีที่เตรียมไว้ครับ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docs/superpowers/specs/2026-07-24-split-role-training-decks-design.md</a:t>
            </a:r>
          </a:p>
          <a:p xmlns:a="http://schemas.openxmlformats.org/drawingml/2006/main">
            <a:r>
              <a:t>- public/favicon-msu.png</a:t>
            </a:r>
          </a:p>
          <a:p xmlns:a="http://schemas.openxmlformats.org/drawingml/2006/main">
            <a:r>
              <a:t>- C:\Users\pisut\Downloads\logoบริษัท.svg</a:t>
            </a:r>
          </a:p>
          <a:p xmlns:a="http://schemas.openxmlformats.org/drawingml/2006/main">
            <a:r>
              <a:t>- public/images/workload-background.jpg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ก่อนเริ่ม ขอชวนทุกท่านตั้งเป้าหมายร่วมกันนิดหนึ่งครับ วันนี้เราไม่จำเป็นต้องจำทุกปุ่ม สิ่งที่อยากให้ทำได้คือเปิดงานหนึ่งรายการ ตรวจข้อมูล กรอกผลงาน แนบหลักฐาน แล้วแยกให้ออกว่าเมื่อไรควรบันทึกร่างและเมื่อไรจึงควรส่งแบบประเมิน รอบประเมินเป็นสิ่งที่ผู้ดูแลระบบกำหนดไว้ให้แล้วนะครับ เรามีหน้าที่ตรวจว่ารอบและงานที่ได้รับมอบหมายถูกต้อง เมื่อเห็นเป้าหมายตรงกันแล้ว ต่อไปเรามาดูว่าระบบนี้ช่วยงานส่วนใดบ้างครับ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docs/superpowers/specs/2026-07-24-split-role-training-decks-design.md</a:t>
            </a:r>
          </a:p>
          <a:p xmlns:a="http://schemas.openxmlformats.org/drawingml/2006/main">
            <a:r>
              <a:t>- docs/user-guide-th.md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ใช่ครับ หลายท่านอาจคุ้นกับ MSU EVA ในฐานะหน้ากรอกแบบประเมิน แต่จริง ๆ ระบบดูแลงานตั้งแต่ต้นจนจบเลยครับ เริ่มจากผู้ใช้และสิทธิ์ เกณฑ์ประเมิน รอบและการมอบหมายงาน ไปจนถึงการกรอก การประเมิน การติดตามสถานะ และการส่งออกรายงาน ส่วนการเตรียมระบบเหล่านี้เป็นหน้าที่ของ Admin ผู้ใช้งานทั่วไปจึงไม่ต้องสร้างหรือเลือกรอบประเมินเองครับ เราเพียงตรวจรอบกับงานที่ได้รับ แล้วทำตามสิทธิ์ของเรา ทีนี้เรามาดูกันครับว่าในระบบมีใครบ้าง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database/seeders/RoleSeeder.php</a:t>
            </a:r>
          </a:p>
          <a:p xmlns:a="http://schemas.openxmlformats.org/drawingml/2006/main">
            <a:r>
              <a:t>- app/Http/Controllers/AssignmentDataController.php</a:t>
            </a:r>
          </a:p>
          <a:p xmlns:a="http://schemas.openxmlformats.org/drawingml/2006/main">
            <a:r>
              <a:t>- docs/user-guide-th.md</a:t>
            </a:r>
          </a:p>
          <a:p xmlns:a="http://schemas.openxmlformats.org/drawingml/2006/main">
            <a:r>
              <a:t>- app/Support/AssignmentFlow.php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ระบบมีผู้ใช้งานหลักห้าบทบาทครับ ได้แก่ Admin ผู้รับการประเมิน ผู้ประเมิน กรรมการ และผู้บริหาร แต่ละคนจะเห็นเมนูและปุ่มไม่เหมือนกัน ตรงนี้ขอเน้นนิดหนึ่งครับ Admin เป็นผู้กำหนดผู้ใช้ เกณฑ์ รอบประเมิน การมอบหมาย และลำดับผู้ประเมิน ส่วนผู้ประเมิน กรรมการ และผู้บริหารจะเป็นขั้นตรวจตามที่ Admin จัดไว้ บางงานอาจไม่ได้ใช้ครบทุกบทบาท และคนที่ปิดงานคือคนสุดท้ายในลำดับของงานนั้นครับ เมื่อรู้จักคนในระบบแล้ว ต่อไปมาดูเส้นทางของงานกันครับ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database/seeders/RoleSeeder.php</a:t>
            </a:r>
          </a:p>
          <a:p xmlns:a="http://schemas.openxmlformats.org/drawingml/2006/main">
            <a:r>
              <a:t>- app/Http/Controllers/AssignmentDataController.php</a:t>
            </a:r>
          </a:p>
          <a:p xmlns:a="http://schemas.openxmlformats.org/drawingml/2006/main">
            <a:r>
              <a:t>- app/Support/AssignmentFlow.php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ทีนี้ลองมองภาพรวมจากซ้ายไปขวานะครับ งานเริ่มจากผู้รับการประเมินเปิดรายการและกรอกข้อมูล เมื่อข้อมูลพร้อมจึงกดส่งแบบประเมิน จากนั้นระบบจะส่งงานไปยังผู้ประเมินทีละคนตามลำดับที่กำหนดไว้ ไม่ได้ส่งให้ทุกคนพร้อมกันครับ เมื่อผู้ประเมินคนสุดท้ายยืนยัน สถานะจึงเปลี่ยนเป็นประเมินเสร็จสิ้น หรือ Completed จำภาพนี้ไว้ก่อนนะครับ เพราะอีกสักครู่ทุกปุ่มที่เราดูจะสัมพันธ์กับเส้นทางนี้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docs/user-guide-th.md</a:t>
            </a:r>
          </a:p>
          <a:p xmlns:a="http://schemas.openxmlformats.org/drawingml/2006/main">
            <a:r>
              <a:t>- app/Support/AssignmentFlow.php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ในขั้นแรก ผู้รับการประเมินเป็นเจ้าของความครบถ้วนของข้อมูลครับ หมายความว่าเราต้องตรวจทั้งค่าที่กรอก รายละเอียดผลงาน และหลักฐานให้พร้อม ถ้ายังไม่ครบก็ไม่ต้องรีบส่งนะครับ บันทึกร่างไว้ก่อนได้ ผู้ประเมินจะตัดสินใจจากสิ่งที่เราเตรียมไว้ ถ้าข้อมูลชัดและหลักฐานเปิดได้ งานก็เดินต่อได้ง่าย ตรงนี้เข้าใจตรงกันแล้ว เดี๋ยวผมพาไปดูจุดเริ่มต้นบนหน้าจอจริงครับ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docs/user-guide-th.md</a:t>
            </a:r>
          </a:p>
          <a:p xmlns:a="http://schemas.openxmlformats.org/drawingml/2006/main">
            <a:r>
              <a:t>- app/Support/AssignmentFlow.php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ต่อไปขอพาทุกท่านมาที่แดชบอร์ดของฉันครับ ก่อนเปิดงานให้ตรวจสามอย่าง คือรอบประเมินที่ผู้ดูแลระบบกำหนด รายการที่ได้รับมอบหมาย และสถานะปัจจุบัน ผู้ใช้งานไม่ต้องเลือกรอบเองนะครับ ถ้ารอบหรือรายการไม่ถูกต้องให้แจ้งผู้ดูแลระบบก่อน เดี๋ยวผมเปิดให้ดูก่อนครับ ทุกท่านยังไม่ต้องกดตาม ให้สังเกตตำแหน่งชื่อรอบ ชื่อรายการ และปุ่มเปิดงานครับ</a:t>
            </a:r>
          </a:p>
          <a:p xmlns:a="http://schemas.openxmlformats.org/drawingml/2006/main">
            <a:r>
              <a:t>[สาธิต] เปิดแดชบอร์ด ตรวจสอบรอบประเมินที่ได้รับมอบหมาย แล้วเปิดรายการสายวิชาการที่เตรียมไว้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docs/user-guide-th.md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เมื่อเปิดรายการเข้ามาแล้ว ลองสังเกตนะครับว่ารายวิชา ภาระงาน ผลงาน และหลักฐานควรเล่าเรื่องเดียวกัน รายวิชาบอกบริบท ภาระงานบอกว่าเราทำอะไรและทำมากน้อยเพียงใด ผลงานบอกผลที่เกิดขึ้น ส่วนหลักฐานช่วยยืนยันข้อมูล ถ้าสี่ส่วนนี้ไม่สัมพันธ์กัน ผู้ประเมินก็จะต้องเดาหรือขอข้อมูลเพิ่มครับ เพราะฉะนั้นก่อนกรอก เราควรเลือกเกณฑ์ให้ตรงกับงานจริงก่อน แล้วค่อยไปดูข้อมูลเชิงปริมาณครับ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resources/views/criteria_config/partials/create-quantity-template.blade.php</a:t>
            </a:r>
          </a:p>
          <a:p xmlns:a="http://schemas.openxmlformats.org/drawingml/2006/main">
            <a:r>
              <a:t>- resources/views/criteria_config/partials/create-quality-template.blade.php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สำหรับข้อมูลเชิงปริมาณ ให้ไล่ดูทีละช่องนะครับ เริ่มจากค่าน้ำหนัก ภาระงานมาตรฐาน แล้วจึงกรอกภาระงานที่ทำได้ ระบบจะคำนวณคะแนนให้ ตรงนี้อย่าดูเฉพาะตัวเลขสุดท้ายครับ ให้ตรวจหน่วย ช่วงค่า และทศนิยมด้วย ถ้าคะแนนดูแปลก ให้ย้อนกลับไปดูค่าที่กรอกก่อนเป็นอันดับแรก วิธีนี้ช่วยให้เราอธิบายที่มาของคะแนนได้ชัดเจน แล้วต่อไปเราจะดูข้อมูลอีกแบบหนึ่ง คือผลงานเชิงคุณภาพครับ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resources/views/criteria_config/partials/create-quantity-template.blade.php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ทีนี้มาดูข้อมูลเชิงคุณภาพครับ ส่วนนี้ไม่จำเป็นต้องเขียนยาว แต่ควรตอบให้ครบสามเรื่องว่าเราทำอะไร เกิดผลอย่างไร และตรวจจากหลักฐานใด ลองคิดว่าผู้ประเมินอ่านเพียงครั้งเดียวแล้วควรเห็นภาพงานของเราได้ครับ หลีกเลี่ยงคำกว้าง ๆ ที่ไม่บอกบทบาทหรือผลลัพธ์ ถ้าข้อความสัมพันธ์กับเกณฑ์และหลักฐาน ก็ถือว่าพร้อมในระดับหนึ่งแล้ว ต่อไปเรามาตรวจว่าหลักฐานแบบไหนจึงจะใช้งานได้จริงครับ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resources/views/criteria_config/partials/create-quality-template.blade.php</a:t>
            </a:r>
          </a:p>
          <a:p xmlns:a="http://schemas.openxmlformats.org/drawingml/2006/main">
            <a:r>
              <a:t>- resources/views/partials/evaluatee-evaluation-script.blade.php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ตรงนี้ขอเน้นนิดหนึ่งครับ หลักฐานที่แนบไม่ได้วัดแค่ว่ามีหรือไม่มี แต่ต้องเปิดได้ ตรงกับรายการ และรู้ว่าเป็นเอกสารอะไร ทางที่ดีให้ทดลองเปิดลิงก์ในหน้าต่างที่ไม่ได้ใช้บัญชีเจ้าของเอกสาร จะได้เห็นเหมือนที่ผู้ประเมินเห็น เดี๋ยวผมทำให้ดูก่อนครับ ทุกท่านยังไม่ต้องทำตาม ให้สังเกตตั้งแต่การกรอกผลงาน การแนบลิงก์ ไปจนถึงการทดลองเปิดหลักฐานครับ</a:t>
            </a:r>
          </a:p>
          <a:p xmlns:a="http://schemas.openxmlformats.org/drawingml/2006/main">
            <a:r>
              <a:t>[สาธิต] กรอกผลงานหนึ่งรายการ แนบลิงก์หลักฐาน และทดลองเปิดลิงก์จากมุมมองผู้ประเมิน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resources/views/partials/evaluatee-evaluation-script.blade.php</a:t>
            </a:r>
          </a:p>
          <a:p xmlns:a="http://schemas.openxmlformats.org/drawingml/2006/main">
            <a:r>
              <a:t>- resources/views/criteria_config/partials/create-quality-template.blade.php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เมื่อกรอกข้อมูลแล้ว เราจะเจอสองทางเลือกครับ ถ้ายังมีส่วนที่ต้องกลับมาแก้ ให้เลือกบันทึกร่าง งานจะยังไม่ถูกส่งต่อ แต่ถ้าข้อมูลบังคับและหลักฐานครบแล้ว จึงเลือกส่งแบบประเมิน เพราะหลังส่ง งานจะเข้าสู่ลำดับผู้ประเมินและเราอาจแก้ไขไม่ได้ในช่วงนั้น ก่อนกดยืนยัน ลองถามตัวเองสั้น ๆ ครับว่า ผู้ประเมินเห็นข้อมูลครบและเข้าใจที่มาของคะแนนแล้วหรือยัง วันนี้ตอนทดลอง ทุกท่านหยุดที่บันทึกร่างก่อนนะครับ แล้วเรามาดูกันต่อว่าเมื่อส่งจริง งานจะไปไหน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resources/views/partials/evaluation-form-action-buttons.blade.php</a:t>
            </a:r>
          </a:p>
          <a:p xmlns:a="http://schemas.openxmlformats.org/drawingml/2006/main">
            <a:r>
              <a:t>- resources/views/partials/evaluatee-evaluation-script.blade.php</a:t>
            </a:r>
          </a:p>
          <a:p xmlns:a="http://schemas.openxmlformats.org/drawingml/2006/main">
            <a:r>
              <a:t>- app/Support/AssignmentFlow.php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ใช่ครับ หลังจากกดส่ง งานไม่ได้หายไปและไม่ได้ไปถึงทุกคนพร้อมกัน ระบบจะส่งให้ผู้ประเมินตามลำดับที่ Admin กำหนดไว้ ผู้ประเมินคนปัจจุบันจะเห็นงานและดำเนินการได้ ส่วนคนถัดไปต้องรอการส่งต่อก่อน จำนวนผู้ประเมินอาจต่างกันในแต่ละงานนะครับ เพราะฉะนั้นเวลาอยากรู้ว่างานอยู่ที่ใคร ให้ดูสถานะและลำดับของรายการนั้นเป็นหลัก ต่อไปผมจะสลับไปดูมุมของผู้ประเมินครับ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app/Support/AssignmentFlow.php</a:t>
            </a:r>
          </a:p>
          <a:p xmlns:a="http://schemas.openxmlformats.org/drawingml/2006/main">
            <a:r>
              <a:t>- docs/user-guide-th.md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ตอนนี้เรามองจากฝั่งผู้ประเมินนะครับ เมื่อได้รับงาน สิ่งแรกที่ควรทำคืออ่านข้อมูลให้ตรงกับเกณฑ์ ตรวจคะแนน และเปิดหลักฐานจริงก่อนให้ผล ถ้าข้อมูลไม่ครบ ให้ใช้ตัวเลือกที่ระบบเปิดให้ตามสิทธิ์ ไม่ควรเดาจากชื่อรายการอย่างเดียว เดี๋ยวผมสาธิตให้ดูครับ ให้สังเกตว่าข้อมูลส่วนใดมาจากผู้รับการประเมิน และส่วนใดเป็นการตัดสินใจของผู้ประเมิน</a:t>
            </a:r>
          </a:p>
          <a:p xmlns:a="http://schemas.openxmlformats.org/drawingml/2006/main">
            <a:r>
              <a:t>[สาธิต] เปิดรายการในบัญชีผู้ประเมิน ตรวจข้อมูล คะแนน และหลักฐาน แล้วบันทึกผลการประเมิน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app/Support/AssignmentFlow.php</a:t>
            </a:r>
          </a:p>
          <a:p xmlns:a="http://schemas.openxmlformats.org/drawingml/2006/main">
            <a:r>
              <a:t>- docs/user-guide-th.md</a:t>
            </a:r>
          </a:p>
          <a:p xmlns:a="http://schemas.openxmlformats.org/drawingml/2006/main">
            <a:r>
              <a:t>- resources/views/partials/evaluatee-evaluation-script.blade.php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เมื่อผู้ประเมินคนหนึ่งตรวจเสร็จ งานยังไม่ถือว่าปิดนะครับ ต้องส่งต่อไปยังคนถัดไปตามลำดับ ผู้ประเมินคนถัดไปจึงจะรับงานและเห็นข้อมูลที่เกี่ยวข้อง ตรงนี้สำคัญครับ เพราะแต่ละงานอาจมีจำนวนขั้นไม่เท่ากัน เดี๋ยวผมส่งต่องานหนึ่งขั้นให้ดู แล้วเปิดบัญชีของผู้ประเมินคนถัดไป เพื่อให้เห็นการเปลี่ยนสถานะจริงครับ</a:t>
            </a:r>
          </a:p>
          <a:p xmlns:a="http://schemas.openxmlformats.org/drawingml/2006/main">
            <a:r>
              <a:t>[สาธิต] ส่งต่องานหนึ่งขั้น แล้วสลับไปยังบัญชีผู้ประเมินลำดับถัดไปเพื่อตรวจสถานะ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app/Support/AssignmentFlow.php</a:t>
            </a:r>
          </a:p>
          <a:p xmlns:a="http://schemas.openxmlformats.org/drawingml/2006/main">
            <a:r>
              <a:t>- docs/user-guide-th.md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ทีนี้มาถึงขั้นสุดท้ายครับ เมื่อผู้ประเมินคนสุดท้ายยืนยัน ระบบจึงเปลี่ยนสถานะเป็นประเมินเสร็จสิ้น หรือ Completed คำว่า “คนสุดท้าย” ให้ดูจากลำดับของงานจริงนะครับ ไม่ได้หมายความว่าต้องเป็นผู้บริหารเสมอไป เดี๋ยวผมยืนยันขั้นสุดท้ายให้ดู แล้วเราจะกลับมาที่สไลด์เพื่อทบทวนว่าจุดสังเกตมีอะไรบ้างครับ</a:t>
            </a:r>
          </a:p>
          <a:p xmlns:a="http://schemas.openxmlformats.org/drawingml/2006/main">
            <a:r>
              <a:t>[สาธิต] เปิดบัญชีผู้ประเมินคนสุดท้าย ยืนยันผล และแสดงสถานะ Completed</a:t>
            </a:r>
          </a:p>
          <a:p xmlns:a="http://schemas.openxmlformats.org/drawingml/2006/main">
            <a:r>
              <a:t>[กลับมาที่สไลด์] ชี้ให้เห็นว่างานปิดเมื่อผู้ประเมินคนสุดท้ายในลำดับยืนยันแล้ว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app/Support/AssignmentFlow.php</a:t>
            </a:r>
          </a:p>
          <a:p xmlns:a="http://schemas.openxmlformats.org/drawingml/2006/main">
            <a:r>
              <a:t>- docs/user-guide-th.md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เมื่อเห็นภาพครบแล้ว ต่อไปเป็นเวลาของทุกท่านครับ ให้เปิดบัญชีที่เตรียมไว้ ผู้ที่เคยทดสอบแล้วลองเน้นตรวจความครบถ้วนและช่วยสังเกตสิ่งที่เปลี่ยนไป ส่วนผู้ที่เพิ่งเริ่ม ให้ทำทีละข้อ ไม่ต้องรีบครับ เลือกรายการ กรอกข้อมูล ตรวจคะแนน แนบหลักฐาน แล้วบันทึกร่าง เมื่อทำเสร็จให้ยกมือเรียกผมหรือทีมงานได้เลย ยังไม่ต้องกดส่งแบบประเมินนะครับ เราจะตรวจความพร้อมร่วมกันก่อน</a:t>
            </a:r>
          </a:p>
          <a:p xmlns:a="http://schemas.openxmlformats.org/drawingml/2006/main">
            <a:r>
              <a:t>[เริ่มทดลองใช้งาน — 30 นาที]</a:t>
            </a:r>
          </a:p>
          <a:p xmlns:a="http://schemas.openxmlformats.org/drawingml/2006/main">
            <a:r>
              <a:t>[ให้ผู้เข้าอบรมหยุดที่บันทึกร่าง]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docs/superpowers/specs/2026-07-24-split-role-training-decks-design.md</a:t>
            </a:r>
          </a:p>
          <a:p xmlns:a="http://schemas.openxmlformats.org/drawingml/2006/main">
            <a:r>
              <a:t>- docs/user-guide-th.md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ก่อนจบช่วงนี้ ถ้าใครติดขัดให้ลองตรวจสี่จุดก่อนครับ หนึ่ง รอบและรายการที่ได้รับมอบหมาย สอง สิทธิ์ของบัญชี สาม สถานะปัจจุบันของงาน และสี่ ข้อมูลบังคับหรือหลักฐาน ถ้าคะแนนผิดปกติ ให้ย้อนดูค่าที่กรอกกับหน่วยก่อน หากยังแก้ไม่ได้ ให้จดชื่อรายการ สถานะ และข้อความที่พบ จะช่วยให้ผู้ดูแลระบบตรวจได้เร็วขึ้นครับ</a:t>
            </a:r>
          </a:p>
          <a:p xmlns:a="http://schemas.openxmlformats.org/drawingml/2006/main">
            <a:r>
              <a:t>[ถามผู้เข้าอบรม] ตอนนี้มีใครติดที่การเปิดงาน การกรอกข้อมูล การคำนวณคะแนน หรือการแนบหลักฐานไหมครับ</a:t>
            </a:r>
          </a:p>
          <a:p xmlns:a="http://schemas.openxmlformats.org/drawingml/2006/main">
            <a:r>
              <a:t>[พูด] ถ้าไม่มีคำถามเพิ่มเติม วันนี้ขอให้จำไว้สามเรื่องครับ ตรวจงานให้ถูก กรอกข้อมูลให้ครบ และบันทึกร่างก่อนส่งจริง ขอบคุณทุกท่านครับ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resources/views/partials/evaluation-form-action-buttons.blade.php</a:t>
            </a:r>
          </a:p>
          <a:p xmlns:a="http://schemas.openxmlformats.org/drawingml/2006/main">
            <a:r>
              <a:t>- resources/views/partials/evaluatee-evaluation-script.blade.php</a:t>
            </a:r>
          </a:p>
          <a:p xmlns:a="http://schemas.openxmlformats.org/drawingml/2006/main">
            <a:r>
              <a:t>- app/Support/AssignmentFlow.php</a:t>
            </a:r>
          </a:p>
          <a:p xmlns:a="http://schemas.openxmlformats.org/drawingml/2006/main">
            <a:r>
              <a:t>- C:\Users\pisut\Downloads\logoบริษัท.svg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ab5fb39d4ca4913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50505e637d94dc2" /><Relationship Type="http://schemas.openxmlformats.org/officeDocument/2006/relationships/slideLayout" Target="/ppt/slideLayouts/slideLayout1.xml" Id="R3501ce47c6d94ca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501ce47c6d94ca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1debb42b83b448b" /><Relationship Type="http://schemas.openxmlformats.org/officeDocument/2006/relationships/image" Target="/ppt/media/image.jpeg" Id="R50b759110ae14d15" /><Relationship Type="http://schemas.openxmlformats.org/officeDocument/2006/relationships/image" Target="/ppt/media/image.png" Id="R9378b61eb4544747" /><Relationship Type="http://schemas.openxmlformats.org/officeDocument/2006/relationships/image" Target="/ppt/media/image2.png" Id="R0d45e321cf984c57" /><Relationship Type="http://schemas.openxmlformats.org/officeDocument/2006/relationships/notesSlide" Target="/ppt/notesSlides/notesSlide1.xml" Id="R24cee1e68a9f437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a03c94a7f74622" /><Relationship Type="http://schemas.openxmlformats.org/officeDocument/2006/relationships/notesSlide" Target="/ppt/notesSlides/notesSlide2.xml" Id="R77d7d2fa9fbe4da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bf290dca1db4988" /><Relationship Type="http://schemas.openxmlformats.org/officeDocument/2006/relationships/notesSlide" Target="/ppt/notesSlides/notesSlide3.xml" Id="R0506992e40e048c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8525de11f74101" /><Relationship Type="http://schemas.openxmlformats.org/officeDocument/2006/relationships/notesSlide" Target="/ppt/notesSlides/notesSlide4.xml" Id="R1a0b261cf789434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aae8d7408e44cfe" /><Relationship Type="http://schemas.openxmlformats.org/officeDocument/2006/relationships/notesSlide" Target="/ppt/notesSlides/notesSlide5.xml" Id="Rc94c0568c0c14d8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489800c285e4597" /><Relationship Type="http://schemas.openxmlformats.org/officeDocument/2006/relationships/notesSlide" Target="/ppt/notesSlides/notesSlide6.xml" Id="R4c49348f58af41d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55bcf301a0143ad" /><Relationship Type="http://schemas.openxmlformats.org/officeDocument/2006/relationships/notesSlide" Target="/ppt/notesSlides/notesSlide7.xml" Id="R39db9ecd2ec04da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e5f21e483c04258" /><Relationship Type="http://schemas.openxmlformats.org/officeDocument/2006/relationships/notesSlide" Target="/ppt/notesSlides/notesSlide8.xml" Id="R0bb959a4dc6d40d3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ad196b85b214542" /><Relationship Type="http://schemas.openxmlformats.org/officeDocument/2006/relationships/notesSlide" Target="/ppt/notesSlides/notesSlide9.xml" Id="R9021dbec1563477c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a073c5436434b1b" /><Relationship Type="http://schemas.openxmlformats.org/officeDocument/2006/relationships/notesSlide" Target="/ppt/notesSlides/notesSlide10.xml" Id="R559e8a0afdeb41d0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fc5894e32e94d37" /><Relationship Type="http://schemas.openxmlformats.org/officeDocument/2006/relationships/notesSlide" Target="/ppt/notesSlides/notesSlide11.xml" Id="R460449dae9e24dac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b221dbbdd1c47a8" /><Relationship Type="http://schemas.openxmlformats.org/officeDocument/2006/relationships/notesSlide" Target="/ppt/notesSlides/notesSlide12.xml" Id="Rb95606e7f799499a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fca5ddaa59f4d58" /><Relationship Type="http://schemas.openxmlformats.org/officeDocument/2006/relationships/notesSlide" Target="/ppt/notesSlides/notesSlide13.xml" Id="Ra62239535275406d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7057d2f0f8e4d02" /><Relationship Type="http://schemas.openxmlformats.org/officeDocument/2006/relationships/notesSlide" Target="/ppt/notesSlides/notesSlide14.xml" Id="R58c455d2f4c848c1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c94024b3b9f4870" /><Relationship Type="http://schemas.openxmlformats.org/officeDocument/2006/relationships/notesSlide" Target="/ppt/notesSlides/notesSlide15.xml" Id="R7a8d0c7d02a34fd7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b1c2ae54114599" /><Relationship Type="http://schemas.openxmlformats.org/officeDocument/2006/relationships/notesSlide" Target="/ppt/notesSlides/notesSlide16.xml" Id="Raed68ce389f34dc0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6ce7b4c8a10464c" /><Relationship Type="http://schemas.openxmlformats.org/officeDocument/2006/relationships/notesSlide" Target="/ppt/notesSlides/notesSlide17.xml" Id="R56f22f6a6b724db9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cd2242e06e04ff4" /><Relationship Type="http://schemas.openxmlformats.org/officeDocument/2006/relationships/image" Target="/ppt/media/image3.png" Id="R1658ba2a62a14b85" /><Relationship Type="http://schemas.openxmlformats.org/officeDocument/2006/relationships/notesSlide" Target="/ppt/notesSlides/notesSlide18.xml" Id="Rfa247ca1d5234cd7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0b759110ae14d15"/>
          <a:srcRect xmlns:a="http://schemas.openxmlformats.org/drawingml/2006/main" l="2579" t="0" r="2579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cover-panel">
            <a:extLst xmlns:a="http://schemas.openxmlformats.org/drawingml/2006/main">
              <a:ext uri="{FF2B5EF4-FFF2-40B4-BE49-F238E27FC236}">
                <a16:creationId xmlns:a16="http://schemas.microsoft.com/office/drawing/2014/main" id="{1940AAA3-CC28-459E-9777-B184A744E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5247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cover-accent">
            <a:extLst xmlns:a="http://schemas.openxmlformats.org/drawingml/2006/main">
              <a:ext uri="{FF2B5EF4-FFF2-40B4-BE49-F238E27FC236}">
                <a16:creationId xmlns:a16="http://schemas.microsoft.com/office/drawing/2014/main" id="{17251C57-D60F-424A-8D23-7E615DB85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378b61eb4544747"/>
          <a:stretch xmlns:a="http://schemas.openxmlformats.org/drawingml/2006/main"/>
        </p:blipFill>
        <p:spPr>
          <a:xfrm xmlns:a="http://schemas.openxmlformats.org/drawingml/2006/main">
            <a:off x="628650" y="419100"/>
            <a:ext cx="800100" cy="800100"/>
          </a:xfrm>
          <a:prstGeom xmlns:a="http://schemas.openxmlformats.org/drawingml/2006/main" prst="rect">
            <a:avLst/>
          </a:prstGeom>
        </p:spPr>
      </p:pic>
      <p:sp>
        <p:nvSpPr>
          <p:cNvPr id="5" name="cover-institution">
            <a:extLst xmlns:a="http://schemas.openxmlformats.org/drawingml/2006/main">
              <a:ext uri="{FF2B5EF4-FFF2-40B4-BE49-F238E27FC236}">
                <a16:creationId xmlns:a16="http://schemas.microsoft.com/office/drawing/2014/main" id="{6EAA55FF-BA4F-490D-B093-7DC15885E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514350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5F2A84"/>
                </a:solidFill>
                <a:latin typeface="Tahoma"/>
                <a:ea typeface="Tahoma"/>
                <a:cs typeface="Tahoma"/>
              </a:defRPr>
            </a:pPr>
            <a:r>
              <a:rPr sz="1275" b="1">
                <a:solidFill>
                  <a:srgbClr val="5F2A84"/>
                </a:solidFill>
                <a:latin typeface="Tahoma"/>
                <a:ea typeface="Tahoma"/>
                <a:cs typeface="Tahoma"/>
              </a:rPr>
              <a:t>คณะสาธารณสุขศาสตร์  •  มหาวิทยาลัยมหาสารคาม</a:t>
            </a:r>
          </a:p>
        </p:txBody>
      </p:sp>
      <p:sp>
        <p:nvSpPr>
          <p:cNvPr id="6" name="cover-session">
            <a:extLst xmlns:a="http://schemas.openxmlformats.org/drawingml/2006/main">
              <a:ext uri="{FF2B5EF4-FFF2-40B4-BE49-F238E27FC236}">
                <a16:creationId xmlns:a16="http://schemas.microsoft.com/office/drawing/2014/main" id="{1ED752B1-88B4-43AA-8827-1B1DCC69D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573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ภาคเช้า</a:t>
            </a:r>
          </a:p>
        </p:txBody>
      </p:sp>
      <p:sp>
        <p:nvSpPr>
          <p:cNvPr id="7" name="cover-title">
            <a:extLst xmlns:a="http://schemas.openxmlformats.org/drawingml/2006/main">
              <a:ext uri="{FF2B5EF4-FFF2-40B4-BE49-F238E27FC236}">
                <a16:creationId xmlns:a16="http://schemas.microsoft.com/office/drawing/2014/main" id="{BA0E3F31-2CC4-4EEF-A0D5-130ECE7C6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95500"/>
            <a:ext cx="6191250" cy="1695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39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9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การใช้งานระบบ MSU EVA</a:t>
            </a:r>
          </a:p>
          <a:p xmlns:a="http://schemas.openxmlformats.org/drawingml/2006/main">
            <a:pPr algn="l">
              <a:lnSpc>
                <a:spcPct val="92000"/>
              </a:lnSpc>
              <a:buNone/>
              <a:defRPr sz="39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9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สำหรับบุคลากรสายวิชาการ</a:t>
            </a:r>
          </a:p>
        </p:txBody>
      </p:sp>
      <p:sp>
        <p:nvSpPr>
          <p:cNvPr id="8" name="cover-gold-rule">
            <a:extLst xmlns:a="http://schemas.openxmlformats.org/drawingml/2006/main">
              <a:ext uri="{FF2B5EF4-FFF2-40B4-BE49-F238E27FC236}">
                <a16:creationId xmlns:a16="http://schemas.microsoft.com/office/drawing/2014/main" id="{11DA346F-E8A0-4892-A679-08070EC26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95750"/>
            <a:ext cx="8763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cover-promise">
            <a:extLst xmlns:a="http://schemas.openxmlformats.org/drawingml/2006/main">
              <a:ext uri="{FF2B5EF4-FFF2-40B4-BE49-F238E27FC236}">
                <a16:creationId xmlns:a16="http://schemas.microsoft.com/office/drawing/2014/main" id="{F48D2DE3-1815-46B5-9C03-EADDBADBD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457700"/>
            <a:ext cx="5905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>
                <a:solidFill>
                  <a:srgbClr val="23384D"/>
                </a:solidFill>
                <a:latin typeface="Tahoma"/>
                <a:ea typeface="Tahoma"/>
                <a:cs typeface="Tahoma"/>
              </a:defRPr>
            </a:pPr>
            <a:r>
              <a:rPr sz="1800" b="0">
                <a:solidFill>
                  <a:srgbClr val="23384D"/>
                </a:solidFill>
                <a:latin typeface="Tahoma"/>
                <a:ea typeface="Tahoma"/>
                <a:cs typeface="Tahoma"/>
              </a:rPr>
              <a:t>กรอกภาระงานและผลงานให้ครบ ตรวจหลักฐาน แล้วส่งแบบประเมินอย่างมั่นใจ</a:t>
            </a:r>
          </a:p>
        </p:txBody>
      </p:sp>
      <p:sp>
        <p:nvSpPr>
          <p:cNvPr id="10" name="cover-style">
            <a:extLst xmlns:a="http://schemas.openxmlformats.org/drawingml/2006/main">
              <a:ext uri="{FF2B5EF4-FFF2-40B4-BE49-F238E27FC236}">
                <a16:creationId xmlns:a16="http://schemas.microsoft.com/office/drawing/2014/main" id="{C0D81C89-B964-46FB-B869-0B7E0A8B3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00075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1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Professional Training  •  สายวิชาการ</a:t>
            </a:r>
          </a:p>
        </p:txBody>
      </p:sp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d45e321cf984c57"/>
          <a:stretch xmlns:a="http://schemas.openxmlformats.org/drawingml/2006/main"/>
        </p:blipFill>
        <p:spPr>
          <a:xfrm xmlns:a="http://schemas.openxmlformats.org/drawingml/2006/main">
            <a:off x="9186571" y="5962650"/>
            <a:ext cx="2029408" cy="5524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969733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side-accent-2">
            <a:extLst xmlns:a="http://schemas.openxmlformats.org/drawingml/2006/main">
              <a:ext uri="{FF2B5EF4-FFF2-40B4-BE49-F238E27FC236}">
                <a16:creationId xmlns:a16="http://schemas.microsoft.com/office/drawing/2014/main" id="{69832A42-1576-4CF4-8830-89E4B3722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2">
            <a:extLst xmlns:a="http://schemas.openxmlformats.org/drawingml/2006/main">
              <a:ext uri="{FF2B5EF4-FFF2-40B4-BE49-F238E27FC236}">
                <a16:creationId xmlns:a16="http://schemas.microsoft.com/office/drawing/2014/main" id="{DE1E720B-18B1-41D3-953B-C453114E0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เป้าหมายการอบรม  /  สายวิชาการ</a:t>
            </a:r>
          </a:p>
        </p:txBody>
      </p:sp>
      <p:sp>
        <p:nvSpPr>
          <p:cNvPr id="3" name="title-2">
            <a:extLst xmlns:a="http://schemas.openxmlformats.org/drawingml/2006/main">
              <a:ext uri="{FF2B5EF4-FFF2-40B4-BE49-F238E27FC236}">
                <a16:creationId xmlns:a16="http://schemas.microsoft.com/office/drawing/2014/main" id="{D88EFE35-E163-403B-8F27-5B5A9A406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วันนี้เราจะทดลองกรอกแบบประเมิน 1 รายการให้พร้อมส่ง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958171D-E332-47BA-A936-5B8B3BB2A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43100"/>
            <a:ext cx="571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650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เมื่อจบช่วงนี้ คุณจะทำได้ด้วยตัวเอง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801F9C8-370E-4AA4-A9B9-1AC7B68B4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28900"/>
            <a:ext cx="723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3288E8A-9A11-4ACE-924B-A028F59A4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2676525"/>
            <a:ext cx="381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2AA0F53-C5AA-4B04-A1D2-AB69D2DBC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2628900"/>
            <a:ext cx="8858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0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0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เปิดงานที่ได้รับมอบหมายได้ถูกต้อง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6CE0FC8-7421-4F85-978C-5ECECBA02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00450"/>
            <a:ext cx="723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0FBFA47-EF61-4070-A37B-C0AFA027F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648075"/>
            <a:ext cx="381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AF3F4F4-69F6-47AF-B5C0-1F5567063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3600450"/>
            <a:ext cx="8858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0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0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กรอกข้อมูลปริมาณ คุณภาพ และหลักฐานได้ครบ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FC63D7B-3A39-431C-8E74-FAC0BBABB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0"/>
            <a:ext cx="723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52A1D06-DD9D-4C38-831E-BCB25A071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619625"/>
            <a:ext cx="381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979027C-5270-4D53-8B59-074A68905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4572000"/>
            <a:ext cx="8858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แยกการบันทึกร่างออกจากการยืนยันส่ง</a:t>
            </a:r>
          </a:p>
        </p:txBody>
      </p:sp>
      <p:sp>
        <p:nvSpPr>
          <p:cNvPr id="14" name="outcome-mark">
            <a:extLst xmlns:a="http://schemas.openxmlformats.org/drawingml/2006/main">
              <a:ext uri="{FF2B5EF4-FFF2-40B4-BE49-F238E27FC236}">
                <a16:creationId xmlns:a16="http://schemas.microsoft.com/office/drawing/2014/main" id="{08DFD324-0EFF-4BFF-9867-37AD435EC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2076450"/>
            <a:ext cx="2324100" cy="3295650"/>
          </a:xfrm>
          <a:prstGeom xmlns:a="http://schemas.openxmlformats.org/drawingml/2006/main" prst="roundRect">
            <a:avLst>
              <a:gd name="adj" fmla="val 3279"/>
            </a:avLst>
          </a:prstGeom>
          <a:solidFill xmlns:a="http://schemas.openxmlformats.org/drawingml/2006/main">
            <a:srgbClr val="E9ECFB"/>
          </a:solidFill>
          <a:ln xmlns:a="http://schemas.openxmlformats.org/drawingml/2006/main" w="9525">
            <a:solidFill>
              <a:srgbClr val="4356C7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19635E9-EC8A-4F34-AC5D-649247B15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324100"/>
            <a:ext cx="1790700" cy="1371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800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7800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1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20231D1-76C0-412F-97A0-BB5DA05EA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752850"/>
            <a:ext cx="17907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250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2250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รายการ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2250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2250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พร้อมส่ง</a:t>
            </a:r>
          </a:p>
        </p:txBody>
      </p:sp>
      <p:sp>
        <p:nvSpPr>
          <p:cNvPr id="17" name="footer-rule-2">
            <a:extLst xmlns:a="http://schemas.openxmlformats.org/drawingml/2006/main">
              <a:ext uri="{FF2B5EF4-FFF2-40B4-BE49-F238E27FC236}">
                <a16:creationId xmlns:a16="http://schemas.microsoft.com/office/drawing/2014/main" id="{08DC8ADB-8835-4BE9-BA51-3962D2FEE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footer-label-2">
            <a:extLst xmlns:a="http://schemas.openxmlformats.org/drawingml/2006/main">
              <a:ext uri="{FF2B5EF4-FFF2-40B4-BE49-F238E27FC236}">
                <a16:creationId xmlns:a16="http://schemas.microsoft.com/office/drawing/2014/main" id="{D4A20EB2-0337-4BB3-A192-A3B7AD3F3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ภาคเช้า สายวิชาการ</a:t>
            </a:r>
          </a:p>
        </p:txBody>
      </p:sp>
      <p:sp>
        <p:nvSpPr>
          <p:cNvPr id="19" name="footer-page-2">
            <a:extLst xmlns:a="http://schemas.openxmlformats.org/drawingml/2006/main">
              <a:ext uri="{FF2B5EF4-FFF2-40B4-BE49-F238E27FC236}">
                <a16:creationId xmlns:a16="http://schemas.microsoft.com/office/drawing/2014/main" id="{A48051B9-4BD5-471C-8D5C-2775CDA6F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02 / 18</a:t>
            </a:r>
          </a:p>
        </p:txBody>
      </p:sp>
    </p:spTree>
    <p:extLst>
      <p:ext uri="{BB962C8B-B14F-4D97-AF65-F5344CB8AC3E}">
        <p14:creationId xmlns:p14="http://schemas.microsoft.com/office/powerpoint/2010/main" val="214290897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side-accent-3">
            <a:extLst xmlns:a="http://schemas.openxmlformats.org/drawingml/2006/main">
              <a:ext uri="{FF2B5EF4-FFF2-40B4-BE49-F238E27FC236}">
                <a16:creationId xmlns:a16="http://schemas.microsoft.com/office/drawing/2014/main" id="{E319DFCC-41AF-4734-8793-C99BD37C4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3">
            <a:extLst xmlns:a="http://schemas.openxmlformats.org/drawingml/2006/main">
              <a:ext uri="{FF2B5EF4-FFF2-40B4-BE49-F238E27FC236}">
                <a16:creationId xmlns:a16="http://schemas.microsoft.com/office/drawing/2014/main" id="{9FA018E2-8405-47D9-8E8A-76F8B9EDD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รู้จักระบบ  /  สายวิชาการ</a:t>
            </a:r>
          </a:p>
        </p:txBody>
      </p:sp>
      <p:sp>
        <p:nvSpPr>
          <p:cNvPr id="3" name="title-3">
            <a:extLst xmlns:a="http://schemas.openxmlformats.org/drawingml/2006/main">
              <a:ext uri="{FF2B5EF4-FFF2-40B4-BE49-F238E27FC236}">
                <a16:creationId xmlns:a16="http://schemas.microsoft.com/office/drawing/2014/main" id="{92A3D680-277B-4AC8-9500-7849C439F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MSU EVA ช่วยจัดการงานประเมินตั้งแต่เตรียมรอบจนถึงรายงานผล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8B2F3D1-1FFD-47C0-BCA3-CDB233D02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857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ฟังก์ชันหลัก 5 ด้าน เชื่อมต่อกันเป็นกระบวนการเดียว</a:t>
            </a:r>
          </a:p>
        </p:txBody>
      </p:sp>
      <p:sp>
        <p:nvSpPr>
          <p:cNvPr id="5" name="system-function-line">
            <a:extLst xmlns:a="http://schemas.openxmlformats.org/drawingml/2006/main">
              <a:ext uri="{FF2B5EF4-FFF2-40B4-BE49-F238E27FC236}">
                <a16:creationId xmlns:a16="http://schemas.microsoft.com/office/drawing/2014/main" id="{804C54B6-D464-4127-AE57-B7C3D1718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3467100"/>
            <a:ext cx="87058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B37D13C-D6C4-4538-AF82-450AB90E5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009900"/>
            <a:ext cx="876300" cy="876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3EB65E9-29DA-4236-BB8F-6A3300B9D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257550"/>
            <a:ext cx="876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3DB0EE7-311F-4BEE-8F0B-76E4FBB74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10050"/>
            <a:ext cx="17907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7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ผู้ใช้และสิทธิ์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9CAEAF8-7FD1-49DA-9869-622C3C822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19650"/>
            <a:ext cx="19431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2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จัดการบัญชีและบทบาท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EDA7F7C-9FC7-4899-B164-00211CCB9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009900"/>
            <a:ext cx="876300" cy="876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AE2870F-A93A-45AA-864A-74CFF848D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257550"/>
            <a:ext cx="876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01F94A4-96ED-4355-BB3F-43D84622D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210050"/>
            <a:ext cx="17907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7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เกณฑ์ประเมิน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13004E6-BACC-4FB0-8BED-199058C92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4819650"/>
            <a:ext cx="19431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2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จัดการแบบและเกณฑ์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2E66C0C-98DC-4085-8775-81938AD06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3009900"/>
            <a:ext cx="876300" cy="876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123529F-F171-478D-94FD-E3316D481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3257550"/>
            <a:ext cx="876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A6FE34D-840F-4FB7-9E56-2BD6D444C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4210050"/>
            <a:ext cx="17907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7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รอบและงาน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D54A52B-58E4-45EB-87EC-FFF8CCD7A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4819650"/>
            <a:ext cx="19431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2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สร้างรอบและมอบหมาย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97E182B-145A-4694-BFE0-72C7A2C70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009900"/>
            <a:ext cx="876300" cy="876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A4EE923-99F8-4674-A6D4-E6A943176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257550"/>
            <a:ext cx="876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04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CC8B402-D913-4F58-93FD-8E065F356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4210050"/>
            <a:ext cx="17907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7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กรอกและประเมิน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A86D0D6-C4E6-49E8-842E-A041D15D7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4819650"/>
            <a:ext cx="19431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2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บันทึก ตรวจ และส่งต่อ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274698B-5C8C-47AC-9F97-21850C12E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3009900"/>
            <a:ext cx="876300" cy="876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211D4F2-D847-47B4-AD8B-C5BA955FF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3257550"/>
            <a:ext cx="876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05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C80EB5B-1B38-42BA-94DE-4D2991986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4210050"/>
            <a:ext cx="17907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7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ติดตาม/รายงาน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775F8D6-9820-49CF-BEB1-CEE887C7C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4819650"/>
            <a:ext cx="19431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2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ติดตามสถานะและส่งออก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B912E60-0A82-4275-A654-D443D4093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57850"/>
            <a:ext cx="109728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E9EC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7E52375-5B1C-4715-98FA-DC8A35D03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791200"/>
            <a:ext cx="10515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Admin เตรียมระบบและมอบหมายงาน ก่อนผู้ใช้งานเริ่มดำเนินการ</a:t>
            </a:r>
          </a:p>
        </p:txBody>
      </p:sp>
      <p:sp>
        <p:nvSpPr>
          <p:cNvPr id="28" name="footer-rule-3">
            <a:extLst xmlns:a="http://schemas.openxmlformats.org/drawingml/2006/main">
              <a:ext uri="{FF2B5EF4-FFF2-40B4-BE49-F238E27FC236}">
                <a16:creationId xmlns:a16="http://schemas.microsoft.com/office/drawing/2014/main" id="{DEB47926-6FDF-4824-8D95-B838DAF90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footer-label-3">
            <a:extLst xmlns:a="http://schemas.openxmlformats.org/drawingml/2006/main">
              <a:ext uri="{FF2B5EF4-FFF2-40B4-BE49-F238E27FC236}">
                <a16:creationId xmlns:a16="http://schemas.microsoft.com/office/drawing/2014/main" id="{27306F08-C7C0-4257-8605-4A43CE0DF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ภาคเช้า สายวิชาการ</a:t>
            </a:r>
          </a:p>
        </p:txBody>
      </p:sp>
      <p:sp>
        <p:nvSpPr>
          <p:cNvPr id="30" name="footer-page-3">
            <a:extLst xmlns:a="http://schemas.openxmlformats.org/drawingml/2006/main">
              <a:ext uri="{FF2B5EF4-FFF2-40B4-BE49-F238E27FC236}">
                <a16:creationId xmlns:a16="http://schemas.microsoft.com/office/drawing/2014/main" id="{3CDAF321-AFF0-4412-B6FD-D9FBFE589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03 / 18</a:t>
            </a:r>
          </a:p>
        </p:txBody>
      </p:sp>
    </p:spTree>
    <p:extLst>
      <p:ext uri="{BB962C8B-B14F-4D97-AF65-F5344CB8AC3E}">
        <p14:creationId xmlns:p14="http://schemas.microsoft.com/office/powerpoint/2010/main" val="6523219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side-accent-4">
            <a:extLst xmlns:a="http://schemas.openxmlformats.org/drawingml/2006/main">
              <a:ext uri="{FF2B5EF4-FFF2-40B4-BE49-F238E27FC236}">
                <a16:creationId xmlns:a16="http://schemas.microsoft.com/office/drawing/2014/main" id="{D31499DD-2820-4848-8992-01D95EECF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4">
            <a:extLst xmlns:a="http://schemas.openxmlformats.org/drawingml/2006/main">
              <a:ext uri="{FF2B5EF4-FFF2-40B4-BE49-F238E27FC236}">
                <a16:creationId xmlns:a16="http://schemas.microsoft.com/office/drawing/2014/main" id="{7503136E-0878-4669-89A0-0B793E747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ผู้ใช้งานระบบ  /  สายวิชาการ</a:t>
            </a:r>
          </a:p>
        </p:txBody>
      </p:sp>
      <p:sp>
        <p:nvSpPr>
          <p:cNvPr id="3" name="title-4">
            <a:extLst xmlns:a="http://schemas.openxmlformats.org/drawingml/2006/main">
              <a:ext uri="{FF2B5EF4-FFF2-40B4-BE49-F238E27FC236}">
                <a16:creationId xmlns:a16="http://schemas.microsoft.com/office/drawing/2014/main" id="{FB179923-5B99-44CA-BDE4-8E8FB59E6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ระบบมี 5 บทบาท และแต่ละคนเห็นงานต่างกัน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5DAD468-B67A-4BF9-B2B6-923181B35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66900"/>
            <a:ext cx="590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C79A2B"/>
                </a:solidFill>
                <a:latin typeface="Tahoma"/>
                <a:ea typeface="Tahoma"/>
                <a:cs typeface="Tahoma"/>
              </a:defRPr>
            </a:pPr>
            <a:r>
              <a:rPr sz="1275" b="1">
                <a:solidFill>
                  <a:srgbClr val="C79A2B"/>
                </a:solidFill>
                <a:latin typeface="Tahoma"/>
                <a:ea typeface="Tahoma"/>
                <a:cs typeface="Tahoma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73CF169-4758-4B71-96BC-32D11B045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1828800"/>
            <a:ext cx="2571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Admin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CE8E667-EB23-4412-95F2-280CF4D59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1866900"/>
            <a:ext cx="7105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ผู้ใช้ • สิทธิ์ • เกณฑ์ • รอบประเมิน • งาน • ลำดับผู้ประเมิน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5ACE70B-FF82-48F7-8F2D-E02A53D8A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2381250"/>
            <a:ext cx="9867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55F37DB-2B94-4C43-82A3-A15409023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0325"/>
            <a:ext cx="590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27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9A7BA28-E7CC-49EE-8CB1-6911AE4C6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2562225"/>
            <a:ext cx="2571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ผู้รับการประเมิน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35ACFD9-BBB5-406A-AA01-41077D1AB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600325"/>
            <a:ext cx="7105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กรอกข้อมูล • แนบหลักฐาน • บันทึกร่าง • ส่งแบบประเมิน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7454B77-D71A-4443-A346-BED7D3E81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114675"/>
            <a:ext cx="9867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1A62FB8-5842-4836-B056-A9A3FFCB4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0"/>
            <a:ext cx="590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27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A0781C9-43EE-4570-8F84-DC101AD5D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295650"/>
            <a:ext cx="2571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ผู้ประเมิน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CD4B94A-1AB8-4FE3-AEC4-60C82FE96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3333750"/>
            <a:ext cx="7105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ตรวจข้อมูล • ให้คะแนนหรือความเห็น • ส่งต่องาน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7A56E49-7B1D-4B10-A986-E4E0838D7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848100"/>
            <a:ext cx="9867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9DC74C6-116A-48B5-8D09-0DD6A00A4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67175"/>
            <a:ext cx="590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27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7B3EC37-4C7A-4F22-9FF2-162EA05C8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029075"/>
            <a:ext cx="2571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กรรมการ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ABA3AEB-D964-4A94-AEFC-96D877123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4067175"/>
            <a:ext cx="7105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ตรวจและรับรองผลตามขั้นที่ได้รับมอบหมาย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C1C1DBE-E338-4CBA-B874-A36E1ED2B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581525"/>
            <a:ext cx="9867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42A601B-F88B-475C-84F8-B6450FB23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00600"/>
            <a:ext cx="590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27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05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8B81871-8544-4032-A60E-E45D4A609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762500"/>
            <a:ext cx="2571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ผู้บริหาร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D74FE08-7381-4145-88E7-8FAF82A68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4800600"/>
            <a:ext cx="7105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ตรวจหรือยืนยันตามลำดับ • ดูรายงานตามสิทธิ์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E2DCD64-62C5-435D-8439-8D83AAB06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95950"/>
            <a:ext cx="109728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E9EC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122A5F8-4E6F-4BF2-BBE8-1F95AAEA4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819775"/>
            <a:ext cx="10515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500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แต่ละรอบอาจใช้ผู้ประเมินไม่ครบทุกบทบาท ให้ยึดลำดับที่ Admin กำหนด</a:t>
            </a:r>
          </a:p>
        </p:txBody>
      </p:sp>
      <p:sp>
        <p:nvSpPr>
          <p:cNvPr id="25" name="footer-rule-4">
            <a:extLst xmlns:a="http://schemas.openxmlformats.org/drawingml/2006/main">
              <a:ext uri="{FF2B5EF4-FFF2-40B4-BE49-F238E27FC236}">
                <a16:creationId xmlns:a16="http://schemas.microsoft.com/office/drawing/2014/main" id="{AB4ADCAC-FA43-4F39-9FB1-874D25418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footer-label-4">
            <a:extLst xmlns:a="http://schemas.openxmlformats.org/drawingml/2006/main">
              <a:ext uri="{FF2B5EF4-FFF2-40B4-BE49-F238E27FC236}">
                <a16:creationId xmlns:a16="http://schemas.microsoft.com/office/drawing/2014/main" id="{4CFE9F27-DE4A-491B-8044-6FBF9F131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ภาคเช้า สายวิชาการ</a:t>
            </a:r>
          </a:p>
        </p:txBody>
      </p:sp>
      <p:sp>
        <p:nvSpPr>
          <p:cNvPr id="27" name="footer-page-4">
            <a:extLst xmlns:a="http://schemas.openxmlformats.org/drawingml/2006/main">
              <a:ext uri="{FF2B5EF4-FFF2-40B4-BE49-F238E27FC236}">
                <a16:creationId xmlns:a16="http://schemas.microsoft.com/office/drawing/2014/main" id="{EBDA8AF5-D1B8-48C1-AAEC-D474E4806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04 / 18</a:t>
            </a:r>
          </a:p>
        </p:txBody>
      </p:sp>
    </p:spTree>
    <p:extLst>
      <p:ext uri="{BB962C8B-B14F-4D97-AF65-F5344CB8AC3E}">
        <p14:creationId xmlns:p14="http://schemas.microsoft.com/office/powerpoint/2010/main" val="34407496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side-accent-5">
            <a:extLst xmlns:a="http://schemas.openxmlformats.org/drawingml/2006/main">
              <a:ext uri="{FF2B5EF4-FFF2-40B4-BE49-F238E27FC236}">
                <a16:creationId xmlns:a16="http://schemas.microsoft.com/office/drawing/2014/main" id="{9DDE14B9-D281-4FF2-9D75-20077D771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5">
            <a:extLst xmlns:a="http://schemas.openxmlformats.org/drawingml/2006/main">
              <a:ext uri="{FF2B5EF4-FFF2-40B4-BE49-F238E27FC236}">
                <a16:creationId xmlns:a16="http://schemas.microsoft.com/office/drawing/2014/main" id="{4A0A9D09-93FB-43ED-8A7E-F0461BC57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ภาพรวมกระบวนการ  /  สายวิชาการ</a:t>
            </a:r>
          </a:p>
        </p:txBody>
      </p:sp>
      <p:sp>
        <p:nvSpPr>
          <p:cNvPr id="3" name="title-5">
            <a:extLst xmlns:a="http://schemas.openxmlformats.org/drawingml/2006/main">
              <a:ext uri="{FF2B5EF4-FFF2-40B4-BE49-F238E27FC236}">
                <a16:creationId xmlns:a16="http://schemas.microsoft.com/office/drawing/2014/main" id="{98D73485-6FF7-458B-BC02-33C86409E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มาดูขั้นตอนทั้งหมดก่อนเริ่มกรอกข้อมูล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76BEB27-1824-4E8A-B188-94B8AC8E4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0287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ตั้งแต่เปิดงาน กรอกข้อมูล ตรวจความพร้อม จนถึงผู้ประเมินคนสุดท้าย</a:t>
            </a:r>
          </a:p>
        </p:txBody>
      </p:sp>
      <p:sp>
        <p:nvSpPr>
          <p:cNvPr id="5" name="workflow-line">
            <a:extLst xmlns:a="http://schemas.openxmlformats.org/drawingml/2006/main">
              <a:ext uri="{FF2B5EF4-FFF2-40B4-BE49-F238E27FC236}">
                <a16:creationId xmlns:a16="http://schemas.microsoft.com/office/drawing/2014/main" id="{F2E5F51C-E061-4511-90FA-CAC6CF03C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457575"/>
            <a:ext cx="86677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workflow-arrow">
            <a:extLst xmlns:a="http://schemas.openxmlformats.org/drawingml/2006/main">
              <a:ext uri="{FF2B5EF4-FFF2-40B4-BE49-F238E27FC236}">
                <a16:creationId xmlns:a16="http://schemas.microsoft.com/office/drawing/2014/main" id="{2673BCD0-27E3-4379-B09F-19A863774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3150" y="3343275"/>
            <a:ext cx="45720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8F56DB3-9A8F-4852-8456-8D74D3C2C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05150"/>
            <a:ext cx="742950" cy="742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087DB93-86DF-4817-AF08-2CA837BAC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305175"/>
            <a:ext cx="7429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1225C70-C4E7-40D0-8687-6D001D39F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95750"/>
            <a:ext cx="1466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รับงาน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420ABA8-A94C-45FC-82B2-C5CD42B38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4591050"/>
            <a:ext cx="16573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ตรวจรอบและรายการ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DCE798A-313D-4BC6-8B46-712C01A89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3105150"/>
            <a:ext cx="742950" cy="742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BE569E1-C33A-4A53-A779-7E4754E02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3305175"/>
            <a:ext cx="7429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7AC2260-9F7F-40B5-BC9B-CA6F132FA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4095750"/>
            <a:ext cx="1466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กรอกข้อมูล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9DE9E7A-F496-4755-A065-8F6754077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4591050"/>
            <a:ext cx="16573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ปริมาณ • คุณภาพ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CEFFB12-4187-4602-80A8-3C2C520A8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105150"/>
            <a:ext cx="742950" cy="742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0298C63-E0BA-4F98-969F-6BE9EEC17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305175"/>
            <a:ext cx="7429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6506EF0-75F4-408F-9BF1-10CCB644E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4095750"/>
            <a:ext cx="1466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ตรวจความพร้อม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DC65BFD-4D3B-4A0A-964E-D0642CB51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4591050"/>
            <a:ext cx="16573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ข้อมูล • หลักฐาน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A19E523-7CA6-4692-A3CC-F522C9978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3105150"/>
            <a:ext cx="742950" cy="742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9DFDA7B-7CE5-4CC6-88EF-412C754B5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3305175"/>
            <a:ext cx="7429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9BE715C-E327-477F-93C5-90CCF4178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4095750"/>
            <a:ext cx="1466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ส่งแบบประเมิน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746DD18-D77F-43F2-816F-012854DE5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4591050"/>
            <a:ext cx="16573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เข้าสู่ลำดับผู้ประเมิน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BB3F870-7E3E-4962-842B-DE41D130A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3105150"/>
            <a:ext cx="742950" cy="742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A1BDCAB-499F-4DD9-A59D-CCA731807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3305175"/>
            <a:ext cx="7429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05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AA304F5-4121-4573-AD05-9A6F50A3F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4095750"/>
            <a:ext cx="1466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ปิดงาน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B3FF5BB-B396-4CA1-BD24-C2E0DDA00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591050"/>
            <a:ext cx="16573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สถานะ Completed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06DCA7E-3420-4283-890C-A58A58CBF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38800"/>
            <a:ext cx="7429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500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งานเดินตามลำดับผู้ประเมินที่ผู้ดูแลระบบกำหนด</a:t>
            </a:r>
          </a:p>
        </p:txBody>
      </p:sp>
      <p:sp>
        <p:nvSpPr>
          <p:cNvPr id="28" name="footer-rule-5">
            <a:extLst xmlns:a="http://schemas.openxmlformats.org/drawingml/2006/main">
              <a:ext uri="{FF2B5EF4-FFF2-40B4-BE49-F238E27FC236}">
                <a16:creationId xmlns:a16="http://schemas.microsoft.com/office/drawing/2014/main" id="{FB5147A1-EFEE-487B-83C5-CC3533745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footer-label-5">
            <a:extLst xmlns:a="http://schemas.openxmlformats.org/drawingml/2006/main">
              <a:ext uri="{FF2B5EF4-FFF2-40B4-BE49-F238E27FC236}">
                <a16:creationId xmlns:a16="http://schemas.microsoft.com/office/drawing/2014/main" id="{F13ADDBC-8ACE-47C1-8A87-E204E86FF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ภาคเช้า สายวิชาการ</a:t>
            </a:r>
          </a:p>
        </p:txBody>
      </p:sp>
      <p:sp>
        <p:nvSpPr>
          <p:cNvPr id="30" name="footer-page-5">
            <a:extLst xmlns:a="http://schemas.openxmlformats.org/drawingml/2006/main">
              <a:ext uri="{FF2B5EF4-FFF2-40B4-BE49-F238E27FC236}">
                <a16:creationId xmlns:a16="http://schemas.microsoft.com/office/drawing/2014/main" id="{1F5E970C-E712-4236-BA4A-81DE0EE0B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05 / 18</a:t>
            </a:r>
          </a:p>
        </p:txBody>
      </p:sp>
    </p:spTree>
    <p:extLst>
      <p:ext uri="{BB962C8B-B14F-4D97-AF65-F5344CB8AC3E}">
        <p14:creationId xmlns:p14="http://schemas.microsoft.com/office/powerpoint/2010/main" val="4330141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side-accent-6">
            <a:extLst xmlns:a="http://schemas.openxmlformats.org/drawingml/2006/main">
              <a:ext uri="{FF2B5EF4-FFF2-40B4-BE49-F238E27FC236}">
                <a16:creationId xmlns:a16="http://schemas.microsoft.com/office/drawing/2014/main" id="{A2E1D8A2-1302-477F-991C-F0DE7A1B5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6">
            <a:extLst xmlns:a="http://schemas.openxmlformats.org/drawingml/2006/main">
              <a:ext uri="{FF2B5EF4-FFF2-40B4-BE49-F238E27FC236}">
                <a16:creationId xmlns:a16="http://schemas.microsoft.com/office/drawing/2014/main" id="{9773BF82-FAC1-4AF4-858D-E4BC8862C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บทบาทของคุณ  /  สายวิชาการ</a:t>
            </a:r>
          </a:p>
        </p:txBody>
      </p:sp>
      <p:sp>
        <p:nvSpPr>
          <p:cNvPr id="3" name="title-6">
            <a:extLst xmlns:a="http://schemas.openxmlformats.org/drawingml/2006/main">
              <a:ext uri="{FF2B5EF4-FFF2-40B4-BE49-F238E27FC236}">
                <a16:creationId xmlns:a16="http://schemas.microsoft.com/office/drawing/2014/main" id="{D75D9114-BF69-47AB-B2D1-7038B6E30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กรอกข้อมูลของคุณให้ครบ แล้วส่งให้ผู้ประเมิน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703409B-5076-4B9F-95FB-01879CFD1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47850"/>
            <a:ext cx="6096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>
                <a:solidFill>
                  <a:srgbClr val="23384D"/>
                </a:solidFill>
                <a:latin typeface="Tahoma"/>
                <a:ea typeface="Tahoma"/>
                <a:cs typeface="Tahoma"/>
              </a:defRPr>
            </a:pPr>
            <a:r>
              <a:rPr sz="1875" b="0">
                <a:solidFill>
                  <a:srgbClr val="23384D"/>
                </a:solidFill>
                <a:latin typeface="Tahoma"/>
                <a:ea typeface="Tahoma"/>
                <a:cs typeface="Tahoma"/>
              </a:rPr>
              <a:t>คุณเป็นเจ้าของความครบถ้วนของข้อมูลวิชาการในขั้นแรก ผู้ประเมินจึงตรวจต่อได้อย่างมีหลักฐาน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72E18BB-7074-496A-86ED-6B29E7026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05150"/>
            <a:ext cx="723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89301DF-BC55-483E-B716-77B3C3E56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38550"/>
            <a:ext cx="3028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3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3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เตรียม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C191F82-6172-4D27-A067-FB04D6CD1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30289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0CC3943-5459-4EF9-B322-E31C06E6A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76750"/>
            <a:ext cx="30289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ข้อมูลรายวิชา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ภาระงาน และผลงาน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78BB010-12A0-4FF8-BDD7-328373073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3105150"/>
            <a:ext cx="723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0637D30-069C-4310-B5F2-15659BCD7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3638550"/>
            <a:ext cx="3028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3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3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ตรวจ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21C42E8-15A7-4D76-B036-C4DE1360B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4191000"/>
            <a:ext cx="30289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77661BE-8C6D-4236-A54B-94F33865D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4476750"/>
            <a:ext cx="30289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ค่าที่กรอก สูตรคำนวณ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และลิงก์หลักฐาน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F59CBE1-FB00-49F6-99E4-1609D87A6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105150"/>
            <a:ext cx="723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21AB038-0B8D-48EE-8B3C-13DAADD4A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638550"/>
            <a:ext cx="3028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3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3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ตัดสินใจ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A47FFD3-4202-4EA0-916E-6AF5247E6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4191000"/>
            <a:ext cx="30289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A7EA295-6F61-4358-B1ED-1FA0C391F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4476750"/>
            <a:ext cx="30289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บันทึกร่าง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หรือส่งแบบประเมิน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9AF74DB-4C74-44C2-9F1B-E9399B6B4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866900"/>
            <a:ext cx="300990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E9EC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2E5CCA7-31DC-43E0-9A77-E7EDB6363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1990725"/>
            <a:ext cx="2476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725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ผู้ประเมินคนสุดท้าย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725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เป็นผู้ปิดงาน</a:t>
            </a:r>
          </a:p>
        </p:txBody>
      </p:sp>
      <p:sp>
        <p:nvSpPr>
          <p:cNvPr id="19" name="footer-rule-6">
            <a:extLst xmlns:a="http://schemas.openxmlformats.org/drawingml/2006/main">
              <a:ext uri="{FF2B5EF4-FFF2-40B4-BE49-F238E27FC236}">
                <a16:creationId xmlns:a16="http://schemas.microsoft.com/office/drawing/2014/main" id="{7296C25B-0226-474F-91C6-325FFB8DF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footer-label-6">
            <a:extLst xmlns:a="http://schemas.openxmlformats.org/drawingml/2006/main">
              <a:ext uri="{FF2B5EF4-FFF2-40B4-BE49-F238E27FC236}">
                <a16:creationId xmlns:a16="http://schemas.microsoft.com/office/drawing/2014/main" id="{870230F6-D7C5-441A-B57B-7D6A9702F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ภาคเช้า สายวิชาการ</a:t>
            </a:r>
          </a:p>
        </p:txBody>
      </p:sp>
      <p:sp>
        <p:nvSpPr>
          <p:cNvPr id="21" name="footer-page-6">
            <a:extLst xmlns:a="http://schemas.openxmlformats.org/drawingml/2006/main">
              <a:ext uri="{FF2B5EF4-FFF2-40B4-BE49-F238E27FC236}">
                <a16:creationId xmlns:a16="http://schemas.microsoft.com/office/drawing/2014/main" id="{989B1DE4-63A0-4D29-A2EE-587B5B950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06 / 18</a:t>
            </a:r>
          </a:p>
        </p:txBody>
      </p:sp>
    </p:spTree>
    <p:extLst>
      <p:ext uri="{BB962C8B-B14F-4D97-AF65-F5344CB8AC3E}">
        <p14:creationId xmlns:p14="http://schemas.microsoft.com/office/powerpoint/2010/main" val="96967407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side-accent-7">
            <a:extLst xmlns:a="http://schemas.openxmlformats.org/drawingml/2006/main">
              <a:ext uri="{FF2B5EF4-FFF2-40B4-BE49-F238E27FC236}">
                <a16:creationId xmlns:a16="http://schemas.microsoft.com/office/drawing/2014/main" id="{74234F19-B694-41CF-B937-6D0E8E38C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7">
            <a:extLst xmlns:a="http://schemas.openxmlformats.org/drawingml/2006/main">
              <a:ext uri="{FF2B5EF4-FFF2-40B4-BE49-F238E27FC236}">
                <a16:creationId xmlns:a16="http://schemas.microsoft.com/office/drawing/2014/main" id="{CD45F80E-EEA4-4879-B2A3-283862EC2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จุดเริ่มต้น  /  สายวิชาการ</a:t>
            </a:r>
          </a:p>
        </p:txBody>
      </p:sp>
      <p:sp>
        <p:nvSpPr>
          <p:cNvPr id="3" name="title-7">
            <a:extLst xmlns:a="http://schemas.openxmlformats.org/drawingml/2006/main">
              <a:ext uri="{FF2B5EF4-FFF2-40B4-BE49-F238E27FC236}">
                <a16:creationId xmlns:a16="http://schemas.microsoft.com/office/drawing/2014/main" id="{C155EF22-9374-42CA-8D17-CF4F6660B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ตรวจสอบรอบประเมินและรายการที่ได้รับมอบหมาย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647F25A-186A-4135-8AB3-BF137E53F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47850"/>
            <a:ext cx="5334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800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ก่อนเปิดงาน ให้ตรวจ 3 อย่างนี้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DBC8389-CE78-4DC0-BA8C-5FB86DEE7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EA0BB91-D6C0-455E-B086-D29DCDFC1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33675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0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8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✓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33F7A98-D1D1-4313-95F6-95176DCAD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628900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รอบประเมิน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1738C6D-FCFD-44DF-8032-C1DF51356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667000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ผู้ดูแลระบบกำหนดไว้ถูกต้อง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C26387D-551D-4766-BFFC-9502E79BD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338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7BFF72E-F565-49FD-9147-A80DA1A50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00475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0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8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✓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9458316-5848-4DF8-8E65-B483660A1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695700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รายการงาน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79E13B6-7727-4D52-ACFF-DA75DD7C2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3733800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เป็นงานของคุณและตรงประเภท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79D29E3-5C50-4406-AA3D-8A034B79C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006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E20CF6C-D820-428C-B650-D9A3068EC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67275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0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8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✓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82AA7D2-9014-414A-A593-360954E2D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762500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สถานะ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6292D17-1CB7-45F1-8665-84168F4B2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4800600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ยังอยู่ในขั้นที่คุณดำเนินการได้</a:t>
            </a:r>
          </a:p>
        </p:txBody>
      </p:sp>
      <p:sp>
        <p:nvSpPr>
          <p:cNvPr id="17" name="dashboard-preview">
            <a:extLst xmlns:a="http://schemas.openxmlformats.org/drawingml/2006/main">
              <a:ext uri="{FF2B5EF4-FFF2-40B4-BE49-F238E27FC236}">
                <a16:creationId xmlns:a16="http://schemas.microsoft.com/office/drawing/2014/main" id="{F74F5885-4EA7-4C50-8F06-B13EA59D4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209800"/>
            <a:ext cx="3124200" cy="3352800"/>
          </a:xfrm>
          <a:prstGeom xmlns:a="http://schemas.openxmlformats.org/drawingml/2006/main" prst="roundRect">
            <a:avLst>
              <a:gd name="adj" fmla="val 243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505D54E-BE2E-48D8-9F24-0348FD276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495550"/>
            <a:ext cx="2514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95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แดชบอร์ดของฉัน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65AD0B9-3A49-44C0-A962-247D054E3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105150"/>
            <a:ext cx="2514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C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B87F18B-6D0A-44B8-8F14-4FEBF94D6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3209925"/>
            <a:ext cx="2171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275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สายวิชาการ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DE7A2C3-B41D-48DC-AFF0-60A428269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752850"/>
            <a:ext cx="19431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159A110-1C47-452D-B6B6-E453C0E5E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114800"/>
            <a:ext cx="22669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4BDE1BD-9256-4AE1-9333-2FA1D0AA6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705350"/>
            <a:ext cx="15430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E92EACC-17F4-4CAD-9B81-962DF261F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829175"/>
            <a:ext cx="1543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เปิดรายการ</a:t>
            </a:r>
          </a:p>
        </p:txBody>
      </p:sp>
      <p:sp>
        <p:nvSpPr>
          <p:cNvPr id="25" name="footer-rule-7">
            <a:extLst xmlns:a="http://schemas.openxmlformats.org/drawingml/2006/main">
              <a:ext uri="{FF2B5EF4-FFF2-40B4-BE49-F238E27FC236}">
                <a16:creationId xmlns:a16="http://schemas.microsoft.com/office/drawing/2014/main" id="{4438F1B3-9D5D-4540-B0A6-282FBEC72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footer-label-7">
            <a:extLst xmlns:a="http://schemas.openxmlformats.org/drawingml/2006/main">
              <a:ext uri="{FF2B5EF4-FFF2-40B4-BE49-F238E27FC236}">
                <a16:creationId xmlns:a16="http://schemas.microsoft.com/office/drawing/2014/main" id="{2DC48D4A-1B9E-4AC1-88CF-A223566B7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ภาคเช้า สายวิชาการ</a:t>
            </a:r>
          </a:p>
        </p:txBody>
      </p:sp>
      <p:sp>
        <p:nvSpPr>
          <p:cNvPr id="27" name="footer-page-7">
            <a:extLst xmlns:a="http://schemas.openxmlformats.org/drawingml/2006/main">
              <a:ext uri="{FF2B5EF4-FFF2-40B4-BE49-F238E27FC236}">
                <a16:creationId xmlns:a16="http://schemas.microsoft.com/office/drawing/2014/main" id="{6DBF8A94-C5A1-46FB-89BC-F43F32FC6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07 / 18</a:t>
            </a:r>
          </a:p>
        </p:txBody>
      </p:sp>
    </p:spTree>
    <p:extLst>
      <p:ext uri="{BB962C8B-B14F-4D97-AF65-F5344CB8AC3E}">
        <p14:creationId xmlns:p14="http://schemas.microsoft.com/office/powerpoint/2010/main" val="63307321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side-accent-8">
            <a:extLst xmlns:a="http://schemas.openxmlformats.org/drawingml/2006/main">
              <a:ext uri="{FF2B5EF4-FFF2-40B4-BE49-F238E27FC236}">
                <a16:creationId xmlns:a16="http://schemas.microsoft.com/office/drawing/2014/main" id="{3DC39E9C-DBAF-4242-B812-E5909EC4C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8">
            <a:extLst xmlns:a="http://schemas.openxmlformats.org/drawingml/2006/main">
              <a:ext uri="{FF2B5EF4-FFF2-40B4-BE49-F238E27FC236}">
                <a16:creationId xmlns:a16="http://schemas.microsoft.com/office/drawing/2014/main" id="{22C99369-C27D-4777-A16C-62FEEE25C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โครงสร้างข้อมูล  /  สายวิชาการ</a:t>
            </a:r>
          </a:p>
        </p:txBody>
      </p:sp>
      <p:sp>
        <p:nvSpPr>
          <p:cNvPr id="3" name="title-8">
            <a:extLst xmlns:a="http://schemas.openxmlformats.org/drawingml/2006/main">
              <a:ext uri="{FF2B5EF4-FFF2-40B4-BE49-F238E27FC236}">
                <a16:creationId xmlns:a16="http://schemas.microsoft.com/office/drawing/2014/main" id="{7AED49B5-9E8D-4231-9740-B13B45BA7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ตรวจให้แน่ใจว่ารายวิชา ภาระงาน ผลงาน และหลักฐานสอดคล้องกัน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3719E43-211E-4C35-9C30-CFFDB0E62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685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ตรวจความเชื่อมโยงของข้อมูลทุกส่วน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F4E0251-74E3-4475-80C9-4233906E6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3505200"/>
            <a:ext cx="76962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2893843-ECE6-466D-92CC-13EA84DDC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3009900"/>
            <a:ext cx="1028700" cy="1028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60B7BE2-D2D8-4149-A7D2-B7D317C52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3295650"/>
            <a:ext cx="1028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25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25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1511AA5-6019-45E6-9EC0-FA0584D93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305300"/>
            <a:ext cx="2590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รายวิชา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5000F7F-56AF-4BD2-B2A2-7DF46746F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800600"/>
            <a:ext cx="2514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บริบทของงานสอน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7FA89B8-649A-470E-ADD7-E626CB3C8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009900"/>
            <a:ext cx="1028700" cy="1028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FB9B9EE-52E8-4365-8E0C-0BB354CD0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295650"/>
            <a:ext cx="1028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25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25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00328B7-FEAE-4E63-A164-F2153FB5B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4305300"/>
            <a:ext cx="2590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ภาระงาน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1E6B84D-40B3-45C3-812A-21614D972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800600"/>
            <a:ext cx="2514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สิ่งที่ทำและปริมาณ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3830EE2-FAEE-4CA8-8113-B53D20AB2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3009900"/>
            <a:ext cx="1028700" cy="1028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35BA54E-1A9C-4303-8BE1-7B383DF30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3295650"/>
            <a:ext cx="1028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25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25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67EDB78-88FB-4697-8E1F-9EE78B8AD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305300"/>
            <a:ext cx="2590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ผลงาน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BD0B8AE-23A8-4A87-A002-7EEA22E91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800600"/>
            <a:ext cx="2514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ผลลัพธ์เชิงคุณภาพ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CE69F09-0315-45CF-845B-DFBDACC46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3009900"/>
            <a:ext cx="1028700" cy="1028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F148678-B462-4648-A20B-787F27D12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3295650"/>
            <a:ext cx="1028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25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25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6185002-5EE2-4234-87FB-1E9AB5B4D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4305300"/>
            <a:ext cx="2590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หลักฐาน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3A11DEE-CE6B-456B-9328-EBE937016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4800600"/>
            <a:ext cx="2514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สิ่งที่ตรวจสอบได้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4DBD94E-7345-40DE-B1B0-32632B62A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47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500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ถ้าข้อมูลส่วนหนึ่งไม่สอดคล้อง ผู้ประเมินจะตีความงานได้ยาก</a:t>
            </a:r>
          </a:p>
        </p:txBody>
      </p:sp>
      <p:sp>
        <p:nvSpPr>
          <p:cNvPr id="23" name="footer-rule-8">
            <a:extLst xmlns:a="http://schemas.openxmlformats.org/drawingml/2006/main">
              <a:ext uri="{FF2B5EF4-FFF2-40B4-BE49-F238E27FC236}">
                <a16:creationId xmlns:a16="http://schemas.microsoft.com/office/drawing/2014/main" id="{60D956C9-2132-4025-B095-FF06C9C57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footer-label-8">
            <a:extLst xmlns:a="http://schemas.openxmlformats.org/drawingml/2006/main">
              <a:ext uri="{FF2B5EF4-FFF2-40B4-BE49-F238E27FC236}">
                <a16:creationId xmlns:a16="http://schemas.microsoft.com/office/drawing/2014/main" id="{8ED755D3-B9E0-484F-B6A2-C453B009F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ภาคเช้า สายวิชาการ</a:t>
            </a:r>
          </a:p>
        </p:txBody>
      </p:sp>
      <p:sp>
        <p:nvSpPr>
          <p:cNvPr id="25" name="footer-page-8">
            <a:extLst xmlns:a="http://schemas.openxmlformats.org/drawingml/2006/main">
              <a:ext uri="{FF2B5EF4-FFF2-40B4-BE49-F238E27FC236}">
                <a16:creationId xmlns:a16="http://schemas.microsoft.com/office/drawing/2014/main" id="{D2F3932E-7027-4586-A74C-D9EDA2325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08 / 18</a:t>
            </a:r>
          </a:p>
        </p:txBody>
      </p:sp>
    </p:spTree>
    <p:extLst>
      <p:ext uri="{BB962C8B-B14F-4D97-AF65-F5344CB8AC3E}">
        <p14:creationId xmlns:p14="http://schemas.microsoft.com/office/powerpoint/2010/main" val="175321674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side-accent-9">
            <a:extLst xmlns:a="http://schemas.openxmlformats.org/drawingml/2006/main">
              <a:ext uri="{FF2B5EF4-FFF2-40B4-BE49-F238E27FC236}">
                <a16:creationId xmlns:a16="http://schemas.microsoft.com/office/drawing/2014/main" id="{9EE2C900-0722-4B69-A796-06D077143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9">
            <a:extLst xmlns:a="http://schemas.openxmlformats.org/drawingml/2006/main">
              <a:ext uri="{FF2B5EF4-FFF2-40B4-BE49-F238E27FC236}">
                <a16:creationId xmlns:a16="http://schemas.microsoft.com/office/drawing/2014/main" id="{4766B836-8847-40DE-85C3-C8C78251C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ข้อมูลเชิงปริมาณ  /  สายวิชาการ</a:t>
            </a:r>
          </a:p>
        </p:txBody>
      </p:sp>
      <p:sp>
        <p:nvSpPr>
          <p:cNvPr id="3" name="title-9">
            <a:extLst xmlns:a="http://schemas.openxmlformats.org/drawingml/2006/main">
              <a:ext uri="{FF2B5EF4-FFF2-40B4-BE49-F238E27FC236}">
                <a16:creationId xmlns:a16="http://schemas.microsoft.com/office/drawing/2014/main" id="{D65A391D-25B4-492E-9B1A-4C303776D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กรอกภาระงานที่ทำได้ แล้วตรวจคะแนนที่ระบบคำนวณ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378A7A0-E46E-4227-B824-E1C42C239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657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อ่านช่อง A–D ให้เป็นลำดับเดียวกัน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328A382-CFCD-4610-A3EB-423BC4939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2343150" cy="2362200"/>
          </a:xfrm>
          <a:prstGeom xmlns:a="http://schemas.openxmlformats.org/drawingml/2006/main" prst="roundRect">
            <a:avLst>
              <a:gd name="adj" fmla="val 325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7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FB4E8C3-23B1-40C5-B7B0-FC13F33FB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857500"/>
            <a:ext cx="762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200" b="1">
                <a:solidFill>
                  <a:srgbClr val="C79A2B"/>
                </a:solidFill>
                <a:latin typeface="Tahoma"/>
                <a:ea typeface="Tahoma"/>
                <a:cs typeface="Tahoma"/>
              </a:defRPr>
            </a:pPr>
            <a:r>
              <a:rPr sz="4200" b="1">
                <a:solidFill>
                  <a:srgbClr val="C79A2B"/>
                </a:solidFill>
                <a:latin typeface="Tahoma"/>
                <a:ea typeface="Tahoma"/>
                <a:cs typeface="Tahoma"/>
              </a:rPr>
              <a:t>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8B986D4-A49A-4537-8BF7-A456B2D7E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733800"/>
            <a:ext cx="19240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ค่าน้ำหนัก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7A0DE38-8957-4488-9D83-9D7A142ED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419600"/>
            <a:ext cx="1924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กำหนดจากเกณฑ์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AB382DB-C115-4023-BCB8-2FA6ECFA7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667000"/>
            <a:ext cx="2343150" cy="2362200"/>
          </a:xfrm>
          <a:prstGeom xmlns:a="http://schemas.openxmlformats.org/drawingml/2006/main" prst="roundRect">
            <a:avLst>
              <a:gd name="adj" fmla="val 325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21B8E9B-1669-40B6-A6DA-E84125E4B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857500"/>
            <a:ext cx="762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200" b="1">
                <a:solidFill>
                  <a:srgbClr val="C79A2B"/>
                </a:solidFill>
                <a:latin typeface="Tahoma"/>
                <a:ea typeface="Tahoma"/>
                <a:cs typeface="Tahoma"/>
              </a:defRPr>
            </a:pPr>
            <a:r>
              <a:rPr sz="4200" b="1">
                <a:solidFill>
                  <a:srgbClr val="C79A2B"/>
                </a:solidFill>
                <a:latin typeface="Tahoma"/>
                <a:ea typeface="Tahoma"/>
                <a:cs typeface="Tahoma"/>
              </a:rPr>
              <a:t>B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F0AEEA1-CB51-43EB-8C44-7F08C5537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733800"/>
            <a:ext cx="19240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ภาระงานมาตรฐาน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8A200E2-32FE-42D6-AB01-DCBC934E9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4419600"/>
            <a:ext cx="1924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ค่าฐานของรายการ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BCB4A7D-EACE-436D-9A24-F1D468E25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667000"/>
            <a:ext cx="2343150" cy="2362200"/>
          </a:xfrm>
          <a:prstGeom xmlns:a="http://schemas.openxmlformats.org/drawingml/2006/main" prst="roundRect">
            <a:avLst>
              <a:gd name="adj" fmla="val 325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EEA0CC7-6C28-417A-8529-27D20C41B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857500"/>
            <a:ext cx="762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200" b="1">
                <a:solidFill>
                  <a:srgbClr val="C79A2B"/>
                </a:solidFill>
                <a:latin typeface="Tahoma"/>
                <a:ea typeface="Tahoma"/>
                <a:cs typeface="Tahoma"/>
              </a:defRPr>
            </a:pPr>
            <a:r>
              <a:rPr sz="4200" b="1">
                <a:solidFill>
                  <a:srgbClr val="C79A2B"/>
                </a:solidFill>
                <a:latin typeface="Tahoma"/>
                <a:ea typeface="Tahoma"/>
                <a:cs typeface="Tahoma"/>
              </a:rPr>
              <a:t>C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7BB385C-733A-4018-8084-1E14BD42F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733800"/>
            <a:ext cx="19240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ภาระงานที่ทำได้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FE6D2EE-C13D-4A81-ADCE-5EEBF1268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419600"/>
            <a:ext cx="1924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ข้อมูลที่คุณกรอก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696C40A-D24C-49F2-887C-C986C72EB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2667000"/>
            <a:ext cx="2343150" cy="2362200"/>
          </a:xfrm>
          <a:prstGeom xmlns:a="http://schemas.openxmlformats.org/drawingml/2006/main" prst="roundRect">
            <a:avLst>
              <a:gd name="adj" fmla="val 3252"/>
            </a:avLst>
          </a:prstGeom>
          <a:solidFill xmlns:a="http://schemas.openxmlformats.org/drawingml/2006/main">
            <a:srgbClr val="E9ECFB"/>
          </a:solidFill>
          <a:ln xmlns:a="http://schemas.openxmlformats.org/drawingml/2006/main" w="9525">
            <a:solidFill>
              <a:srgbClr val="4356C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090F62F-90AC-4009-86E5-988243CC3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857500"/>
            <a:ext cx="762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200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4200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628D9D5-B68F-4BD6-B0C0-51281F478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3733800"/>
            <a:ext cx="19240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คะแนนที่คำนวณ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DDB198B-E48F-4067-A239-2BAEC6291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4419600"/>
            <a:ext cx="1924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ตรวจผลจากระบบ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63F2761-75B8-48FC-B54C-605E9CDCC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723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ตรวจหน่วยและค่าทศนิยมก่อนบันทึก</a:t>
            </a:r>
          </a:p>
        </p:txBody>
      </p:sp>
      <p:sp>
        <p:nvSpPr>
          <p:cNvPr id="22" name="footer-rule-9">
            <a:extLst xmlns:a="http://schemas.openxmlformats.org/drawingml/2006/main">
              <a:ext uri="{FF2B5EF4-FFF2-40B4-BE49-F238E27FC236}">
                <a16:creationId xmlns:a16="http://schemas.microsoft.com/office/drawing/2014/main" id="{7C92D9FC-8368-4834-9CF1-956D26ED3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footer-label-9">
            <a:extLst xmlns:a="http://schemas.openxmlformats.org/drawingml/2006/main">
              <a:ext uri="{FF2B5EF4-FFF2-40B4-BE49-F238E27FC236}">
                <a16:creationId xmlns:a16="http://schemas.microsoft.com/office/drawing/2014/main" id="{B464C367-291D-4A8E-A1FF-0E48A7EFD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ภาคเช้า สายวิชาการ</a:t>
            </a:r>
          </a:p>
        </p:txBody>
      </p:sp>
      <p:sp>
        <p:nvSpPr>
          <p:cNvPr id="24" name="footer-page-9">
            <a:extLst xmlns:a="http://schemas.openxmlformats.org/drawingml/2006/main">
              <a:ext uri="{FF2B5EF4-FFF2-40B4-BE49-F238E27FC236}">
                <a16:creationId xmlns:a16="http://schemas.microsoft.com/office/drawing/2014/main" id="{61B5B7DC-3462-4689-92D0-67D1CA4B0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09 / 18</a:t>
            </a:r>
          </a:p>
        </p:txBody>
      </p:sp>
    </p:spTree>
    <p:extLst>
      <p:ext uri="{BB962C8B-B14F-4D97-AF65-F5344CB8AC3E}">
        <p14:creationId xmlns:p14="http://schemas.microsoft.com/office/powerpoint/2010/main" val="650540245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side-accent-10">
            <a:extLst xmlns:a="http://schemas.openxmlformats.org/drawingml/2006/main">
              <a:ext uri="{FF2B5EF4-FFF2-40B4-BE49-F238E27FC236}">
                <a16:creationId xmlns:a16="http://schemas.microsoft.com/office/drawing/2014/main" id="{4CFA6D5F-AF04-464A-B23B-A10C962E1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10">
            <a:extLst xmlns:a="http://schemas.openxmlformats.org/drawingml/2006/main">
              <a:ext uri="{FF2B5EF4-FFF2-40B4-BE49-F238E27FC236}">
                <a16:creationId xmlns:a16="http://schemas.microsoft.com/office/drawing/2014/main" id="{381C64D6-862C-40AC-8F5D-06F1D56D9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ข้อมูลเชิงคุณภาพ  /  สายวิชาการ</a:t>
            </a:r>
          </a:p>
        </p:txBody>
      </p:sp>
      <p:sp>
        <p:nvSpPr>
          <p:cNvPr id="3" name="title-10">
            <a:extLst xmlns:a="http://schemas.openxmlformats.org/drawingml/2006/main">
              <a:ext uri="{FF2B5EF4-FFF2-40B4-BE49-F238E27FC236}">
                <a16:creationId xmlns:a16="http://schemas.microsoft.com/office/drawing/2014/main" id="{6885A6D0-4755-4DBF-BC29-F2ED31526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อธิบายผลงานให้ผู้ประเมินเข้าใจได้ในครั้งเดียว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2D3A870-7EC9-47A3-8B8D-8BC92DB95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47850"/>
            <a:ext cx="9048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เขียนให้เห็นว่า “ทำอะไร — เกิดผลอย่างไร — ตรวจจากไหน”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9DCE39D-B7C0-42C6-98D7-6DE28F080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81300"/>
            <a:ext cx="609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BB21438-6FA1-494C-9DC1-7C1086763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2743200"/>
            <a:ext cx="266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1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ทำอะไร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DFDE4DD-DA76-4A11-974C-B822AE6B4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781300"/>
            <a:ext cx="6572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ระบุผลงานหรือบทบาทให้ชัด ไม่ใช้คำกว้าง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04B62A6-4733-4FA8-8A96-82B552323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3429000"/>
            <a:ext cx="9410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FBBDF97-0BC3-45EF-BB2E-1FB7E7AB9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52850"/>
            <a:ext cx="609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D4B4162-D252-4A05-833D-24D6BB184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3714750"/>
            <a:ext cx="266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1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เกิดผลอย่างไร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C352C44-0B32-40B7-A155-8592C6604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752850"/>
            <a:ext cx="6572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สรุปผลลัพธ์ที่สัมพันธ์กับเกณฑ์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E5DF7CE-2807-44D2-8DFB-A058F1BE1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4400550"/>
            <a:ext cx="9410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BB533AF-7D15-4D21-98F8-FE56B02E8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24400"/>
            <a:ext cx="609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FF51788-C174-4A2E-B404-816CF1992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4686300"/>
            <a:ext cx="266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1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ตรวจจากไหน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45D6905-F38E-4D0C-A9A1-13F88FB5F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724400"/>
            <a:ext cx="6572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ชี้ไปยังเอกสารหรือหลักฐานที่ตรงรายการ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EBD0995-CF37-417C-B8A6-A72750874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1885950"/>
            <a:ext cx="28765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9EC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96A23D1-CDDD-4D8F-A02C-65EF38734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038350"/>
            <a:ext cx="2571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ชัด • สั้น • ตรวจสอบได้</a:t>
            </a:r>
          </a:p>
        </p:txBody>
      </p:sp>
      <p:sp>
        <p:nvSpPr>
          <p:cNvPr id="18" name="footer-rule-10">
            <a:extLst xmlns:a="http://schemas.openxmlformats.org/drawingml/2006/main">
              <a:ext uri="{FF2B5EF4-FFF2-40B4-BE49-F238E27FC236}">
                <a16:creationId xmlns:a16="http://schemas.microsoft.com/office/drawing/2014/main" id="{F19E9D18-7BFA-4635-9048-D5F03BCFA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footer-label-10">
            <a:extLst xmlns:a="http://schemas.openxmlformats.org/drawingml/2006/main">
              <a:ext uri="{FF2B5EF4-FFF2-40B4-BE49-F238E27FC236}">
                <a16:creationId xmlns:a16="http://schemas.microsoft.com/office/drawing/2014/main" id="{6A070A15-B3D0-45F6-A88E-BA184A85F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ภาคเช้า สายวิชาการ</a:t>
            </a:r>
          </a:p>
        </p:txBody>
      </p:sp>
      <p:sp>
        <p:nvSpPr>
          <p:cNvPr id="20" name="footer-page-10">
            <a:extLst xmlns:a="http://schemas.openxmlformats.org/drawingml/2006/main">
              <a:ext uri="{FF2B5EF4-FFF2-40B4-BE49-F238E27FC236}">
                <a16:creationId xmlns:a16="http://schemas.microsoft.com/office/drawing/2014/main" id="{749A98E9-EE40-4EF5-9990-FF87DE4B3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10 / 18</a:t>
            </a:r>
          </a:p>
        </p:txBody>
      </p:sp>
    </p:spTree>
    <p:extLst>
      <p:ext uri="{BB962C8B-B14F-4D97-AF65-F5344CB8AC3E}">
        <p14:creationId xmlns:p14="http://schemas.microsoft.com/office/powerpoint/2010/main" val="203055934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side-accent-11">
            <a:extLst xmlns:a="http://schemas.openxmlformats.org/drawingml/2006/main">
              <a:ext uri="{FF2B5EF4-FFF2-40B4-BE49-F238E27FC236}">
                <a16:creationId xmlns:a16="http://schemas.microsoft.com/office/drawing/2014/main" id="{71CEA988-02B1-4C1A-A3B5-9BDD8C5AD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11">
            <a:extLst xmlns:a="http://schemas.openxmlformats.org/drawingml/2006/main">
              <a:ext uri="{FF2B5EF4-FFF2-40B4-BE49-F238E27FC236}">
                <a16:creationId xmlns:a16="http://schemas.microsoft.com/office/drawing/2014/main" id="{9EB85E06-97A2-4423-B517-7163F499E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หลักฐาน  /  สายวิชาการ</a:t>
            </a:r>
          </a:p>
        </p:txBody>
      </p:sp>
      <p:sp>
        <p:nvSpPr>
          <p:cNvPr id="3" name="title-11">
            <a:extLst xmlns:a="http://schemas.openxmlformats.org/drawingml/2006/main">
              <a:ext uri="{FF2B5EF4-FFF2-40B4-BE49-F238E27FC236}">
                <a16:creationId xmlns:a16="http://schemas.microsoft.com/office/drawing/2014/main" id="{AAB05D03-1A4C-45D8-B94D-18D71C04D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แนบหลักฐานที่เปิดดูได้และตรงกับผลงาน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C9F61A8-8CD2-4197-8D93-BFC5C5320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47850"/>
            <a:ext cx="8477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หลักฐานที่ดีช่วยให้ผู้ประเมินตรวจได้เร็ว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1040D3F-9C5B-40ED-90BF-00F952D0C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813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F854111-52EE-40F2-965D-BD91297D2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47975"/>
            <a:ext cx="49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✓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66429F4-525D-4039-A91E-A6EC48198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762250"/>
            <a:ext cx="228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เปิดได้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8B9EAB1-7F4E-44E1-8D3D-4A06CD1F7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781300"/>
            <a:ext cx="6667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ใช้ลิงก์ http/https ที่เข้าถึงได้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79DF10C-640A-4BCA-8637-6DA639A1E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1475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48428D0-DD77-4384-9227-C72D62192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81425"/>
            <a:ext cx="49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✓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242C9D7-D56F-4898-9626-3085C6C7E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695700"/>
            <a:ext cx="228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ตรงรายการ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BB804E5-C04D-4989-9A93-280E92707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714750"/>
            <a:ext cx="6667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สอดคล้องกับผลงานหรือเกณฑ์ที่เลือก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D4A7D32-5DE0-4D3E-9671-AE4ED621E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48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98298DA-BB2B-4622-8A2D-999659CD8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14875"/>
            <a:ext cx="49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✓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4BAD448-A3CA-4BCF-BF13-0E84F9240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629150"/>
            <a:ext cx="228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ระบุตัวตนได้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C5622CD-E322-4995-B77A-68DD0E930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4648200"/>
            <a:ext cx="6667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ตั้งชื่อไฟล์หรือเอกสารให้เข้าใจง่าย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E49CA8B-C4EB-44F4-BF44-505404D1E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5124450"/>
            <a:ext cx="35242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E9ECFB"/>
          </a:solidFill>
          <a:ln xmlns:a="http://schemas.openxmlformats.org/drawingml/2006/main" w="9525">
            <a:solidFill>
              <a:srgbClr val="4356C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5B830D6-7C36-45EC-A9BB-78B6A40AF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5219700"/>
            <a:ext cx="30289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รายการที่บังคับหลักฐาน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ต้องมีลิงก์ก่อนส่ง</a:t>
            </a:r>
          </a:p>
        </p:txBody>
      </p:sp>
      <p:sp>
        <p:nvSpPr>
          <p:cNvPr id="19" name="footer-rule-11">
            <a:extLst xmlns:a="http://schemas.openxmlformats.org/drawingml/2006/main">
              <a:ext uri="{FF2B5EF4-FFF2-40B4-BE49-F238E27FC236}">
                <a16:creationId xmlns:a16="http://schemas.microsoft.com/office/drawing/2014/main" id="{B04E4057-44CD-4FA7-B903-19582E55C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footer-label-11">
            <a:extLst xmlns:a="http://schemas.openxmlformats.org/drawingml/2006/main">
              <a:ext uri="{FF2B5EF4-FFF2-40B4-BE49-F238E27FC236}">
                <a16:creationId xmlns:a16="http://schemas.microsoft.com/office/drawing/2014/main" id="{6CFDC52A-937D-4A03-BF9F-DD7CBDE7B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ภาคเช้า สายวิชาการ</a:t>
            </a:r>
          </a:p>
        </p:txBody>
      </p:sp>
      <p:sp>
        <p:nvSpPr>
          <p:cNvPr id="21" name="footer-page-11">
            <a:extLst xmlns:a="http://schemas.openxmlformats.org/drawingml/2006/main">
              <a:ext uri="{FF2B5EF4-FFF2-40B4-BE49-F238E27FC236}">
                <a16:creationId xmlns:a16="http://schemas.microsoft.com/office/drawing/2014/main" id="{D1C2A40C-B35B-4C8D-8A3A-6CE1A4788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11 / 18</a:t>
            </a:r>
          </a:p>
        </p:txBody>
      </p:sp>
    </p:spTree>
    <p:extLst>
      <p:ext uri="{BB962C8B-B14F-4D97-AF65-F5344CB8AC3E}">
        <p14:creationId xmlns:p14="http://schemas.microsoft.com/office/powerpoint/2010/main" val="204054356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side-accent-12">
            <a:extLst xmlns:a="http://schemas.openxmlformats.org/drawingml/2006/main">
              <a:ext uri="{FF2B5EF4-FFF2-40B4-BE49-F238E27FC236}">
                <a16:creationId xmlns:a16="http://schemas.microsoft.com/office/drawing/2014/main" id="{AE22D311-A5E9-4E87-9135-EC2332C84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12">
            <a:extLst xmlns:a="http://schemas.openxmlformats.org/drawingml/2006/main">
              <a:ext uri="{FF2B5EF4-FFF2-40B4-BE49-F238E27FC236}">
                <a16:creationId xmlns:a16="http://schemas.microsoft.com/office/drawing/2014/main" id="{408C12A9-E46C-4C77-8425-B4257ED10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ก่อนกดปุ่ม  /  สายวิชาการ</a:t>
            </a:r>
          </a:p>
        </p:txBody>
      </p:sp>
      <p:sp>
        <p:nvSpPr>
          <p:cNvPr id="3" name="title-12">
            <a:extLst xmlns:a="http://schemas.openxmlformats.org/drawingml/2006/main">
              <a:ext uri="{FF2B5EF4-FFF2-40B4-BE49-F238E27FC236}">
                <a16:creationId xmlns:a16="http://schemas.microsoft.com/office/drawing/2014/main" id="{56F00F9C-BC02-4B86-AEE9-431B44661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หากข้อมูลยังไม่ครบ ให้บันทึกร่างไว้ก่อน</a:t>
            </a:r>
          </a:p>
        </p:txBody>
      </p:sp>
      <p:sp>
        <p:nvSpPr>
          <p:cNvPr id="4" name="draft-panel">
            <a:extLst xmlns:a="http://schemas.openxmlformats.org/drawingml/2006/main">
              <a:ext uri="{FF2B5EF4-FFF2-40B4-BE49-F238E27FC236}">
                <a16:creationId xmlns:a16="http://schemas.microsoft.com/office/drawing/2014/main" id="{7D6BE7F5-4AE2-49CF-A03D-AF1172C2A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43150"/>
            <a:ext cx="4953000" cy="2914650"/>
          </a:xfrm>
          <a:prstGeom xmlns:a="http://schemas.openxmlformats.org/drawingml/2006/main" prst="roundRect">
            <a:avLst>
              <a:gd name="adj" fmla="val 26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7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861AB5A-E213-4F44-B745-D1F46AAA8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686050"/>
            <a:ext cx="4191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7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7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บันทึกร่าง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617E20F-0DD1-44B8-8B8A-0B9A6430C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486150"/>
            <a:ext cx="40386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7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กลับมาแก้ไขได้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7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เหมาะเมื่อข้อมูลยังไม่ครบ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7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งานยังไม่ส่งให้ผู้ประเมิน</a:t>
            </a:r>
          </a:p>
        </p:txBody>
      </p:sp>
      <p:sp>
        <p:nvSpPr>
          <p:cNvPr id="7" name="submit-panel">
            <a:extLst xmlns:a="http://schemas.openxmlformats.org/drawingml/2006/main">
              <a:ext uri="{FF2B5EF4-FFF2-40B4-BE49-F238E27FC236}">
                <a16:creationId xmlns:a16="http://schemas.microsoft.com/office/drawing/2014/main" id="{A24728AB-E867-41AC-AFA5-EADFAEF35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343150"/>
            <a:ext cx="5562600" cy="2914650"/>
          </a:xfrm>
          <a:prstGeom xmlns:a="http://schemas.openxmlformats.org/drawingml/2006/main" prst="roundRect">
            <a:avLst>
              <a:gd name="adj" fmla="val 2614"/>
            </a:avLst>
          </a:prstGeom>
          <a:solidFill xmlns:a="http://schemas.openxmlformats.org/drawingml/2006/main">
            <a:srgbClr val="E9ECFB"/>
          </a:solidFill>
          <a:ln xmlns:a="http://schemas.openxmlformats.org/drawingml/2006/main" w="19050">
            <a:solidFill>
              <a:srgbClr val="4356C7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0848F36-641B-4DEC-B27B-2283742D3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686050"/>
            <a:ext cx="4762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775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2775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ส่งแบบประเมิน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BCC3743-9026-415D-B26D-FDD77452C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486150"/>
            <a:ext cx="46863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725" b="0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งานเข้าสู่ลำดับผู้ประเมิน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725" b="0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ผู้ส่งแก้ไขในขั้นนั้นไม่ได้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725" b="0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ตรวจข้อมูลและหลักฐานก่อนยืนยัน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EDB3F9D-A96C-4109-98AA-D054F1C7E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57850"/>
            <a:ext cx="9906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65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ถามตัวเองก่อนกดส่ง: “ผู้ประเมินเห็นข้อมูลครบหรือยัง?”</a:t>
            </a:r>
          </a:p>
        </p:txBody>
      </p:sp>
      <p:sp>
        <p:nvSpPr>
          <p:cNvPr id="11" name="footer-rule-12">
            <a:extLst xmlns:a="http://schemas.openxmlformats.org/drawingml/2006/main">
              <a:ext uri="{FF2B5EF4-FFF2-40B4-BE49-F238E27FC236}">
                <a16:creationId xmlns:a16="http://schemas.microsoft.com/office/drawing/2014/main" id="{4CFF9040-45CA-4986-B94D-1AB3FE773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footer-label-12">
            <a:extLst xmlns:a="http://schemas.openxmlformats.org/drawingml/2006/main">
              <a:ext uri="{FF2B5EF4-FFF2-40B4-BE49-F238E27FC236}">
                <a16:creationId xmlns:a16="http://schemas.microsoft.com/office/drawing/2014/main" id="{6AD79874-FA2B-43A7-9222-BAB81FAF7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ภาคเช้า สายวิชาการ</a:t>
            </a:r>
          </a:p>
        </p:txBody>
      </p:sp>
      <p:sp>
        <p:nvSpPr>
          <p:cNvPr id="13" name="footer-page-12">
            <a:extLst xmlns:a="http://schemas.openxmlformats.org/drawingml/2006/main">
              <a:ext uri="{FF2B5EF4-FFF2-40B4-BE49-F238E27FC236}">
                <a16:creationId xmlns:a16="http://schemas.microsoft.com/office/drawing/2014/main" id="{B9A8F3A5-C5E1-4DE2-A577-0CB3D1EA1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12 / 18</a:t>
            </a:r>
          </a:p>
        </p:txBody>
      </p:sp>
    </p:spTree>
    <p:extLst>
      <p:ext uri="{BB962C8B-B14F-4D97-AF65-F5344CB8AC3E}">
        <p14:creationId xmlns:p14="http://schemas.microsoft.com/office/powerpoint/2010/main" val="1669767877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side-accent-13">
            <a:extLst xmlns:a="http://schemas.openxmlformats.org/drawingml/2006/main">
              <a:ext uri="{FF2B5EF4-FFF2-40B4-BE49-F238E27FC236}">
                <a16:creationId xmlns:a16="http://schemas.microsoft.com/office/drawing/2014/main" id="{AC0187DB-7B9F-4A50-9D18-E6C2E0090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13">
            <a:extLst xmlns:a="http://schemas.openxmlformats.org/drawingml/2006/main">
              <a:ext uri="{FF2B5EF4-FFF2-40B4-BE49-F238E27FC236}">
                <a16:creationId xmlns:a16="http://schemas.microsoft.com/office/drawing/2014/main" id="{3F1D89AE-ACAD-4F91-A51E-5435F7F2D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หลังจากส่ง  /  สายวิชาการ</a:t>
            </a:r>
          </a:p>
        </p:txBody>
      </p:sp>
      <p:sp>
        <p:nvSpPr>
          <p:cNvPr id="3" name="title-13">
            <a:extLst xmlns:a="http://schemas.openxmlformats.org/drawingml/2006/main">
              <a:ext uri="{FF2B5EF4-FFF2-40B4-BE49-F238E27FC236}">
                <a16:creationId xmlns:a16="http://schemas.microsoft.com/office/drawing/2014/main" id="{B393AF6D-F76C-4F5E-B0E5-AED1A1C59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หลังส่งแบบประเมิน ระบบจะส่งงานตามลำดับผู้ประเมิน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6A40765-F10C-4C9E-9813-3B83D9AF9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486150"/>
            <a:ext cx="88011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A150BE0-5F08-495F-9175-D1372545A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048000"/>
            <a:ext cx="895350" cy="895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4B1E5C5-AD94-4CE8-B04C-B972FC02B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295650"/>
            <a:ext cx="895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F7294BC-1F5A-4504-BFE7-9558A9919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210050"/>
            <a:ext cx="2114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ตรวจ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DD18EFA-FFE4-4C9D-9C0F-B34DA6188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705350"/>
            <a:ext cx="22288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ข้อมูลและหลักฐาน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3A2FC34-A118-4F01-88ED-23545AD52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3048000"/>
            <a:ext cx="895350" cy="895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1949CE9-78DE-4828-8145-3725D337F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3295650"/>
            <a:ext cx="895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A6FC464-7867-47A4-B7B8-3FF11D0FC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4210050"/>
            <a:ext cx="2114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ให้ผล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1A1BB88-F645-4605-8C64-ACC1004C4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4705350"/>
            <a:ext cx="22288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คะแนนหรือความเห็น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F9137BA-3A20-4319-8B47-C98031A67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048000"/>
            <a:ext cx="895350" cy="895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268E472-4ABF-497C-8903-F3E0AEE96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295650"/>
            <a:ext cx="895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A4D6C14-2FB1-4CC9-B391-20B6CEA89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210050"/>
            <a:ext cx="2114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ส่งต่อ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971ADBC-B600-43C7-A1FC-4A94DF6E1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705350"/>
            <a:ext cx="22288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ไปยังผู้ประเมินลำดับถัดไป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D56C13C-12F1-4EF5-AD8F-86EF299F3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3048000"/>
            <a:ext cx="895350" cy="895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76ECC90-E52C-412E-B072-99D59627D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3295650"/>
            <a:ext cx="895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A26B5FA-6A31-4CA8-9248-958B46C90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210050"/>
            <a:ext cx="2114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ปิดงาน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2F1D809-D49E-41B0-B21B-EE20E6D56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4705350"/>
            <a:ext cx="22288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เมื่อเป็นผู้ประเมินคนสุดท้าย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5D6B741-9DE2-4C36-941E-5E7700151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95950"/>
            <a:ext cx="8382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จำนวนและบทบาทของผู้ประเมินอาจต่างกันในแต่ละงาน</a:t>
            </a:r>
          </a:p>
        </p:txBody>
      </p:sp>
      <p:sp>
        <p:nvSpPr>
          <p:cNvPr id="22" name="footer-rule-13">
            <a:extLst xmlns:a="http://schemas.openxmlformats.org/drawingml/2006/main">
              <a:ext uri="{FF2B5EF4-FFF2-40B4-BE49-F238E27FC236}">
                <a16:creationId xmlns:a16="http://schemas.microsoft.com/office/drawing/2014/main" id="{F695B6C1-0AE7-4E7D-A80C-5C8903905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footer-label-13">
            <a:extLst xmlns:a="http://schemas.openxmlformats.org/drawingml/2006/main">
              <a:ext uri="{FF2B5EF4-FFF2-40B4-BE49-F238E27FC236}">
                <a16:creationId xmlns:a16="http://schemas.microsoft.com/office/drawing/2014/main" id="{484F9DE7-7639-4C2F-ABAA-26E109272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ภาคเช้า สายวิชาการ</a:t>
            </a:r>
          </a:p>
        </p:txBody>
      </p:sp>
      <p:sp>
        <p:nvSpPr>
          <p:cNvPr id="24" name="footer-page-13">
            <a:extLst xmlns:a="http://schemas.openxmlformats.org/drawingml/2006/main">
              <a:ext uri="{FF2B5EF4-FFF2-40B4-BE49-F238E27FC236}">
                <a16:creationId xmlns:a16="http://schemas.microsoft.com/office/drawing/2014/main" id="{E4DAC4D3-2D97-4B33-A32B-FA1677B45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13 / 18</a:t>
            </a:r>
          </a:p>
        </p:txBody>
      </p:sp>
    </p:spTree>
    <p:extLst>
      <p:ext uri="{BB962C8B-B14F-4D97-AF65-F5344CB8AC3E}">
        <p14:creationId xmlns:p14="http://schemas.microsoft.com/office/powerpoint/2010/main" val="35330864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side-accent-14">
            <a:extLst xmlns:a="http://schemas.openxmlformats.org/drawingml/2006/main">
              <a:ext uri="{FF2B5EF4-FFF2-40B4-BE49-F238E27FC236}">
                <a16:creationId xmlns:a16="http://schemas.microsoft.com/office/drawing/2014/main" id="{5CAF681E-7A94-4325-9862-3A640C3A2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14">
            <a:extLst xmlns:a="http://schemas.openxmlformats.org/drawingml/2006/main">
              <a:ext uri="{FF2B5EF4-FFF2-40B4-BE49-F238E27FC236}">
                <a16:creationId xmlns:a16="http://schemas.microsoft.com/office/drawing/2014/main" id="{EAA6E2F7-0B78-4A3E-93FA-9D9F5C580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สำหรับผู้ประเมิน  /  สายวิชาการ</a:t>
            </a:r>
          </a:p>
        </p:txBody>
      </p:sp>
      <p:sp>
        <p:nvSpPr>
          <p:cNvPr id="3" name="title-14">
            <a:extLst xmlns:a="http://schemas.openxmlformats.org/drawingml/2006/main">
              <a:ext uri="{FF2B5EF4-FFF2-40B4-BE49-F238E27FC236}">
                <a16:creationId xmlns:a16="http://schemas.microsoft.com/office/drawing/2014/main" id="{26ADA42C-4514-42BF-93AB-937AAEC60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เมื่อได้รับงานประเมิน ให้ตรวจข้อมูลและหลักฐานก่อนให้ผล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5F45A5E-F383-48C0-8CE9-AB3ACAB81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76450"/>
            <a:ext cx="590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B3DA1BE-86E8-40C4-A50A-7FE834B45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038350"/>
            <a:ext cx="266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ตรวจข้อมูล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8692C11-7EC1-419D-961A-AFB805D31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076450"/>
            <a:ext cx="685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เนื้อหาตรงกับเกณฑ์ที่เลือก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560D9E4-0DE3-4AD2-A662-79C1FA9BC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667000"/>
            <a:ext cx="97345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935DED7-B3D7-46E2-AFCB-F0736A057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590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D5FC1A4-7369-466E-A27C-4F57FB182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933700"/>
            <a:ext cx="266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เปิดหลักฐาน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EEEB38C-C5E1-475D-9D40-45458C75B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971800"/>
            <a:ext cx="685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ตรวจความสอดคล้องกับผลงาน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065CCAA-B565-4515-ACE5-82260FA89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562350"/>
            <a:ext cx="97345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1D4C0D7-CFB3-4526-BE33-D56CEF0FF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590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6C8B293-45A5-4EA4-96AA-9110149BC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829050"/>
            <a:ext cx="266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ให้ผล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04983B2-BAD1-4108-8A93-566791E05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867150"/>
            <a:ext cx="685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ให้คะแนนหรือความเห็นตามสิทธิ์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CFF5D61-165E-4134-A2F0-AA98576A7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457700"/>
            <a:ext cx="97345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9293EF3-00CA-4D67-BF90-2C62298D5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590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C79A2B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C79A2B"/>
                </a:solidFill>
                <a:latin typeface="Tahoma"/>
                <a:ea typeface="Tahoma"/>
                <a:cs typeface="Tahoma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6D72638-68E1-42ED-90DC-DC2C5B112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724400"/>
            <a:ext cx="266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ส่งต่องาน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7B1BBFE-7789-47A4-AF84-877B8ADD8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4762500"/>
            <a:ext cx="685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ดำเนินการเมื่อข้อมูลครบ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D92D0F2-BCE6-4B5D-8CB3-540C6E13A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0"/>
            <a:ext cx="109728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E9EC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33BE162-58D0-4C8F-AC85-B2446BD9C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838825"/>
            <a:ext cx="10515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500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ผู้ประเมินควรตัดสินใจจากข้อมูลและหลักฐานที่เปิดตรวจได้</a:t>
            </a:r>
          </a:p>
        </p:txBody>
      </p:sp>
      <p:sp>
        <p:nvSpPr>
          <p:cNvPr id="21" name="footer-rule-14">
            <a:extLst xmlns:a="http://schemas.openxmlformats.org/drawingml/2006/main">
              <a:ext uri="{FF2B5EF4-FFF2-40B4-BE49-F238E27FC236}">
                <a16:creationId xmlns:a16="http://schemas.microsoft.com/office/drawing/2014/main" id="{40AD2B26-4FD6-47B3-AFC4-8AB595557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footer-label-14">
            <a:extLst xmlns:a="http://schemas.openxmlformats.org/drawingml/2006/main">
              <a:ext uri="{FF2B5EF4-FFF2-40B4-BE49-F238E27FC236}">
                <a16:creationId xmlns:a16="http://schemas.microsoft.com/office/drawing/2014/main" id="{5DF11258-0A42-4D3D-AD90-36E13ACCF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ภาคเช้า สายวิชาการ</a:t>
            </a:r>
          </a:p>
        </p:txBody>
      </p:sp>
      <p:sp>
        <p:nvSpPr>
          <p:cNvPr id="23" name="footer-page-14">
            <a:extLst xmlns:a="http://schemas.openxmlformats.org/drawingml/2006/main">
              <a:ext uri="{FF2B5EF4-FFF2-40B4-BE49-F238E27FC236}">
                <a16:creationId xmlns:a16="http://schemas.microsoft.com/office/drawing/2014/main" id="{1DC121E5-0D09-400F-846F-32338C89A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14 / 18</a:t>
            </a:r>
          </a:p>
        </p:txBody>
      </p:sp>
    </p:spTree>
    <p:extLst>
      <p:ext uri="{BB962C8B-B14F-4D97-AF65-F5344CB8AC3E}">
        <p14:creationId xmlns:p14="http://schemas.microsoft.com/office/powerpoint/2010/main" val="1296421465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side-accent-15">
            <a:extLst xmlns:a="http://schemas.openxmlformats.org/drawingml/2006/main">
              <a:ext uri="{FF2B5EF4-FFF2-40B4-BE49-F238E27FC236}">
                <a16:creationId xmlns:a16="http://schemas.microsoft.com/office/drawing/2014/main" id="{2B2C8978-F7A6-45B5-B1F9-A0ADE0225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15">
            <a:extLst xmlns:a="http://schemas.openxmlformats.org/drawingml/2006/main">
              <a:ext uri="{FF2B5EF4-FFF2-40B4-BE49-F238E27FC236}">
                <a16:creationId xmlns:a16="http://schemas.microsoft.com/office/drawing/2014/main" id="{490F830F-46FF-45A4-BF83-501A7A59B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ลำดับการประเมิน  /  สายวิชาการ</a:t>
            </a:r>
          </a:p>
        </p:txBody>
      </p:sp>
      <p:sp>
        <p:nvSpPr>
          <p:cNvPr id="3" name="title-15">
            <a:extLst xmlns:a="http://schemas.openxmlformats.org/drawingml/2006/main">
              <a:ext uri="{FF2B5EF4-FFF2-40B4-BE49-F238E27FC236}">
                <a16:creationId xmlns:a16="http://schemas.microsoft.com/office/drawing/2014/main" id="{809E0F1B-1AA5-4965-9111-7D8ED2E75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ผู้ประเมินแต่ละคนส่งต่องานตามลำดับ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B9F08C4-1AAE-4F22-A8B3-0396E95B3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3457575"/>
            <a:ext cx="76581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FC8198D-F8E2-431D-8239-5B5608060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2914650"/>
            <a:ext cx="1104900" cy="1104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B9C6965-E199-42AE-AE64-0F5D3CEC9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3219450"/>
            <a:ext cx="1104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32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32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34DDFF1-FC54-4C8F-8CE3-95C5D9804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43400"/>
            <a:ext cx="304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ผู้ประเมินคนที่ 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1509D11-55EF-44B1-B189-CE99D0650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14900"/>
            <a:ext cx="304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ตรวจและให้ผล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8BBA993-2CD2-477D-A22A-BD1581DBC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914650"/>
            <a:ext cx="1104900" cy="1104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9DBF50F-48CA-464C-95E1-47CDAC0E6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219450"/>
            <a:ext cx="1104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32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32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11234C6-F492-492F-854F-D3436E274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343400"/>
            <a:ext cx="304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ผู้ประเมินคนถัดไป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6DE0CDC-EDC7-41DF-BACF-B4D7A5B2B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914900"/>
            <a:ext cx="304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รับงานตามลำดับ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45C73C3-D359-4281-B993-A32187CD1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914650"/>
            <a:ext cx="1104900" cy="1104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5F8BE8C-A99A-458B-ACC8-0283FA64C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219450"/>
            <a:ext cx="1104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32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32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1495BE5-FAA9-495E-81AC-77C162D50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343400"/>
            <a:ext cx="304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ผู้ประเมินคนสุดท้าย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37AD098-F5CF-43F2-B26E-DE8F2263D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914900"/>
            <a:ext cx="304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ยืนยันขั้นสุดท้าย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418769C-5952-40F8-8E31-5268204E9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ผู้ประเมินคนสุดท้ายยืนยันแล้ว สถานะจะเป็น ประเมินเสร็จสิ้น (Completed)</a:t>
            </a:r>
          </a:p>
        </p:txBody>
      </p:sp>
      <p:sp>
        <p:nvSpPr>
          <p:cNvPr id="18" name="footer-rule-15">
            <a:extLst xmlns:a="http://schemas.openxmlformats.org/drawingml/2006/main">
              <a:ext uri="{FF2B5EF4-FFF2-40B4-BE49-F238E27FC236}">
                <a16:creationId xmlns:a16="http://schemas.microsoft.com/office/drawing/2014/main" id="{1E386E32-D8F8-4C82-B4A9-846276A3E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footer-label-15">
            <a:extLst xmlns:a="http://schemas.openxmlformats.org/drawingml/2006/main">
              <a:ext uri="{FF2B5EF4-FFF2-40B4-BE49-F238E27FC236}">
                <a16:creationId xmlns:a16="http://schemas.microsoft.com/office/drawing/2014/main" id="{4AA8B687-7012-48CB-9175-C26B5DD38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ภาคเช้า สายวิชาการ</a:t>
            </a:r>
          </a:p>
        </p:txBody>
      </p:sp>
      <p:sp>
        <p:nvSpPr>
          <p:cNvPr id="20" name="footer-page-15">
            <a:extLst xmlns:a="http://schemas.openxmlformats.org/drawingml/2006/main">
              <a:ext uri="{FF2B5EF4-FFF2-40B4-BE49-F238E27FC236}">
                <a16:creationId xmlns:a16="http://schemas.microsoft.com/office/drawing/2014/main" id="{E67EB628-93AE-44B6-8DCB-4BE9C0128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15 / 18</a:t>
            </a:r>
          </a:p>
        </p:txBody>
      </p:sp>
    </p:spTree>
    <p:extLst>
      <p:ext uri="{BB962C8B-B14F-4D97-AF65-F5344CB8AC3E}">
        <p14:creationId xmlns:p14="http://schemas.microsoft.com/office/powerpoint/2010/main" val="1439225652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102A4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30829C5-F181-4A87-B1D8-3A03E6AB6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C3338AE-D6E4-4140-B850-8A5B925AF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33400"/>
            <a:ext cx="304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C79A2B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C79A2B"/>
                </a:solidFill>
                <a:latin typeface="Tahoma"/>
                <a:ea typeface="Tahoma"/>
                <a:cs typeface="Tahoma"/>
              </a:rPr>
              <a:t>สถานะสุดท้าย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1D00702-5BAE-4A23-95F0-D190C5577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04950"/>
            <a:ext cx="6667500" cy="1314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6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36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เมื่อผู้ประเมินคนสุดท้ายยืนยัน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36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36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งานจะเสร็จสมบูรณ์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D22E3BF-4FBC-4503-A23C-00870D739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76600"/>
            <a:ext cx="70485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150" b="1">
                <a:solidFill>
                  <a:srgbClr val="AEB8FF"/>
                </a:solidFill>
                <a:latin typeface="Tahoma"/>
                <a:ea typeface="Tahoma"/>
                <a:cs typeface="Tahoma"/>
              </a:defRPr>
            </a:pPr>
            <a:r>
              <a:rPr sz="6150" b="1">
                <a:solidFill>
                  <a:srgbClr val="AEB8FF"/>
                </a:solidFill>
                <a:latin typeface="Tahoma"/>
                <a:ea typeface="Tahoma"/>
                <a:cs typeface="Tahoma"/>
              </a:rPr>
              <a:t>Completed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09DEEE7-063E-4A1C-9B93-3900D7F2F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428750"/>
            <a:ext cx="3524250" cy="3352800"/>
          </a:xfrm>
          <a:prstGeom xmlns:a="http://schemas.openxmlformats.org/drawingml/2006/main" prst="roundRect">
            <a:avLst>
              <a:gd name="adj" fmla="val 227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1F9FA32-EFAB-42DB-9505-04EE55DA3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1809750"/>
            <a:ext cx="2800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500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จำไว้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3CC05E6-B83C-4F5D-A228-8D509E593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400300"/>
            <a:ext cx="28003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23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3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ผู้ปิดงานไม่จำเป็นต้องเป็นบทบาทเดิมเสมอไป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A0777A1-4FA1-467A-9282-C7EA52A6B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867150"/>
            <a:ext cx="28003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ให้ดู “ลำดับผู้ประเมิน”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ที่กำหนดกับงานนั้น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ACECE34-6C5E-4D75-ABC0-3DA2CCB30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22935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0">
                <a:solidFill>
                  <a:srgbClr val="B8C5D1"/>
                </a:solidFill>
                <a:latin typeface="Tahoma"/>
                <a:ea typeface="Tahoma"/>
                <a:cs typeface="Tahoma"/>
              </a:defRPr>
            </a:pPr>
            <a:r>
              <a:rPr sz="1050" b="0">
                <a:solidFill>
                  <a:srgbClr val="B8C5D1"/>
                </a:solidFill>
                <a:latin typeface="Tahoma"/>
                <a:ea typeface="Tahoma"/>
                <a:cs typeface="Tahoma"/>
              </a:rPr>
              <a:t>MSU EVA  •  สายวิชาการ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C7E143B-BD45-42B0-839F-A81D56B12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229350"/>
            <a:ext cx="1104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C79A2B"/>
                </a:solidFill>
                <a:latin typeface="Tahoma"/>
                <a:ea typeface="Tahoma"/>
                <a:cs typeface="Tahoma"/>
              </a:defRPr>
            </a:pPr>
            <a:r>
              <a:rPr sz="1050" b="1">
                <a:solidFill>
                  <a:srgbClr val="C79A2B"/>
                </a:solidFill>
                <a:latin typeface="Tahoma"/>
                <a:ea typeface="Tahoma"/>
                <a:cs typeface="Tahoma"/>
              </a:rPr>
              <a:t>16 / 18</a:t>
            </a:r>
          </a:p>
        </p:txBody>
      </p:sp>
    </p:spTree>
    <p:extLst>
      <p:ext uri="{BB962C8B-B14F-4D97-AF65-F5344CB8AC3E}">
        <p14:creationId xmlns:p14="http://schemas.microsoft.com/office/powerpoint/2010/main" val="1503821441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side-accent-17">
            <a:extLst xmlns:a="http://schemas.openxmlformats.org/drawingml/2006/main">
              <a:ext uri="{FF2B5EF4-FFF2-40B4-BE49-F238E27FC236}">
                <a16:creationId xmlns:a16="http://schemas.microsoft.com/office/drawing/2014/main" id="{C3365D58-EBB9-4CED-A079-CF378B733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17">
            <a:extLst xmlns:a="http://schemas.openxmlformats.org/drawingml/2006/main">
              <a:ext uri="{FF2B5EF4-FFF2-40B4-BE49-F238E27FC236}">
                <a16:creationId xmlns:a16="http://schemas.microsoft.com/office/drawing/2014/main" id="{93BD6036-F509-461B-9999-F013D8426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ภารกิจฝึกปฏิบัติ  /  สายวิชาการ</a:t>
            </a:r>
          </a:p>
        </p:txBody>
      </p:sp>
      <p:sp>
        <p:nvSpPr>
          <p:cNvPr id="3" name="title-17">
            <a:extLst xmlns:a="http://schemas.openxmlformats.org/drawingml/2006/main">
              <a:ext uri="{FF2B5EF4-FFF2-40B4-BE49-F238E27FC236}">
                <a16:creationId xmlns:a16="http://schemas.microsoft.com/office/drawing/2014/main" id="{39742768-3E2B-4A96-8FAE-815D3384A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ลองกรอกแบบประเมิน 1 รายการให้ครบ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D5DA65A-E880-49AA-884F-141E9B56B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47850"/>
            <a:ext cx="8382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ทำตามลำดับ แล้วเรียกวิทยากรตรวจเมื่อครบ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5331815-2FA9-4A14-8177-FF7614FD1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241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69C017F-EF04-4919-A387-9AA4ED14C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0987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65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40B5CD3-FE4B-4828-B235-9B9AA9579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705100"/>
            <a:ext cx="4191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0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เลือกรายการที่กำหนด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879DA7E-DB8C-425B-AF25-4999EBD1E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7241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AFA1596-FD58-42A7-8559-DE3A11CF0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80987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65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3F90E8D-1F2B-4F1B-ABA6-488504BCE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2705100"/>
            <a:ext cx="4191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0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กรอกข้อมูลปริมาณ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1EFC562-FA9A-4679-9507-A4090DAA7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243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9150BDA-20F8-4E5F-A4E1-E4BBCC3A3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100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65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B1FE53C-7D2C-402E-A9F5-EFB29E883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905250"/>
            <a:ext cx="4191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0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เติมคุณภาพและหลักฐาน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8893576-BE1C-4E9C-A833-8131221BD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9243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0DC59E6-A784-41E4-989C-58CDE74E5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0100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65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A17C824-9A9D-4CE0-BF7A-BA28DE9DD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3905250"/>
            <a:ext cx="4191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0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ตรวจแล้วบันทึกร่าง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FE4DD7E-3C03-49E2-AF53-C24A472DF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67350"/>
            <a:ext cx="1097280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E9EC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2B07FC7-AA85-42C2-A759-742408935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619750"/>
            <a:ext cx="10515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ผ่านเมื่อ: ข้อมูลครบ • หลักฐานเปิดได้ • พร้อมอธิบายที่มาของคะแนน</a:t>
            </a:r>
          </a:p>
        </p:txBody>
      </p:sp>
      <p:sp>
        <p:nvSpPr>
          <p:cNvPr id="19" name="footer-rule-17">
            <a:extLst xmlns:a="http://schemas.openxmlformats.org/drawingml/2006/main">
              <a:ext uri="{FF2B5EF4-FFF2-40B4-BE49-F238E27FC236}">
                <a16:creationId xmlns:a16="http://schemas.microsoft.com/office/drawing/2014/main" id="{DBCF8CEB-7B16-4833-8EE0-D25ECC37C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footer-label-17">
            <a:extLst xmlns:a="http://schemas.openxmlformats.org/drawingml/2006/main">
              <a:ext uri="{FF2B5EF4-FFF2-40B4-BE49-F238E27FC236}">
                <a16:creationId xmlns:a16="http://schemas.microsoft.com/office/drawing/2014/main" id="{15B261A6-9EB5-4BD9-908F-62A244B8E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ภาคเช้า สายวิชาการ</a:t>
            </a:r>
          </a:p>
        </p:txBody>
      </p:sp>
      <p:sp>
        <p:nvSpPr>
          <p:cNvPr id="21" name="footer-page-17">
            <a:extLst xmlns:a="http://schemas.openxmlformats.org/drawingml/2006/main">
              <a:ext uri="{FF2B5EF4-FFF2-40B4-BE49-F238E27FC236}">
                <a16:creationId xmlns:a16="http://schemas.microsoft.com/office/drawing/2014/main" id="{DD0BE16E-1E44-4D33-936C-47E9AD3E6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17 / 18</a:t>
            </a:r>
          </a:p>
        </p:txBody>
      </p:sp>
    </p:spTree>
    <p:extLst>
      <p:ext uri="{BB962C8B-B14F-4D97-AF65-F5344CB8AC3E}">
        <p14:creationId xmlns:p14="http://schemas.microsoft.com/office/powerpoint/2010/main" val="153758474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side-accent-18">
            <a:extLst xmlns:a="http://schemas.openxmlformats.org/drawingml/2006/main">
              <a:ext uri="{FF2B5EF4-FFF2-40B4-BE49-F238E27FC236}">
                <a16:creationId xmlns:a16="http://schemas.microsoft.com/office/drawing/2014/main" id="{0C2917FE-0239-451B-A6F5-1ADC76609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18">
            <a:extLst xmlns:a="http://schemas.openxmlformats.org/drawingml/2006/main">
              <a:ext uri="{FF2B5EF4-FFF2-40B4-BE49-F238E27FC236}">
                <a16:creationId xmlns:a16="http://schemas.microsoft.com/office/drawing/2014/main" id="{1E5B76A4-8F67-4D40-B2D7-40E9AFB85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แก้ปัญหาเบื้องต้น  /  สายวิชาการ</a:t>
            </a:r>
          </a:p>
        </p:txBody>
      </p:sp>
      <p:sp>
        <p:nvSpPr>
          <p:cNvPr id="3" name="title-18">
            <a:extLst xmlns:a="http://schemas.openxmlformats.org/drawingml/2006/main">
              <a:ext uri="{FF2B5EF4-FFF2-40B4-BE49-F238E27FC236}">
                <a16:creationId xmlns:a16="http://schemas.microsoft.com/office/drawing/2014/main" id="{0C1FF12C-42DF-4303-A846-5704ABBC6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หากใช้งานไม่ได้ ให้ตรวจสอบ 4 จุดนี้ก่อน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10A51F-1853-49A7-B287-D6D29EDD6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14550"/>
            <a:ext cx="609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F00A4D4-06FB-4B4E-98B9-20CA38C90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2076450"/>
            <a:ext cx="28003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งานไม่ปรากฏ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55F94D3-8CEC-42F5-9AEA-D52AE56F2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114550"/>
            <a:ext cx="685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ตรวจงานที่ได้รับมอบหมาย และแจ้งผู้ดูแลระบบหากรอบไม่ถูกต้อง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EBC3589-81C0-4AE2-903E-9E366046F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2705100"/>
            <a:ext cx="9867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8625ADC-364D-41EB-8D15-C14D60CAC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90850"/>
            <a:ext cx="609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C9DBF57-F6C6-4193-AA4C-0F609D543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2952750"/>
            <a:ext cx="28003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ปุ่มใช้งานไม่ได้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69FE736-6924-4EAF-BD97-22FF4BA8D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990850"/>
            <a:ext cx="685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ตรวจสถานะปัจจุบันและสิทธิ์ของบทบาท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707CD9A-D6D7-47F4-85AE-9E9A9092B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581400"/>
            <a:ext cx="9867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809FDE8-8130-46B4-93FD-39D594C43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609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830A8AB-99A8-45BE-A6F7-0F312D79C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829050"/>
            <a:ext cx="28003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บันทึกหรือส่งไม่ได้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1C32058-42C0-48FE-8C32-A00C4F7FE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867150"/>
            <a:ext cx="685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ตรวจช่องบังคับ ค่าตัวเลข และลิงก์หลักฐาน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5FBFA27-BEB7-480B-8238-EABCB3CD3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457700"/>
            <a:ext cx="9867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9F2362B-F24B-4D98-BED5-B97B6498A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43450"/>
            <a:ext cx="609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C79A2B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C79A2B"/>
                </a:solidFill>
                <a:latin typeface="Tahoma"/>
                <a:ea typeface="Tahoma"/>
                <a:cs typeface="Tahoma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9EBD184-9FDD-44D8-86A3-F60E584C7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705350"/>
            <a:ext cx="28003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ยังแก้ไม่ได้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858DB52-48B9-4D58-BA07-E875A553C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743450"/>
            <a:ext cx="685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จดชื่อรายการและสถานะ แล้วติดต่อผู้ดูแลระบบ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AEF58E4-F0D4-4E20-921D-37A0B82B9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34050"/>
            <a:ext cx="72390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9EC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0E87097-3FED-4386-A4E0-B82E0E28F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838825"/>
            <a:ext cx="685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425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คู่มือผู้ใช้ • ผู้ดูแลระบบของหน่วยงาน</a:t>
            </a:r>
          </a:p>
        </p:txBody>
      </p:sp>
      <p:pic>
        <p:nvPicPr>
          <p:cNvPr id="4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658ba2a62a14b85"/>
          <a:stretch xmlns:a="http://schemas.openxmlformats.org/drawingml/2006/main"/>
        </p:blipFill>
        <p:spPr>
          <a:xfrm xmlns:a="http://schemas.openxmlformats.org/drawingml/2006/main">
            <a:off x="9018037" y="5638800"/>
            <a:ext cx="2309327" cy="628650"/>
          </a:xfrm>
          <a:prstGeom xmlns:a="http://schemas.openxmlformats.org/drawingml/2006/main" prst="rect">
            <a:avLst/>
          </a:prstGeom>
        </p:spPr>
      </p:pic>
      <p:sp>
        <p:nvSpPr>
          <p:cNvPr id="22" name="footer-rule-18">
            <a:extLst xmlns:a="http://schemas.openxmlformats.org/drawingml/2006/main">
              <a:ext uri="{FF2B5EF4-FFF2-40B4-BE49-F238E27FC236}">
                <a16:creationId xmlns:a16="http://schemas.microsoft.com/office/drawing/2014/main" id="{31FB325F-6C72-45E2-99D6-78FB0F7CF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footer-label-18">
            <a:extLst xmlns:a="http://schemas.openxmlformats.org/drawingml/2006/main">
              <a:ext uri="{FF2B5EF4-FFF2-40B4-BE49-F238E27FC236}">
                <a16:creationId xmlns:a16="http://schemas.microsoft.com/office/drawing/2014/main" id="{4B3F1854-7D7E-411D-9616-594769F04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ภาคเช้า สายวิชาการ</a:t>
            </a:r>
          </a:p>
        </p:txBody>
      </p:sp>
      <p:sp>
        <p:nvSpPr>
          <p:cNvPr id="24" name="footer-page-18">
            <a:extLst xmlns:a="http://schemas.openxmlformats.org/drawingml/2006/main">
              <a:ext uri="{FF2B5EF4-FFF2-40B4-BE49-F238E27FC236}">
                <a16:creationId xmlns:a16="http://schemas.microsoft.com/office/drawing/2014/main" id="{5BCF4E73-1735-4108-BCE8-31C0FE35B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18 / 18</a:t>
            </a:r>
          </a:p>
        </p:txBody>
      </p:sp>
    </p:spTree>
    <p:extLst>
      <p:ext uri="{BB962C8B-B14F-4D97-AF65-F5344CB8AC3E}">
        <p14:creationId xmlns:p14="http://schemas.microsoft.com/office/powerpoint/2010/main" val="114038992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2026-07-30T05:58:50.9720000Z</dcterms:created>
  <dcterms:modified xsi:type="dcterms:W3CDTF">2026-07-30T05:58:50.9720000Z</dcterms:modified>
</coreProperties>
</file>