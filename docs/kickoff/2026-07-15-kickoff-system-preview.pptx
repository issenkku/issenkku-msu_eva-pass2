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เปิดประชุมโดยแจ้งว่าเป็น Kickoff พร้อม System Preview และระบุผลลัพธ์ 4 ข้อ หากมีคำถามที่ยังตอบไม่ได้ ให้บันทึกเป็น Action Item พร้อมผู้รับผิดชอบและวันที่ตอบ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อธิบายปัญหาเดิมอย่างกระชับ แล้วเน้นว่า Integration กับ Phase 1 ต้องยืนยันวิธีเชื่อมต่อและทดสอบร่วมกันก่อนกล่าวว่าเสร็จสมบูรณ์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อธิบายสามสถานะจากซ้ายไปขวา ใช้คำว่า “พร้อมสาธิต” เฉพาะสิ่งที่เปิดให้เห็นได้จริง และย้ำว่างานเชื่อมต่อ Phase 1 ยังต้องได้ข้อสรุปร่วมกัน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เดโมตามลำดับเดียว ไม่เปิดเมนูที่ไม่เกี่ยวข้อง เริ่มจาก Workload Config ชี้ Field และสูตร จากนั้นไปมุม Evaluatee ชี้ข้อมูล หลักฐาน และคะแนน ปิดด้วย Audit evidence หรือคำอธิบายจากชุดทดสอบ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อธิบายสี่ช่วงตาม TOR และขอให้ที่ประชุมยืนยันวันเริ่มนับอย่างชัดเจน ห้ามกำหนดวันส่งมอบใหม่แทนผู้มีอำนาจ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ถามทีละหัวข้อ รอให้ผู้จดบันทึกใส่ชื่อและวันที่ ก่อนปิดประชุมให้อ่านทวนมติ Action Item ผู้รับผิดชอบ และกำหนดส่งทั้งหมด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03320" cy="68580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429000" y="0"/>
            <a:ext cx="274320" cy="6858000"/>
          </a:xfrm>
          <a:prstGeom prst="rect">
            <a:avLst/>
          </a:prstGeom>
          <a:solidFill>
            <a:srgbClr val="2A7F80"/>
          </a:solidFill>
          <a:ln w="12700">
            <a:solidFill>
              <a:srgbClr val="2A7F80"/>
            </a:solidFill>
            <a:prstDash val="solid"/>
          </a:ln>
        </p:spPr>
      </p:sp>
      <p:pic>
        <p:nvPicPr>
          <p:cNvPr id="4" name="Image 0" descr="public\favicon-msu.png">    </p:cNvPr>
          <p:cNvPicPr>
            <a:picLocks noChangeAspect="1"/>
          </p:cNvPicPr>
          <p:nvPr/>
        </p:nvPicPr>
        <p:blipFill>
          <a:blip r:embed="rId1">
            <a:alphaModFix amt="98000"/>
          </a:blip>
          <a:stretch>
            <a:fillRect/>
          </a:stretch>
        </p:blipFill>
        <p:spPr>
          <a:xfrm>
            <a:off x="1161288" y="59436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4360" y="2212848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spc="400" kern="0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KICKOFF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594360" y="54406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CFE1E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15 กรกฎาคม 2569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594360" y="58338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9FC4C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Microsoft Teams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297680" y="658368"/>
            <a:ext cx="7040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คณะสาธารณสุขศาสตร์ มหาวิทยาลัยมหาสารคาม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297680" y="1170432"/>
            <a:ext cx="6995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Kickoff โครงการ Workload Management Module Phase 2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4297680" y="2514600"/>
            <a:ext cx="6903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4861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เชื่อมการบันทึกภาระงาน การคำนวณคะแนน และระบบประเมินผลหลัก เวอร์ชัน 2026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4297680" y="368503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ผลลัพธ์ที่ต้องได้จากวันนี้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297680" y="4160520"/>
            <a:ext cx="3182112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AAB7C2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4462272" y="4306824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892040" y="4261104"/>
            <a:ext cx="2359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เข้าใจขอบเขตตรงกัน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7744968" y="4160520"/>
            <a:ext cx="3182112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AAB7C2">
                <a:alpha val="12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7909560" y="4306824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02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8339328" y="4261104"/>
            <a:ext cx="2359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เห็นฟีเจอร์และสถานะจริง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297680" y="5093208"/>
            <a:ext cx="3182112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AAB7C2">
                <a:alpha val="12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4462272" y="523951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03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892040" y="5193792"/>
            <a:ext cx="2359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ยืนยันแผนดำเนินงาน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744968" y="5093208"/>
            <a:ext cx="3182112" cy="658368"/>
          </a:xfrm>
          <a:prstGeom prst="roundRect">
            <a:avLst>
              <a:gd name="adj" fmla="val 11111"/>
            </a:avLst>
          </a:prstGeom>
          <a:solidFill>
            <a:srgbClr val="DDF1E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AAB7C2">
                <a:alpha val="12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7909560" y="523951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04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8339328" y="5193792"/>
            <a:ext cx="2359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กำหนดเจ้าของงานถัดไป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A7F80"/>
          </a:solidFill>
          <a:ln w="12700">
            <a:solidFill>
              <a:srgbClr val="2A7F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12064" y="292608"/>
            <a:ext cx="10652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ปัญหาและเป้าหมายโครงการ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1183112" y="29260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dirty="0">
                <a:solidFill>
                  <a:srgbClr val="6B7F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02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12064" y="932688"/>
            <a:ext cx="11082528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สถานการณ์เดิม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4290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AAB7C2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68096" y="1773936"/>
            <a:ext cx="530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D9770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86384" y="225856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คำนวณนอกระบบ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2907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861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ผู้ใช้ต้องคำนวณคะแนนภาระงานจากภายนอก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343400" y="1554480"/>
            <a:ext cx="34290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AAB7C2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44568" y="1773936"/>
            <a:ext cx="530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D9770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62856" y="225856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บันทึกข้อมูลซ้ำ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562856" y="2761488"/>
            <a:ext cx="2907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861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นำคะแนนและหลักฐานกลับมากรอกในระบบหลัก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19872" y="1554480"/>
            <a:ext cx="34290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AAB7C2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321040" y="1773936"/>
            <a:ext cx="530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D9770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39328" y="225856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ตรวจสอบยาก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339328" y="2761488"/>
            <a:ext cx="2907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861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ใช้เวลาและเสี่ยงต่อความคลาดเคลื่อนของข้อมูล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66928" y="4041648"/>
            <a:ext cx="10991088" cy="1645920"/>
          </a:xfrm>
          <a:prstGeom prst="roundRect">
            <a:avLst>
              <a:gd name="adj" fmla="val 4444"/>
            </a:avLst>
          </a:prstGeom>
          <a:solidFill>
            <a:srgbClr val="DDF1EF"/>
          </a:solidFill>
          <a:ln w="12700">
            <a:solidFill>
              <a:srgbClr val="9FCBC7"/>
            </a:solidFill>
            <a:prstDash val="solid"/>
          </a:ln>
          <a:effectLst>
            <a:outerShdw sx="100000" sy="100000" kx="0" ky="0" algn="bl" rotWithShape="0" blurRad="12700" dist="50800" dir="2700000">
              <a:srgbClr val="AAB7C2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96112" y="437083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เป้าหมาย Phase 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154680" y="4297680"/>
            <a:ext cx="7818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Phase 2 ทำให้กำหนดแบบฟอร์ม บันทึกภาระงาน แนบหลักฐาน และคำนวณคะแนนได้ใน Workflow เดียว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880360" y="5029200"/>
            <a:ext cx="8092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ลดงานซ้ำ  •  ลดความคลาดเคลื่อน  •  ตรวจสอบย้อนกลับได้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12064" y="652881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B7F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Workload Management Module Phase 2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052560" y="6528816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B7F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15 กรกฎาคม 2569  •  2/6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A7F80"/>
          </a:solidFill>
          <a:ln w="12700">
            <a:solidFill>
              <a:srgbClr val="2A7F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12064" y="292608"/>
            <a:ext cx="10652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ฟีเจอร์เทียบกับข้อกำหนด TOR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1183112" y="29260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dirty="0">
                <a:solidFill>
                  <a:srgbClr val="6B7F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03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12064" y="932688"/>
            <a:ext cx="11082528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34440"/>
            <a:ext cx="3456432" cy="4434840"/>
          </a:xfrm>
          <a:prstGeom prst="roundRect">
            <a:avLst>
              <a:gd name="adj" fmla="val 2116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AAB7C2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" y="1234440"/>
            <a:ext cx="3456432" cy="621792"/>
          </a:xfrm>
          <a:prstGeom prst="rect">
            <a:avLst/>
          </a:prstGeom>
          <a:solidFill>
            <a:srgbClr val="E4F4EA"/>
          </a:solidFill>
          <a:ln w="12700">
            <a:solidFill>
              <a:srgbClr val="E4F4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435608"/>
            <a:ext cx="182880" cy="182880"/>
          </a:xfrm>
          <a:prstGeom prst="ellipse">
            <a:avLst/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78992" y="1353312"/>
            <a:ext cx="2670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F855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พร้อมสาธิต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13816" y="2148840"/>
            <a:ext cx="256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33856" y="2084832"/>
            <a:ext cx="2587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861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Admin กำหนดแบบฟอร์มและ Field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13816" y="2898648"/>
            <a:ext cx="256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33856" y="2834640"/>
            <a:ext cx="2587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861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สูตรและพรีวิวที่อ่านง่าย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3816" y="3648456"/>
            <a:ext cx="256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33856" y="3584448"/>
            <a:ext cx="2587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861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Evaluatee บันทึกภาระงาน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3816" y="4398264"/>
            <a:ext cx="256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33856" y="4334256"/>
            <a:ext cx="2587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861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คำนวณคะแนนจากข้อมูล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343400" y="1234440"/>
            <a:ext cx="3456432" cy="4434840"/>
          </a:xfrm>
          <a:prstGeom prst="roundRect">
            <a:avLst>
              <a:gd name="adj" fmla="val 2116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AAB7C2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343400" y="1234440"/>
            <a:ext cx="3456432" cy="621792"/>
          </a:xfrm>
          <a:prstGeom prst="rect">
            <a:avLst/>
          </a:prstGeom>
          <a:solidFill>
            <a:srgbClr val="E6F0FA"/>
          </a:solidFill>
          <a:ln w="12700">
            <a:solidFill>
              <a:srgbClr val="E6F0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62856" y="1435608"/>
            <a:ext cx="182880" cy="182880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55464" y="1353312"/>
            <a:ext cx="2670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B6CB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ยืนยันด้วยหลักฐาน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590288" y="2148840"/>
            <a:ext cx="256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B6CB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910328" y="2084832"/>
            <a:ext cx="2587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861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ลิงก์หลักฐานและการตรวจ URL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590288" y="2898648"/>
            <a:ext cx="256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B6CB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✓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910328" y="2834640"/>
            <a:ext cx="2587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861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Roles and Permissions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90288" y="3648456"/>
            <a:ext cx="256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B6CB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910328" y="3584448"/>
            <a:ext cx="2587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861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Audit Log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590288" y="4398264"/>
            <a:ext cx="256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B6CB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✓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910328" y="4334256"/>
            <a:ext cx="2587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861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ชุดทดสอบประสิทธิภาพและ Login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119872" y="1234440"/>
            <a:ext cx="3456432" cy="4434840"/>
          </a:xfrm>
          <a:prstGeom prst="roundRect">
            <a:avLst>
              <a:gd name="adj" fmla="val 2116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AAB7C2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119872" y="1234440"/>
            <a:ext cx="3456432" cy="621792"/>
          </a:xfrm>
          <a:prstGeom prst="rect">
            <a:avLst/>
          </a:prstGeom>
          <a:solidFill>
            <a:srgbClr val="FFF2D8"/>
          </a:solidFill>
          <a:ln w="12700">
            <a:solidFill>
              <a:srgbClr val="FFF2D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339328" y="1435608"/>
            <a:ext cx="182880" cy="1828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631936" y="1353312"/>
            <a:ext cx="2670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อยู่ในแผน/รอข้อสรุป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8366760" y="2148840"/>
            <a:ext cx="256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✓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8686800" y="2084832"/>
            <a:ext cx="2587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861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เชื่อมต่อ Phase 1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8366760" y="2898648"/>
            <a:ext cx="256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✓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8686800" y="2834640"/>
            <a:ext cx="2587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861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รายงานภาระงาน PDF/Excel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366760" y="3648456"/>
            <a:ext cx="256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✓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686800" y="3584448"/>
            <a:ext cx="2587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861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UAT อย่างเป็นทางการ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66760" y="4398264"/>
            <a:ext cx="256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✓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8686800" y="4334256"/>
            <a:ext cx="2587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861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คู่มือ อบรม ติดตั้ง และ Hypercare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94944" y="5916168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F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สถานะจากระบบและหลักฐานใน repository — ไม่ใช่การรับรองว่าส่งมอบครบ TOR แล้ว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12064" y="652881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B7F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Workload Management Module Phase 2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9052560" y="6528816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B7F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15 กรกฎาคม 2569  •  3/6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A7F80"/>
          </a:solidFill>
          <a:ln w="12700">
            <a:solidFill>
              <a:srgbClr val="2A7F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12064" y="292608"/>
            <a:ext cx="10652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สาธิต Workflow จาก Admin ถึง Evaluatee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1183112" y="29260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dirty="0">
                <a:solidFill>
                  <a:srgbClr val="6B7F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04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12064" y="932688"/>
            <a:ext cx="11082528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143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หนึ่ง Workflow ที่ต่อเนื่อง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85216" y="1847088"/>
            <a:ext cx="2057400" cy="1325880"/>
          </a:xfrm>
          <a:prstGeom prst="chevron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42416" y="2029968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70432" y="2212848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Admin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15568" y="257860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กำหนดแบบฟอร์ม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852928" y="1847088"/>
            <a:ext cx="2057400" cy="1325880"/>
          </a:xfrm>
          <a:prstGeom prst="chevron">
            <a:avLst/>
          </a:prstGeom>
          <a:solidFill>
            <a:srgbClr val="DDE8EF"/>
          </a:solidFill>
          <a:ln w="12700">
            <a:solidFill>
              <a:srgbClr val="DDE8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10128" y="2029968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38144" y="2212848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สูตร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383280" y="257860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ตัวแปรและพรีวิว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120640" y="1847088"/>
            <a:ext cx="2057400" cy="1325880"/>
          </a:xfrm>
          <a:prstGeom prst="chevron">
            <a:avLst/>
          </a:prstGeom>
          <a:solidFill>
            <a:srgbClr val="DDE8EF"/>
          </a:solidFill>
          <a:ln w="12700">
            <a:solidFill>
              <a:srgbClr val="DDE8E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577840" y="2029968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705856" y="2212848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Evaluatee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650992" y="257860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บันทึกภาระงาน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88352" y="1847088"/>
            <a:ext cx="2057400" cy="1325880"/>
          </a:xfrm>
          <a:prstGeom prst="chevron">
            <a:avLst/>
          </a:prstGeom>
          <a:solidFill>
            <a:srgbClr val="DDE8EF"/>
          </a:solidFill>
          <a:ln w="12700">
            <a:solidFill>
              <a:srgbClr val="DDE8E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45552" y="2029968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973568" y="2212848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หลักฐาน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918704" y="257860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แนบลิงก์อ้างอิง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656064" y="1847088"/>
            <a:ext cx="2057400" cy="1325880"/>
          </a:xfrm>
          <a:prstGeom prst="roundRect">
            <a:avLst/>
          </a:prstGeom>
          <a:solidFill>
            <a:srgbClr val="2A7F80"/>
          </a:solidFill>
          <a:ln w="12700">
            <a:solidFill>
              <a:srgbClr val="2A7F8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113264" y="2029968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0" y="2212848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คะแนน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0186416" y="257860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คำนวณอัตโนมัติ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13232" y="3867912"/>
            <a:ext cx="1069848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AAB7C2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987552" y="4169664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จุดพูดหลัก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2286000" y="4069080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Admin กำหนดโครงสร้าง → Evaluatee บันทึกข้อมูลและหลักฐาน → ระบบคำนวณคะแนนตามสูตร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987552" y="5321808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323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เดโมเฉพาะส่วนที่ตรวจสอบแล้ว • ไม่แก้ข้อมูลจริง • ไม่กล่าวว่า Phase 1 เชื่อมต่อสมบูรณ์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12064" y="652881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B7F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Workload Management Module Phase 2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052560" y="6528816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B7F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15 กรกฎาคม 2569  •  4/6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A7F80"/>
          </a:solidFill>
          <a:ln w="12700">
            <a:solidFill>
              <a:srgbClr val="2A7F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12064" y="292608"/>
            <a:ext cx="10652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แผนดำเนินงาน 90 วัน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1183112" y="29260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dirty="0">
                <a:solidFill>
                  <a:srgbClr val="6B7F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05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12064" y="932688"/>
            <a:ext cx="11082528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3000" y="2761488"/>
            <a:ext cx="9921240" cy="0"/>
          </a:xfrm>
          <a:prstGeom prst="line">
            <a:avLst/>
          </a:prstGeom>
          <a:noFill/>
          <a:ln w="63500">
            <a:solidFill>
              <a:srgbClr val="D9E3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54480" y="2505456"/>
            <a:ext cx="502920" cy="502920"/>
          </a:xfrm>
          <a:prstGeom prst="ellipse">
            <a:avLst/>
          </a:prstGeom>
          <a:solidFill>
            <a:srgbClr val="2A7F8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25272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สัปดาห์ 1–2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94360" y="167335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Analysis &amp; Design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" y="3218688"/>
            <a:ext cx="2423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4861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เก็บความต้องการและยืนยันแบบฟอร์ม/สูตร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70832" y="2505456"/>
            <a:ext cx="502920" cy="502920"/>
          </a:xfrm>
          <a:prstGeom prst="ellipse">
            <a:avLst/>
          </a:prstGeom>
          <a:solidFill>
            <a:srgbClr val="2A7F8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10712" y="125272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สัปดาห์ 3–8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10712" y="167335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Development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410712" y="3218688"/>
            <a:ext cx="2423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4861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พัฒนา Backend และ Frontend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187184" y="2505456"/>
            <a:ext cx="502920" cy="502920"/>
          </a:xfrm>
          <a:prstGeom prst="ellipse">
            <a:avLst/>
          </a:prstGeom>
          <a:solidFill>
            <a:srgbClr val="2B6CB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27064" y="125272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6CB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สัปดาห์ 9–10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27064" y="167335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Integration &amp; UAT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227064" y="3218688"/>
            <a:ext cx="2423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4861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เชื่อมระบบ ทดสอบ และรวบรวมข้อแก้ไข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0003536" y="2505456"/>
            <a:ext cx="502920" cy="502920"/>
          </a:xfrm>
          <a:prstGeom prst="ellipse">
            <a:avLst/>
          </a:prstGeom>
          <a:solidFill>
            <a:srgbClr val="D9770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43416" y="125272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สัปดาห์ 11–12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043416" y="167335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Deploy &amp; Hypercare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043416" y="3218688"/>
            <a:ext cx="2423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4861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แก้ไข ติดตั้ง คู่มือ อบรม และดูแลระบบ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85800" y="4315968"/>
            <a:ext cx="10808208" cy="841248"/>
          </a:xfrm>
          <a:prstGeom prst="roundRect">
            <a:avLst>
              <a:gd name="adj" fmla="val 8696"/>
            </a:avLst>
          </a:prstGeom>
          <a:solidFill>
            <a:srgbClr val="FFF2D8"/>
          </a:solidFill>
          <a:ln w="12700">
            <a:solidFill>
              <a:srgbClr val="F1C27D"/>
            </a:solidFill>
            <a:prstDash val="solid"/>
          </a:ln>
          <a:effectLst>
            <a:outerShdw sx="100000" sy="100000" kx="0" ky="0" algn="bl" rotWithShape="0" blurRad="12700" dist="50800" dir="2700000">
              <a:srgbClr val="AAB7C2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32688" y="455371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ต้องยืนยัน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103120" y="4471416"/>
            <a:ext cx="8887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ต้องยืนยันวันเริ่มนับ 90 วัน: วันลงนาม 29 มิ.ย. 2569 หรือวัน Kickoff 15 ก.ค. 2569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77240" y="5468112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4861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Source Code + ฐานข้อมูล • คู่มือ Admin / Evaluator / Evaluatee • ผล UAT • การติดตั้งและอบรม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12064" y="652881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B7F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Workload Management Module Phase 2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052560" y="6528816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B7F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15 กรกฎาคม 2569  •  5/6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A7F80"/>
          </a:solidFill>
          <a:ln w="12700">
            <a:solidFill>
              <a:srgbClr val="2A7F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12064" y="292608"/>
            <a:ext cx="10652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เรื่องที่ต้องได้ข้อสรุปและขั้นตอนถัดไป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1183112" y="29260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dirty="0">
                <a:solidFill>
                  <a:srgbClr val="6B7F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06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12064" y="932688"/>
            <a:ext cx="11082528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12471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ปิดความไม่ชัดเจนก่อนเริ่มช่วงงานถัดไป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1792" y="1664208"/>
            <a:ext cx="5193792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AAB7C2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186537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426464" y="1792224"/>
            <a:ext cx="4096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แบบฟอร์มและสูตรชุดแรก พร้อมผู้อนุมัติ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1664208"/>
            <a:ext cx="5193792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AAB7C2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19088" y="186537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022592" y="1792224"/>
            <a:ext cx="4096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การปัดเศษ ข้อมูลว่าง และกรณีสูตรผิดพลาด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1792" y="2743200"/>
            <a:ext cx="5193792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AAB7C2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2960" y="294436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26464" y="2871216"/>
            <a:ext cx="4096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วิธีเชื่อม Phase 1 รหัสจับคู่ และ Technical Contact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17920" y="2743200"/>
            <a:ext cx="5193792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AAB7C2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19088" y="294436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022592" y="2871216"/>
            <a:ext cx="4096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รูปแบบรายงาน PDF/Excel และข้อมูลตัวอย่าง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1792" y="3822192"/>
            <a:ext cx="5193792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AAB7C2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22960" y="40233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05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426464" y="3950208"/>
            <a:ext cx="4096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คณะกรรมการ UAT ผู้รับรอง และนิยาม Critical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17920" y="3822192"/>
            <a:ext cx="5193792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AAB7C2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419088" y="40233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06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022592" y="3950208"/>
            <a:ext cx="4096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วันเริ่มนับ 90 วัน ช่องทางสื่อสาร และกำหนดตอบกลับ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21792" y="5157216"/>
            <a:ext cx="10789920" cy="749808"/>
          </a:xfrm>
          <a:prstGeom prst="roundRect">
            <a:avLst>
              <a:gd name="adj" fmla="val 9756"/>
            </a:avLst>
          </a:prstGeom>
          <a:solidFill>
            <a:srgbClr val="DDF1EF"/>
          </a:solidFill>
          <a:ln w="12700">
            <a:solidFill>
              <a:srgbClr val="9FCBC7"/>
            </a:solidFill>
            <a:prstDash val="solid"/>
          </a:ln>
          <a:effectLst>
            <a:outerShdw sx="100000" sy="100000" kx="0" ky="0" algn="bl" rotWithShape="0" blurRad="12700" dist="50800" dir="2700000">
              <a:srgbClr val="AAB7C2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32688" y="5349240"/>
            <a:ext cx="1016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ทุกข้อสรุปต้องมี “ผู้รับผิดชอบ + กำหนดส่ง” ก่อนจบประชุม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12064" y="652881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B7F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Workload Management Module Phase 2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052560" y="6528816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B7F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15 กรกฎาคม 2569  •  6/6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ahom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ahoma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Workload Management Module Phase 2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Kickoff Workload Management Module Phase 2</dc:title>
  <dc:subject>Kickoff และสาธิต Workload Management Module Phase 2</dc:subject>
  <dc:creator>MSU EVA Project Team</dc:creator>
  <cp:lastModifiedBy>MSU EVA Project Team</cp:lastModifiedBy>
  <cp:revision>1</cp:revision>
  <dcterms:created xsi:type="dcterms:W3CDTF">2026-07-14T15:11:26Z</dcterms:created>
  <dcterms:modified xsi:type="dcterms:W3CDTF">2026-07-14T15:11:26Z</dcterms:modified>
</cp:coreProperties>
</file>