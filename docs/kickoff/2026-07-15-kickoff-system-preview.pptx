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9" d="100"/>
          <a:sy n="99" d="100"/>
        </p:scale>
        <p:origin x="-1264" y="-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4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เปิดประชุมโดยแจ้งว่าเป็น Kickoff พร้อม System Preview และระบุผลลัพธ์ 4 ข้อ หากมีคำถามที่ยังตอบไม่ได้ ให้บันทึกเป็น Action Item พร้อมผู้รับผิดชอบและวันที่ตอบ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อธิบายปัญหาเดิมอย่างกระชับ แล้วเน้นว่า Integration กับ Phase 1 ต้องยืนยันวิธีเชื่อมต่อและทดสอบร่วมกันก่อนกล่าวว่าเสร็จสมบูรณ์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มีฟีเจอร์หลักหกส่วนที่ทำงานต่อเนื่องกันครับ เริ่มจากผู้ดูแลระบบกำหนดแบบฟอร์มภาระงานและสูตรคำนวณคะแนน จากนั้นผู้รับการประเมินบันทึกหรือแก้ไขข้อมูลภาระงานพร้อมแนบลิงก์หลักฐาน เมื่อบันทึกแล้วระบบจะคำนวณคะแนนอัตโนมัติและนำคะแนนไปใช้ในแบบประเมิน สุดท้ายผู้ที่มีสิทธิ์สามารถดูรายงานและส่งออกข้อมูลภาระงานได้ ทั้งหมดนี้ทำงานอยู่ภายในระบบประเมินเดิมครับ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608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เดโมตามลำดับเดียว ไม่เปิดเมนูที่ไม่เกี่ยวข้อง เริ่มจาก Workload Config ชี้ Field และสูตร จากนั้นไปมุม Evaluatee ชี้ข้อมูล หลักฐาน และคะแนน ปิดด้วย Audit evidence หรือคำอธิบายจากชุดทดสอบ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อธิบายสี่ช่วงตาม TOR และขอให้ที่ประชุมยืนยันวันเริ่มนับอย่างชัดเจน ห้ามกำหนดวันส่งมอบใหม่แทนผู้มีอำนาจ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29000" y="0"/>
            <a:ext cx="274320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pic>
        <p:nvPicPr>
          <p:cNvPr id="4" name="Image 0" descr="public\favicon-msu.png"/>
          <p:cNvPicPr>
            <a:picLocks noChangeAspect="1"/>
          </p:cNvPicPr>
          <p:nvPr/>
        </p:nvPicPr>
        <p:blipFill>
          <a:blip r:embed="rId3">
            <a:alphaModFix amt="98000"/>
          </a:blip>
          <a:stretch>
            <a:fillRect/>
          </a:stretch>
        </p:blipFill>
        <p:spPr>
          <a:xfrm>
            <a:off x="1161288" y="59436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440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CFE1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5833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FC4C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Microsoft Teams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65836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คณะสาธารณสุขศาสตร์ มหาวิทยาลัยมหาสารคาม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97680" y="1170432"/>
            <a:ext cx="6995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Kickoff โครงการ Workload Management Module Phase 2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97680" y="2514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เชื่อมการบันทึกภาระงาน การคำนวณคะแนน และระบบประเมินผลหลัก เวอร์ชัน 2026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297680" y="3685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ผลลัพธ์ที่ต้องได้จากวันนี้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62272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92040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เข้าใจขอบเขตตรงกัน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44968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39328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เห็นฟีเจอร์และสถานะจริง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97680" y="5093208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462272" y="523951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92040" y="5193792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ยืนยันแผนดำเนินงาน</a:t>
            </a:r>
            <a:endParaRPr lang="en-US" sz="1500" dirty="0"/>
          </a:p>
        </p:txBody>
      </p:sp>
      <p:pic>
        <p:nvPicPr>
          <p:cNvPr id="23" name="รูปภาพ 22" descr="Intelligent Software Solutions&#10;&#10;เนื้อหาที่สร้างโดย AI อาจไม่ถูกต้อง">
            <a:extLst>
              <a:ext uri="{FF2B5EF4-FFF2-40B4-BE49-F238E27FC236}">
                <a16:creationId xmlns:a16="http://schemas.microsoft.com/office/drawing/2014/main" id="{1B1DDEC3-E25B-3C96-EF84-835879C095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404" b="34912"/>
          <a:stretch>
            <a:fillRect/>
          </a:stretch>
        </p:blipFill>
        <p:spPr>
          <a:xfrm>
            <a:off x="10225937" y="-18289"/>
            <a:ext cx="1950925" cy="676657"/>
          </a:xfrm>
          <a:prstGeom prst="rect">
            <a:avLst/>
          </a:prstGeom>
        </p:spPr>
      </p:pic>
      <p:sp>
        <p:nvSpPr>
          <p:cNvPr id="27" name="Shape 15">
            <a:extLst>
              <a:ext uri="{FF2B5EF4-FFF2-40B4-BE49-F238E27FC236}">
                <a16:creationId xmlns:a16="http://schemas.microsoft.com/office/drawing/2014/main" id="{9DB40A8B-147A-09E3-694B-E4EFE3AAF11D}"/>
              </a:ext>
            </a:extLst>
          </p:cNvPr>
          <p:cNvSpPr/>
          <p:nvPr/>
        </p:nvSpPr>
        <p:spPr>
          <a:xfrm>
            <a:off x="7744968" y="5093208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  <p:txBody>
          <a:bodyPr/>
          <a:lstStyle/>
          <a:p>
            <a:endParaRPr lang="th-TH" dirty="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A7CA80B6-AFE9-CD2C-158F-739967FFF9E3}"/>
              </a:ext>
            </a:extLst>
          </p:cNvPr>
          <p:cNvSpPr/>
          <p:nvPr/>
        </p:nvSpPr>
        <p:spPr>
          <a:xfrm>
            <a:off x="7909560" y="523951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3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29B93AD1-87BC-F386-6F27-CE96D08E0EAE}"/>
              </a:ext>
            </a:extLst>
          </p:cNvPr>
          <p:cNvSpPr/>
          <p:nvPr/>
        </p:nvSpPr>
        <p:spPr>
          <a:xfrm>
            <a:off x="8339328" y="5193792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th-TH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สรุปมติ และกำหนดการ</a:t>
            </a:r>
            <a:r>
              <a:rPr lang="en-US" sz="1500" b="1" dirty="0" err="1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ดำเนินงาน</a:t>
            </a:r>
            <a:r>
              <a:rPr lang="th-TH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ถัดไป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ปัญหาและเป้าหมายโครงการ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สถานการณ์เดิม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คำนวณนอกระบบ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ผู้ใช้ต้องคำนวณคะแนนภาระงานจากภายนอก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44568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62856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บันทึกข้อมูลซ้ำ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นำคะแนนและหลักฐานกลับมากรอกในระบบหลัก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19872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39328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ตรวจสอบยาก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ใช้เวลาและเสี่ยงต่อความคลาดเคลื่อนของข้อมูล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041648"/>
            <a:ext cx="10991088" cy="1645920"/>
          </a:xfrm>
          <a:prstGeom prst="roundRect">
            <a:avLst>
              <a:gd name="adj" fmla="val 4444"/>
            </a:avLst>
          </a:prstGeom>
          <a:solidFill>
            <a:srgbClr val="DDF1EF"/>
          </a:solidFill>
          <a:ln w="12700">
            <a:solidFill>
              <a:srgbClr val="9FCBC7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370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 Phase 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54680" y="4297680"/>
            <a:ext cx="7818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Phase 2 ทำให้กำหนดแบบฟอร์ม บันทึกภาระงาน แนบหลักฐาน และคำนวณคะแนนได้ใน Workflow เดียว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80360" y="5029200"/>
            <a:ext cx="8092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ลดงานซ้ำ  •  ลดความคลาดเคลื่อน  •  ตรวจสอบย้อนกลับได้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2/5</a:t>
            </a:r>
            <a:endParaRPr lang="en-US" sz="900" dirty="0"/>
          </a:p>
        </p:txBody>
      </p:sp>
      <p:pic>
        <p:nvPicPr>
          <p:cNvPr id="26" name="รูปภาพ 25" descr="Intelligent Software Solutions&#10;&#10;เนื้อหาที่สร้างโดย AI อาจไม่ถูกต้อง">
            <a:extLst>
              <a:ext uri="{FF2B5EF4-FFF2-40B4-BE49-F238E27FC236}">
                <a16:creationId xmlns:a16="http://schemas.microsoft.com/office/drawing/2014/main" id="{0101571B-6AE6-C235-C41F-D2654504ED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404" b="34912"/>
          <a:stretch>
            <a:fillRect/>
          </a:stretch>
        </p:blipFill>
        <p:spPr>
          <a:xfrm>
            <a:off x="10225937" y="-18289"/>
            <a:ext cx="1950925" cy="6766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ฟีเจอร์หลักของ Phase 2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6070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โมดูลบริหารจัดการภาระงานภายในระบบประเมินเดิม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572768"/>
            <a:ext cx="3456432" cy="10972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1847088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8790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กำหนดแบบฟอร์มภาระงาน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43400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1572768"/>
            <a:ext cx="3456432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847088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8790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62856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กำหนดสูตรคำนวณคะแนน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119872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19872" y="1572768"/>
            <a:ext cx="3456432" cy="109728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39328" y="1847088"/>
            <a:ext cx="1481328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1879092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ผู้รับการประเมิน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39328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บันทึกและแก้ไขข้อมูลภาระงาน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66928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6928" y="3730752"/>
            <a:ext cx="3456432" cy="10972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4005072"/>
            <a:ext cx="1481328" cy="256032"/>
          </a:xfrm>
          <a:prstGeom prst="roundRect">
            <a:avLst>
              <a:gd name="adj" fmla="val 21429"/>
            </a:avLst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" y="40370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ผู้รับการประเมิน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6384" y="4480560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แนบลิงก์หลักฐาน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343400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43400" y="3730752"/>
            <a:ext cx="3456432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62856" y="4005072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037076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62856" y="4480560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คำนวณคะแนนและนำไปใช้ในแบบประเมิน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119872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19872" y="3730752"/>
            <a:ext cx="3456432" cy="109728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85048" y="4005072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403707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866376" y="4005072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12096" y="403707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ผู้บริหาร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385048" y="4334256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0768" y="4366260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กรรมการ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866376" y="4334256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12096" y="4366260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ผู้ประเมิน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39328" y="4672584"/>
            <a:ext cx="30175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รายงานและส่งออกข้อมูลภาระงาน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th-TH" sz="90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3/5</a:t>
            </a:r>
            <a:endParaRPr lang="en-US" sz="900" dirty="0"/>
          </a:p>
        </p:txBody>
      </p:sp>
      <p:pic>
        <p:nvPicPr>
          <p:cNvPr id="46" name="รูปภาพ 45" descr="Intelligent Software Solutions&#10;&#10;เนื้อหาที่สร้างโดย AI อาจไม่ถูกต้อง">
            <a:extLst>
              <a:ext uri="{FF2B5EF4-FFF2-40B4-BE49-F238E27FC236}">
                <a16:creationId xmlns:a16="http://schemas.microsoft.com/office/drawing/2014/main" id="{D6908E34-8835-B7D2-62D6-F0DD3C8F17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404" b="34912"/>
          <a:stretch>
            <a:fillRect/>
          </a:stretch>
        </p:blipFill>
        <p:spPr>
          <a:xfrm>
            <a:off x="10225937" y="-18289"/>
            <a:ext cx="1950925" cy="67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48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สาธิต Workflow จาก Admin ถึง Evaluatee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Workflow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" y="1847088"/>
            <a:ext cx="2057400" cy="1325880"/>
          </a:xfrm>
          <a:prstGeom prst="chevron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70432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15568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52928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383280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ตัวแปรและพรีวิว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05856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Evaluatee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50992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บันทึกภาระงาน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88352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5552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73568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918704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แนบลิงก์อ้างอิง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56064" y="1847088"/>
            <a:ext cx="2057400" cy="1325880"/>
          </a:xfrm>
          <a:prstGeom prst="round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13264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0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คะแนน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186416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คำนวณอัตโนมัติ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3232" y="3867912"/>
            <a:ext cx="106984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87552" y="416966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075688" y="415137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 กำหนดโครงสร้าง → Evaluatee บันทึกข้อมูลและหลักฐาน → ระบบคำนวณคะแนนตามสูตร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4/5</a:t>
            </a:r>
            <a:endParaRPr lang="en-US" sz="900" dirty="0"/>
          </a:p>
        </p:txBody>
      </p:sp>
      <p:pic>
        <p:nvPicPr>
          <p:cNvPr id="33" name="รูปภาพ 32" descr="Intelligent Software Solutions&#10;&#10;เนื้อหาที่สร้างโดย AI อาจไม่ถูกต้อง">
            <a:extLst>
              <a:ext uri="{FF2B5EF4-FFF2-40B4-BE49-F238E27FC236}">
                <a16:creationId xmlns:a16="http://schemas.microsoft.com/office/drawing/2014/main" id="{5A936A08-3D02-20EF-6D62-3ECC256CFF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404" b="34912"/>
          <a:stretch>
            <a:fillRect/>
          </a:stretch>
        </p:blipFill>
        <p:spPr>
          <a:xfrm>
            <a:off x="10225937" y="-18289"/>
            <a:ext cx="1950925" cy="6766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แผนดำเนินงาน 90 วัน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761488"/>
            <a:ext cx="9921240" cy="0"/>
          </a:xfrm>
          <a:prstGeom prst="line">
            <a:avLst/>
          </a:prstGeom>
          <a:noFill/>
          <a:ln w="63500">
            <a:solidFill>
              <a:srgbClr val="D9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1–2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Analysis &amp; Design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เก็บความต้องการและยืนยันแบบฟอร์ม/สูตร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3–8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10712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 Backend และ Frontend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2505456"/>
            <a:ext cx="502920" cy="502920"/>
          </a:xfrm>
          <a:prstGeom prst="ellipse">
            <a:avLst/>
          </a:prstGeom>
          <a:solidFill>
            <a:srgbClr val="2B6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9–10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27064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Integration &amp; UAT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27064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เชื่อมระบบ ทดสอบ และรวบรวมข้อแก้ไข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003536" y="2505456"/>
            <a:ext cx="502920" cy="502920"/>
          </a:xfrm>
          <a:prstGeom prst="ellipse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11–12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43416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&amp; Hypercare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43416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แก้ไข ติดตั้ง คู่มือ อบรม และดูแลระบบ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th-TH" sz="90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5/5</a:t>
            </a:r>
            <a:endParaRPr lang="en-US" sz="900" dirty="0"/>
          </a:p>
        </p:txBody>
      </p:sp>
      <p:sp>
        <p:nvSpPr>
          <p:cNvPr id="23" name="DeliverablesSummaryBackground">
            <a:extLst>
              <a:ext uri="{FF2B5EF4-FFF2-40B4-BE49-F238E27FC236}">
                <a16:creationId xmlns:a16="http://schemas.microsoft.com/office/drawing/2014/main" id="{45378C79-82D2-5337-CC36-49FD3EBF1D05}"/>
              </a:ext>
            </a:extLst>
          </p:cNvPr>
          <p:cNvSpPr/>
          <p:nvPr/>
        </p:nvSpPr>
        <p:spPr>
          <a:xfrm>
            <a:off x="4063331" y="4194048"/>
            <a:ext cx="4888163" cy="990600"/>
          </a:xfrm>
          <a:prstGeom prst="roundRect">
            <a:avLst/>
          </a:prstGeom>
          <a:solidFill>
            <a:srgbClr val="E6F3F3"/>
          </a:solidFill>
          <a:ln w="12700">
            <a:solidFill>
              <a:srgbClr val="B9DA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4" name="DeliverablesSummaryTitle">
            <a:extLst>
              <a:ext uri="{FF2B5EF4-FFF2-40B4-BE49-F238E27FC236}">
                <a16:creationId xmlns:a16="http://schemas.microsoft.com/office/drawing/2014/main" id="{7FB11A5B-6033-2599-3372-367EDE8F997E}"/>
              </a:ext>
            </a:extLst>
          </p:cNvPr>
          <p:cNvSpPr txBox="1"/>
          <p:nvPr/>
        </p:nvSpPr>
        <p:spPr>
          <a:xfrm>
            <a:off x="4342731" y="4511548"/>
            <a:ext cx="1651000" cy="330200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/>
          <a:p>
            <a:r>
              <a:rPr lang="th-TH" sz="1600" b="1">
                <a:solidFill>
                  <a:srgbClr val="2A7F80"/>
                </a:solidFill>
                <a:latin typeface="Tahoma" panose="020B0604030504040204" pitchFamily="34" charset="0"/>
              </a:rPr>
              <a:t>สิ่งส่งมอบหลัก</a:t>
            </a:r>
          </a:p>
        </p:txBody>
      </p:sp>
      <p:sp>
        <p:nvSpPr>
          <p:cNvPr id="25" name="DeliverablesSummaryItems">
            <a:extLst>
              <a:ext uri="{FF2B5EF4-FFF2-40B4-BE49-F238E27FC236}">
                <a16:creationId xmlns:a16="http://schemas.microsoft.com/office/drawing/2014/main" id="{7062F291-A7A9-7766-5836-9C536B4906B4}"/>
              </a:ext>
            </a:extLst>
          </p:cNvPr>
          <p:cNvSpPr txBox="1"/>
          <p:nvPr/>
        </p:nvSpPr>
        <p:spPr>
          <a:xfrm>
            <a:off x="5923546" y="4263136"/>
            <a:ext cx="2642938" cy="9042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marL="342900" indent="-342900">
              <a:buAutoNum type="arabicPeriod"/>
            </a:pPr>
            <a:r>
              <a:rPr lang="en-US" sz="1400" dirty="0">
                <a:solidFill>
                  <a:srgbClr val="486174"/>
                </a:solidFill>
              </a:rPr>
              <a:t>Source Code </a:t>
            </a:r>
            <a:r>
              <a:rPr lang="th-TH" sz="1400" dirty="0">
                <a:solidFill>
                  <a:srgbClr val="486174"/>
                </a:solidFill>
              </a:rPr>
              <a:t>และฐานข้อมูล</a:t>
            </a:r>
          </a:p>
          <a:p>
            <a:pPr marL="342900" indent="-342900">
              <a:buAutoNum type="arabicPeriod"/>
            </a:pPr>
            <a:r>
              <a:rPr lang="th-TH" sz="1400" dirty="0">
                <a:solidFill>
                  <a:srgbClr val="486174"/>
                </a:solidFill>
              </a:rPr>
              <a:t>คู่มือผู้ใช้งาน</a:t>
            </a:r>
          </a:p>
          <a:p>
            <a:pPr marL="342900" indent="-342900">
              <a:buAutoNum type="arabicPeriod"/>
            </a:pPr>
            <a:r>
              <a:rPr lang="th-TH" sz="1400" dirty="0">
                <a:solidFill>
                  <a:srgbClr val="486174"/>
                </a:solidFill>
              </a:rPr>
              <a:t>ผลการทดสอบ </a:t>
            </a:r>
            <a:r>
              <a:rPr lang="en-US" sz="1400" dirty="0">
                <a:solidFill>
                  <a:srgbClr val="486174"/>
                </a:solidFill>
              </a:rPr>
              <a:t>UAT</a:t>
            </a:r>
            <a:r>
              <a:rPr lang="th-TH" sz="1400" dirty="0">
                <a:solidFill>
                  <a:srgbClr val="486174"/>
                </a:solidFill>
              </a:rPr>
              <a:t>  </a:t>
            </a:r>
          </a:p>
          <a:p>
            <a:pPr marL="342900" indent="-342900">
              <a:buAutoNum type="arabicPeriod"/>
            </a:pPr>
            <a:r>
              <a:rPr lang="th-TH" sz="1400" dirty="0">
                <a:solidFill>
                  <a:srgbClr val="486174"/>
                </a:solidFill>
              </a:rPr>
              <a:t>การติดตั้ง อบรม และดูแลหลังขึ้นระบบ</a:t>
            </a:r>
          </a:p>
        </p:txBody>
      </p:sp>
      <p:pic>
        <p:nvPicPr>
          <p:cNvPr id="29" name="รูปภาพ 28" descr="Intelligent Software Solutions&#10;&#10;เนื้อหาที่สร้างโดย AI อาจไม่ถูกต้อง">
            <a:extLst>
              <a:ext uri="{FF2B5EF4-FFF2-40B4-BE49-F238E27FC236}">
                <a16:creationId xmlns:a16="http://schemas.microsoft.com/office/drawing/2014/main" id="{908D771F-9F0A-C7EA-13BB-2734E55A6A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404" b="34912"/>
          <a:stretch>
            <a:fillRect/>
          </a:stretch>
        </p:blipFill>
        <p:spPr>
          <a:xfrm>
            <a:off x="10225937" y="-18289"/>
            <a:ext cx="1950925" cy="6766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548</Words>
  <Application>Microsoft Office PowerPoint</Application>
  <PresentationFormat>แบบจอกว้าง</PresentationFormat>
  <Paragraphs>99</Paragraphs>
  <Slides>5</Slides>
  <Notes>5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2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5</vt:i4>
      </vt:variant>
    </vt:vector>
  </HeadingPairs>
  <TitlesOfParts>
    <vt:vector size="8" baseType="lpstr">
      <vt:lpstr>Arial</vt:lpstr>
      <vt:lpstr>Tahoma</vt:lpstr>
      <vt:lpstr>Office Theme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Company>Workload Management Module Phase 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Kickoff Workload Management Module Phase 2</dc:title>
  <dc:subject>Kickoff และสาธิต Workload Management Module Phase 2</dc:subject>
  <dc:creator>MSU EVA Project Team</dc:creator>
  <cp:lastModifiedBy>pisut palapol</cp:lastModifiedBy>
  <cp:revision>10</cp:revision>
  <dcterms:created xsi:type="dcterms:W3CDTF">2026-07-14T15:13:51Z</dcterms:created>
  <dcterms:modified xsi:type="dcterms:W3CDTF">2026-07-14T18:22:53Z</dcterms:modified>
</cp:coreProperties>
</file>