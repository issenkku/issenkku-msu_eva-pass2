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bc511fe663d4f18" /><Relationship Type="http://schemas.openxmlformats.org/officeDocument/2006/relationships/extended-properties" Target="/docProps/app.xml" Id="R9f90c43ac5a64d4a" /><Relationship Type="http://schemas.openxmlformats.org/officeDocument/2006/relationships/officeDocument" Target="/ppt/presentation.xml" Id="Rbf4c24d5dbb84d0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eaae28e769b46e7"/>
  </p:sldMasterIdLst>
  <p:notesMasterIdLst>
    <p:notesMasterId xmlns:r="http://schemas.openxmlformats.org/officeDocument/2006/relationships" r:id="Rb7205f12a0d44e2d"/>
  </p:notesMasterIdLst>
  <p:sldIdLst>
    <p:sldId xmlns:r="http://schemas.openxmlformats.org/officeDocument/2006/relationships" id="256" r:id="R9b6120fdb43d41fd"/>
    <p:sldId xmlns:r="http://schemas.openxmlformats.org/officeDocument/2006/relationships" id="257" r:id="R6be6c8f07a144cb4"/>
    <p:sldId xmlns:r="http://schemas.openxmlformats.org/officeDocument/2006/relationships" id="258" r:id="R3c596ccfe3bd41ed"/>
    <p:sldId xmlns:r="http://schemas.openxmlformats.org/officeDocument/2006/relationships" id="259" r:id="R35c18120d33f4770"/>
    <p:sldId xmlns:r="http://schemas.openxmlformats.org/officeDocument/2006/relationships" id="260" r:id="R29d24210a4434c4b"/>
    <p:sldId xmlns:r="http://schemas.openxmlformats.org/officeDocument/2006/relationships" id="261" r:id="R5e7f476ea32c49b1"/>
    <p:sldId xmlns:r="http://schemas.openxmlformats.org/officeDocument/2006/relationships" id="262" r:id="Reacb42d4d05c4020"/>
    <p:sldId xmlns:r="http://schemas.openxmlformats.org/officeDocument/2006/relationships" id="263" r:id="R6da4a851c750456e"/>
    <p:sldId xmlns:r="http://schemas.openxmlformats.org/officeDocument/2006/relationships" id="264" r:id="R2d8637a6c6a04671"/>
    <p:sldId xmlns:r="http://schemas.openxmlformats.org/officeDocument/2006/relationships" id="265" r:id="Rb5736188c4924e04"/>
    <p:sldId xmlns:r="http://schemas.openxmlformats.org/officeDocument/2006/relationships" id="266" r:id="R39af4f8a51c14328"/>
    <p:sldId xmlns:r="http://schemas.openxmlformats.org/officeDocument/2006/relationships" id="267" r:id="Ra3d804329a2344a7"/>
    <p:sldId xmlns:r="http://schemas.openxmlformats.org/officeDocument/2006/relationships" id="268" r:id="R0ef01996c5c34916"/>
    <p:sldId xmlns:r="http://schemas.openxmlformats.org/officeDocument/2006/relationships" id="269" r:id="Rc39390312db0424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dd8b46e74264d8f" /><Relationship Type="http://schemas.openxmlformats.org/officeDocument/2006/relationships/slideMaster" Target="/ppt/slideMasters/slideMaster1.xml" Id="Rceaae28e769b46e7" /><Relationship Type="http://schemas.openxmlformats.org/officeDocument/2006/relationships/notesMaster" Target="/ppt/notesMasters/notesMaster1.xml" Id="Rb7205f12a0d44e2d" /><Relationship Type="http://schemas.openxmlformats.org/officeDocument/2006/relationships/presProps" Target="/ppt/presProps.xml" Id="R38bddcb0002046f4" /><Relationship Type="http://schemas.openxmlformats.org/officeDocument/2006/relationships/tableStyles" Target="/ppt/tableStyles.xml" Id="R561ebd25aa674e26" /><Relationship Type="http://schemas.openxmlformats.org/officeDocument/2006/relationships/slide" Target="/ppt/slides/slide1.xml" Id="R9b6120fdb43d41fd" /><Relationship Type="http://schemas.openxmlformats.org/officeDocument/2006/relationships/slide" Target="/ppt/slides/slide2.xml" Id="R6be6c8f07a144cb4" /><Relationship Type="http://schemas.openxmlformats.org/officeDocument/2006/relationships/slide" Target="/ppt/slides/slide3.xml" Id="R3c596ccfe3bd41ed" /><Relationship Type="http://schemas.openxmlformats.org/officeDocument/2006/relationships/slide" Target="/ppt/slides/slide4.xml" Id="R35c18120d33f4770" /><Relationship Type="http://schemas.openxmlformats.org/officeDocument/2006/relationships/slide" Target="/ppt/slides/slide5.xml" Id="R29d24210a4434c4b" /><Relationship Type="http://schemas.openxmlformats.org/officeDocument/2006/relationships/slide" Target="/ppt/slides/slide6.xml" Id="R5e7f476ea32c49b1" /><Relationship Type="http://schemas.openxmlformats.org/officeDocument/2006/relationships/slide" Target="/ppt/slides/slide7.xml" Id="Reacb42d4d05c4020" /><Relationship Type="http://schemas.openxmlformats.org/officeDocument/2006/relationships/slide" Target="/ppt/slides/slide8.xml" Id="R6da4a851c750456e" /><Relationship Type="http://schemas.openxmlformats.org/officeDocument/2006/relationships/slide" Target="/ppt/slides/slide9.xml" Id="R2d8637a6c6a04671" /><Relationship Type="http://schemas.openxmlformats.org/officeDocument/2006/relationships/slide" Target="/ppt/slides/slide10.xml" Id="Rb5736188c4924e04" /><Relationship Type="http://schemas.openxmlformats.org/officeDocument/2006/relationships/slide" Target="/ppt/slides/slide11.xml" Id="R39af4f8a51c14328" /><Relationship Type="http://schemas.openxmlformats.org/officeDocument/2006/relationships/slide" Target="/ppt/slides/slide12.xml" Id="Ra3d804329a2344a7" /><Relationship Type="http://schemas.openxmlformats.org/officeDocument/2006/relationships/slide" Target="/ppt/slides/slide13.xml" Id="R0ef01996c5c34916" /><Relationship Type="http://schemas.openxmlformats.org/officeDocument/2006/relationships/slide" Target="/ppt/slides/slide14.xml" Id="Rc39390312db0424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7748178262b4cc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1d95ce7699e4953" /><Relationship Type="http://schemas.openxmlformats.org/officeDocument/2006/relationships/notesMaster" Target="/ppt/notesMasters/notesMaster1.xml" Id="Ra61a39beb75b4db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5ba19a9bd6e440a" /><Relationship Type="http://schemas.openxmlformats.org/officeDocument/2006/relationships/notesMaster" Target="/ppt/notesMasters/notesMaster1.xml" Id="Rf527b4ae353240d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8d7b03f5f834605" /><Relationship Type="http://schemas.openxmlformats.org/officeDocument/2006/relationships/notesMaster" Target="/ppt/notesMasters/notesMaster1.xml" Id="R3f16884a552946d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01c28b2bf8f4ed2" /><Relationship Type="http://schemas.openxmlformats.org/officeDocument/2006/relationships/notesMaster" Target="/ppt/notesMasters/notesMaster1.xml" Id="Rf57015c7f3fc4b3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d7a13fd109e4810" /><Relationship Type="http://schemas.openxmlformats.org/officeDocument/2006/relationships/notesMaster" Target="/ppt/notesMasters/notesMaster1.xml" Id="Rccb9355bee0f4c6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584a9933c7d4e1a" /><Relationship Type="http://schemas.openxmlformats.org/officeDocument/2006/relationships/notesMaster" Target="/ppt/notesMasters/notesMaster1.xml" Id="R246b504fda0b48d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c9983f0bf324bbf" /><Relationship Type="http://schemas.openxmlformats.org/officeDocument/2006/relationships/notesMaster" Target="/ppt/notesMasters/notesMaster1.xml" Id="R8e99bab911ff42b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f9bf63ac1d44dc2" /><Relationship Type="http://schemas.openxmlformats.org/officeDocument/2006/relationships/notesMaster" Target="/ppt/notesMasters/notesMaster1.xml" Id="Rb35eb20dcc06488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1ddad93d11d43ba" /><Relationship Type="http://schemas.openxmlformats.org/officeDocument/2006/relationships/notesMaster" Target="/ppt/notesMasters/notesMaster1.xml" Id="R715a29e5ceb94bb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c3507cd691d4166" /><Relationship Type="http://schemas.openxmlformats.org/officeDocument/2006/relationships/notesMaster" Target="/ppt/notesMasters/notesMaster1.xml" Id="R149e489362a7445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753ca3c4a6c4efd" /><Relationship Type="http://schemas.openxmlformats.org/officeDocument/2006/relationships/notesMaster" Target="/ppt/notesMasters/notesMaster1.xml" Id="R528de4d5d38844f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d40c0cbf6224cbe" /><Relationship Type="http://schemas.openxmlformats.org/officeDocument/2006/relationships/notesMaster" Target="/ppt/notesMasters/notesMaster1.xml" Id="R0a9b20c7620945a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7593abfe9ca4adf" /><Relationship Type="http://schemas.openxmlformats.org/officeDocument/2006/relationships/notesMaster" Target="/ppt/notesMasters/notesMaster1.xml" Id="R7166cdf328904d0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ef15c4b17b74897" /><Relationship Type="http://schemas.openxmlformats.org/officeDocument/2006/relationships/notesMaster" Target="/ppt/notesMasters/notesMaster1.xml" Id="Ra1cba408d7c54e0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docs/superpowers/specs/2026-07-24-split-role-training-decks-design.md</a:t>
            </a:r>
          </a:p>
          <a:p xmlns:a="http://schemas.openxmlformats.org/drawingml/2006/main">
            <a:r>
              <a:t>- public/favicon-msu.png</a:t>
            </a:r>
          </a:p>
          <a:p xmlns:a="http://schemas.openxmlformats.org/drawingml/2006/main">
            <a:r>
              <a:t>- C:\Users\pisut\Downloads\logoบริษัท.svg</a:t>
            </a:r>
          </a:p>
          <a:p xmlns:a="http://schemas.openxmlformats.org/drawingml/2006/main">
            <a:r>
              <a:t>- public/images/workload-background.jpg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docs/superpowers/specs/2026-07-24-split-role-training-decks-design.md</a:t>
            </a:r>
          </a:p>
          <a:p xmlns:a="http://schemas.openxmlformats.org/drawingml/2006/main">
            <a:r>
              <a:t>- docs/user-guide-th.md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docs/user-guide-th.md</a:t>
            </a:r>
          </a:p>
          <a:p xmlns:a="http://schemas.openxmlformats.org/drawingml/2006/main">
            <a:r>
              <a:t>- app/Support/AssignmentFlow.php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docs/user-guide-th.md</a:t>
            </a:r>
          </a:p>
          <a:p xmlns:a="http://schemas.openxmlformats.org/drawingml/2006/main">
            <a:r>
              <a:t>- app/Support/AssignmentFlow.php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docs/user-guide-th.md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resources/views/criteria_config/partials/create-quantity-template.blade.php</a:t>
            </a:r>
          </a:p>
          <a:p xmlns:a="http://schemas.openxmlformats.org/drawingml/2006/main">
            <a:r>
              <a:t>- resources/views/criteria_config/partials/create-quality-template.blade.php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resources/views/criteria_config/partials/create-quantity-template.blade.php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resources/views/criteria_config/partials/create-quality-template.blade.php</a:t>
            </a:r>
          </a:p>
          <a:p xmlns:a="http://schemas.openxmlformats.org/drawingml/2006/main">
            <a:r>
              <a:t>- resources/views/partials/evaluatee-evaluation-script.blade.php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resources/views/partials/evaluatee-evaluation-script.blade.php</a:t>
            </a:r>
          </a:p>
          <a:p xmlns:a="http://schemas.openxmlformats.org/drawingml/2006/main">
            <a:r>
              <a:t>- resources/views/criteria_config/partials/create-quality-template.blade.php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resources/views/partials/evaluation-form-action-buttons.blade.php</a:t>
            </a:r>
          </a:p>
          <a:p xmlns:a="http://schemas.openxmlformats.org/drawingml/2006/main">
            <a:r>
              <a:t>- resources/views/partials/evaluatee-evaluation-script.blade.php</a:t>
            </a:r>
          </a:p>
          <a:p xmlns:a="http://schemas.openxmlformats.org/drawingml/2006/main">
            <a:r>
              <a:t>- app/Support/AssignmentFlow.php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app/Support/AssignmentFlow.php</a:t>
            </a:r>
          </a:p>
          <a:p xmlns:a="http://schemas.openxmlformats.org/drawingml/2006/main">
            <a:r>
              <a:t>- docs/user-guide-th.md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app/Support/AssignmentFlow.php</a:t>
            </a:r>
          </a:p>
          <a:p xmlns:a="http://schemas.openxmlformats.org/drawingml/2006/main">
            <a:r>
              <a:t>- docs/user-guide-th.md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docs/superpowers/specs/2026-07-24-split-role-training-decks-design.md</a:t>
            </a:r>
          </a:p>
          <a:p xmlns:a="http://schemas.openxmlformats.org/drawingml/2006/main">
            <a:r>
              <a:t>- docs/user-guide-th.md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resources/views/partials/evaluation-form-action-buttons.blade.php</a:t>
            </a:r>
          </a:p>
          <a:p xmlns:a="http://schemas.openxmlformats.org/drawingml/2006/main">
            <a:r>
              <a:t>- resources/views/partials/evaluatee-evaluation-script.blade.php</a:t>
            </a:r>
          </a:p>
          <a:p xmlns:a="http://schemas.openxmlformats.org/drawingml/2006/main">
            <a:r>
              <a:t>- app/Support/AssignmentFlow.php</a:t>
            </a:r>
          </a:p>
          <a:p xmlns:a="http://schemas.openxmlformats.org/drawingml/2006/main">
            <a:r>
              <a:t>- C:\Users\pisut\Downloads\logoบริษัท.svg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a27573ed38c410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959c14704c542dd" /><Relationship Type="http://schemas.openxmlformats.org/officeDocument/2006/relationships/slideLayout" Target="/ppt/slideLayouts/slideLayout1.xml" Id="Re36f19b5ed304d3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36f19b5ed304d3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0fe16934554154" /><Relationship Type="http://schemas.openxmlformats.org/officeDocument/2006/relationships/image" Target="/ppt/media/image.jpeg" Id="Rb671c86415f64864" /><Relationship Type="http://schemas.openxmlformats.org/officeDocument/2006/relationships/image" Target="/ppt/media/image.png" Id="R61122556c824416f" /><Relationship Type="http://schemas.openxmlformats.org/officeDocument/2006/relationships/image" Target="/ppt/media/image2.png" Id="Rc07dee28e1df4fc1" /><Relationship Type="http://schemas.openxmlformats.org/officeDocument/2006/relationships/notesSlide" Target="/ppt/notesSlides/notesSlide1.xml" Id="R8f229a69787e465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d3a131a8c6485b" /><Relationship Type="http://schemas.openxmlformats.org/officeDocument/2006/relationships/notesSlide" Target="/ppt/notesSlides/notesSlide2.xml" Id="R8d092dbedc2c481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39b9502a64465a" /><Relationship Type="http://schemas.openxmlformats.org/officeDocument/2006/relationships/notesSlide" Target="/ppt/notesSlides/notesSlide3.xml" Id="R86f5a632ea9f45e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8abecafdc04a78" /><Relationship Type="http://schemas.openxmlformats.org/officeDocument/2006/relationships/notesSlide" Target="/ppt/notesSlides/notesSlide4.xml" Id="R4660313c8ba740e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8627ed480f45d2" /><Relationship Type="http://schemas.openxmlformats.org/officeDocument/2006/relationships/notesSlide" Target="/ppt/notesSlides/notesSlide5.xml" Id="R9b389d7118ad4aa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1cdb7291fe49f0" /><Relationship Type="http://schemas.openxmlformats.org/officeDocument/2006/relationships/notesSlide" Target="/ppt/notesSlides/notesSlide6.xml" Id="Rcd51ddb7ed824a9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6af61d37054dba" /><Relationship Type="http://schemas.openxmlformats.org/officeDocument/2006/relationships/notesSlide" Target="/ppt/notesSlides/notesSlide7.xml" Id="Rafbb46467ebf465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2dee1ce9054806" /><Relationship Type="http://schemas.openxmlformats.org/officeDocument/2006/relationships/notesSlide" Target="/ppt/notesSlides/notesSlide8.xml" Id="R3263a93de69a4e5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3fbf826b504206" /><Relationship Type="http://schemas.openxmlformats.org/officeDocument/2006/relationships/notesSlide" Target="/ppt/notesSlides/notesSlide9.xml" Id="R37878d9037114db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eab42154444c39" /><Relationship Type="http://schemas.openxmlformats.org/officeDocument/2006/relationships/notesSlide" Target="/ppt/notesSlides/notesSlide10.xml" Id="R7d15f950b8ee49b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7771efac7a4014" /><Relationship Type="http://schemas.openxmlformats.org/officeDocument/2006/relationships/notesSlide" Target="/ppt/notesSlides/notesSlide11.xml" Id="R7fb63368c5b540b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f1412c2c244c78" /><Relationship Type="http://schemas.openxmlformats.org/officeDocument/2006/relationships/notesSlide" Target="/ppt/notesSlides/notesSlide12.xml" Id="Rfcac17c8aa4044e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bc9676d1a14651" /><Relationship Type="http://schemas.openxmlformats.org/officeDocument/2006/relationships/notesSlide" Target="/ppt/notesSlides/notesSlide13.xml" Id="R3714723cd22a425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41d42da13e48dc" /><Relationship Type="http://schemas.openxmlformats.org/officeDocument/2006/relationships/image" Target="/ppt/media/image3.png" Id="R6d7d631f9fc64e43" /><Relationship Type="http://schemas.openxmlformats.org/officeDocument/2006/relationships/notesSlide" Target="/ppt/notesSlides/notesSlide14.xml" Id="Re9bb87acac9a44f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71c86415f64864"/>
          <a:srcRect xmlns:a="http://schemas.openxmlformats.org/drawingml/2006/main" l="2579" t="0" r="257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cover-panel">
            <a:extLst xmlns:a="http://schemas.openxmlformats.org/drawingml/2006/main">
              <a:ext uri="{FF2B5EF4-FFF2-40B4-BE49-F238E27FC236}">
                <a16:creationId xmlns:a16="http://schemas.microsoft.com/office/drawing/2014/main" id="{B10728CD-681F-45F8-A13E-55704A3DF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524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cover-accent">
            <a:extLst xmlns:a="http://schemas.openxmlformats.org/drawingml/2006/main">
              <a:ext uri="{FF2B5EF4-FFF2-40B4-BE49-F238E27FC236}">
                <a16:creationId xmlns:a16="http://schemas.microsoft.com/office/drawing/2014/main" id="{8E835B25-7293-4619-A08A-149A60CE0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356C7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122556c824416f"/>
          <a:stretch xmlns:a="http://schemas.openxmlformats.org/drawingml/2006/main"/>
        </p:blipFill>
        <p:spPr>
          <a:xfrm xmlns:a="http://schemas.openxmlformats.org/drawingml/2006/main">
            <a:off x="628650" y="419100"/>
            <a:ext cx="800100" cy="800100"/>
          </a:xfrm>
          <a:prstGeom xmlns:a="http://schemas.openxmlformats.org/drawingml/2006/main" prst="rect">
            <a:avLst/>
          </a:prstGeom>
        </p:spPr>
      </p:pic>
      <p:sp>
        <p:nvSpPr>
          <p:cNvPr id="5" name="cover-institution">
            <a:extLst xmlns:a="http://schemas.openxmlformats.org/drawingml/2006/main">
              <a:ext uri="{FF2B5EF4-FFF2-40B4-BE49-F238E27FC236}">
                <a16:creationId xmlns:a16="http://schemas.microsoft.com/office/drawing/2014/main" id="{570FF3D8-CFE8-4877-AE22-F2ABDE44F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14350"/>
            <a:ext cx="5286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5F2A84"/>
                </a:solidFill>
                <a:latin typeface="Tahoma"/>
                <a:ea typeface="Tahoma"/>
                <a:cs typeface="Tahoma"/>
              </a:defRPr>
            </a:pPr>
            <a:r>
              <a:rPr sz="1275" b="1">
                <a:solidFill>
                  <a:srgbClr val="5F2A84"/>
                </a:solidFill>
                <a:latin typeface="Tahoma"/>
                <a:ea typeface="Tahoma"/>
                <a:cs typeface="Tahoma"/>
              </a:rPr>
              <a:t>คณะสาธารณสุขศาสตร์  •  มหาวิทยาลัยมหาสารคาม</a:t>
            </a:r>
          </a:p>
        </p:txBody>
      </p:sp>
      <p:sp>
        <p:nvSpPr>
          <p:cNvPr id="6" name="cover-session">
            <a:extLst xmlns:a="http://schemas.openxmlformats.org/drawingml/2006/main">
              <a:ext uri="{FF2B5EF4-FFF2-40B4-BE49-F238E27FC236}">
                <a16:creationId xmlns:a16="http://schemas.microsoft.com/office/drawing/2014/main" id="{43B8D1D6-9882-4E07-AFBD-CAEC3F701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573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4356C7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4356C7"/>
                </a:solidFill>
                <a:latin typeface="Tahoma"/>
                <a:ea typeface="Tahoma"/>
                <a:cs typeface="Tahoma"/>
              </a:rPr>
              <a:t>ภาคเช้า</a:t>
            </a:r>
          </a:p>
        </p:txBody>
      </p:sp>
      <p:sp>
        <p:nvSpPr>
          <p:cNvPr id="7" name="cover-title">
            <a:extLst xmlns:a="http://schemas.openxmlformats.org/drawingml/2006/main">
              <a:ext uri="{FF2B5EF4-FFF2-40B4-BE49-F238E27FC236}">
                <a16:creationId xmlns:a16="http://schemas.microsoft.com/office/drawing/2014/main" id="{8838FFE2-0B57-4D1B-8BC4-81B629674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619125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3975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3975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การใช้งานระบบ</a:t>
            </a:r>
          </a:p>
          <a:p xmlns:a="http://schemas.openxmlformats.org/drawingml/2006/main">
            <a:pPr algn="l">
              <a:lnSpc>
                <a:spcPct val="92000"/>
              </a:lnSpc>
              <a:buNone/>
              <a:defRPr sz="3975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3975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MSU EVA สำหรับสายวิชาการ</a:t>
            </a:r>
          </a:p>
        </p:txBody>
      </p:sp>
      <p:sp>
        <p:nvSpPr>
          <p:cNvPr id="8" name="cover-gold-rule">
            <a:extLst xmlns:a="http://schemas.openxmlformats.org/drawingml/2006/main">
              <a:ext uri="{FF2B5EF4-FFF2-40B4-BE49-F238E27FC236}">
                <a16:creationId xmlns:a16="http://schemas.microsoft.com/office/drawing/2014/main" id="{0C3E7EC1-8478-46EA-9FA4-4A4EB2DF4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95750"/>
            <a:ext cx="876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9A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cover-promise">
            <a:extLst xmlns:a="http://schemas.openxmlformats.org/drawingml/2006/main">
              <a:ext uri="{FF2B5EF4-FFF2-40B4-BE49-F238E27FC236}">
                <a16:creationId xmlns:a16="http://schemas.microsoft.com/office/drawing/2014/main" id="{324E77B3-6CE2-4E67-A847-003849042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57700"/>
            <a:ext cx="5905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>
                <a:solidFill>
                  <a:srgbClr val="23384D"/>
                </a:solidFill>
                <a:latin typeface="Tahoma"/>
                <a:ea typeface="Tahoma"/>
                <a:cs typeface="Tahoma"/>
              </a:defRPr>
            </a:pPr>
            <a:r>
              <a:rPr sz="1800" b="0">
                <a:solidFill>
                  <a:srgbClr val="23384D"/>
                </a:solidFill>
                <a:latin typeface="Tahoma"/>
                <a:ea typeface="Tahoma"/>
                <a:cs typeface="Tahoma"/>
              </a:rPr>
              <a:t>กรอกภาระงานและผลงานให้ครบ ตรวจหลักฐาน แล้วส่งประเมินอย่างมั่นใจ</a:t>
            </a:r>
          </a:p>
        </p:txBody>
      </p:sp>
      <p:sp>
        <p:nvSpPr>
          <p:cNvPr id="10" name="cover-style">
            <a:extLst xmlns:a="http://schemas.openxmlformats.org/drawingml/2006/main">
              <a:ext uri="{FF2B5EF4-FFF2-40B4-BE49-F238E27FC236}">
                <a16:creationId xmlns:a16="http://schemas.microsoft.com/office/drawing/2014/main" id="{8578D270-C400-42FB-97B9-2DE8BD2C5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0007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61758A"/>
                </a:solidFill>
                <a:latin typeface="Tahoma"/>
                <a:ea typeface="Tahoma"/>
                <a:cs typeface="Tahoma"/>
              </a:defRPr>
            </a:pPr>
            <a:r>
              <a:rPr sz="1125" b="0">
                <a:solidFill>
                  <a:srgbClr val="61758A"/>
                </a:solidFill>
                <a:latin typeface="Tahoma"/>
                <a:ea typeface="Tahoma"/>
                <a:cs typeface="Tahoma"/>
              </a:rPr>
              <a:t>Professional Training  •  สายวิชาการ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7dee28e1df4fc1"/>
          <a:stretch xmlns:a="http://schemas.openxmlformats.org/drawingml/2006/main"/>
        </p:blipFill>
        <p:spPr>
          <a:xfrm xmlns:a="http://schemas.openxmlformats.org/drawingml/2006/main">
            <a:off x="9186571" y="5962650"/>
            <a:ext cx="2029408" cy="5524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484628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side-accent-2">
            <a:extLst xmlns:a="http://schemas.openxmlformats.org/drawingml/2006/main">
              <a:ext uri="{FF2B5EF4-FFF2-40B4-BE49-F238E27FC236}">
                <a16:creationId xmlns:a16="http://schemas.microsoft.com/office/drawing/2014/main" id="{1EACA427-E2B1-4906-BF83-68BAAAB9F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356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kicker-2">
            <a:extLst xmlns:a="http://schemas.openxmlformats.org/drawingml/2006/main">
              <a:ext uri="{FF2B5EF4-FFF2-40B4-BE49-F238E27FC236}">
                <a16:creationId xmlns:a16="http://schemas.microsoft.com/office/drawing/2014/main" id="{2673DF3C-DC4A-454B-92E5-19B6EC556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4356C7"/>
                </a:solidFill>
                <a:latin typeface="Tahoma"/>
                <a:ea typeface="Tahoma"/>
                <a:cs typeface="Tahoma"/>
              </a:defRPr>
            </a:pPr>
            <a:r>
              <a:rPr sz="1125" b="1">
                <a:solidFill>
                  <a:srgbClr val="4356C7"/>
                </a:solidFill>
                <a:latin typeface="Tahoma"/>
                <a:ea typeface="Tahoma"/>
                <a:cs typeface="Tahoma"/>
              </a:rPr>
              <a:t>เป้าหมายการอบรม  /  สายวิชาการ</a:t>
            </a:r>
          </a:p>
        </p:txBody>
      </p:sp>
      <p:sp>
        <p:nvSpPr>
          <p:cNvPr id="3" name="title-2">
            <a:extLst xmlns:a="http://schemas.openxmlformats.org/drawingml/2006/main">
              <a:ext uri="{FF2B5EF4-FFF2-40B4-BE49-F238E27FC236}">
                <a16:creationId xmlns:a16="http://schemas.microsoft.com/office/drawing/2014/main" id="{D6CD9630-87B4-447F-95BB-CE6FFEB5E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668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075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3075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เช้านี้คุณจะทำงานหนึ่งรายการให้พร้อมส่งประเมิน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03CD65-9BCB-43C9-8827-EC6E2884B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571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283887"/>
                </a:solidFill>
                <a:latin typeface="Tahoma"/>
                <a:ea typeface="Tahoma"/>
                <a:cs typeface="Tahoma"/>
              </a:defRPr>
            </a:pPr>
            <a:r>
              <a:rPr sz="1650" b="1">
                <a:solidFill>
                  <a:srgbClr val="283887"/>
                </a:solidFill>
                <a:latin typeface="Tahoma"/>
                <a:ea typeface="Tahoma"/>
                <a:cs typeface="Tahoma"/>
              </a:rPr>
              <a:t>เมื่อจบช่วงนี้ คุณจะทำได้ด้วยตัวเอง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28151D-E88B-47B1-BE1F-D200F7A80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28900"/>
            <a:ext cx="723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4356C7"/>
                </a:solidFill>
                <a:latin typeface="Tahoma"/>
                <a:ea typeface="Tahoma"/>
                <a:cs typeface="Tahoma"/>
              </a:defRPr>
            </a:pPr>
            <a:r>
              <a:rPr sz="1725" b="1">
                <a:solidFill>
                  <a:srgbClr val="4356C7"/>
                </a:solidFill>
                <a:latin typeface="Tahoma"/>
                <a:ea typeface="Tahoma"/>
                <a:cs typeface="Tahoma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48645A-BB81-46F1-9859-55A548C25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676525"/>
            <a:ext cx="381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C7D277-DCA3-436D-9E95-84751FDFE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628900"/>
            <a:ext cx="8858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0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2025" b="0">
                <a:solidFill>
                  <a:srgbClr val="102A43"/>
                </a:solidFill>
                <a:latin typeface="Tahoma"/>
                <a:ea typeface="Tahoma"/>
                <a:cs typeface="Tahoma"/>
              </a:rPr>
              <a:t>เปิดงานที่ได้รับมอบหมายได้ถูกต้อง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E5C470-83C6-4654-955F-6118D9A23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00450"/>
            <a:ext cx="723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4356C7"/>
                </a:solidFill>
                <a:latin typeface="Tahoma"/>
                <a:ea typeface="Tahoma"/>
                <a:cs typeface="Tahoma"/>
              </a:defRPr>
            </a:pPr>
            <a:r>
              <a:rPr sz="1725" b="1">
                <a:solidFill>
                  <a:srgbClr val="4356C7"/>
                </a:solidFill>
                <a:latin typeface="Tahoma"/>
                <a:ea typeface="Tahoma"/>
                <a:cs typeface="Tahoma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00DF2C-963D-4A3F-B486-B4146352D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648075"/>
            <a:ext cx="381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2CDFA2-1CED-4ECF-8845-CE8BE60E0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600450"/>
            <a:ext cx="8858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0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2025" b="0">
                <a:solidFill>
                  <a:srgbClr val="102A43"/>
                </a:solidFill>
                <a:latin typeface="Tahoma"/>
                <a:ea typeface="Tahoma"/>
                <a:cs typeface="Tahoma"/>
              </a:rPr>
              <a:t>กรอกข้อมูลปริมาณ คุณภาพ และหลักฐานได้ครบ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D75BD9-FECD-4D81-AE2A-DB5928D07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0"/>
            <a:ext cx="723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4356C7"/>
                </a:solidFill>
                <a:latin typeface="Tahoma"/>
                <a:ea typeface="Tahoma"/>
                <a:cs typeface="Tahoma"/>
              </a:defRPr>
            </a:pPr>
            <a:r>
              <a:rPr sz="1725" b="1">
                <a:solidFill>
                  <a:srgbClr val="4356C7"/>
                </a:solidFill>
                <a:latin typeface="Tahoma"/>
                <a:ea typeface="Tahoma"/>
                <a:cs typeface="Tahoma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5AE1B3-5073-478F-A887-EF8802898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619625"/>
            <a:ext cx="381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9A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7CDCC0-3D06-4504-A381-E9C154DA2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572000"/>
            <a:ext cx="8858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แยกการบันทึกร่างออกจากการยืนยันส่ง</a:t>
            </a:r>
          </a:p>
        </p:txBody>
      </p:sp>
      <p:sp>
        <p:nvSpPr>
          <p:cNvPr id="14" name="outcome-mark">
            <a:extLst xmlns:a="http://schemas.openxmlformats.org/drawingml/2006/main">
              <a:ext uri="{FF2B5EF4-FFF2-40B4-BE49-F238E27FC236}">
                <a16:creationId xmlns:a16="http://schemas.microsoft.com/office/drawing/2014/main" id="{3C976F7A-5680-422F-8708-654D2CBFC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076450"/>
            <a:ext cx="2324100" cy="3295650"/>
          </a:xfrm>
          <a:prstGeom xmlns:a="http://schemas.openxmlformats.org/drawingml/2006/main" prst="roundRect">
            <a:avLst>
              <a:gd name="adj" fmla="val 3279"/>
            </a:avLst>
          </a:prstGeom>
          <a:solidFill xmlns:a="http://schemas.openxmlformats.org/drawingml/2006/main">
            <a:srgbClr val="E9ECFB"/>
          </a:solidFill>
          <a:ln xmlns:a="http://schemas.openxmlformats.org/drawingml/2006/main" w="9525">
            <a:solidFill>
              <a:srgbClr val="4356C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51AF82-B426-493D-B1C0-9CF5D4632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324100"/>
            <a:ext cx="179070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7800" b="1">
                <a:solidFill>
                  <a:srgbClr val="4356C7"/>
                </a:solidFill>
                <a:latin typeface="Tahoma"/>
                <a:ea typeface="Tahoma"/>
                <a:cs typeface="Tahoma"/>
              </a:defRPr>
            </a:pPr>
            <a:r>
              <a:rPr sz="7800" b="1">
                <a:solidFill>
                  <a:srgbClr val="4356C7"/>
                </a:solidFill>
                <a:latin typeface="Tahoma"/>
                <a:ea typeface="Tahoma"/>
                <a:cs typeface="Tahoma"/>
              </a:rPr>
              <a:t>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1745F7-E331-4DE8-A8DE-FBF03C63F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752850"/>
            <a:ext cx="17907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250" b="1">
                <a:solidFill>
                  <a:srgbClr val="283887"/>
                </a:solidFill>
                <a:latin typeface="Tahoma"/>
                <a:ea typeface="Tahoma"/>
                <a:cs typeface="Tahoma"/>
              </a:defRPr>
            </a:pPr>
            <a:r>
              <a:rPr sz="2250" b="1">
                <a:solidFill>
                  <a:srgbClr val="283887"/>
                </a:solidFill>
                <a:latin typeface="Tahoma"/>
                <a:ea typeface="Tahoma"/>
                <a:cs typeface="Tahoma"/>
              </a:rPr>
              <a:t>รายการ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2250" b="1">
                <a:solidFill>
                  <a:srgbClr val="283887"/>
                </a:solidFill>
                <a:latin typeface="Tahoma"/>
                <a:ea typeface="Tahoma"/>
                <a:cs typeface="Tahoma"/>
              </a:defRPr>
            </a:pPr>
            <a:r>
              <a:rPr sz="2250" b="1">
                <a:solidFill>
                  <a:srgbClr val="283887"/>
                </a:solidFill>
                <a:latin typeface="Tahoma"/>
                <a:ea typeface="Tahoma"/>
                <a:cs typeface="Tahoma"/>
              </a:rPr>
              <a:t>พร้อมส่ง</a:t>
            </a:r>
          </a:p>
        </p:txBody>
      </p:sp>
      <p:sp>
        <p:nvSpPr>
          <p:cNvPr id="17" name="footer-rule-2">
            <a:extLst xmlns:a="http://schemas.openxmlformats.org/drawingml/2006/main">
              <a:ext uri="{FF2B5EF4-FFF2-40B4-BE49-F238E27FC236}">
                <a16:creationId xmlns:a16="http://schemas.microsoft.com/office/drawing/2014/main" id="{B394A1EE-03DC-4F6E-916B-FC2A0904A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footer-label-2">
            <a:extLst xmlns:a="http://schemas.openxmlformats.org/drawingml/2006/main">
              <a:ext uri="{FF2B5EF4-FFF2-40B4-BE49-F238E27FC236}">
                <a16:creationId xmlns:a16="http://schemas.microsoft.com/office/drawing/2014/main" id="{3432CB68-09A8-4D3F-B52A-7CD0B0C11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523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61758A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61758A"/>
                </a:solidFill>
                <a:latin typeface="Tahoma"/>
                <a:ea typeface="Tahoma"/>
                <a:cs typeface="Tahoma"/>
              </a:rPr>
              <a:t>MSU EVA  •  ภาคเช้า สายวิชาการ</a:t>
            </a:r>
          </a:p>
        </p:txBody>
      </p:sp>
      <p:sp>
        <p:nvSpPr>
          <p:cNvPr id="19" name="footer-page-2">
            <a:extLst xmlns:a="http://schemas.openxmlformats.org/drawingml/2006/main">
              <a:ext uri="{FF2B5EF4-FFF2-40B4-BE49-F238E27FC236}">
                <a16:creationId xmlns:a16="http://schemas.microsoft.com/office/drawing/2014/main" id="{A518CF3E-2FA8-4C8D-AB0E-C3BA7314B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53200"/>
            <a:ext cx="1104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4356C7"/>
                </a:solidFill>
                <a:latin typeface="Tahoma"/>
                <a:ea typeface="Tahoma"/>
                <a:cs typeface="Tahoma"/>
              </a:defRPr>
            </a:pPr>
            <a:r>
              <a:rPr sz="975" b="1">
                <a:solidFill>
                  <a:srgbClr val="4356C7"/>
                </a:solidFill>
                <a:latin typeface="Tahoma"/>
                <a:ea typeface="Tahoma"/>
                <a:cs typeface="Tahoma"/>
              </a:rPr>
              <a:t>02 / 14</a:t>
            </a:r>
          </a:p>
        </p:txBody>
      </p:sp>
    </p:spTree>
    <p:extLst>
      <p:ext uri="{BB962C8B-B14F-4D97-AF65-F5344CB8AC3E}">
        <p14:creationId xmlns:p14="http://schemas.microsoft.com/office/powerpoint/2010/main" val="151123879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side-accent-3">
            <a:extLst xmlns:a="http://schemas.openxmlformats.org/drawingml/2006/main">
              <a:ext uri="{FF2B5EF4-FFF2-40B4-BE49-F238E27FC236}">
                <a16:creationId xmlns:a16="http://schemas.microsoft.com/office/drawing/2014/main" id="{878FCD44-26A7-425E-A043-28D4FDE37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356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kicker-3">
            <a:extLst xmlns:a="http://schemas.openxmlformats.org/drawingml/2006/main">
              <a:ext uri="{FF2B5EF4-FFF2-40B4-BE49-F238E27FC236}">
                <a16:creationId xmlns:a16="http://schemas.microsoft.com/office/drawing/2014/main" id="{0A48C37D-63CA-46E1-A9EA-D01C49631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4356C7"/>
                </a:solidFill>
                <a:latin typeface="Tahoma"/>
                <a:ea typeface="Tahoma"/>
                <a:cs typeface="Tahoma"/>
              </a:defRPr>
            </a:pPr>
            <a:r>
              <a:rPr sz="1125" b="1">
                <a:solidFill>
                  <a:srgbClr val="4356C7"/>
                </a:solidFill>
                <a:latin typeface="Tahoma"/>
                <a:ea typeface="Tahoma"/>
                <a:cs typeface="Tahoma"/>
              </a:rPr>
              <a:t>ภาพรวมกระบวนการ  /  สายวิชาการ</a:t>
            </a:r>
          </a:p>
        </p:txBody>
      </p:sp>
      <p:sp>
        <p:nvSpPr>
          <p:cNvPr id="3" name="title-3">
            <a:extLst xmlns:a="http://schemas.openxmlformats.org/drawingml/2006/main">
              <a:ext uri="{FF2B5EF4-FFF2-40B4-BE49-F238E27FC236}">
                <a16:creationId xmlns:a16="http://schemas.microsoft.com/office/drawing/2014/main" id="{504AEA3A-F682-42A7-BCA6-9B79DE793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668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075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3075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เห็นเส้นทางทั้งงานก่อนเริ่มกรอก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3CC27D-9EB4-435E-9B21-17303AB2B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028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0">
                <a:solidFill>
                  <a:srgbClr val="61758A"/>
                </a:solidFill>
                <a:latin typeface="Tahoma"/>
                <a:ea typeface="Tahoma"/>
                <a:cs typeface="Tahoma"/>
              </a:defRPr>
            </a:pPr>
            <a:r>
              <a:rPr sz="1575" b="0">
                <a:solidFill>
                  <a:srgbClr val="61758A"/>
                </a:solidFill>
                <a:latin typeface="Tahoma"/>
                <a:ea typeface="Tahoma"/>
                <a:cs typeface="Tahoma"/>
              </a:rPr>
              <a:t>ตั้งแต่เปิดงาน กรอกข้อมูล ตรวจความพร้อม จนถึงผู้ตรวจลำดับสุดท้าย</a:t>
            </a:r>
          </a:p>
        </p:txBody>
      </p:sp>
      <p:sp>
        <p:nvSpPr>
          <p:cNvPr id="5" name="workflow-line">
            <a:extLst xmlns:a="http://schemas.openxmlformats.org/drawingml/2006/main">
              <a:ext uri="{FF2B5EF4-FFF2-40B4-BE49-F238E27FC236}">
                <a16:creationId xmlns:a16="http://schemas.microsoft.com/office/drawing/2014/main" id="{980D26BC-19BD-49CB-93C6-53DC7B84E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457575"/>
            <a:ext cx="8667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workflow-arrow">
            <a:extLst xmlns:a="http://schemas.openxmlformats.org/drawingml/2006/main">
              <a:ext uri="{FF2B5EF4-FFF2-40B4-BE49-F238E27FC236}">
                <a16:creationId xmlns:a16="http://schemas.microsoft.com/office/drawing/2014/main" id="{B10C870F-AF3F-47AF-AC0D-82BF97C29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3343275"/>
            <a:ext cx="4572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E0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7B9CB4-FB06-4AD5-9580-7A7D94C7F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05150"/>
            <a:ext cx="74295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56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925823-1419-495E-97CF-BA60E12B0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05175"/>
            <a:ext cx="742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575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4E627B-2B60-4DEF-9528-D7E883891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95750"/>
            <a:ext cx="1466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75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1875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รับงาน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67AD5A-3B58-4BEA-814C-0B230DF41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591050"/>
            <a:ext cx="16573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0">
                <a:solidFill>
                  <a:srgbClr val="61758A"/>
                </a:solidFill>
                <a:latin typeface="Tahoma"/>
                <a:ea typeface="Tahoma"/>
                <a:cs typeface="Tahoma"/>
              </a:defRPr>
            </a:pPr>
            <a:r>
              <a:rPr sz="1350" b="0">
                <a:solidFill>
                  <a:srgbClr val="61758A"/>
                </a:solidFill>
                <a:latin typeface="Tahoma"/>
                <a:ea typeface="Tahoma"/>
                <a:cs typeface="Tahoma"/>
              </a:rPr>
              <a:t>เลือกรอบและรายการ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FB0871-AFFA-426F-B04A-470C97480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105150"/>
            <a:ext cx="74295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56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FD0E0B-4C0C-4C72-B01D-69B06F64A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305175"/>
            <a:ext cx="742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575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D12052-094A-48C5-85A1-5A7F078DB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095750"/>
            <a:ext cx="1466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75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1875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กรอกข้อมูล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0E9F6C-CBDB-4DE3-B813-EE4C3E843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4591050"/>
            <a:ext cx="16573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0">
                <a:solidFill>
                  <a:srgbClr val="61758A"/>
                </a:solidFill>
                <a:latin typeface="Tahoma"/>
                <a:ea typeface="Tahoma"/>
                <a:cs typeface="Tahoma"/>
              </a:defRPr>
            </a:pPr>
            <a:r>
              <a:rPr sz="1350" b="0">
                <a:solidFill>
                  <a:srgbClr val="61758A"/>
                </a:solidFill>
                <a:latin typeface="Tahoma"/>
                <a:ea typeface="Tahoma"/>
                <a:cs typeface="Tahoma"/>
              </a:rPr>
              <a:t>ปริมาณ • คุณภาพ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F93B5F-CC8A-4179-A58D-F1702AEE0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105150"/>
            <a:ext cx="74295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56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E1235D8-7356-45C2-B8FA-B8095D3B6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305175"/>
            <a:ext cx="742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575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3D5C7F0-AE8E-491C-ABEB-81E2D83D5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095750"/>
            <a:ext cx="1466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75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1875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ตรวจความพร้อม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1915C29-DB8B-4352-A23A-31E863FB9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591050"/>
            <a:ext cx="16573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0">
                <a:solidFill>
                  <a:srgbClr val="61758A"/>
                </a:solidFill>
                <a:latin typeface="Tahoma"/>
                <a:ea typeface="Tahoma"/>
                <a:cs typeface="Tahoma"/>
              </a:defRPr>
            </a:pPr>
            <a:r>
              <a:rPr sz="1350" b="0">
                <a:solidFill>
                  <a:srgbClr val="61758A"/>
                </a:solidFill>
                <a:latin typeface="Tahoma"/>
                <a:ea typeface="Tahoma"/>
                <a:cs typeface="Tahoma"/>
              </a:rPr>
              <a:t>ข้อมูล • หลักฐาน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A149881-DF81-456E-AB8E-6BB5DA590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105150"/>
            <a:ext cx="74295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56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6F78A6C-3FF3-4433-BDFE-3CB196BBC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305175"/>
            <a:ext cx="742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575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E14F0E5-AA2A-43BC-9037-CD6D1A476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4095750"/>
            <a:ext cx="1466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75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1875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ส่งประเมิน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0B451FE-54EA-4D97-A902-A2F9CE403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591050"/>
            <a:ext cx="16573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0">
                <a:solidFill>
                  <a:srgbClr val="61758A"/>
                </a:solidFill>
                <a:latin typeface="Tahoma"/>
                <a:ea typeface="Tahoma"/>
                <a:cs typeface="Tahoma"/>
              </a:defRPr>
            </a:pPr>
            <a:r>
              <a:rPr sz="1350" b="0">
                <a:solidFill>
                  <a:srgbClr val="61758A"/>
                </a:solidFill>
                <a:latin typeface="Tahoma"/>
                <a:ea typeface="Tahoma"/>
                <a:cs typeface="Tahoma"/>
              </a:rPr>
              <a:t>เข้าสู่ลำดับผู้ตรวจ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2B8E740-F4AE-43B4-A6C5-5BF7EA9C6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105150"/>
            <a:ext cx="74295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9A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ADBF22F-57B0-4F6F-8F4E-F6C165D7F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305175"/>
            <a:ext cx="742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575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05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A2F2B35-E79F-4B33-977A-3CC34517E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095750"/>
            <a:ext cx="1466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75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1875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ปิดงาน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72CCB33-8287-47C9-9742-94440B526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591050"/>
            <a:ext cx="16573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0">
                <a:solidFill>
                  <a:srgbClr val="61758A"/>
                </a:solidFill>
                <a:latin typeface="Tahoma"/>
                <a:ea typeface="Tahoma"/>
                <a:cs typeface="Tahoma"/>
              </a:defRPr>
            </a:pPr>
            <a:r>
              <a:rPr sz="1350" b="0">
                <a:solidFill>
                  <a:srgbClr val="61758A"/>
                </a:solidFill>
                <a:latin typeface="Tahoma"/>
                <a:ea typeface="Tahoma"/>
                <a:cs typeface="Tahoma"/>
              </a:rPr>
              <a:t>สถานะ Completed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37B5A71-C628-4FFC-AEB6-03BB25EC6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7429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283887"/>
                </a:solidFill>
                <a:latin typeface="Tahoma"/>
                <a:ea typeface="Tahoma"/>
                <a:cs typeface="Tahoma"/>
              </a:defRPr>
            </a:pPr>
            <a:r>
              <a:rPr sz="1500" b="1">
                <a:solidFill>
                  <a:srgbClr val="283887"/>
                </a:solidFill>
                <a:latin typeface="Tahoma"/>
                <a:ea typeface="Tahoma"/>
                <a:cs typeface="Tahoma"/>
              </a:rPr>
              <a:t>งานเดินตามลำดับผู้ตรวจที่ผู้ดูแลระบบกำหนด</a:t>
            </a:r>
          </a:p>
        </p:txBody>
      </p:sp>
      <p:sp>
        <p:nvSpPr>
          <p:cNvPr id="28" name="footer-rule-3">
            <a:extLst xmlns:a="http://schemas.openxmlformats.org/drawingml/2006/main">
              <a:ext uri="{FF2B5EF4-FFF2-40B4-BE49-F238E27FC236}">
                <a16:creationId xmlns:a16="http://schemas.microsoft.com/office/drawing/2014/main" id="{E484DB73-C11D-4ADF-B088-86342E140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footer-label-3">
            <a:extLst xmlns:a="http://schemas.openxmlformats.org/drawingml/2006/main">
              <a:ext uri="{FF2B5EF4-FFF2-40B4-BE49-F238E27FC236}">
                <a16:creationId xmlns:a16="http://schemas.microsoft.com/office/drawing/2014/main" id="{28AF09DC-5F0E-4C24-BF7C-80732BBBF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523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61758A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61758A"/>
                </a:solidFill>
                <a:latin typeface="Tahoma"/>
                <a:ea typeface="Tahoma"/>
                <a:cs typeface="Tahoma"/>
              </a:rPr>
              <a:t>MSU EVA  •  ภาคเช้า สายวิชาการ</a:t>
            </a:r>
          </a:p>
        </p:txBody>
      </p:sp>
      <p:sp>
        <p:nvSpPr>
          <p:cNvPr id="30" name="footer-page-3">
            <a:extLst xmlns:a="http://schemas.openxmlformats.org/drawingml/2006/main">
              <a:ext uri="{FF2B5EF4-FFF2-40B4-BE49-F238E27FC236}">
                <a16:creationId xmlns:a16="http://schemas.microsoft.com/office/drawing/2014/main" id="{895A962D-F10C-4854-ADA6-38A826895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53200"/>
            <a:ext cx="1104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4356C7"/>
                </a:solidFill>
                <a:latin typeface="Tahoma"/>
                <a:ea typeface="Tahoma"/>
                <a:cs typeface="Tahoma"/>
              </a:defRPr>
            </a:pPr>
            <a:r>
              <a:rPr sz="975" b="1">
                <a:solidFill>
                  <a:srgbClr val="4356C7"/>
                </a:solidFill>
                <a:latin typeface="Tahoma"/>
                <a:ea typeface="Tahoma"/>
                <a:cs typeface="Tahoma"/>
              </a:rPr>
              <a:t>03 / 14</a:t>
            </a:r>
          </a:p>
        </p:txBody>
      </p:sp>
    </p:spTree>
    <p:extLst>
      <p:ext uri="{BB962C8B-B14F-4D97-AF65-F5344CB8AC3E}">
        <p14:creationId xmlns:p14="http://schemas.microsoft.com/office/powerpoint/2010/main" val="66915739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side-accent-4">
            <a:extLst xmlns:a="http://schemas.openxmlformats.org/drawingml/2006/main">
              <a:ext uri="{FF2B5EF4-FFF2-40B4-BE49-F238E27FC236}">
                <a16:creationId xmlns:a16="http://schemas.microsoft.com/office/drawing/2014/main" id="{45CCF5B5-C089-4ADB-95F7-D4EF39C04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356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kicker-4">
            <a:extLst xmlns:a="http://schemas.openxmlformats.org/drawingml/2006/main">
              <a:ext uri="{FF2B5EF4-FFF2-40B4-BE49-F238E27FC236}">
                <a16:creationId xmlns:a16="http://schemas.microsoft.com/office/drawing/2014/main" id="{B1B2B107-B135-4962-B42A-5AAB47BB8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4356C7"/>
                </a:solidFill>
                <a:latin typeface="Tahoma"/>
                <a:ea typeface="Tahoma"/>
                <a:cs typeface="Tahoma"/>
              </a:defRPr>
            </a:pPr>
            <a:r>
              <a:rPr sz="1125" b="1">
                <a:solidFill>
                  <a:srgbClr val="4356C7"/>
                </a:solidFill>
                <a:latin typeface="Tahoma"/>
                <a:ea typeface="Tahoma"/>
                <a:cs typeface="Tahoma"/>
              </a:rPr>
              <a:t>บทบาทของคุณ  /  สายวิชาการ</a:t>
            </a:r>
          </a:p>
        </p:txBody>
      </p:sp>
      <p:sp>
        <p:nvSpPr>
          <p:cNvPr id="3" name="title-4">
            <a:extLst xmlns:a="http://schemas.openxmlformats.org/drawingml/2006/main">
              <a:ext uri="{FF2B5EF4-FFF2-40B4-BE49-F238E27FC236}">
                <a16:creationId xmlns:a16="http://schemas.microsoft.com/office/drawing/2014/main" id="{D18BEDD0-C7E2-4B0B-A433-4D0CAD863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668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075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3075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คุณรับผิดชอบข้อมูล ก่อนส่งต่อผู้ตรวจตามลำดับ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5155B8-DD7E-439A-9663-A90A823B7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609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0">
                <a:solidFill>
                  <a:srgbClr val="23384D"/>
                </a:solidFill>
                <a:latin typeface="Tahoma"/>
                <a:ea typeface="Tahoma"/>
                <a:cs typeface="Tahoma"/>
              </a:defRPr>
            </a:pPr>
            <a:r>
              <a:rPr sz="1875" b="0">
                <a:solidFill>
                  <a:srgbClr val="23384D"/>
                </a:solidFill>
                <a:latin typeface="Tahoma"/>
                <a:ea typeface="Tahoma"/>
                <a:cs typeface="Tahoma"/>
              </a:rPr>
              <a:t>คุณเป็นเจ้าของความครบถ้วนของข้อมูลวิชาการในขั้นแรก ผู้ประเมินจึงตรวจต่อได้อย่างมีหลักฐาน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D93F16-F773-40CF-BA67-DCC5FB03E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05150"/>
            <a:ext cx="723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4356C7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4356C7"/>
                </a:solidFill>
                <a:latin typeface="Tahoma"/>
                <a:ea typeface="Tahoma"/>
                <a:cs typeface="Tahoma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23B758-68D2-442C-9EB6-6F41961C8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38550"/>
            <a:ext cx="3028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325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2325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เตรียม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B4865E-E815-414F-99EC-DEF9B758D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0"/>
            <a:ext cx="3028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356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C9BA4B-4169-415C-AD77-DDF24DBD0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0"/>
            <a:ext cx="30289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61758A"/>
                </a:solidFill>
                <a:latin typeface="Tahoma"/>
                <a:ea typeface="Tahoma"/>
                <a:cs typeface="Tahoma"/>
              </a:defRPr>
            </a:pPr>
            <a:r>
              <a:rPr sz="1650" b="0">
                <a:solidFill>
                  <a:srgbClr val="61758A"/>
                </a:solidFill>
                <a:latin typeface="Tahoma"/>
                <a:ea typeface="Tahoma"/>
                <a:cs typeface="Tahoma"/>
              </a:rPr>
              <a:t>ข้อมูลรายวิชา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61758A"/>
                </a:solidFill>
                <a:latin typeface="Tahoma"/>
                <a:ea typeface="Tahoma"/>
                <a:cs typeface="Tahoma"/>
              </a:defRPr>
            </a:pPr>
            <a:r>
              <a:rPr sz="1650" b="0">
                <a:solidFill>
                  <a:srgbClr val="61758A"/>
                </a:solidFill>
                <a:latin typeface="Tahoma"/>
                <a:ea typeface="Tahoma"/>
                <a:cs typeface="Tahoma"/>
              </a:rPr>
              <a:t>ภาระงาน และผลงาน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3F2B06-76FA-4369-B472-97B2EEDED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105150"/>
            <a:ext cx="723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4356C7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4356C7"/>
                </a:solidFill>
                <a:latin typeface="Tahoma"/>
                <a:ea typeface="Tahoma"/>
                <a:cs typeface="Tahoma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F58568-34F2-4D35-8F34-A15EA822A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638550"/>
            <a:ext cx="3028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325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2325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ตรวจ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019573-A28A-47C6-8ACF-FE3C3BBA9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191000"/>
            <a:ext cx="3028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356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9C98E2-E812-4E8B-B248-C8AAEEA3A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476750"/>
            <a:ext cx="30289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61758A"/>
                </a:solidFill>
                <a:latin typeface="Tahoma"/>
                <a:ea typeface="Tahoma"/>
                <a:cs typeface="Tahoma"/>
              </a:defRPr>
            </a:pPr>
            <a:r>
              <a:rPr sz="1650" b="0">
                <a:solidFill>
                  <a:srgbClr val="61758A"/>
                </a:solidFill>
                <a:latin typeface="Tahoma"/>
                <a:ea typeface="Tahoma"/>
                <a:cs typeface="Tahoma"/>
              </a:rPr>
              <a:t>ค่าที่กรอก สูตรคำนวณ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61758A"/>
                </a:solidFill>
                <a:latin typeface="Tahoma"/>
                <a:ea typeface="Tahoma"/>
                <a:cs typeface="Tahoma"/>
              </a:defRPr>
            </a:pPr>
            <a:r>
              <a:rPr sz="1650" b="0">
                <a:solidFill>
                  <a:srgbClr val="61758A"/>
                </a:solidFill>
                <a:latin typeface="Tahoma"/>
                <a:ea typeface="Tahoma"/>
                <a:cs typeface="Tahoma"/>
              </a:rPr>
              <a:t>และลิงก์หลักฐาน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A9870F-9BFF-4FAF-BD81-58D7F4552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105150"/>
            <a:ext cx="723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4356C7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4356C7"/>
                </a:solidFill>
                <a:latin typeface="Tahoma"/>
                <a:ea typeface="Tahoma"/>
                <a:cs typeface="Tahoma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C26502-5819-481C-A43E-A749DF823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638550"/>
            <a:ext cx="3028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325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2325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ตัดสินใจ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5E35DCB-4282-41D5-8E74-8C6D655B7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191000"/>
            <a:ext cx="3028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9A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12E1AA-58CC-483B-BA6C-1721688E0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476750"/>
            <a:ext cx="30289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61758A"/>
                </a:solidFill>
                <a:latin typeface="Tahoma"/>
                <a:ea typeface="Tahoma"/>
                <a:cs typeface="Tahoma"/>
              </a:defRPr>
            </a:pPr>
            <a:r>
              <a:rPr sz="1650" b="0">
                <a:solidFill>
                  <a:srgbClr val="61758A"/>
                </a:solidFill>
                <a:latin typeface="Tahoma"/>
                <a:ea typeface="Tahoma"/>
                <a:cs typeface="Tahoma"/>
              </a:rPr>
              <a:t>บันทึกร่าง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61758A"/>
                </a:solidFill>
                <a:latin typeface="Tahoma"/>
                <a:ea typeface="Tahoma"/>
                <a:cs typeface="Tahoma"/>
              </a:defRPr>
            </a:pPr>
            <a:r>
              <a:rPr sz="1650" b="0">
                <a:solidFill>
                  <a:srgbClr val="61758A"/>
                </a:solidFill>
                <a:latin typeface="Tahoma"/>
                <a:ea typeface="Tahoma"/>
                <a:cs typeface="Tahoma"/>
              </a:rPr>
              <a:t>หรือยืนยันส่งประเมิน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D069D20-2746-4B0D-A200-3D31BBC37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866900"/>
            <a:ext cx="30099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E9EC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F61414C-B454-4C81-A7C8-D6E7EC1E1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990725"/>
            <a:ext cx="2476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283887"/>
                </a:solidFill>
                <a:latin typeface="Tahoma"/>
                <a:ea typeface="Tahoma"/>
                <a:cs typeface="Tahoma"/>
              </a:defRPr>
            </a:pPr>
            <a:r>
              <a:rPr sz="1725" b="1">
                <a:solidFill>
                  <a:srgbClr val="283887"/>
                </a:solidFill>
                <a:latin typeface="Tahoma"/>
                <a:ea typeface="Tahoma"/>
                <a:cs typeface="Tahoma"/>
              </a:rPr>
              <a:t>ผู้ตรวจคนสุดท้าย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283887"/>
                </a:solidFill>
                <a:latin typeface="Tahoma"/>
                <a:ea typeface="Tahoma"/>
                <a:cs typeface="Tahoma"/>
              </a:defRPr>
            </a:pPr>
            <a:r>
              <a:rPr sz="1725" b="1">
                <a:solidFill>
                  <a:srgbClr val="283887"/>
                </a:solidFill>
                <a:latin typeface="Tahoma"/>
                <a:ea typeface="Tahoma"/>
                <a:cs typeface="Tahoma"/>
              </a:rPr>
              <a:t>เป็นผู้ปิดงาน</a:t>
            </a:r>
          </a:p>
        </p:txBody>
      </p:sp>
      <p:sp>
        <p:nvSpPr>
          <p:cNvPr id="19" name="footer-rule-4">
            <a:extLst xmlns:a="http://schemas.openxmlformats.org/drawingml/2006/main">
              <a:ext uri="{FF2B5EF4-FFF2-40B4-BE49-F238E27FC236}">
                <a16:creationId xmlns:a16="http://schemas.microsoft.com/office/drawing/2014/main" id="{636C988E-E91B-4F98-B5AC-5A23717AD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footer-label-4">
            <a:extLst xmlns:a="http://schemas.openxmlformats.org/drawingml/2006/main">
              <a:ext uri="{FF2B5EF4-FFF2-40B4-BE49-F238E27FC236}">
                <a16:creationId xmlns:a16="http://schemas.microsoft.com/office/drawing/2014/main" id="{9036CEBF-6D90-433F-92A7-888401513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523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61758A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61758A"/>
                </a:solidFill>
                <a:latin typeface="Tahoma"/>
                <a:ea typeface="Tahoma"/>
                <a:cs typeface="Tahoma"/>
              </a:rPr>
              <a:t>MSU EVA  •  ภาคเช้า สายวิชาการ</a:t>
            </a:r>
          </a:p>
        </p:txBody>
      </p:sp>
      <p:sp>
        <p:nvSpPr>
          <p:cNvPr id="21" name="footer-page-4">
            <a:extLst xmlns:a="http://schemas.openxmlformats.org/drawingml/2006/main">
              <a:ext uri="{FF2B5EF4-FFF2-40B4-BE49-F238E27FC236}">
                <a16:creationId xmlns:a16="http://schemas.microsoft.com/office/drawing/2014/main" id="{FE057B08-8E6A-4DA6-A05B-10B3FCDFD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53200"/>
            <a:ext cx="1104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4356C7"/>
                </a:solidFill>
                <a:latin typeface="Tahoma"/>
                <a:ea typeface="Tahoma"/>
                <a:cs typeface="Tahoma"/>
              </a:defRPr>
            </a:pPr>
            <a:r>
              <a:rPr sz="975" b="1">
                <a:solidFill>
                  <a:srgbClr val="4356C7"/>
                </a:solidFill>
                <a:latin typeface="Tahoma"/>
                <a:ea typeface="Tahoma"/>
                <a:cs typeface="Tahoma"/>
              </a:rPr>
              <a:t>04 / 14</a:t>
            </a:r>
          </a:p>
        </p:txBody>
      </p:sp>
    </p:spTree>
    <p:extLst>
      <p:ext uri="{BB962C8B-B14F-4D97-AF65-F5344CB8AC3E}">
        <p14:creationId xmlns:p14="http://schemas.microsoft.com/office/powerpoint/2010/main" val="123675146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side-accent-5">
            <a:extLst xmlns:a="http://schemas.openxmlformats.org/drawingml/2006/main">
              <a:ext uri="{FF2B5EF4-FFF2-40B4-BE49-F238E27FC236}">
                <a16:creationId xmlns:a16="http://schemas.microsoft.com/office/drawing/2014/main" id="{20CFFC72-E14D-42F8-9A0E-3C7D0C5E4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356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kicker-5">
            <a:extLst xmlns:a="http://schemas.openxmlformats.org/drawingml/2006/main">
              <a:ext uri="{FF2B5EF4-FFF2-40B4-BE49-F238E27FC236}">
                <a16:creationId xmlns:a16="http://schemas.microsoft.com/office/drawing/2014/main" id="{44FDC58A-E923-4A0D-9849-EC1B839D4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4356C7"/>
                </a:solidFill>
                <a:latin typeface="Tahoma"/>
                <a:ea typeface="Tahoma"/>
                <a:cs typeface="Tahoma"/>
              </a:defRPr>
            </a:pPr>
            <a:r>
              <a:rPr sz="1125" b="1">
                <a:solidFill>
                  <a:srgbClr val="4356C7"/>
                </a:solidFill>
                <a:latin typeface="Tahoma"/>
                <a:ea typeface="Tahoma"/>
                <a:cs typeface="Tahoma"/>
              </a:rPr>
              <a:t>จุดเริ่มต้น  /  สายวิชาการ</a:t>
            </a:r>
          </a:p>
        </p:txBody>
      </p:sp>
      <p:sp>
        <p:nvSpPr>
          <p:cNvPr id="3" name="title-5">
            <a:extLst xmlns:a="http://schemas.openxmlformats.org/drawingml/2006/main">
              <a:ext uri="{FF2B5EF4-FFF2-40B4-BE49-F238E27FC236}">
                <a16:creationId xmlns:a16="http://schemas.microsoft.com/office/drawing/2014/main" id="{4CBD49AF-5FE2-4857-B3EC-EEFAD761C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668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075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3075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เริ่มจากรอบประเมินและรายการที่ได้รับมอบหมาย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38CF0D-DA77-4ED3-836D-448BA8C3F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533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283887"/>
                </a:solidFill>
                <a:latin typeface="Tahoma"/>
                <a:ea typeface="Tahoma"/>
                <a:cs typeface="Tahoma"/>
              </a:defRPr>
            </a:pPr>
            <a:r>
              <a:rPr sz="1800" b="1">
                <a:solidFill>
                  <a:srgbClr val="283887"/>
                </a:solidFill>
                <a:latin typeface="Tahoma"/>
                <a:ea typeface="Tahoma"/>
                <a:cs typeface="Tahoma"/>
              </a:rPr>
              <a:t>ก่อนเปิดงาน ให้ตรวจ 3 อย่างนี้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BAA7C8-9E3A-4614-BDF9-1724FC5FB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56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31B719-1AF2-4165-A35B-F57D307EF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33675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80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✓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672AFC-BB02-44A3-BD67-493B99B78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62890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รอบประเมิน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8A37C3-0E56-4702-A6B5-9D2E4DD9F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66700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0">
                <a:solidFill>
                  <a:srgbClr val="61758A"/>
                </a:solidFill>
                <a:latin typeface="Tahoma"/>
                <a:ea typeface="Tahoma"/>
                <a:cs typeface="Tahoma"/>
              </a:defRPr>
            </a:pPr>
            <a:r>
              <a:rPr sz="1650" b="0">
                <a:solidFill>
                  <a:srgbClr val="61758A"/>
                </a:solidFill>
                <a:latin typeface="Tahoma"/>
                <a:ea typeface="Tahoma"/>
                <a:cs typeface="Tahoma"/>
              </a:rPr>
              <a:t>ปีและช่วงเวลาถูกต้อง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3904D6-D5F0-4EA7-BD60-27B8E1F9B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338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56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F243F7-938B-4E49-AB10-C2D4076AA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00475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80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✓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C93C05-BCDC-4902-B30D-1D46E3716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69570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รายการงาน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52008A-DABE-4440-94AD-AE94ECF3D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73380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0">
                <a:solidFill>
                  <a:srgbClr val="61758A"/>
                </a:solidFill>
                <a:latin typeface="Tahoma"/>
                <a:ea typeface="Tahoma"/>
                <a:cs typeface="Tahoma"/>
              </a:defRPr>
            </a:pPr>
            <a:r>
              <a:rPr sz="1650" b="0">
                <a:solidFill>
                  <a:srgbClr val="61758A"/>
                </a:solidFill>
                <a:latin typeface="Tahoma"/>
                <a:ea typeface="Tahoma"/>
                <a:cs typeface="Tahoma"/>
              </a:rPr>
              <a:t>เป็นงานของคุณและตรงประเภท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B31C5D-B234-4216-A1F2-07F2595B6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006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9A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E612032-6D51-49BD-803C-289683113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67275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80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✓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BD8E98-BAB6-44EA-898C-32EA5DC12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76250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สถานะ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D3E711-9C3D-4CE8-AE04-6E9D0A6D3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480060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0">
                <a:solidFill>
                  <a:srgbClr val="61758A"/>
                </a:solidFill>
                <a:latin typeface="Tahoma"/>
                <a:ea typeface="Tahoma"/>
                <a:cs typeface="Tahoma"/>
              </a:defRPr>
            </a:pPr>
            <a:r>
              <a:rPr sz="1650" b="0">
                <a:solidFill>
                  <a:srgbClr val="61758A"/>
                </a:solidFill>
                <a:latin typeface="Tahoma"/>
                <a:ea typeface="Tahoma"/>
                <a:cs typeface="Tahoma"/>
              </a:rPr>
              <a:t>ยังอยู่ในขั้นที่คุณดำเนินการได้</a:t>
            </a:r>
          </a:p>
        </p:txBody>
      </p:sp>
      <p:sp>
        <p:nvSpPr>
          <p:cNvPr id="17" name="dashboard-preview">
            <a:extLst xmlns:a="http://schemas.openxmlformats.org/drawingml/2006/main">
              <a:ext uri="{FF2B5EF4-FFF2-40B4-BE49-F238E27FC236}">
                <a16:creationId xmlns:a16="http://schemas.microsoft.com/office/drawing/2014/main" id="{79CC67B8-FC06-42CC-88CD-F7AE2E639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209800"/>
            <a:ext cx="3124200" cy="3352800"/>
          </a:xfrm>
          <a:prstGeom xmlns:a="http://schemas.openxmlformats.org/drawingml/2006/main" prst="roundRect">
            <a:avLst>
              <a:gd name="adj" fmla="val 24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94D5C8E-079C-4B43-92A5-2C0D2241E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495550"/>
            <a:ext cx="2514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950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1950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แดชบอร์ดของฉัน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4EB71D6-8268-45D0-8819-01A4C07EA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105150"/>
            <a:ext cx="25146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C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B5550BF-92C5-483C-87FD-8417F773B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209925"/>
            <a:ext cx="2171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283887"/>
                </a:solidFill>
                <a:latin typeface="Tahoma"/>
                <a:ea typeface="Tahoma"/>
                <a:cs typeface="Tahoma"/>
              </a:defRPr>
            </a:pPr>
            <a:r>
              <a:rPr sz="1275" b="1">
                <a:solidFill>
                  <a:srgbClr val="283887"/>
                </a:solidFill>
                <a:latin typeface="Tahoma"/>
                <a:ea typeface="Tahoma"/>
                <a:cs typeface="Tahoma"/>
              </a:rPr>
              <a:t>สายวิชาการ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1C1B5C6-8E43-41BD-BB23-23E86EE09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752850"/>
            <a:ext cx="19431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37078A6-8170-492D-8A43-821EC0F98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114800"/>
            <a:ext cx="22669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CF970C0-C3E6-45D2-A1DB-FFA84F837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705350"/>
            <a:ext cx="15430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4356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2F4213C-E660-4784-9468-E403596AD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829175"/>
            <a:ext cx="1543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เปิดรายการ</a:t>
            </a:r>
          </a:p>
        </p:txBody>
      </p:sp>
      <p:sp>
        <p:nvSpPr>
          <p:cNvPr id="25" name="footer-rule-5">
            <a:extLst xmlns:a="http://schemas.openxmlformats.org/drawingml/2006/main">
              <a:ext uri="{FF2B5EF4-FFF2-40B4-BE49-F238E27FC236}">
                <a16:creationId xmlns:a16="http://schemas.microsoft.com/office/drawing/2014/main" id="{C90F6D60-B577-48BF-859A-09691E8CC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footer-label-5">
            <a:extLst xmlns:a="http://schemas.openxmlformats.org/drawingml/2006/main">
              <a:ext uri="{FF2B5EF4-FFF2-40B4-BE49-F238E27FC236}">
                <a16:creationId xmlns:a16="http://schemas.microsoft.com/office/drawing/2014/main" id="{FBD8133C-69C3-4295-85C5-52206E999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523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61758A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61758A"/>
                </a:solidFill>
                <a:latin typeface="Tahoma"/>
                <a:ea typeface="Tahoma"/>
                <a:cs typeface="Tahoma"/>
              </a:rPr>
              <a:t>MSU EVA  •  ภาคเช้า สายวิชาการ</a:t>
            </a:r>
          </a:p>
        </p:txBody>
      </p:sp>
      <p:sp>
        <p:nvSpPr>
          <p:cNvPr id="27" name="footer-page-5">
            <a:extLst xmlns:a="http://schemas.openxmlformats.org/drawingml/2006/main">
              <a:ext uri="{FF2B5EF4-FFF2-40B4-BE49-F238E27FC236}">
                <a16:creationId xmlns:a16="http://schemas.microsoft.com/office/drawing/2014/main" id="{36B0744E-32B3-454D-AD9B-6902BE082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53200"/>
            <a:ext cx="1104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4356C7"/>
                </a:solidFill>
                <a:latin typeface="Tahoma"/>
                <a:ea typeface="Tahoma"/>
                <a:cs typeface="Tahoma"/>
              </a:defRPr>
            </a:pPr>
            <a:r>
              <a:rPr sz="975" b="1">
                <a:solidFill>
                  <a:srgbClr val="4356C7"/>
                </a:solidFill>
                <a:latin typeface="Tahoma"/>
                <a:ea typeface="Tahoma"/>
                <a:cs typeface="Tahoma"/>
              </a:rPr>
              <a:t>05 / 14</a:t>
            </a:r>
          </a:p>
        </p:txBody>
      </p:sp>
    </p:spTree>
    <p:extLst>
      <p:ext uri="{BB962C8B-B14F-4D97-AF65-F5344CB8AC3E}">
        <p14:creationId xmlns:p14="http://schemas.microsoft.com/office/powerpoint/2010/main" val="138529189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side-accent-6">
            <a:extLst xmlns:a="http://schemas.openxmlformats.org/drawingml/2006/main">
              <a:ext uri="{FF2B5EF4-FFF2-40B4-BE49-F238E27FC236}">
                <a16:creationId xmlns:a16="http://schemas.microsoft.com/office/drawing/2014/main" id="{34EC29CF-3F65-4C10-B374-9BC4203E7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356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kicker-6">
            <a:extLst xmlns:a="http://schemas.openxmlformats.org/drawingml/2006/main">
              <a:ext uri="{FF2B5EF4-FFF2-40B4-BE49-F238E27FC236}">
                <a16:creationId xmlns:a16="http://schemas.microsoft.com/office/drawing/2014/main" id="{58455513-FD7C-41B8-81C3-438EC5963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4356C7"/>
                </a:solidFill>
                <a:latin typeface="Tahoma"/>
                <a:ea typeface="Tahoma"/>
                <a:cs typeface="Tahoma"/>
              </a:defRPr>
            </a:pPr>
            <a:r>
              <a:rPr sz="1125" b="1">
                <a:solidFill>
                  <a:srgbClr val="4356C7"/>
                </a:solidFill>
                <a:latin typeface="Tahoma"/>
                <a:ea typeface="Tahoma"/>
                <a:cs typeface="Tahoma"/>
              </a:rPr>
              <a:t>โครงสร้างข้อมูล  /  สายวิชาการ</a:t>
            </a:r>
          </a:p>
        </p:txBody>
      </p:sp>
      <p:sp>
        <p:nvSpPr>
          <p:cNvPr id="3" name="title-6">
            <a:extLst xmlns:a="http://schemas.openxmlformats.org/drawingml/2006/main">
              <a:ext uri="{FF2B5EF4-FFF2-40B4-BE49-F238E27FC236}">
                <a16:creationId xmlns:a16="http://schemas.microsoft.com/office/drawing/2014/main" id="{2B7882BF-C111-49B2-A3A7-A1C2284C2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668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075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3075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รายวิชา ภาระงาน และผลงานต้องสอดคล้องกัน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C72942-D68D-400C-AAF4-F17EE45F2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685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61758A"/>
                </a:solidFill>
                <a:latin typeface="Tahoma"/>
                <a:ea typeface="Tahoma"/>
                <a:cs typeface="Tahoma"/>
              </a:defRPr>
            </a:pPr>
            <a:r>
              <a:rPr sz="1725" b="0">
                <a:solidFill>
                  <a:srgbClr val="61758A"/>
                </a:solidFill>
                <a:latin typeface="Tahoma"/>
                <a:ea typeface="Tahoma"/>
                <a:cs typeface="Tahoma"/>
              </a:rPr>
              <a:t>ข้อมูลแต่ละส่วนต้องเล่าเรื่องเดียวกัน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CBF045-5409-4852-9EC8-CF421F9CA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3505200"/>
            <a:ext cx="7696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7A507F-60C6-4910-A2A3-5A72FD223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009900"/>
            <a:ext cx="10287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56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BAB792-FAD9-49E4-A350-AC4DD83B7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295650"/>
            <a:ext cx="1028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25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225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EE4E0E-57DE-4DC7-97C5-1B1B27BC4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05300"/>
            <a:ext cx="2590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025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รายวิชา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B047BB-39F9-48BA-8321-0428FE414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00600"/>
            <a:ext cx="2514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0">
                <a:solidFill>
                  <a:srgbClr val="61758A"/>
                </a:solidFill>
                <a:latin typeface="Tahoma"/>
                <a:ea typeface="Tahoma"/>
                <a:cs typeface="Tahoma"/>
              </a:defRPr>
            </a:pPr>
            <a:r>
              <a:rPr sz="1425" b="0">
                <a:solidFill>
                  <a:srgbClr val="61758A"/>
                </a:solidFill>
                <a:latin typeface="Tahoma"/>
                <a:ea typeface="Tahoma"/>
                <a:cs typeface="Tahoma"/>
              </a:rPr>
              <a:t>บริบทของงานสอน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93F312-E8EF-4088-93D4-39222220B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009900"/>
            <a:ext cx="10287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56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8F8FA4-4C2C-4DF1-863E-12655EB53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295650"/>
            <a:ext cx="1028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25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225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B0EF8E-D9D6-4E48-BE41-3C598A719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305300"/>
            <a:ext cx="2590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025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ภาระงาน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FAC54B-2F47-412B-A63E-A1356CBA0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800600"/>
            <a:ext cx="2514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0">
                <a:solidFill>
                  <a:srgbClr val="61758A"/>
                </a:solidFill>
                <a:latin typeface="Tahoma"/>
                <a:ea typeface="Tahoma"/>
                <a:cs typeface="Tahoma"/>
              </a:defRPr>
            </a:pPr>
            <a:r>
              <a:rPr sz="1425" b="0">
                <a:solidFill>
                  <a:srgbClr val="61758A"/>
                </a:solidFill>
                <a:latin typeface="Tahoma"/>
                <a:ea typeface="Tahoma"/>
                <a:cs typeface="Tahoma"/>
              </a:rPr>
              <a:t>สิ่งที่ทำและปริมาณ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D3977D-27D8-40BC-8363-DB094B3DE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009900"/>
            <a:ext cx="10287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56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BC6AB7F-B14D-4F05-A1B7-9F085B395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295650"/>
            <a:ext cx="1028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25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225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9651FEB-2FF2-4D7C-B380-906586FC6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305300"/>
            <a:ext cx="2590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025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ผลงาน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5EB2D72-B8F3-4D97-84B5-55CBFDBBD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800600"/>
            <a:ext cx="2514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0">
                <a:solidFill>
                  <a:srgbClr val="61758A"/>
                </a:solidFill>
                <a:latin typeface="Tahoma"/>
                <a:ea typeface="Tahoma"/>
                <a:cs typeface="Tahoma"/>
              </a:defRPr>
            </a:pPr>
            <a:r>
              <a:rPr sz="1425" b="0">
                <a:solidFill>
                  <a:srgbClr val="61758A"/>
                </a:solidFill>
                <a:latin typeface="Tahoma"/>
                <a:ea typeface="Tahoma"/>
                <a:cs typeface="Tahoma"/>
              </a:rPr>
              <a:t>ผลลัพธ์เชิงคุณภาพ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78F74DA-96C7-4F0F-9360-7C680C401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3009900"/>
            <a:ext cx="10287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9A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EA5F1CE-6C31-4FFB-8A40-7EF9F272E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3295650"/>
            <a:ext cx="1028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25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225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2274C34-1806-4CFF-9361-F55619EF1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4305300"/>
            <a:ext cx="2590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025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หลักฐาน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2BD631A-335F-4E99-A3C4-3481FCD54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800600"/>
            <a:ext cx="2514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0">
                <a:solidFill>
                  <a:srgbClr val="61758A"/>
                </a:solidFill>
                <a:latin typeface="Tahoma"/>
                <a:ea typeface="Tahoma"/>
                <a:cs typeface="Tahoma"/>
              </a:defRPr>
            </a:pPr>
            <a:r>
              <a:rPr sz="1425" b="0">
                <a:solidFill>
                  <a:srgbClr val="61758A"/>
                </a:solidFill>
                <a:latin typeface="Tahoma"/>
                <a:ea typeface="Tahoma"/>
                <a:cs typeface="Tahoma"/>
              </a:rPr>
              <a:t>สิ่งที่ตรวจสอบได้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21B445A-522A-4191-883A-901D59722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2930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283887"/>
                </a:solidFill>
                <a:latin typeface="Tahoma"/>
                <a:ea typeface="Tahoma"/>
                <a:cs typeface="Tahoma"/>
              </a:defRPr>
            </a:pPr>
            <a:r>
              <a:rPr sz="1500" b="1">
                <a:solidFill>
                  <a:srgbClr val="283887"/>
                </a:solidFill>
                <a:latin typeface="Tahoma"/>
                <a:ea typeface="Tahoma"/>
                <a:cs typeface="Tahoma"/>
              </a:rPr>
              <a:t>ถ้าข้อมูลส่วนหนึ่งไม่สอดคล้อง ผู้ประเมินจะตีความงานได้ยาก</a:t>
            </a:r>
          </a:p>
        </p:txBody>
      </p:sp>
      <p:sp>
        <p:nvSpPr>
          <p:cNvPr id="23" name="footer-rule-6">
            <a:extLst xmlns:a="http://schemas.openxmlformats.org/drawingml/2006/main">
              <a:ext uri="{FF2B5EF4-FFF2-40B4-BE49-F238E27FC236}">
                <a16:creationId xmlns:a16="http://schemas.microsoft.com/office/drawing/2014/main" id="{0F5BC610-1978-4CF3-BC46-DCDF5C6B0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footer-label-6">
            <a:extLst xmlns:a="http://schemas.openxmlformats.org/drawingml/2006/main">
              <a:ext uri="{FF2B5EF4-FFF2-40B4-BE49-F238E27FC236}">
                <a16:creationId xmlns:a16="http://schemas.microsoft.com/office/drawing/2014/main" id="{53A738B6-F37F-4940-BB94-08BDB0C14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523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61758A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61758A"/>
                </a:solidFill>
                <a:latin typeface="Tahoma"/>
                <a:ea typeface="Tahoma"/>
                <a:cs typeface="Tahoma"/>
              </a:rPr>
              <a:t>MSU EVA  •  ภาคเช้า สายวิชาการ</a:t>
            </a:r>
          </a:p>
        </p:txBody>
      </p:sp>
      <p:sp>
        <p:nvSpPr>
          <p:cNvPr id="25" name="footer-page-6">
            <a:extLst xmlns:a="http://schemas.openxmlformats.org/drawingml/2006/main">
              <a:ext uri="{FF2B5EF4-FFF2-40B4-BE49-F238E27FC236}">
                <a16:creationId xmlns:a16="http://schemas.microsoft.com/office/drawing/2014/main" id="{8F04723C-DDF1-44CF-B876-A44ACE8E3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53200"/>
            <a:ext cx="1104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4356C7"/>
                </a:solidFill>
                <a:latin typeface="Tahoma"/>
                <a:ea typeface="Tahoma"/>
                <a:cs typeface="Tahoma"/>
              </a:defRPr>
            </a:pPr>
            <a:r>
              <a:rPr sz="975" b="1">
                <a:solidFill>
                  <a:srgbClr val="4356C7"/>
                </a:solidFill>
                <a:latin typeface="Tahoma"/>
                <a:ea typeface="Tahoma"/>
                <a:cs typeface="Tahoma"/>
              </a:rPr>
              <a:t>06 / 14</a:t>
            </a:r>
          </a:p>
        </p:txBody>
      </p:sp>
    </p:spTree>
    <p:extLst>
      <p:ext uri="{BB962C8B-B14F-4D97-AF65-F5344CB8AC3E}">
        <p14:creationId xmlns:p14="http://schemas.microsoft.com/office/powerpoint/2010/main" val="40512845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side-accent-7">
            <a:extLst xmlns:a="http://schemas.openxmlformats.org/drawingml/2006/main">
              <a:ext uri="{FF2B5EF4-FFF2-40B4-BE49-F238E27FC236}">
                <a16:creationId xmlns:a16="http://schemas.microsoft.com/office/drawing/2014/main" id="{90BDEDA4-5511-4DD1-919F-1F8053312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356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kicker-7">
            <a:extLst xmlns:a="http://schemas.openxmlformats.org/drawingml/2006/main">
              <a:ext uri="{FF2B5EF4-FFF2-40B4-BE49-F238E27FC236}">
                <a16:creationId xmlns:a16="http://schemas.microsoft.com/office/drawing/2014/main" id="{C0C0C98D-9221-43E1-A446-F036B619E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4356C7"/>
                </a:solidFill>
                <a:latin typeface="Tahoma"/>
                <a:ea typeface="Tahoma"/>
                <a:cs typeface="Tahoma"/>
              </a:defRPr>
            </a:pPr>
            <a:r>
              <a:rPr sz="1125" b="1">
                <a:solidFill>
                  <a:srgbClr val="4356C7"/>
                </a:solidFill>
                <a:latin typeface="Tahoma"/>
                <a:ea typeface="Tahoma"/>
                <a:cs typeface="Tahoma"/>
              </a:rPr>
              <a:t>ข้อมูลเชิงปริมาณ  /  สายวิชาการ</a:t>
            </a:r>
          </a:p>
        </p:txBody>
      </p:sp>
      <p:sp>
        <p:nvSpPr>
          <p:cNvPr id="3" name="title-7">
            <a:extLst xmlns:a="http://schemas.openxmlformats.org/drawingml/2006/main">
              <a:ext uri="{FF2B5EF4-FFF2-40B4-BE49-F238E27FC236}">
                <a16:creationId xmlns:a16="http://schemas.microsoft.com/office/drawing/2014/main" id="{609DC6B8-8E83-4565-8118-93B515494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668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075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3075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กรอกข้อมูลเชิงปริมาณ แล้วตรวจค่าที่ระบบคำนวณ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AE482E-641C-4866-A151-856E2A0DC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657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61758A"/>
                </a:solidFill>
                <a:latin typeface="Tahoma"/>
                <a:ea typeface="Tahoma"/>
                <a:cs typeface="Tahoma"/>
              </a:defRPr>
            </a:pPr>
            <a:r>
              <a:rPr sz="1725" b="0">
                <a:solidFill>
                  <a:srgbClr val="61758A"/>
                </a:solidFill>
                <a:latin typeface="Tahoma"/>
                <a:ea typeface="Tahoma"/>
                <a:cs typeface="Tahoma"/>
              </a:rPr>
              <a:t>อ่านช่อง A–D ให้เป็นลำดับเดียวกัน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79A821-B624-489E-83E5-C841C75AC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0"/>
            <a:ext cx="2343150" cy="2362200"/>
          </a:xfrm>
          <a:prstGeom xmlns:a="http://schemas.openxmlformats.org/drawingml/2006/main" prst="roundRect">
            <a:avLst>
              <a:gd name="adj" fmla="val 32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05BD02-2919-4E58-B00E-7AC4ADE10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57500"/>
            <a:ext cx="762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4200" b="1">
                <a:solidFill>
                  <a:srgbClr val="C79A2B"/>
                </a:solidFill>
                <a:latin typeface="Tahoma"/>
                <a:ea typeface="Tahoma"/>
                <a:cs typeface="Tahoma"/>
              </a:defRPr>
            </a:pPr>
            <a:r>
              <a:rPr sz="4200" b="1">
                <a:solidFill>
                  <a:srgbClr val="C79A2B"/>
                </a:solidFill>
                <a:latin typeface="Tahoma"/>
                <a:ea typeface="Tahoma"/>
                <a:cs typeface="Tahoma"/>
              </a:rPr>
              <a:t>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AF66D6-6E69-4D45-9D5E-BD927631B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733800"/>
            <a:ext cx="1924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1875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ค่าน้ำหนัก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AE600B-956A-492B-8644-7D3B3CD97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19600"/>
            <a:ext cx="1924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61758A"/>
                </a:solidFill>
                <a:latin typeface="Tahoma"/>
                <a:ea typeface="Tahoma"/>
                <a:cs typeface="Tahoma"/>
              </a:defRPr>
            </a:pPr>
            <a:r>
              <a:rPr sz="1350" b="0">
                <a:solidFill>
                  <a:srgbClr val="61758A"/>
                </a:solidFill>
                <a:latin typeface="Tahoma"/>
                <a:ea typeface="Tahoma"/>
                <a:cs typeface="Tahoma"/>
              </a:rPr>
              <a:t>กำหนดจากเกณฑ์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3D0D12-79B2-46E7-B7C3-97E626950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667000"/>
            <a:ext cx="2343150" cy="2362200"/>
          </a:xfrm>
          <a:prstGeom xmlns:a="http://schemas.openxmlformats.org/drawingml/2006/main" prst="roundRect">
            <a:avLst>
              <a:gd name="adj" fmla="val 32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AC1DD7-7CCE-4A22-AF6A-2967B67CF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857500"/>
            <a:ext cx="762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4200" b="1">
                <a:solidFill>
                  <a:srgbClr val="C79A2B"/>
                </a:solidFill>
                <a:latin typeface="Tahoma"/>
                <a:ea typeface="Tahoma"/>
                <a:cs typeface="Tahoma"/>
              </a:defRPr>
            </a:pPr>
            <a:r>
              <a:rPr sz="4200" b="1">
                <a:solidFill>
                  <a:srgbClr val="C79A2B"/>
                </a:solidFill>
                <a:latin typeface="Tahoma"/>
                <a:ea typeface="Tahoma"/>
                <a:cs typeface="Tahoma"/>
              </a:rPr>
              <a:t>B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FE696A-A381-4320-AF00-F872C2595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733800"/>
            <a:ext cx="1924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1875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ภาระงานมาตรฐาน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841B0C-B730-4A38-9B8E-664910C4A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419600"/>
            <a:ext cx="1924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61758A"/>
                </a:solidFill>
                <a:latin typeface="Tahoma"/>
                <a:ea typeface="Tahoma"/>
                <a:cs typeface="Tahoma"/>
              </a:defRPr>
            </a:pPr>
            <a:r>
              <a:rPr sz="1350" b="0">
                <a:solidFill>
                  <a:srgbClr val="61758A"/>
                </a:solidFill>
                <a:latin typeface="Tahoma"/>
                <a:ea typeface="Tahoma"/>
                <a:cs typeface="Tahoma"/>
              </a:rPr>
              <a:t>ค่าฐานของรายการ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E6582C-0193-42C7-9A72-B573F732B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667000"/>
            <a:ext cx="2343150" cy="2362200"/>
          </a:xfrm>
          <a:prstGeom xmlns:a="http://schemas.openxmlformats.org/drawingml/2006/main" prst="roundRect">
            <a:avLst>
              <a:gd name="adj" fmla="val 32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70884C-DB6D-453B-85C6-3D48B81FC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857500"/>
            <a:ext cx="762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4200" b="1">
                <a:solidFill>
                  <a:srgbClr val="C79A2B"/>
                </a:solidFill>
                <a:latin typeface="Tahoma"/>
                <a:ea typeface="Tahoma"/>
                <a:cs typeface="Tahoma"/>
              </a:defRPr>
            </a:pPr>
            <a:r>
              <a:rPr sz="4200" b="1">
                <a:solidFill>
                  <a:srgbClr val="C79A2B"/>
                </a:solidFill>
                <a:latin typeface="Tahoma"/>
                <a:ea typeface="Tahoma"/>
                <a:cs typeface="Tahoma"/>
              </a:rPr>
              <a:t>C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0A12C3-31E4-4154-8783-D9BC196D1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733800"/>
            <a:ext cx="1924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1875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ภาระงานที่ทำได้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A09718F-4FD7-4CE8-AC4A-EDBE561F5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419600"/>
            <a:ext cx="1924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61758A"/>
                </a:solidFill>
                <a:latin typeface="Tahoma"/>
                <a:ea typeface="Tahoma"/>
                <a:cs typeface="Tahoma"/>
              </a:defRPr>
            </a:pPr>
            <a:r>
              <a:rPr sz="1350" b="0">
                <a:solidFill>
                  <a:srgbClr val="61758A"/>
                </a:solidFill>
                <a:latin typeface="Tahoma"/>
                <a:ea typeface="Tahoma"/>
                <a:cs typeface="Tahoma"/>
              </a:rPr>
              <a:t>ข้อมูลที่คุณกรอก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7D83978-749D-4EA7-929C-E61B7993E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667000"/>
            <a:ext cx="2343150" cy="2362200"/>
          </a:xfrm>
          <a:prstGeom xmlns:a="http://schemas.openxmlformats.org/drawingml/2006/main" prst="roundRect">
            <a:avLst>
              <a:gd name="adj" fmla="val 3252"/>
            </a:avLst>
          </a:prstGeom>
          <a:solidFill xmlns:a="http://schemas.openxmlformats.org/drawingml/2006/main">
            <a:srgbClr val="E9ECFB"/>
          </a:solidFill>
          <a:ln xmlns:a="http://schemas.openxmlformats.org/drawingml/2006/main" w="9525">
            <a:solidFill>
              <a:srgbClr val="4356C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F38048F-B4A0-4B37-A376-AE5FF0F65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57500"/>
            <a:ext cx="762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4200" b="1">
                <a:solidFill>
                  <a:srgbClr val="4356C7"/>
                </a:solidFill>
                <a:latin typeface="Tahoma"/>
                <a:ea typeface="Tahoma"/>
                <a:cs typeface="Tahoma"/>
              </a:defRPr>
            </a:pPr>
            <a:r>
              <a:rPr sz="4200" b="1">
                <a:solidFill>
                  <a:srgbClr val="4356C7"/>
                </a:solidFill>
                <a:latin typeface="Tahoma"/>
                <a:ea typeface="Tahoma"/>
                <a:cs typeface="Tahoma"/>
              </a:rPr>
              <a:t>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96E3318-61F7-4733-9E6B-379BCFBF7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733800"/>
            <a:ext cx="1924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1875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คะแนนที่คำนวณ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504D02A-8DF7-4D79-A83E-87524EB8E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419600"/>
            <a:ext cx="1924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61758A"/>
                </a:solidFill>
                <a:latin typeface="Tahoma"/>
                <a:ea typeface="Tahoma"/>
                <a:cs typeface="Tahoma"/>
              </a:defRPr>
            </a:pPr>
            <a:r>
              <a:rPr sz="1350" b="0">
                <a:solidFill>
                  <a:srgbClr val="61758A"/>
                </a:solidFill>
                <a:latin typeface="Tahoma"/>
                <a:ea typeface="Tahoma"/>
                <a:cs typeface="Tahoma"/>
              </a:rPr>
              <a:t>ตรวจผลจากระบบ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FC0997F-D339-42C6-95FA-31AF03893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7690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283887"/>
                </a:solidFill>
                <a:latin typeface="Tahoma"/>
                <a:ea typeface="Tahoma"/>
                <a:cs typeface="Tahoma"/>
              </a:defRPr>
            </a:pPr>
            <a:r>
              <a:rPr sz="1575" b="1">
                <a:solidFill>
                  <a:srgbClr val="283887"/>
                </a:solidFill>
                <a:latin typeface="Tahoma"/>
                <a:ea typeface="Tahoma"/>
                <a:cs typeface="Tahoma"/>
              </a:rPr>
              <a:t>ตรวจหน่วยและค่าทศนิยมก่อนบันทึก</a:t>
            </a:r>
          </a:p>
        </p:txBody>
      </p:sp>
      <p:sp>
        <p:nvSpPr>
          <p:cNvPr id="22" name="footer-rule-7">
            <a:extLst xmlns:a="http://schemas.openxmlformats.org/drawingml/2006/main">
              <a:ext uri="{FF2B5EF4-FFF2-40B4-BE49-F238E27FC236}">
                <a16:creationId xmlns:a16="http://schemas.microsoft.com/office/drawing/2014/main" id="{4FA10BC4-AE8F-4A70-87FB-A15563A11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footer-label-7">
            <a:extLst xmlns:a="http://schemas.openxmlformats.org/drawingml/2006/main">
              <a:ext uri="{FF2B5EF4-FFF2-40B4-BE49-F238E27FC236}">
                <a16:creationId xmlns:a16="http://schemas.microsoft.com/office/drawing/2014/main" id="{DB1831F2-8709-46E7-A867-F095A3F70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523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61758A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61758A"/>
                </a:solidFill>
                <a:latin typeface="Tahoma"/>
                <a:ea typeface="Tahoma"/>
                <a:cs typeface="Tahoma"/>
              </a:rPr>
              <a:t>MSU EVA  •  ภาคเช้า สายวิชาการ</a:t>
            </a:r>
          </a:p>
        </p:txBody>
      </p:sp>
      <p:sp>
        <p:nvSpPr>
          <p:cNvPr id="24" name="footer-page-7">
            <a:extLst xmlns:a="http://schemas.openxmlformats.org/drawingml/2006/main">
              <a:ext uri="{FF2B5EF4-FFF2-40B4-BE49-F238E27FC236}">
                <a16:creationId xmlns:a16="http://schemas.microsoft.com/office/drawing/2014/main" id="{ED557AE5-0741-4F1D-AB39-A261831B2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53200"/>
            <a:ext cx="1104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4356C7"/>
                </a:solidFill>
                <a:latin typeface="Tahoma"/>
                <a:ea typeface="Tahoma"/>
                <a:cs typeface="Tahoma"/>
              </a:defRPr>
            </a:pPr>
            <a:r>
              <a:rPr sz="975" b="1">
                <a:solidFill>
                  <a:srgbClr val="4356C7"/>
                </a:solidFill>
                <a:latin typeface="Tahoma"/>
                <a:ea typeface="Tahoma"/>
                <a:cs typeface="Tahoma"/>
              </a:rPr>
              <a:t>07 / 14</a:t>
            </a:r>
          </a:p>
        </p:txBody>
      </p:sp>
    </p:spTree>
    <p:extLst>
      <p:ext uri="{BB962C8B-B14F-4D97-AF65-F5344CB8AC3E}">
        <p14:creationId xmlns:p14="http://schemas.microsoft.com/office/powerpoint/2010/main" val="80067168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side-accent-8">
            <a:extLst xmlns:a="http://schemas.openxmlformats.org/drawingml/2006/main">
              <a:ext uri="{FF2B5EF4-FFF2-40B4-BE49-F238E27FC236}">
                <a16:creationId xmlns:a16="http://schemas.microsoft.com/office/drawing/2014/main" id="{39439768-724B-425E-9135-CCD989F66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356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kicker-8">
            <a:extLst xmlns:a="http://schemas.openxmlformats.org/drawingml/2006/main">
              <a:ext uri="{FF2B5EF4-FFF2-40B4-BE49-F238E27FC236}">
                <a16:creationId xmlns:a16="http://schemas.microsoft.com/office/drawing/2014/main" id="{4DAFC6C2-B1BD-4588-BDCC-915DB52D4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4356C7"/>
                </a:solidFill>
                <a:latin typeface="Tahoma"/>
                <a:ea typeface="Tahoma"/>
                <a:cs typeface="Tahoma"/>
              </a:defRPr>
            </a:pPr>
            <a:r>
              <a:rPr sz="1125" b="1">
                <a:solidFill>
                  <a:srgbClr val="4356C7"/>
                </a:solidFill>
                <a:latin typeface="Tahoma"/>
                <a:ea typeface="Tahoma"/>
                <a:cs typeface="Tahoma"/>
              </a:rPr>
              <a:t>ข้อมูลเชิงคุณภาพ  /  สายวิชาการ</a:t>
            </a:r>
          </a:p>
        </p:txBody>
      </p:sp>
      <p:sp>
        <p:nvSpPr>
          <p:cNvPr id="3" name="title-8">
            <a:extLst xmlns:a="http://schemas.openxmlformats.org/drawingml/2006/main">
              <a:ext uri="{FF2B5EF4-FFF2-40B4-BE49-F238E27FC236}">
                <a16:creationId xmlns:a16="http://schemas.microsoft.com/office/drawing/2014/main" id="{37546F5D-4522-4603-BCFF-F0A0C1909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668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075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3075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ข้อมูลเชิงคุณภาพต้องทำให้ผู้ประเมินเข้าใจผลงาน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C632BF-8CED-46D8-A4B6-508F2C752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904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283887"/>
                </a:solidFill>
                <a:latin typeface="Tahoma"/>
                <a:ea typeface="Tahoma"/>
                <a:cs typeface="Tahoma"/>
              </a:defRPr>
            </a:pPr>
            <a:r>
              <a:rPr sz="1875" b="1">
                <a:solidFill>
                  <a:srgbClr val="283887"/>
                </a:solidFill>
                <a:latin typeface="Tahoma"/>
                <a:ea typeface="Tahoma"/>
                <a:cs typeface="Tahoma"/>
              </a:rPr>
              <a:t>เขียนให้เห็นว่า “ทำอะไร — เกิดผลอย่างไร — ตรวจจากไหน”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C7578E-198C-49AB-AD45-8AA0FB832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81300"/>
            <a:ext cx="609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4356C7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4356C7"/>
                </a:solidFill>
                <a:latin typeface="Tahoma"/>
                <a:ea typeface="Tahoma"/>
                <a:cs typeface="Tahoma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A0E841-F733-4E26-B305-30600D20A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74320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75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2175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ทำอะไร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0818B4-E63A-4498-866D-48643389D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781300"/>
            <a:ext cx="657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0">
                <a:solidFill>
                  <a:srgbClr val="61758A"/>
                </a:solidFill>
                <a:latin typeface="Tahoma"/>
                <a:ea typeface="Tahoma"/>
                <a:cs typeface="Tahoma"/>
              </a:defRPr>
            </a:pPr>
            <a:r>
              <a:rPr sz="1650" b="0">
                <a:solidFill>
                  <a:srgbClr val="61758A"/>
                </a:solidFill>
                <a:latin typeface="Tahoma"/>
                <a:ea typeface="Tahoma"/>
                <a:cs typeface="Tahoma"/>
              </a:rPr>
              <a:t>ระบุผลงานหรือบทบาทให้ชัด ไม่ใช้คำกว้าง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B3CE59-0691-4F05-87D9-7453EBAC1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429000"/>
            <a:ext cx="9410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D4A998-280C-4AAB-837B-A280099E6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52850"/>
            <a:ext cx="609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4356C7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4356C7"/>
                </a:solidFill>
                <a:latin typeface="Tahoma"/>
                <a:ea typeface="Tahoma"/>
                <a:cs typeface="Tahoma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5B3887-E118-4702-878E-0784E5193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7147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75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2175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เกิดผลอย่างไร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F8D16D-3650-4D30-8D5A-209C4FEC5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752850"/>
            <a:ext cx="657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0">
                <a:solidFill>
                  <a:srgbClr val="61758A"/>
                </a:solidFill>
                <a:latin typeface="Tahoma"/>
                <a:ea typeface="Tahoma"/>
                <a:cs typeface="Tahoma"/>
              </a:defRPr>
            </a:pPr>
            <a:r>
              <a:rPr sz="1650" b="0">
                <a:solidFill>
                  <a:srgbClr val="61758A"/>
                </a:solidFill>
                <a:latin typeface="Tahoma"/>
                <a:ea typeface="Tahoma"/>
                <a:cs typeface="Tahoma"/>
              </a:rPr>
              <a:t>สรุปผลลัพธ์ที่สัมพันธ์กับเกณฑ์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820CFE-1534-4CE4-B015-451616895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400550"/>
            <a:ext cx="9410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007894-A57F-4159-A86D-C16090445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24400"/>
            <a:ext cx="609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4356C7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4356C7"/>
                </a:solidFill>
                <a:latin typeface="Tahoma"/>
                <a:ea typeface="Tahoma"/>
                <a:cs typeface="Tahoma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8362E0-DFFA-40E4-ADAD-5111A7A71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68630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75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2175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ตรวจจากไหน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C72B09-2901-4A16-96C9-763951CA8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724400"/>
            <a:ext cx="657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0">
                <a:solidFill>
                  <a:srgbClr val="61758A"/>
                </a:solidFill>
                <a:latin typeface="Tahoma"/>
                <a:ea typeface="Tahoma"/>
                <a:cs typeface="Tahoma"/>
              </a:defRPr>
            </a:pPr>
            <a:r>
              <a:rPr sz="1650" b="0">
                <a:solidFill>
                  <a:srgbClr val="61758A"/>
                </a:solidFill>
                <a:latin typeface="Tahoma"/>
                <a:ea typeface="Tahoma"/>
                <a:cs typeface="Tahoma"/>
              </a:rPr>
              <a:t>ชี้ไปยังเอกสารหรือหลักฐานที่ตรงรายการ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2F5AEC9-CD66-45F5-875D-2D5174BBC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1885950"/>
            <a:ext cx="28765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9EC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0CB1379-412F-47B7-BFA1-1184B5266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03835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>
                <a:solidFill>
                  <a:srgbClr val="283887"/>
                </a:solidFill>
                <a:latin typeface="Tahoma"/>
                <a:ea typeface="Tahoma"/>
                <a:cs typeface="Tahoma"/>
              </a:defRPr>
            </a:pPr>
            <a:r>
              <a:rPr sz="1575" b="1">
                <a:solidFill>
                  <a:srgbClr val="283887"/>
                </a:solidFill>
                <a:latin typeface="Tahoma"/>
                <a:ea typeface="Tahoma"/>
                <a:cs typeface="Tahoma"/>
              </a:rPr>
              <a:t>ชัด • สั้น • ตรวจสอบได้</a:t>
            </a:r>
          </a:p>
        </p:txBody>
      </p:sp>
      <p:sp>
        <p:nvSpPr>
          <p:cNvPr id="18" name="footer-rule-8">
            <a:extLst xmlns:a="http://schemas.openxmlformats.org/drawingml/2006/main">
              <a:ext uri="{FF2B5EF4-FFF2-40B4-BE49-F238E27FC236}">
                <a16:creationId xmlns:a16="http://schemas.microsoft.com/office/drawing/2014/main" id="{20B2DFA0-CA33-4F78-8D37-939732097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footer-label-8">
            <a:extLst xmlns:a="http://schemas.openxmlformats.org/drawingml/2006/main">
              <a:ext uri="{FF2B5EF4-FFF2-40B4-BE49-F238E27FC236}">
                <a16:creationId xmlns:a16="http://schemas.microsoft.com/office/drawing/2014/main" id="{653CAA18-8C08-4754-B309-31A683BB9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523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61758A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61758A"/>
                </a:solidFill>
                <a:latin typeface="Tahoma"/>
                <a:ea typeface="Tahoma"/>
                <a:cs typeface="Tahoma"/>
              </a:rPr>
              <a:t>MSU EVA  •  ภาคเช้า สายวิชาการ</a:t>
            </a:r>
          </a:p>
        </p:txBody>
      </p:sp>
      <p:sp>
        <p:nvSpPr>
          <p:cNvPr id="20" name="footer-page-8">
            <a:extLst xmlns:a="http://schemas.openxmlformats.org/drawingml/2006/main">
              <a:ext uri="{FF2B5EF4-FFF2-40B4-BE49-F238E27FC236}">
                <a16:creationId xmlns:a16="http://schemas.microsoft.com/office/drawing/2014/main" id="{53A9D2ED-7521-4287-B0C3-4D652F075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53200"/>
            <a:ext cx="1104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4356C7"/>
                </a:solidFill>
                <a:latin typeface="Tahoma"/>
                <a:ea typeface="Tahoma"/>
                <a:cs typeface="Tahoma"/>
              </a:defRPr>
            </a:pPr>
            <a:r>
              <a:rPr sz="975" b="1">
                <a:solidFill>
                  <a:srgbClr val="4356C7"/>
                </a:solidFill>
                <a:latin typeface="Tahoma"/>
                <a:ea typeface="Tahoma"/>
                <a:cs typeface="Tahoma"/>
              </a:rPr>
              <a:t>08 / 14</a:t>
            </a:r>
          </a:p>
        </p:txBody>
      </p:sp>
    </p:spTree>
    <p:extLst>
      <p:ext uri="{BB962C8B-B14F-4D97-AF65-F5344CB8AC3E}">
        <p14:creationId xmlns:p14="http://schemas.microsoft.com/office/powerpoint/2010/main" val="114962659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side-accent-9">
            <a:extLst xmlns:a="http://schemas.openxmlformats.org/drawingml/2006/main">
              <a:ext uri="{FF2B5EF4-FFF2-40B4-BE49-F238E27FC236}">
                <a16:creationId xmlns:a16="http://schemas.microsoft.com/office/drawing/2014/main" id="{7B164B23-85F7-48FE-A08B-FD6EDF3B0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356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kicker-9">
            <a:extLst xmlns:a="http://schemas.openxmlformats.org/drawingml/2006/main">
              <a:ext uri="{FF2B5EF4-FFF2-40B4-BE49-F238E27FC236}">
                <a16:creationId xmlns:a16="http://schemas.microsoft.com/office/drawing/2014/main" id="{E1826F2B-AD1F-4C15-88C1-5B6A7556E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4356C7"/>
                </a:solidFill>
                <a:latin typeface="Tahoma"/>
                <a:ea typeface="Tahoma"/>
                <a:cs typeface="Tahoma"/>
              </a:defRPr>
            </a:pPr>
            <a:r>
              <a:rPr sz="1125" b="1">
                <a:solidFill>
                  <a:srgbClr val="4356C7"/>
                </a:solidFill>
                <a:latin typeface="Tahoma"/>
                <a:ea typeface="Tahoma"/>
                <a:cs typeface="Tahoma"/>
              </a:rPr>
              <a:t>หลักฐาน  /  สายวิชาการ</a:t>
            </a:r>
          </a:p>
        </p:txBody>
      </p:sp>
      <p:sp>
        <p:nvSpPr>
          <p:cNvPr id="3" name="title-9">
            <a:extLst xmlns:a="http://schemas.openxmlformats.org/drawingml/2006/main">
              <a:ext uri="{FF2B5EF4-FFF2-40B4-BE49-F238E27FC236}">
                <a16:creationId xmlns:a16="http://schemas.microsoft.com/office/drawing/2014/main" id="{B1E312C5-1002-4CEB-AAC4-705CE672B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668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075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3075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หลักฐานที่ดีต้องเปิดได้และตรวจสอบย้อนกลับได้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DC4E65-049C-41B1-9B4B-C335F7426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8477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283887"/>
                </a:solidFill>
                <a:latin typeface="Tahoma"/>
                <a:ea typeface="Tahoma"/>
                <a:cs typeface="Tahoma"/>
              </a:defRPr>
            </a:pPr>
            <a:r>
              <a:rPr sz="1875" b="1">
                <a:solidFill>
                  <a:srgbClr val="283887"/>
                </a:solidFill>
                <a:latin typeface="Tahoma"/>
                <a:ea typeface="Tahoma"/>
                <a:cs typeface="Tahoma"/>
              </a:rPr>
              <a:t>หลักฐานที่ดีช่วยให้ผู้ประเมินตรวจได้เร็ว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FF054A-4A11-4627-BEF5-20A37B05B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813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56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1EDF70-461F-41D8-BA7D-999379C33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47975"/>
            <a:ext cx="495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7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875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✓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E36FDF-D03E-40F8-9B45-6E6AC3EBC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762250"/>
            <a:ext cx="228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2100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เปิดได้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E433AB-3805-4EF4-B0E2-5B2A61658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781300"/>
            <a:ext cx="666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0">
                <a:solidFill>
                  <a:srgbClr val="61758A"/>
                </a:solidFill>
                <a:latin typeface="Tahoma"/>
                <a:ea typeface="Tahoma"/>
                <a:cs typeface="Tahoma"/>
              </a:defRPr>
            </a:pPr>
            <a:r>
              <a:rPr sz="1650" b="0">
                <a:solidFill>
                  <a:srgbClr val="61758A"/>
                </a:solidFill>
                <a:latin typeface="Tahoma"/>
                <a:ea typeface="Tahoma"/>
                <a:cs typeface="Tahoma"/>
              </a:rPr>
              <a:t>ใช้ลิงก์ http/https ที่เข้าถึงได้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956B79-BC6B-4EBC-8A0B-53D5B1F0B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56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E0C7BB-3A9C-493B-BD93-08EDE8561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81425"/>
            <a:ext cx="495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7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875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✓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566D8A-14A1-4945-9406-831C5DB87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695700"/>
            <a:ext cx="228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2100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ตรงรายการ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E29E4B-38C5-438E-9122-E4CAC01F8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714750"/>
            <a:ext cx="666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0">
                <a:solidFill>
                  <a:srgbClr val="61758A"/>
                </a:solidFill>
                <a:latin typeface="Tahoma"/>
                <a:ea typeface="Tahoma"/>
                <a:cs typeface="Tahoma"/>
              </a:defRPr>
            </a:pPr>
            <a:r>
              <a:rPr sz="1650" b="0">
                <a:solidFill>
                  <a:srgbClr val="61758A"/>
                </a:solidFill>
                <a:latin typeface="Tahoma"/>
                <a:ea typeface="Tahoma"/>
                <a:cs typeface="Tahoma"/>
              </a:rPr>
              <a:t>สอดคล้องกับผลงานหรือเกณฑ์ที่เลือก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81CF7B-1447-4073-9DD0-E75EDBE07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482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9A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D81FAD-7D25-4622-A106-BEE46DD01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14875"/>
            <a:ext cx="495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7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875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✓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25C31F5-0C74-453F-973F-DA48BD409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629150"/>
            <a:ext cx="228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2100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ระบุตัวตนได้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A0939B-7436-4034-BF3D-43239BA66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648200"/>
            <a:ext cx="666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0">
                <a:solidFill>
                  <a:srgbClr val="61758A"/>
                </a:solidFill>
                <a:latin typeface="Tahoma"/>
                <a:ea typeface="Tahoma"/>
                <a:cs typeface="Tahoma"/>
              </a:defRPr>
            </a:pPr>
            <a:r>
              <a:rPr sz="1650" b="0">
                <a:solidFill>
                  <a:srgbClr val="61758A"/>
                </a:solidFill>
                <a:latin typeface="Tahoma"/>
                <a:ea typeface="Tahoma"/>
                <a:cs typeface="Tahoma"/>
              </a:rPr>
              <a:t>ตั้งชื่อไฟล์หรือเอกสารให้เข้าใจง่าย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6EFA5E3-452C-44F3-9DBC-3BFE5766C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5124450"/>
            <a:ext cx="35242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9ECFB"/>
          </a:solidFill>
          <a:ln xmlns:a="http://schemas.openxmlformats.org/drawingml/2006/main" w="9525">
            <a:solidFill>
              <a:srgbClr val="4356C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A7EE2F5-275C-4A87-8D9A-007C95692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5219700"/>
            <a:ext cx="3028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>
                <a:solidFill>
                  <a:srgbClr val="283887"/>
                </a:solidFill>
                <a:latin typeface="Tahoma"/>
                <a:ea typeface="Tahoma"/>
                <a:cs typeface="Tahoma"/>
              </a:defRPr>
            </a:pPr>
            <a:r>
              <a:rPr sz="1575" b="1">
                <a:solidFill>
                  <a:srgbClr val="283887"/>
                </a:solidFill>
                <a:latin typeface="Tahoma"/>
                <a:ea typeface="Tahoma"/>
                <a:cs typeface="Tahoma"/>
              </a:rPr>
              <a:t>รายการที่บังคับหลักฐาน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575" b="1">
                <a:solidFill>
                  <a:srgbClr val="283887"/>
                </a:solidFill>
                <a:latin typeface="Tahoma"/>
                <a:ea typeface="Tahoma"/>
                <a:cs typeface="Tahoma"/>
              </a:defRPr>
            </a:pPr>
            <a:r>
              <a:rPr sz="1575" b="1">
                <a:solidFill>
                  <a:srgbClr val="283887"/>
                </a:solidFill>
                <a:latin typeface="Tahoma"/>
                <a:ea typeface="Tahoma"/>
                <a:cs typeface="Tahoma"/>
              </a:rPr>
              <a:t>ต้องมีลิงก์ก่อนส่ง</a:t>
            </a:r>
          </a:p>
        </p:txBody>
      </p:sp>
      <p:sp>
        <p:nvSpPr>
          <p:cNvPr id="19" name="footer-rule-9">
            <a:extLst xmlns:a="http://schemas.openxmlformats.org/drawingml/2006/main">
              <a:ext uri="{FF2B5EF4-FFF2-40B4-BE49-F238E27FC236}">
                <a16:creationId xmlns:a16="http://schemas.microsoft.com/office/drawing/2014/main" id="{F025B101-FDE2-471F-94F5-C586CE81C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footer-label-9">
            <a:extLst xmlns:a="http://schemas.openxmlformats.org/drawingml/2006/main">
              <a:ext uri="{FF2B5EF4-FFF2-40B4-BE49-F238E27FC236}">
                <a16:creationId xmlns:a16="http://schemas.microsoft.com/office/drawing/2014/main" id="{6A2F844B-AE77-4F1B-97D2-8429B06ED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523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61758A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61758A"/>
                </a:solidFill>
                <a:latin typeface="Tahoma"/>
                <a:ea typeface="Tahoma"/>
                <a:cs typeface="Tahoma"/>
              </a:rPr>
              <a:t>MSU EVA  •  ภาคเช้า สายวิชาการ</a:t>
            </a:r>
          </a:p>
        </p:txBody>
      </p:sp>
      <p:sp>
        <p:nvSpPr>
          <p:cNvPr id="21" name="footer-page-9">
            <a:extLst xmlns:a="http://schemas.openxmlformats.org/drawingml/2006/main">
              <a:ext uri="{FF2B5EF4-FFF2-40B4-BE49-F238E27FC236}">
                <a16:creationId xmlns:a16="http://schemas.microsoft.com/office/drawing/2014/main" id="{FE59A293-8FDF-4BA5-962A-6B8AFF98F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53200"/>
            <a:ext cx="1104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4356C7"/>
                </a:solidFill>
                <a:latin typeface="Tahoma"/>
                <a:ea typeface="Tahoma"/>
                <a:cs typeface="Tahoma"/>
              </a:defRPr>
            </a:pPr>
            <a:r>
              <a:rPr sz="975" b="1">
                <a:solidFill>
                  <a:srgbClr val="4356C7"/>
                </a:solidFill>
                <a:latin typeface="Tahoma"/>
                <a:ea typeface="Tahoma"/>
                <a:cs typeface="Tahoma"/>
              </a:rPr>
              <a:t>09 / 14</a:t>
            </a:r>
          </a:p>
        </p:txBody>
      </p:sp>
    </p:spTree>
    <p:extLst>
      <p:ext uri="{BB962C8B-B14F-4D97-AF65-F5344CB8AC3E}">
        <p14:creationId xmlns:p14="http://schemas.microsoft.com/office/powerpoint/2010/main" val="160208317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ide-accent-10">
            <a:extLst xmlns:a="http://schemas.openxmlformats.org/drawingml/2006/main">
              <a:ext uri="{FF2B5EF4-FFF2-40B4-BE49-F238E27FC236}">
                <a16:creationId xmlns:a16="http://schemas.microsoft.com/office/drawing/2014/main" id="{D43AE05B-CE10-4E8A-A6DA-972492495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356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kicker-10">
            <a:extLst xmlns:a="http://schemas.openxmlformats.org/drawingml/2006/main">
              <a:ext uri="{FF2B5EF4-FFF2-40B4-BE49-F238E27FC236}">
                <a16:creationId xmlns:a16="http://schemas.microsoft.com/office/drawing/2014/main" id="{DA177A5C-A498-43B8-92E6-EF0356669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4356C7"/>
                </a:solidFill>
                <a:latin typeface="Tahoma"/>
                <a:ea typeface="Tahoma"/>
                <a:cs typeface="Tahoma"/>
              </a:defRPr>
            </a:pPr>
            <a:r>
              <a:rPr sz="1125" b="1">
                <a:solidFill>
                  <a:srgbClr val="4356C7"/>
                </a:solidFill>
                <a:latin typeface="Tahoma"/>
                <a:ea typeface="Tahoma"/>
                <a:cs typeface="Tahoma"/>
              </a:rPr>
              <a:t>ก่อนกดปุ่ม  /  สายวิชาการ</a:t>
            </a:r>
          </a:p>
        </p:txBody>
      </p:sp>
      <p:sp>
        <p:nvSpPr>
          <p:cNvPr id="3" name="title-10">
            <a:extLst xmlns:a="http://schemas.openxmlformats.org/drawingml/2006/main">
              <a:ext uri="{FF2B5EF4-FFF2-40B4-BE49-F238E27FC236}">
                <a16:creationId xmlns:a16="http://schemas.microsoft.com/office/drawing/2014/main" id="{D82A699B-7F5B-4B3A-893D-23053EE8B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668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075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3075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บันทึกร่างยังแก้ได้ แต่ส่งแล้วจะเข้าสู่กระบวนการประเมิน</a:t>
            </a:r>
          </a:p>
        </p:txBody>
      </p:sp>
      <p:sp>
        <p:nvSpPr>
          <p:cNvPr id="4" name="draft-panel">
            <a:extLst xmlns:a="http://schemas.openxmlformats.org/drawingml/2006/main">
              <a:ext uri="{FF2B5EF4-FFF2-40B4-BE49-F238E27FC236}">
                <a16:creationId xmlns:a16="http://schemas.microsoft.com/office/drawing/2014/main" id="{9B02C9A6-9A33-4519-B2EC-D7E8DCFBD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43150"/>
            <a:ext cx="4953000" cy="2914650"/>
          </a:xfrm>
          <a:prstGeom xmlns:a="http://schemas.openxmlformats.org/drawingml/2006/main" prst="roundRect">
            <a:avLst>
              <a:gd name="adj" fmla="val 26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E101C8-8C91-40E8-99EC-A1043829B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686050"/>
            <a:ext cx="419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75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2775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บันทึกร่าง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26399A-0837-4E4E-8C21-72BAD766B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486150"/>
            <a:ext cx="40386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725" b="0">
                <a:solidFill>
                  <a:srgbClr val="61758A"/>
                </a:solidFill>
                <a:latin typeface="Tahoma"/>
                <a:ea typeface="Tahoma"/>
                <a:cs typeface="Tahoma"/>
              </a:defRPr>
            </a:pPr>
            <a:r>
              <a:rPr sz="1725" b="0">
                <a:solidFill>
                  <a:srgbClr val="61758A"/>
                </a:solidFill>
                <a:latin typeface="Tahoma"/>
                <a:ea typeface="Tahoma"/>
                <a:cs typeface="Tahoma"/>
              </a:rPr>
              <a:t>กลับมาแก้ไขได้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725" b="0">
                <a:solidFill>
                  <a:srgbClr val="61758A"/>
                </a:solidFill>
                <a:latin typeface="Tahoma"/>
                <a:ea typeface="Tahoma"/>
                <a:cs typeface="Tahoma"/>
              </a:defRPr>
            </a:pPr>
            <a:r>
              <a:rPr sz="1725" b="0">
                <a:solidFill>
                  <a:srgbClr val="61758A"/>
                </a:solidFill>
                <a:latin typeface="Tahoma"/>
                <a:ea typeface="Tahoma"/>
                <a:cs typeface="Tahoma"/>
              </a:rPr>
              <a:t>เหมาะเมื่อข้อมูลยังไม่ครบ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725" b="0">
                <a:solidFill>
                  <a:srgbClr val="61758A"/>
                </a:solidFill>
                <a:latin typeface="Tahoma"/>
                <a:ea typeface="Tahoma"/>
                <a:cs typeface="Tahoma"/>
              </a:defRPr>
            </a:pPr>
            <a:r>
              <a:rPr sz="1725" b="0">
                <a:solidFill>
                  <a:srgbClr val="61758A"/>
                </a:solidFill>
                <a:latin typeface="Tahoma"/>
                <a:ea typeface="Tahoma"/>
                <a:cs typeface="Tahoma"/>
              </a:rPr>
              <a:t>งานยังไม่ส่งให้ผู้ตรวจขั้นถัดไป</a:t>
            </a:r>
          </a:p>
        </p:txBody>
      </p:sp>
      <p:sp>
        <p:nvSpPr>
          <p:cNvPr id="7" name="submit-panel">
            <a:extLst xmlns:a="http://schemas.openxmlformats.org/drawingml/2006/main">
              <a:ext uri="{FF2B5EF4-FFF2-40B4-BE49-F238E27FC236}">
                <a16:creationId xmlns:a16="http://schemas.microsoft.com/office/drawing/2014/main" id="{DA8879AD-6A39-4983-8BFD-FDA2D1404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343150"/>
            <a:ext cx="5562600" cy="2914650"/>
          </a:xfrm>
          <a:prstGeom xmlns:a="http://schemas.openxmlformats.org/drawingml/2006/main" prst="roundRect">
            <a:avLst>
              <a:gd name="adj" fmla="val 2614"/>
            </a:avLst>
          </a:prstGeom>
          <a:solidFill xmlns:a="http://schemas.openxmlformats.org/drawingml/2006/main">
            <a:srgbClr val="E9ECFB"/>
          </a:solidFill>
          <a:ln xmlns:a="http://schemas.openxmlformats.org/drawingml/2006/main" w="19050">
            <a:solidFill>
              <a:srgbClr val="4356C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B8AC4F-69CD-4969-B87E-8E2DE12B0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686050"/>
            <a:ext cx="476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75" b="1">
                <a:solidFill>
                  <a:srgbClr val="283887"/>
                </a:solidFill>
                <a:latin typeface="Tahoma"/>
                <a:ea typeface="Tahoma"/>
                <a:cs typeface="Tahoma"/>
              </a:defRPr>
            </a:pPr>
            <a:r>
              <a:rPr sz="2775" b="1">
                <a:solidFill>
                  <a:srgbClr val="283887"/>
                </a:solidFill>
                <a:latin typeface="Tahoma"/>
                <a:ea typeface="Tahoma"/>
                <a:cs typeface="Tahoma"/>
              </a:rPr>
              <a:t>ยืนยันส่งประเมิน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37D6EE-2A4F-47C3-80C6-1D2C40E76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486150"/>
            <a:ext cx="46863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725" b="0">
                <a:solidFill>
                  <a:srgbClr val="283887"/>
                </a:solidFill>
                <a:latin typeface="Tahoma"/>
                <a:ea typeface="Tahoma"/>
                <a:cs typeface="Tahoma"/>
              </a:defRPr>
            </a:pPr>
            <a:r>
              <a:rPr sz="1725" b="0">
                <a:solidFill>
                  <a:srgbClr val="283887"/>
                </a:solidFill>
                <a:latin typeface="Tahoma"/>
                <a:ea typeface="Tahoma"/>
                <a:cs typeface="Tahoma"/>
              </a:rPr>
              <a:t>งานเข้าสู่ลำดับผู้ประเมิน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725" b="0">
                <a:solidFill>
                  <a:srgbClr val="283887"/>
                </a:solidFill>
                <a:latin typeface="Tahoma"/>
                <a:ea typeface="Tahoma"/>
                <a:cs typeface="Tahoma"/>
              </a:defRPr>
            </a:pPr>
            <a:r>
              <a:rPr sz="1725" b="0">
                <a:solidFill>
                  <a:srgbClr val="283887"/>
                </a:solidFill>
                <a:latin typeface="Tahoma"/>
                <a:ea typeface="Tahoma"/>
                <a:cs typeface="Tahoma"/>
              </a:rPr>
              <a:t>ผู้ส่งแก้ไขในขั้นนั้นไม่ได้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725" b="0">
                <a:solidFill>
                  <a:srgbClr val="283887"/>
                </a:solidFill>
                <a:latin typeface="Tahoma"/>
                <a:ea typeface="Tahoma"/>
                <a:cs typeface="Tahoma"/>
              </a:defRPr>
            </a:pPr>
            <a:r>
              <a:rPr sz="1725" b="0">
                <a:solidFill>
                  <a:srgbClr val="283887"/>
                </a:solidFill>
                <a:latin typeface="Tahoma"/>
                <a:ea typeface="Tahoma"/>
                <a:cs typeface="Tahoma"/>
              </a:rPr>
              <a:t>ตรวจข้อมูลและหลักฐานก่อนยืนยัน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C3987C-8E78-4869-AD6F-F5F3B7790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57850"/>
            <a:ext cx="990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1650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ถามตัวเองก่อนกดส่ง: “ผู้ประเมินเห็นข้อมูลครบหรือยัง?”</a:t>
            </a:r>
          </a:p>
        </p:txBody>
      </p:sp>
      <p:sp>
        <p:nvSpPr>
          <p:cNvPr id="11" name="footer-rule-10">
            <a:extLst xmlns:a="http://schemas.openxmlformats.org/drawingml/2006/main">
              <a:ext uri="{FF2B5EF4-FFF2-40B4-BE49-F238E27FC236}">
                <a16:creationId xmlns:a16="http://schemas.microsoft.com/office/drawing/2014/main" id="{CB6A061F-04E6-4C99-9EF5-390EAFFF5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footer-label-10">
            <a:extLst xmlns:a="http://schemas.openxmlformats.org/drawingml/2006/main">
              <a:ext uri="{FF2B5EF4-FFF2-40B4-BE49-F238E27FC236}">
                <a16:creationId xmlns:a16="http://schemas.microsoft.com/office/drawing/2014/main" id="{1F8A6EFA-D5D6-43A6-9939-6FB07ADEA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523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61758A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61758A"/>
                </a:solidFill>
                <a:latin typeface="Tahoma"/>
                <a:ea typeface="Tahoma"/>
                <a:cs typeface="Tahoma"/>
              </a:rPr>
              <a:t>MSU EVA  •  ภาคเช้า สายวิชาการ</a:t>
            </a:r>
          </a:p>
        </p:txBody>
      </p:sp>
      <p:sp>
        <p:nvSpPr>
          <p:cNvPr id="13" name="footer-page-10">
            <a:extLst xmlns:a="http://schemas.openxmlformats.org/drawingml/2006/main">
              <a:ext uri="{FF2B5EF4-FFF2-40B4-BE49-F238E27FC236}">
                <a16:creationId xmlns:a16="http://schemas.microsoft.com/office/drawing/2014/main" id="{FF4649A2-3358-4BD9-B674-98BA63470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53200"/>
            <a:ext cx="1104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4356C7"/>
                </a:solidFill>
                <a:latin typeface="Tahoma"/>
                <a:ea typeface="Tahoma"/>
                <a:cs typeface="Tahoma"/>
              </a:defRPr>
            </a:pPr>
            <a:r>
              <a:rPr sz="975" b="1">
                <a:solidFill>
                  <a:srgbClr val="4356C7"/>
                </a:solidFill>
                <a:latin typeface="Tahoma"/>
                <a:ea typeface="Tahoma"/>
                <a:cs typeface="Tahoma"/>
              </a:rPr>
              <a:t>10 / 14</a:t>
            </a:r>
          </a:p>
        </p:txBody>
      </p:sp>
    </p:spTree>
    <p:extLst>
      <p:ext uri="{BB962C8B-B14F-4D97-AF65-F5344CB8AC3E}">
        <p14:creationId xmlns:p14="http://schemas.microsoft.com/office/powerpoint/2010/main" val="6355665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side-accent-11">
            <a:extLst xmlns:a="http://schemas.openxmlformats.org/drawingml/2006/main">
              <a:ext uri="{FF2B5EF4-FFF2-40B4-BE49-F238E27FC236}">
                <a16:creationId xmlns:a16="http://schemas.microsoft.com/office/drawing/2014/main" id="{BC465D4C-67C7-4FF4-86D6-4353EF274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356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kicker-11">
            <a:extLst xmlns:a="http://schemas.openxmlformats.org/drawingml/2006/main">
              <a:ext uri="{FF2B5EF4-FFF2-40B4-BE49-F238E27FC236}">
                <a16:creationId xmlns:a16="http://schemas.microsoft.com/office/drawing/2014/main" id="{721A65CD-A226-49C1-9109-01ABD8444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4356C7"/>
                </a:solidFill>
                <a:latin typeface="Tahoma"/>
                <a:ea typeface="Tahoma"/>
                <a:cs typeface="Tahoma"/>
              </a:defRPr>
            </a:pPr>
            <a:r>
              <a:rPr sz="1125" b="1">
                <a:solidFill>
                  <a:srgbClr val="4356C7"/>
                </a:solidFill>
                <a:latin typeface="Tahoma"/>
                <a:ea typeface="Tahoma"/>
                <a:cs typeface="Tahoma"/>
              </a:rPr>
              <a:t>หลังจากส่ง  /  สายวิชาการ</a:t>
            </a:r>
          </a:p>
        </p:txBody>
      </p:sp>
      <p:sp>
        <p:nvSpPr>
          <p:cNvPr id="3" name="title-11">
            <a:extLst xmlns:a="http://schemas.openxmlformats.org/drawingml/2006/main">
              <a:ext uri="{FF2B5EF4-FFF2-40B4-BE49-F238E27FC236}">
                <a16:creationId xmlns:a16="http://schemas.microsoft.com/office/drawing/2014/main" id="{3E1BDD73-C2C4-42DD-AB68-64BFA9D65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668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075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3075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ผู้ประเมินแต่ละลำดับตรวจ ให้คะแนน และส่งต่องาน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4915F3-58E3-4959-A21D-90217B638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486150"/>
            <a:ext cx="8801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1FF45B-9540-4753-98F2-FFD369DBE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048000"/>
            <a:ext cx="895350" cy="895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56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432675-0609-4858-A74A-C47691153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295650"/>
            <a:ext cx="895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210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81D07B-0D42-48C6-8B2B-D107593EC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10050"/>
            <a:ext cx="2114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2100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ตรวจ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4A8452-696D-4196-9C24-3973D7620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05350"/>
            <a:ext cx="22288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0">
                <a:solidFill>
                  <a:srgbClr val="61758A"/>
                </a:solidFill>
                <a:latin typeface="Tahoma"/>
                <a:ea typeface="Tahoma"/>
                <a:cs typeface="Tahoma"/>
              </a:defRPr>
            </a:pPr>
            <a:r>
              <a:rPr sz="1425" b="0">
                <a:solidFill>
                  <a:srgbClr val="61758A"/>
                </a:solidFill>
                <a:latin typeface="Tahoma"/>
                <a:ea typeface="Tahoma"/>
                <a:cs typeface="Tahoma"/>
              </a:rPr>
              <a:t>ข้อมูลและหลักฐาน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40107B-8153-4E1D-A5D5-09A4B7347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048000"/>
            <a:ext cx="895350" cy="895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56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58D037-197C-473B-A81A-9FF38D734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295650"/>
            <a:ext cx="895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210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8A44FB-D8A6-4238-8DC0-9170E8DCE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210050"/>
            <a:ext cx="2114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2100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ให้ผล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D37053-1A27-48F7-AA20-ADD92331C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705350"/>
            <a:ext cx="22288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0">
                <a:solidFill>
                  <a:srgbClr val="61758A"/>
                </a:solidFill>
                <a:latin typeface="Tahoma"/>
                <a:ea typeface="Tahoma"/>
                <a:cs typeface="Tahoma"/>
              </a:defRPr>
            </a:pPr>
            <a:r>
              <a:rPr sz="1425" b="0">
                <a:solidFill>
                  <a:srgbClr val="61758A"/>
                </a:solidFill>
                <a:latin typeface="Tahoma"/>
                <a:ea typeface="Tahoma"/>
                <a:cs typeface="Tahoma"/>
              </a:rPr>
              <a:t>คะแนนหรือความเห็น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A75F03-F015-486F-9218-B39FDB9BF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048000"/>
            <a:ext cx="895350" cy="895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56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FF1248F-E0FB-46F3-87EC-E2321146D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295650"/>
            <a:ext cx="895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210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6C3F80-1797-4841-A4AF-62FA34F75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210050"/>
            <a:ext cx="2114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2100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ส่งต่อ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8C2386-919E-4C67-B84F-DDF2255D0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705350"/>
            <a:ext cx="22288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0">
                <a:solidFill>
                  <a:srgbClr val="61758A"/>
                </a:solidFill>
                <a:latin typeface="Tahoma"/>
                <a:ea typeface="Tahoma"/>
                <a:cs typeface="Tahoma"/>
              </a:defRPr>
            </a:pPr>
            <a:r>
              <a:rPr sz="1425" b="0">
                <a:solidFill>
                  <a:srgbClr val="61758A"/>
                </a:solidFill>
                <a:latin typeface="Tahoma"/>
                <a:ea typeface="Tahoma"/>
                <a:cs typeface="Tahoma"/>
              </a:rPr>
              <a:t>ไปยังผู้ตรวจลำดับถัดไป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0C58AD3-4C6C-471B-B7ED-9D691AB04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048000"/>
            <a:ext cx="895350" cy="895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9A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9B64547-6A3A-48BF-B761-2CD322163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295650"/>
            <a:ext cx="895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210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BAC086B-8265-43F2-B713-50B4872C0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210050"/>
            <a:ext cx="2114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2100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ปิดงาน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A16EB7C-0963-4B73-8D79-C22246619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705350"/>
            <a:ext cx="22288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0">
                <a:solidFill>
                  <a:srgbClr val="61758A"/>
                </a:solidFill>
                <a:latin typeface="Tahoma"/>
                <a:ea typeface="Tahoma"/>
                <a:cs typeface="Tahoma"/>
              </a:defRPr>
            </a:pPr>
            <a:r>
              <a:rPr sz="1425" b="0">
                <a:solidFill>
                  <a:srgbClr val="61758A"/>
                </a:solidFill>
                <a:latin typeface="Tahoma"/>
                <a:ea typeface="Tahoma"/>
                <a:cs typeface="Tahoma"/>
              </a:rPr>
              <a:t>เมื่อเป็นผู้ตรวจคนสุดท้าย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D0F1C94-FF4B-4E67-80A8-3524D5FB0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95950"/>
            <a:ext cx="838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283887"/>
                </a:solidFill>
                <a:latin typeface="Tahoma"/>
                <a:ea typeface="Tahoma"/>
                <a:cs typeface="Tahoma"/>
              </a:defRPr>
            </a:pPr>
            <a:r>
              <a:rPr sz="1575" b="1">
                <a:solidFill>
                  <a:srgbClr val="283887"/>
                </a:solidFill>
                <a:latin typeface="Tahoma"/>
                <a:ea typeface="Tahoma"/>
                <a:cs typeface="Tahoma"/>
              </a:rPr>
              <a:t>จำนวนและบทบาทของผู้ตรวจอาจต่างกันในแต่ละงาน</a:t>
            </a:r>
          </a:p>
        </p:txBody>
      </p:sp>
      <p:sp>
        <p:nvSpPr>
          <p:cNvPr id="22" name="footer-rule-11">
            <a:extLst xmlns:a="http://schemas.openxmlformats.org/drawingml/2006/main">
              <a:ext uri="{FF2B5EF4-FFF2-40B4-BE49-F238E27FC236}">
                <a16:creationId xmlns:a16="http://schemas.microsoft.com/office/drawing/2014/main" id="{99815EA5-B04A-4D27-9584-0E4863EA4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footer-label-11">
            <a:extLst xmlns:a="http://schemas.openxmlformats.org/drawingml/2006/main">
              <a:ext uri="{FF2B5EF4-FFF2-40B4-BE49-F238E27FC236}">
                <a16:creationId xmlns:a16="http://schemas.microsoft.com/office/drawing/2014/main" id="{9BEF2A86-9A2B-47A5-B462-BA2B5EF7C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523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61758A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61758A"/>
                </a:solidFill>
                <a:latin typeface="Tahoma"/>
                <a:ea typeface="Tahoma"/>
                <a:cs typeface="Tahoma"/>
              </a:rPr>
              <a:t>MSU EVA  •  ภาคเช้า สายวิชาการ</a:t>
            </a:r>
          </a:p>
        </p:txBody>
      </p:sp>
      <p:sp>
        <p:nvSpPr>
          <p:cNvPr id="24" name="footer-page-11">
            <a:extLst xmlns:a="http://schemas.openxmlformats.org/drawingml/2006/main">
              <a:ext uri="{FF2B5EF4-FFF2-40B4-BE49-F238E27FC236}">
                <a16:creationId xmlns:a16="http://schemas.microsoft.com/office/drawing/2014/main" id="{4A01E5E3-8BA9-4B6F-B1B9-1C2B32B14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53200"/>
            <a:ext cx="1104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4356C7"/>
                </a:solidFill>
                <a:latin typeface="Tahoma"/>
                <a:ea typeface="Tahoma"/>
                <a:cs typeface="Tahoma"/>
              </a:defRPr>
            </a:pPr>
            <a:r>
              <a:rPr sz="975" b="1">
                <a:solidFill>
                  <a:srgbClr val="4356C7"/>
                </a:solidFill>
                <a:latin typeface="Tahoma"/>
                <a:ea typeface="Tahoma"/>
                <a:cs typeface="Tahoma"/>
              </a:rPr>
              <a:t>11 / 14</a:t>
            </a:r>
          </a:p>
        </p:txBody>
      </p:sp>
    </p:spTree>
    <p:extLst>
      <p:ext uri="{BB962C8B-B14F-4D97-AF65-F5344CB8AC3E}">
        <p14:creationId xmlns:p14="http://schemas.microsoft.com/office/powerpoint/2010/main" val="26934927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57A530-5457-48EF-A715-9EEADE099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9A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4DF5ED-451A-47F0-8B8A-15069EBDC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340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C79A2B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C79A2B"/>
                </a:solidFill>
                <a:latin typeface="Tahoma"/>
                <a:ea typeface="Tahoma"/>
                <a:cs typeface="Tahoma"/>
              </a:rPr>
              <a:t>สถานะสุดท้าย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0D0474-68B0-4254-B623-8B7DF76BE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66675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67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3675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ผู้ตรวจลำดับสุดท้าย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367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3675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รับรองจนสถานะเป็น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4746B1-11A7-4A80-9147-F18979DF4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76600"/>
            <a:ext cx="70485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150" b="1">
                <a:solidFill>
                  <a:srgbClr val="AEB8FF"/>
                </a:solidFill>
                <a:latin typeface="Tahoma"/>
                <a:ea typeface="Tahoma"/>
                <a:cs typeface="Tahoma"/>
              </a:defRPr>
            </a:pPr>
            <a:r>
              <a:rPr sz="6150" b="1">
                <a:solidFill>
                  <a:srgbClr val="AEB8FF"/>
                </a:solidFill>
                <a:latin typeface="Tahoma"/>
                <a:ea typeface="Tahoma"/>
                <a:cs typeface="Tahoma"/>
              </a:rPr>
              <a:t>Completed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9C407F-2E5E-4218-B25E-17F4B4C10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428750"/>
            <a:ext cx="3524250" cy="3352800"/>
          </a:xfrm>
          <a:prstGeom xmlns:a="http://schemas.openxmlformats.org/drawingml/2006/main" prst="roundRect">
            <a:avLst>
              <a:gd name="adj" fmla="val 2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E4A1C3-2EDB-481E-9C7F-73904289A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809750"/>
            <a:ext cx="2800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4356C7"/>
                </a:solidFill>
                <a:latin typeface="Tahoma"/>
                <a:ea typeface="Tahoma"/>
                <a:cs typeface="Tahoma"/>
              </a:defRPr>
            </a:pPr>
            <a:r>
              <a:rPr sz="1500" b="1">
                <a:solidFill>
                  <a:srgbClr val="4356C7"/>
                </a:solidFill>
                <a:latin typeface="Tahoma"/>
                <a:ea typeface="Tahoma"/>
                <a:cs typeface="Tahoma"/>
              </a:rPr>
              <a:t>จำไว้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0586BF-6999-4D26-B5A6-AECB7737B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400300"/>
            <a:ext cx="28003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325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2325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ผู้ปิดงานไม่จำเป็นต้องเป็นบทบาทเดิมเสมอไป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3C5183-363D-42BA-A694-650225423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867150"/>
            <a:ext cx="28003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61758A"/>
                </a:solidFill>
                <a:latin typeface="Tahoma"/>
                <a:ea typeface="Tahoma"/>
                <a:cs typeface="Tahoma"/>
              </a:defRPr>
            </a:pPr>
            <a:r>
              <a:rPr sz="1575" b="0">
                <a:solidFill>
                  <a:srgbClr val="61758A"/>
                </a:solidFill>
                <a:latin typeface="Tahoma"/>
                <a:ea typeface="Tahoma"/>
                <a:cs typeface="Tahoma"/>
              </a:rPr>
              <a:t>ให้ดู “ลำดับผู้ตรวจ”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61758A"/>
                </a:solidFill>
                <a:latin typeface="Tahoma"/>
                <a:ea typeface="Tahoma"/>
                <a:cs typeface="Tahoma"/>
              </a:defRPr>
            </a:pPr>
            <a:r>
              <a:rPr sz="1575" b="0">
                <a:solidFill>
                  <a:srgbClr val="61758A"/>
                </a:solidFill>
                <a:latin typeface="Tahoma"/>
                <a:ea typeface="Tahoma"/>
                <a:cs typeface="Tahoma"/>
              </a:rPr>
              <a:t>ที่กำหนดกับงานนั้น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85052E-E590-4A77-BC65-2F8EB060B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22935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B8C5D1"/>
                </a:solidFill>
                <a:latin typeface="Tahoma"/>
                <a:ea typeface="Tahoma"/>
                <a:cs typeface="Tahoma"/>
              </a:defRPr>
            </a:pPr>
            <a:r>
              <a:rPr sz="1050" b="0">
                <a:solidFill>
                  <a:srgbClr val="B8C5D1"/>
                </a:solidFill>
                <a:latin typeface="Tahoma"/>
                <a:ea typeface="Tahoma"/>
                <a:cs typeface="Tahoma"/>
              </a:rPr>
              <a:t>MSU EVA  •  สายวิชาการ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B0121D-E6D1-4CF3-B5F7-88304F175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229350"/>
            <a:ext cx="1104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1">
                <a:solidFill>
                  <a:srgbClr val="C79A2B"/>
                </a:solidFill>
                <a:latin typeface="Tahoma"/>
                <a:ea typeface="Tahoma"/>
                <a:cs typeface="Tahoma"/>
              </a:defRPr>
            </a:pPr>
            <a:r>
              <a:rPr sz="1050" b="1">
                <a:solidFill>
                  <a:srgbClr val="C79A2B"/>
                </a:solidFill>
                <a:latin typeface="Tahoma"/>
                <a:ea typeface="Tahoma"/>
                <a:cs typeface="Tahoma"/>
              </a:rPr>
              <a:t>12 / 14</a:t>
            </a:r>
          </a:p>
        </p:txBody>
      </p:sp>
    </p:spTree>
    <p:extLst>
      <p:ext uri="{BB962C8B-B14F-4D97-AF65-F5344CB8AC3E}">
        <p14:creationId xmlns:p14="http://schemas.microsoft.com/office/powerpoint/2010/main" val="73437271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side-accent-13">
            <a:extLst xmlns:a="http://schemas.openxmlformats.org/drawingml/2006/main">
              <a:ext uri="{FF2B5EF4-FFF2-40B4-BE49-F238E27FC236}">
                <a16:creationId xmlns:a16="http://schemas.microsoft.com/office/drawing/2014/main" id="{2EFFAD11-6BB6-4741-BCBD-B2EDD4F6B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356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kicker-13">
            <a:extLst xmlns:a="http://schemas.openxmlformats.org/drawingml/2006/main">
              <a:ext uri="{FF2B5EF4-FFF2-40B4-BE49-F238E27FC236}">
                <a16:creationId xmlns:a16="http://schemas.microsoft.com/office/drawing/2014/main" id="{E135111A-C18B-4AB1-B35F-7ED40E5D7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4356C7"/>
                </a:solidFill>
                <a:latin typeface="Tahoma"/>
                <a:ea typeface="Tahoma"/>
                <a:cs typeface="Tahoma"/>
              </a:defRPr>
            </a:pPr>
            <a:r>
              <a:rPr sz="1125" b="1">
                <a:solidFill>
                  <a:srgbClr val="4356C7"/>
                </a:solidFill>
                <a:latin typeface="Tahoma"/>
                <a:ea typeface="Tahoma"/>
                <a:cs typeface="Tahoma"/>
              </a:rPr>
              <a:t>ภารกิจฝึกปฏิบัติ  /  สายวิชาการ</a:t>
            </a:r>
          </a:p>
        </p:txBody>
      </p:sp>
      <p:sp>
        <p:nvSpPr>
          <p:cNvPr id="3" name="title-13">
            <a:extLst xmlns:a="http://schemas.openxmlformats.org/drawingml/2006/main">
              <a:ext uri="{FF2B5EF4-FFF2-40B4-BE49-F238E27FC236}">
                <a16:creationId xmlns:a16="http://schemas.microsoft.com/office/drawing/2014/main" id="{73E4F58F-D945-460D-9D5E-C93CB1086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668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075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3075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ภารกิจทดลอง: ทำหนึ่งรายการให้ครบและตรวจความพร้อมก่อนส่ง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F21A1B-23F5-4132-8613-3EE805B2D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838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61758A"/>
                </a:solidFill>
                <a:latin typeface="Tahoma"/>
                <a:ea typeface="Tahoma"/>
                <a:cs typeface="Tahoma"/>
              </a:defRPr>
            </a:pPr>
            <a:r>
              <a:rPr sz="1725" b="0">
                <a:solidFill>
                  <a:srgbClr val="61758A"/>
                </a:solidFill>
                <a:latin typeface="Tahoma"/>
                <a:ea typeface="Tahoma"/>
                <a:cs typeface="Tahoma"/>
              </a:rPr>
              <a:t>ทำตามลำดับ แล้วเรียกวิทยากรตรวจเมื่อครบ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D17F6B-ABDB-4270-9634-DEEAAC6D3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241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56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BC1086-8B2E-46D1-99E8-7042F5303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09875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65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5866D6-0AB2-4DAF-82D9-74BE2D7C0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705100"/>
            <a:ext cx="4191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1800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เลือกรายการที่กำหนด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5C8B38-2E3B-4B35-9234-01AB007BB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7241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56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ABC79C-F96F-461C-97EC-F41837ACC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809875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65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6F305A-93EA-404D-9360-AE787BD4B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705100"/>
            <a:ext cx="4191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1800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กรอกข้อมูลปริมาณ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A505DB-2094-48A4-BBF9-9C90B4A9F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243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56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E3CBAB-459C-485C-818E-D5113CF7D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10025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65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57C94C-A864-4DBD-B68B-931E16280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905250"/>
            <a:ext cx="4191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1800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เติมคุณภาพและหลักฐาน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11C7D2-2B53-440D-A5EB-11A49BD57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9243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9A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F08B62-21B9-45EF-A01D-93E4DBA19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10025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65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15E1FF1-C25C-4104-848C-FCE646CC7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905250"/>
            <a:ext cx="4191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1800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ตรวจแล้วบันทึกร่าง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4BB6DA3-46CD-47E9-BFE1-74AFFBB46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67350"/>
            <a:ext cx="109728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E9EC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09E7C3E-E73B-4ED5-93E0-FC133F5EE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19750"/>
            <a:ext cx="10515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>
                <a:solidFill>
                  <a:srgbClr val="283887"/>
                </a:solidFill>
                <a:latin typeface="Tahoma"/>
                <a:ea typeface="Tahoma"/>
                <a:cs typeface="Tahoma"/>
              </a:defRPr>
            </a:pPr>
            <a:r>
              <a:rPr sz="1575" b="1">
                <a:solidFill>
                  <a:srgbClr val="283887"/>
                </a:solidFill>
                <a:latin typeface="Tahoma"/>
                <a:ea typeface="Tahoma"/>
                <a:cs typeface="Tahoma"/>
              </a:rPr>
              <a:t>ผ่านเมื่อ: ข้อมูลครบ • หลักฐานเปิดได้ • พร้อมอธิบายที่มาของคะแนน</a:t>
            </a:r>
          </a:p>
        </p:txBody>
      </p:sp>
      <p:sp>
        <p:nvSpPr>
          <p:cNvPr id="19" name="footer-rule-13">
            <a:extLst xmlns:a="http://schemas.openxmlformats.org/drawingml/2006/main">
              <a:ext uri="{FF2B5EF4-FFF2-40B4-BE49-F238E27FC236}">
                <a16:creationId xmlns:a16="http://schemas.microsoft.com/office/drawing/2014/main" id="{C6645F94-BF1A-402F-AF17-02D4FA594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footer-label-13">
            <a:extLst xmlns:a="http://schemas.openxmlformats.org/drawingml/2006/main">
              <a:ext uri="{FF2B5EF4-FFF2-40B4-BE49-F238E27FC236}">
                <a16:creationId xmlns:a16="http://schemas.microsoft.com/office/drawing/2014/main" id="{8B89B2C0-143F-4F39-86FA-F9FB5678D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523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61758A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61758A"/>
                </a:solidFill>
                <a:latin typeface="Tahoma"/>
                <a:ea typeface="Tahoma"/>
                <a:cs typeface="Tahoma"/>
              </a:rPr>
              <a:t>MSU EVA  •  ภาคเช้า สายวิชาการ</a:t>
            </a:r>
          </a:p>
        </p:txBody>
      </p:sp>
      <p:sp>
        <p:nvSpPr>
          <p:cNvPr id="21" name="footer-page-13">
            <a:extLst xmlns:a="http://schemas.openxmlformats.org/drawingml/2006/main">
              <a:ext uri="{FF2B5EF4-FFF2-40B4-BE49-F238E27FC236}">
                <a16:creationId xmlns:a16="http://schemas.microsoft.com/office/drawing/2014/main" id="{34793A1B-1383-4E5E-B98E-8E05F9D5D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53200"/>
            <a:ext cx="1104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4356C7"/>
                </a:solidFill>
                <a:latin typeface="Tahoma"/>
                <a:ea typeface="Tahoma"/>
                <a:cs typeface="Tahoma"/>
              </a:defRPr>
            </a:pPr>
            <a:r>
              <a:rPr sz="975" b="1">
                <a:solidFill>
                  <a:srgbClr val="4356C7"/>
                </a:solidFill>
                <a:latin typeface="Tahoma"/>
                <a:ea typeface="Tahoma"/>
                <a:cs typeface="Tahoma"/>
              </a:rPr>
              <a:t>13 / 14</a:t>
            </a:r>
          </a:p>
        </p:txBody>
      </p:sp>
    </p:spTree>
    <p:extLst>
      <p:ext uri="{BB962C8B-B14F-4D97-AF65-F5344CB8AC3E}">
        <p14:creationId xmlns:p14="http://schemas.microsoft.com/office/powerpoint/2010/main" val="70325225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side-accent-14">
            <a:extLst xmlns:a="http://schemas.openxmlformats.org/drawingml/2006/main">
              <a:ext uri="{FF2B5EF4-FFF2-40B4-BE49-F238E27FC236}">
                <a16:creationId xmlns:a16="http://schemas.microsoft.com/office/drawing/2014/main" id="{767D3164-38F8-46C1-879B-D9FDEBCBC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356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kicker-14">
            <a:extLst xmlns:a="http://schemas.openxmlformats.org/drawingml/2006/main">
              <a:ext uri="{FF2B5EF4-FFF2-40B4-BE49-F238E27FC236}">
                <a16:creationId xmlns:a16="http://schemas.microsoft.com/office/drawing/2014/main" id="{C04B4FE0-5143-4C3F-81B1-F27A548DD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4356C7"/>
                </a:solidFill>
                <a:latin typeface="Tahoma"/>
                <a:ea typeface="Tahoma"/>
                <a:cs typeface="Tahoma"/>
              </a:defRPr>
            </a:pPr>
            <a:r>
              <a:rPr sz="1125" b="1">
                <a:solidFill>
                  <a:srgbClr val="4356C7"/>
                </a:solidFill>
                <a:latin typeface="Tahoma"/>
                <a:ea typeface="Tahoma"/>
                <a:cs typeface="Tahoma"/>
              </a:rPr>
              <a:t>แก้ปัญหาเบื้องต้น  /  สายวิชาการ</a:t>
            </a:r>
          </a:p>
        </p:txBody>
      </p:sp>
      <p:sp>
        <p:nvSpPr>
          <p:cNvPr id="3" name="title-14">
            <a:extLst xmlns:a="http://schemas.openxmlformats.org/drawingml/2006/main">
              <a:ext uri="{FF2B5EF4-FFF2-40B4-BE49-F238E27FC236}">
                <a16:creationId xmlns:a16="http://schemas.microsoft.com/office/drawing/2014/main" id="{2A4CE413-8241-4E1D-A0F0-DF5F4C732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668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075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3075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หากติดขัด ให้ตรวจสถานะ สิทธิ์ และข้อมูลบังคับก่อน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31516A-AF5D-452D-B7C7-FB148D984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609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4356C7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4356C7"/>
                </a:solidFill>
                <a:latin typeface="Tahoma"/>
                <a:ea typeface="Tahoma"/>
                <a:cs typeface="Tahoma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247135-B13A-4EC5-B7DA-B7FC73662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076450"/>
            <a:ext cx="2800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งานไม่ปรากฏ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E5EB18-0522-4B43-8D7A-FDB492B11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114550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0">
                <a:solidFill>
                  <a:srgbClr val="61758A"/>
                </a:solidFill>
                <a:latin typeface="Tahoma"/>
                <a:ea typeface="Tahoma"/>
                <a:cs typeface="Tahoma"/>
              </a:defRPr>
            </a:pPr>
            <a:r>
              <a:rPr sz="1575" b="0">
                <a:solidFill>
                  <a:srgbClr val="61758A"/>
                </a:solidFill>
                <a:latin typeface="Tahoma"/>
                <a:ea typeface="Tahoma"/>
                <a:cs typeface="Tahoma"/>
              </a:rPr>
              <a:t>ตรวจรอบประเมิน บทบาท และงานที่ได้รับมอบหมาย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982DA2-65C4-41BF-A3D0-690B9C837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705100"/>
            <a:ext cx="9867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AF3D2B-E578-4AAD-BB82-A554FE225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90850"/>
            <a:ext cx="609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4356C7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4356C7"/>
                </a:solidFill>
                <a:latin typeface="Tahoma"/>
                <a:ea typeface="Tahoma"/>
                <a:cs typeface="Tahoma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108FB0-6B5F-49FB-A94E-923804ED3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952750"/>
            <a:ext cx="2800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ปุ่มใช้งานไม่ได้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FC1493-B72C-4F13-A591-909DCA85B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990850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0">
                <a:solidFill>
                  <a:srgbClr val="61758A"/>
                </a:solidFill>
                <a:latin typeface="Tahoma"/>
                <a:ea typeface="Tahoma"/>
                <a:cs typeface="Tahoma"/>
              </a:defRPr>
            </a:pPr>
            <a:r>
              <a:rPr sz="1575" b="0">
                <a:solidFill>
                  <a:srgbClr val="61758A"/>
                </a:solidFill>
                <a:latin typeface="Tahoma"/>
                <a:ea typeface="Tahoma"/>
                <a:cs typeface="Tahoma"/>
              </a:rPr>
              <a:t>ตรวจสถานะปัจจุบันและสิทธิ์ของบทบาท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29D5FD-60B7-4346-99B7-9E903AB1E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581400"/>
            <a:ext cx="9867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F7D185-6289-4E60-AE5C-B91018679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67150"/>
            <a:ext cx="609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4356C7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4356C7"/>
                </a:solidFill>
                <a:latin typeface="Tahoma"/>
                <a:ea typeface="Tahoma"/>
                <a:cs typeface="Tahoma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03C5D1-4CE9-48F1-ACA1-0EC0D7F66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829050"/>
            <a:ext cx="2800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บันทึกหรือส่งไม่ได้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956D138-143E-4695-AA00-92D4D89DC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867150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0">
                <a:solidFill>
                  <a:srgbClr val="61758A"/>
                </a:solidFill>
                <a:latin typeface="Tahoma"/>
                <a:ea typeface="Tahoma"/>
                <a:cs typeface="Tahoma"/>
              </a:defRPr>
            </a:pPr>
            <a:r>
              <a:rPr sz="1575" b="0">
                <a:solidFill>
                  <a:srgbClr val="61758A"/>
                </a:solidFill>
                <a:latin typeface="Tahoma"/>
                <a:ea typeface="Tahoma"/>
                <a:cs typeface="Tahoma"/>
              </a:rPr>
              <a:t>ตรวจช่องบังคับ ค่าตัวเลข และลิงก์หลักฐาน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FB9B1C-8855-4B1E-B9F7-C1CD58E0E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457700"/>
            <a:ext cx="9867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5A98E0-F764-45E1-A334-351E0B836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43450"/>
            <a:ext cx="609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C79A2B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C79A2B"/>
                </a:solidFill>
                <a:latin typeface="Tahoma"/>
                <a:ea typeface="Tahoma"/>
                <a:cs typeface="Tahoma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FD6E8C8-2032-4ECC-8CBC-DAA4F2B83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705350"/>
            <a:ext cx="2800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ยังแก้ไม่ได้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3854C3F-0C99-4D2E-BA75-7BEB46F58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743450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0">
                <a:solidFill>
                  <a:srgbClr val="61758A"/>
                </a:solidFill>
                <a:latin typeface="Tahoma"/>
                <a:ea typeface="Tahoma"/>
                <a:cs typeface="Tahoma"/>
              </a:defRPr>
            </a:pPr>
            <a:r>
              <a:rPr sz="1575" b="0">
                <a:solidFill>
                  <a:srgbClr val="61758A"/>
                </a:solidFill>
                <a:latin typeface="Tahoma"/>
                <a:ea typeface="Tahoma"/>
                <a:cs typeface="Tahoma"/>
              </a:rPr>
              <a:t>จดชื่อรายการและสถานะ แล้วติดต่อผู้ดูแลระบบ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32354CC-FB82-4018-AACC-0571D75E1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34050"/>
            <a:ext cx="7239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9EC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216A3AB-6E8D-4147-9139-FADA4AD85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838825"/>
            <a:ext cx="685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283887"/>
                </a:solidFill>
                <a:latin typeface="Tahoma"/>
                <a:ea typeface="Tahoma"/>
                <a:cs typeface="Tahoma"/>
              </a:defRPr>
            </a:pPr>
            <a:r>
              <a:rPr sz="1425" b="1">
                <a:solidFill>
                  <a:srgbClr val="283887"/>
                </a:solidFill>
                <a:latin typeface="Tahoma"/>
                <a:ea typeface="Tahoma"/>
                <a:cs typeface="Tahoma"/>
              </a:rPr>
              <a:t>คู่มือผู้ใช้ • ผู้ดูแลระบบของหน่วยงาน</a:t>
            </a:r>
          </a:p>
        </p:txBody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7d631f9fc64e43"/>
          <a:stretch xmlns:a="http://schemas.openxmlformats.org/drawingml/2006/main"/>
        </p:blipFill>
        <p:spPr>
          <a:xfrm xmlns:a="http://schemas.openxmlformats.org/drawingml/2006/main">
            <a:off x="9018037" y="5638800"/>
            <a:ext cx="2309327" cy="628650"/>
          </a:xfrm>
          <a:prstGeom xmlns:a="http://schemas.openxmlformats.org/drawingml/2006/main" prst="rect">
            <a:avLst/>
          </a:prstGeom>
        </p:spPr>
      </p:pic>
      <p:sp>
        <p:nvSpPr>
          <p:cNvPr id="22" name="footer-rule-14">
            <a:extLst xmlns:a="http://schemas.openxmlformats.org/drawingml/2006/main">
              <a:ext uri="{FF2B5EF4-FFF2-40B4-BE49-F238E27FC236}">
                <a16:creationId xmlns:a16="http://schemas.microsoft.com/office/drawing/2014/main" id="{AA1E4CD8-4909-4C80-A8AD-BAB75CD6C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footer-label-14">
            <a:extLst xmlns:a="http://schemas.openxmlformats.org/drawingml/2006/main">
              <a:ext uri="{FF2B5EF4-FFF2-40B4-BE49-F238E27FC236}">
                <a16:creationId xmlns:a16="http://schemas.microsoft.com/office/drawing/2014/main" id="{20D92D34-7B2C-46AD-80B5-D381D16E2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523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61758A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61758A"/>
                </a:solidFill>
                <a:latin typeface="Tahoma"/>
                <a:ea typeface="Tahoma"/>
                <a:cs typeface="Tahoma"/>
              </a:rPr>
              <a:t>MSU EVA  •  ภาคเช้า สายวิชาการ</a:t>
            </a:r>
          </a:p>
        </p:txBody>
      </p:sp>
      <p:sp>
        <p:nvSpPr>
          <p:cNvPr id="24" name="footer-page-14">
            <a:extLst xmlns:a="http://schemas.openxmlformats.org/drawingml/2006/main">
              <a:ext uri="{FF2B5EF4-FFF2-40B4-BE49-F238E27FC236}">
                <a16:creationId xmlns:a16="http://schemas.microsoft.com/office/drawing/2014/main" id="{A95F1AF7-CF08-4333-9C36-1C674F3A2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53200"/>
            <a:ext cx="1104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4356C7"/>
                </a:solidFill>
                <a:latin typeface="Tahoma"/>
                <a:ea typeface="Tahoma"/>
                <a:cs typeface="Tahoma"/>
              </a:defRPr>
            </a:pPr>
            <a:r>
              <a:rPr sz="975" b="1">
                <a:solidFill>
                  <a:srgbClr val="4356C7"/>
                </a:solidFill>
                <a:latin typeface="Tahoma"/>
                <a:ea typeface="Tahoma"/>
                <a:cs typeface="Tahoma"/>
              </a:rPr>
              <a:t>14 / 14</a:t>
            </a:r>
          </a:p>
        </p:txBody>
      </p:sp>
    </p:spTree>
    <p:extLst>
      <p:ext uri="{BB962C8B-B14F-4D97-AF65-F5344CB8AC3E}">
        <p14:creationId xmlns:p14="http://schemas.microsoft.com/office/powerpoint/2010/main" val="179712430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2026-07-24T09:20:09.7110000Z</dcterms:created>
  <dcterms:modified xsi:type="dcterms:W3CDTF">2026-07-24T09:20:09.7110000Z</dcterms:modified>
</coreProperties>
</file>