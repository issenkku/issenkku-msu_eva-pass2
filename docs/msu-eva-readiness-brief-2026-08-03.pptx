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e54c1fcc5947f1" /><Relationship Type="http://schemas.openxmlformats.org/officeDocument/2006/relationships/extended-properties" Target="/docProps/app.xml" Id="R225aa82b94c44b92" /><Relationship Type="http://schemas.openxmlformats.org/officeDocument/2006/relationships/officeDocument" Target="/ppt/presentation.xml" Id="R643608c3e3b34e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6d069eb6854f70"/>
  </p:sldMasterIdLst>
  <p:notesMasterIdLst>
    <p:notesMasterId xmlns:r="http://schemas.openxmlformats.org/officeDocument/2006/relationships" r:id="R415ada6d41a44404"/>
  </p:notesMasterIdLst>
  <p:sldIdLst>
    <p:sldId xmlns:r="http://schemas.openxmlformats.org/officeDocument/2006/relationships" id="256" r:id="Rbb8bb83934664903"/>
    <p:sldId xmlns:r="http://schemas.openxmlformats.org/officeDocument/2006/relationships" id="257" r:id="R51a9f5b7c9b14b86"/>
    <p:sldId xmlns:r="http://schemas.openxmlformats.org/officeDocument/2006/relationships" id="258" r:id="R10d220299a974bc2"/>
    <p:sldId xmlns:r="http://schemas.openxmlformats.org/officeDocument/2006/relationships" id="259" r:id="Rf08750e96dec4eed"/>
    <p:sldId xmlns:r="http://schemas.openxmlformats.org/officeDocument/2006/relationships" id="260" r:id="R02f492d81bb544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488bd9cf094156" /><Relationship Type="http://schemas.openxmlformats.org/officeDocument/2006/relationships/slideMaster" Target="/ppt/slideMasters/slideMaster1.xml" Id="Rf56d069eb6854f70" /><Relationship Type="http://schemas.openxmlformats.org/officeDocument/2006/relationships/notesMaster" Target="/ppt/notesMasters/notesMaster1.xml" Id="R415ada6d41a44404" /><Relationship Type="http://schemas.openxmlformats.org/officeDocument/2006/relationships/presProps" Target="/ppt/presProps.xml" Id="R14aff26f5e0044ab" /><Relationship Type="http://schemas.openxmlformats.org/officeDocument/2006/relationships/tableStyles" Target="/ppt/tableStyles.xml" Id="R04e10e60e909474f" /><Relationship Type="http://schemas.openxmlformats.org/officeDocument/2006/relationships/slide" Target="/ppt/slides/slide1.xml" Id="Rbb8bb83934664903" /><Relationship Type="http://schemas.openxmlformats.org/officeDocument/2006/relationships/slide" Target="/ppt/slides/slide2.xml" Id="R51a9f5b7c9b14b86" /><Relationship Type="http://schemas.openxmlformats.org/officeDocument/2006/relationships/slide" Target="/ppt/slides/slide3.xml" Id="R10d220299a974bc2" /><Relationship Type="http://schemas.openxmlformats.org/officeDocument/2006/relationships/slide" Target="/ppt/slides/slide4.xml" Id="Rf08750e96dec4eed" /><Relationship Type="http://schemas.openxmlformats.org/officeDocument/2006/relationships/slide" Target="/ppt/slides/slide5.xml" Id="R02f492d81bb544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4b002c47a348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b4e63e32534e5f" /><Relationship Type="http://schemas.openxmlformats.org/officeDocument/2006/relationships/notesMaster" Target="/ppt/notesMasters/notesMaster1.xml" Id="Reac3b75b698947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c8448a783143bb" /><Relationship Type="http://schemas.openxmlformats.org/officeDocument/2006/relationships/notesMaster" Target="/ppt/notesMasters/notesMaster1.xml" Id="R22ae572b92b54e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b5148f28f049a3" /><Relationship Type="http://schemas.openxmlformats.org/officeDocument/2006/relationships/notesMaster" Target="/ppt/notesMasters/notesMaster1.xml" Id="Rd6029bf202ac43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fd61a9bd0647f6" /><Relationship Type="http://schemas.openxmlformats.org/officeDocument/2006/relationships/notesMaster" Target="/ppt/notesMasters/notesMaster1.xml" Id="R1a42d447ffa446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fbb68dae5f4259" /><Relationship Type="http://schemas.openxmlformats.org/officeDocument/2006/relationships/notesMaster" Target="/ppt/notesMasters/notesMaster1.xml" Id="Rc5948187d7e946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เปิดด้วยข้อสรุป: ระบบหลักพร้อม แต่ยังต้องปิด test และรวมชุดส่งมอบให้เรียบร้อยก่อนเรียกว่าจบ 100%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 verification on 2026-08-03: git status, npm build, npm test:js, Pest test suite.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สรุปเฉพาะความสามารถหลัก ไม่ลงรายละเอียดทุกหน้าจอ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routes, controllers, services, and automated tests inspected on 2026-08-03.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ย้ำว่า 3 รายการไม่ใช่ build error แต่เป็น assertion ที่คาดให้บังคับหลักฐาน ขณะที่ flow ปัจจุบันอนุญาตข้อมูลไม่ครบ</a:t>
            </a:r>
          </a:p>
          <a:p xmlns:a="http://schemas.openxmlformats.org/drawingml/2006/main">
            <a:r>
              <a:t>การรัน PHP ครั้งแรกชน memory limit 128 MB; รอบ 512 MB จึงรันครบและพบ 3 failures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npm run test:js: 37 passed, 0 failed (2026-08-03).</a:t>
            </a:r>
          </a:p>
          <a:p xmlns:a="http://schemas.openxmlformats.org/drawingml/2006/main">
            <a:r>
              <a:t>- npm run build: successful, 2,902 modules transformed (2026-08-03).</a:t>
            </a:r>
          </a:p>
          <a:p xmlns:a="http://schemas.openxmlformats.org/drawingml/2006/main">
            <a:r>
              <a:t>- php -d memory_limit=512M vendor/bin/pest: 570 passed, 3 failed, 2,839 assertions (2026-08-03).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ใช้สไลด์นี้มอบหมายชื่อจริงระหว่างประชุม หากหัวหน้าต้องการ owner รายบุคคล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git status on 2026-08-03: branch Jui ahead of origin/Jui by 16 commits, with tracked and untracked working-tree changes.</a:t>
            </a:r>
          </a:p>
          <a:p xmlns:a="http://schemas.openxmlformats.org/drawingml/2006/main">
            <a:r>
              <a:t>- Automated verification results shown on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ปิดด้วยเงื่อนไข Go/No-Go ที่ตรวจได้จริง ไม่ใช้คำว่าเสร็จ 100% จนกว่าจะครบทั้งสามข้อ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Deliverable categories inferred from repository contents: source code, migrations/configuration, user/training documents, and deployment scripts.</a:t>
            </a:r>
          </a:p>
          <a:p xmlns:a="http://schemas.openxmlformats.org/drawingml/2006/main">
            <a:r>
              <a:t>- Demo sequence follows the tested multi-role evaluation workflow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e37e9c5e3248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9ce234e72c443e" /><Relationship Type="http://schemas.openxmlformats.org/officeDocument/2006/relationships/slideLayout" Target="/ppt/slideLayouts/slideLayout1.xml" Id="R9c044e4d5d5949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044e4d5d5949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aff812c6844aa" /><Relationship Type="http://schemas.openxmlformats.org/officeDocument/2006/relationships/notesSlide" Target="/ppt/notesSlides/notesSlide1.xml" Id="Rada0e39a41b84c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9caedf80c4291" /><Relationship Type="http://schemas.openxmlformats.org/officeDocument/2006/relationships/notesSlide" Target="/ppt/notesSlides/notesSlide2.xml" Id="R96dc96b3e39e4c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2c0b2dd374869" /><Relationship Type="http://schemas.openxmlformats.org/officeDocument/2006/relationships/notesSlide" Target="/ppt/notesSlides/notesSlide3.xml" Id="R5c9b3f83599947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bc82f172b4aec" /><Relationship Type="http://schemas.openxmlformats.org/officeDocument/2006/relationships/notesSlide" Target="/ppt/notesSlides/notesSlide4.xml" Id="R9f10a59244124b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11391b3de435e" /><Relationship Type="http://schemas.openxmlformats.org/officeDocument/2006/relationships/notesSlide" Target="/ppt/notesSlides/notesSlide5.xml" Id="Rb5716d4077d74f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95425EC-6E56-4E87-B4FA-38457381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MSU EVA · สถานะก่อนส่งมอบ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CFB5F05-B03B-4B3E-A883-2C796F9D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9858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525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ความพร้อมก่อนส่งมอบ</a:t>
            </a:r>
          </a:p>
          <a:p xmlns:a="http://schemas.openxmlformats.org/drawingml/2006/main">
            <a:pPr algn="l">
              <a:defRPr sz="525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525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MSU EVA Phase 2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27AADFC-EBA3-40C7-9C15-B74BB179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95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5C1D44B9-87AC-423B-8CF7-C9712714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628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ระบบหลักพร้อม</a:t>
            </a:r>
          </a:p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เหลือปิดงานสำคัญก่อนส่งพรุ่งนี้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1DCF590A-3A02-4762-9DF5-B34E8A2A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สรุปสำหรับหัวหน้า · 3 สิงหาคม 2569</a:t>
            </a:r>
          </a:p>
        </p:txBody>
      </p:sp>
    </p:spTree>
    <p:extLst>
      <p:ext uri="{BB962C8B-B14F-4D97-AF65-F5344CB8AC3E}">
        <p14:creationId xmlns:p14="http://schemas.microsoft.com/office/powerpoint/2010/main" val="443194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1748B05-8168-4BA9-BA1B-85C204A1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ระบบหลักรองรับขั้นตอนประเมินตั้งแต่ต้นจนจบ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C956729C-A87D-4210-B474-ACC53CC7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B4D2C22A-12A6-46A6-8342-6A40ACA6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4" name="cap-num-0">
            <a:extLst xmlns:a="http://schemas.openxmlformats.org/drawingml/2006/main">
              <a:ext uri="{FF2B5EF4-FFF2-40B4-BE49-F238E27FC236}">
                <a16:creationId xmlns:a16="http://schemas.microsoft.com/office/drawing/2014/main" id="{6FCFD9CE-8D52-4A71-B44E-1E2345F3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9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cap-rule-0">
            <a:extLst xmlns:a="http://schemas.openxmlformats.org/drawingml/2006/main">
              <a:ext uri="{FF2B5EF4-FFF2-40B4-BE49-F238E27FC236}">
                <a16:creationId xmlns:a16="http://schemas.microsoft.com/office/drawing/2014/main" id="{3D652140-0000-460B-B212-76611962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-head-0">
            <a:extLst xmlns:a="http://schemas.openxmlformats.org/drawingml/2006/main">
              <a:ext uri="{FF2B5EF4-FFF2-40B4-BE49-F238E27FC236}">
                <a16:creationId xmlns:a16="http://schemas.microsoft.com/office/drawing/2014/main" id="{7261633F-8DA6-48C1-AEAC-47B9283F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ตั้งค่าและมอบหมาย</a:t>
            </a:r>
          </a:p>
        </p:txBody>
      </p:sp>
      <p:sp>
        <p:nvSpPr>
          <p:cNvPr id="7" name="cap-body-0">
            <a:extLst xmlns:a="http://schemas.openxmlformats.org/drawingml/2006/main">
              <a:ext uri="{FF2B5EF4-FFF2-40B4-BE49-F238E27FC236}">
                <a16:creationId xmlns:a16="http://schemas.microsoft.com/office/drawing/2014/main" id="{9265950B-D13F-4449-B0A8-B3D39A25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3333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• เกณฑ์สายวิชาการ/สายสนับสนุน</a:t>
            </a:r>
          </a:p>
          <a:p xmlns:a="http://schemas.openxmlformats.org/drawingml/2006/main">
            <a:pPr algn="l">
              <a:defRPr sz="1575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• รอบและเวอร์ชันการประเมิน</a:t>
            </a:r>
          </a:p>
          <a:p xmlns:a="http://schemas.openxmlformats.org/drawingml/2006/main">
            <a:pPr algn="l">
              <a:defRPr sz="1575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• ผู้ใช้ บทบาท และผู้ประเมิน</a:t>
            </a:r>
          </a:p>
        </p:txBody>
      </p:sp>
      <p:sp>
        <p:nvSpPr>
          <p:cNvPr id="8" name="cap-num-1">
            <a:extLst xmlns:a="http://schemas.openxmlformats.org/drawingml/2006/main">
              <a:ext uri="{FF2B5EF4-FFF2-40B4-BE49-F238E27FC236}">
                <a16:creationId xmlns:a16="http://schemas.microsoft.com/office/drawing/2014/main" id="{A957F31B-2BBB-4F72-9AF0-972848BB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09750"/>
            <a:ext cx="119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cap-rule-1">
            <a:extLst xmlns:a="http://schemas.openxmlformats.org/drawingml/2006/main">
              <a:ext uri="{FF2B5EF4-FFF2-40B4-BE49-F238E27FC236}">
                <a16:creationId xmlns:a16="http://schemas.microsoft.com/office/drawing/2014/main" id="{CDAD42F8-6128-471E-8E8E-24885B0B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955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p-head-1">
            <a:extLst xmlns:a="http://schemas.openxmlformats.org/drawingml/2006/main">
              <a:ext uri="{FF2B5EF4-FFF2-40B4-BE49-F238E27FC236}">
                <a16:creationId xmlns:a16="http://schemas.microsoft.com/office/drawing/2014/main" id="{95AA9601-42CA-4643-A13B-DC216EC8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622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ประเมินหลายบทบาท</a:t>
            </a:r>
          </a:p>
        </p:txBody>
      </p:sp>
      <p:sp>
        <p:nvSpPr>
          <p:cNvPr id="11" name="cap-body-1">
            <a:extLst xmlns:a="http://schemas.openxmlformats.org/drawingml/2006/main">
              <a:ext uri="{FF2B5EF4-FFF2-40B4-BE49-F238E27FC236}">
                <a16:creationId xmlns:a16="http://schemas.microsoft.com/office/drawing/2014/main" id="{2CA3E137-1226-4C02-890D-BE8AD377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62350"/>
            <a:ext cx="3333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• ผู้รับการประเมินกรอกข้อมูล</a:t>
            </a:r>
          </a:p>
          <a:p xmlns:a="http://schemas.openxmlformats.org/drawingml/2006/main">
            <a:pPr algn="l">
              <a:defRPr sz="1575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• ผู้ประเมิน → ผอ. → ผู้บริหาร</a:t>
            </a:r>
          </a:p>
          <a:p xmlns:a="http://schemas.openxmlformats.org/drawingml/2006/main">
            <a:pPr algn="l">
              <a:defRPr sz="1575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• บันทึกร่าง ส่งต่อ และประวัติคะแนน</a:t>
            </a:r>
          </a:p>
        </p:txBody>
      </p:sp>
      <p:sp>
        <p:nvSpPr>
          <p:cNvPr id="12" name="cap-num-2">
            <a:extLst xmlns:a="http://schemas.openxmlformats.org/drawingml/2006/main">
              <a:ext uri="{FF2B5EF4-FFF2-40B4-BE49-F238E27FC236}">
                <a16:creationId xmlns:a16="http://schemas.microsoft.com/office/drawing/2014/main" id="{3C84AEBA-C4AC-4C03-92D9-5E80F48B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119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cap-rule-2">
            <a:extLst xmlns:a="http://schemas.openxmlformats.org/drawingml/2006/main">
              <a:ext uri="{FF2B5EF4-FFF2-40B4-BE49-F238E27FC236}">
                <a16:creationId xmlns:a16="http://schemas.microsoft.com/office/drawing/2014/main" id="{695F43DA-A50F-4627-8C70-DDCBF43F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p-head-2">
            <a:extLst xmlns:a="http://schemas.openxmlformats.org/drawingml/2006/main">
              <a:ext uri="{FF2B5EF4-FFF2-40B4-BE49-F238E27FC236}">
                <a16:creationId xmlns:a16="http://schemas.microsoft.com/office/drawing/2014/main" id="{BBC7424B-B333-4B85-B958-15390550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ติดตามและออกรายงาน</a:t>
            </a:r>
          </a:p>
        </p:txBody>
      </p:sp>
      <p:sp>
        <p:nvSpPr>
          <p:cNvPr id="15" name="cap-body-2">
            <a:extLst xmlns:a="http://schemas.openxmlformats.org/drawingml/2006/main">
              <a:ext uri="{FF2B5EF4-FFF2-40B4-BE49-F238E27FC236}">
                <a16:creationId xmlns:a16="http://schemas.microsoft.com/office/drawing/2014/main" id="{130371BA-2C2E-4A13-9AC2-6D5C78F8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2350"/>
            <a:ext cx="3333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• Dashboard และตัวกรองสถานะ</a:t>
            </a:r>
          </a:p>
          <a:p xmlns:a="http://schemas.openxmlformats.org/drawingml/2006/main">
            <a:pPr algn="l">
              <a:defRPr sz="1575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• Export รายงานและหลักฐาน</a:t>
            </a:r>
          </a:p>
          <a:p xmlns:a="http://schemas.openxmlformats.org/drawingml/2006/main">
            <a:pPr algn="l">
              <a:defRPr sz="1575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• Audit log และนำเข้ารายวิชา</a:t>
            </a:r>
          </a:p>
        </p:txBody>
      </p:sp>
    </p:spTree>
    <p:extLst>
      <p:ext uri="{BB962C8B-B14F-4D97-AF65-F5344CB8AC3E}">
        <p14:creationId xmlns:p14="http://schemas.microsoft.com/office/powerpoint/2010/main" val="298211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6285A45-EF8A-4AE9-ADCD-E2380378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Build พร้อม แต่ชุดทดสอบยังไม่ปิดครบ 100%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2BF8EA72-C1B8-403F-9719-0A692450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69866C8E-8CEC-4AA9-86B2-7891728F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4" name="status-intro">
            <a:extLst xmlns:a="http://schemas.openxmlformats.org/drawingml/2006/main">
              <a:ext uri="{FF2B5EF4-FFF2-40B4-BE49-F238E27FC236}">
                <a16:creationId xmlns:a16="http://schemas.microsoft.com/office/drawing/2014/main" id="{9669DC90-6D5E-47CD-82A4-A9008D2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ผลตรวจล่าสุดก่อนประชุม</a:t>
            </a:r>
          </a:p>
        </p:txBody>
      </p:sp>
      <p:sp>
        <p:nvSpPr>
          <p:cNvPr id="5" name="metric-panel-0">
            <a:extLst xmlns:a="http://schemas.openxmlformats.org/drawingml/2006/main">
              <a:ext uri="{FF2B5EF4-FFF2-40B4-BE49-F238E27FC236}">
                <a16:creationId xmlns:a16="http://schemas.microsoft.com/office/drawing/2014/main" id="{A996D009-E393-46F2-8173-6ACFD5F9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5623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stat-0">
            <a:extLst xmlns:a="http://schemas.openxmlformats.org/drawingml/2006/main">
              <a:ext uri="{FF2B5EF4-FFF2-40B4-BE49-F238E27FC236}">
                <a16:creationId xmlns:a16="http://schemas.microsoft.com/office/drawing/2014/main" id="{82625369-E36D-4453-833A-EE9BDB29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45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37/37</a:t>
            </a:r>
          </a:p>
        </p:txBody>
      </p:sp>
      <p:sp>
        <p:nvSpPr>
          <p:cNvPr id="7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5321AEF8-98B9-487F-B904-98823C03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JavaScript ผ่านทั้งหมด</a:t>
            </a:r>
          </a:p>
        </p:txBody>
      </p:sp>
      <p:sp>
        <p:nvSpPr>
          <p:cNvPr id="8" name="metric-detail-0">
            <a:extLst xmlns:a="http://schemas.openxmlformats.org/drawingml/2006/main">
              <a:ext uri="{FF2B5EF4-FFF2-40B4-BE49-F238E27FC236}">
                <a16:creationId xmlns:a16="http://schemas.microsoft.com/office/drawing/2014/main" id="{A4FDAA9D-06CB-48F8-AA55-27810CE0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ชุดทดสอบหน้าเว็บและสูตร</a:t>
            </a:r>
          </a:p>
        </p:txBody>
      </p:sp>
      <p:sp>
        <p:nvSpPr>
          <p:cNvPr id="9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855372A7-3E99-4A89-8B21-8E2846D1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38375"/>
            <a:ext cx="35623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77A89F3E-B28E-45C1-BF0B-412DCB7B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479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45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570</a:t>
            </a:r>
          </a:p>
        </p:txBody>
      </p:sp>
      <p:sp>
        <p:nvSpPr>
          <p:cNvPr id="11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2FA7614F-5E58-4939-BC09-5CDF374F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8617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PHP ผ่าน</a:t>
            </a:r>
          </a:p>
        </p:txBody>
      </p:sp>
      <p:sp>
        <p:nvSpPr>
          <p:cNvPr id="12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337BDAFC-24B7-4B80-A54D-C4F82FD0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1624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รวม 2,839 assertions ในรอบล่าสุด</a:t>
            </a:r>
          </a:p>
        </p:txBody>
      </p:sp>
      <p:sp>
        <p:nvSpPr>
          <p:cNvPr id="13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071E29CD-ACD3-4569-9082-2C8D5FF5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35623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247EE52C-C2B4-4D94-8965-5F09C44E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C33A32"/>
                </a:solidFill>
                <a:latin typeface="Tahoma"/>
                <a:ea typeface="Tahoma"/>
                <a:cs typeface="Tahoma"/>
              </a:defRPr>
            </a:pPr>
            <a:r>
              <a:rPr sz="4500" b="1">
                <a:solidFill>
                  <a:srgbClr val="C33A32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4219C7F-578F-4CB1-AF64-994CA8FE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8617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PHP ไม่ผ่าน</a:t>
            </a:r>
          </a:p>
        </p:txBody>
      </p:sp>
      <p:sp>
        <p:nvSpPr>
          <p:cNvPr id="16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39DE6EAB-9CA8-4F74-B0E5-A9333D04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624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ทั้งหมดอยู่ใน requirement หลักฐานเดียวกัน</a:t>
            </a:r>
          </a:p>
        </p:txBody>
      </p:sp>
      <p:sp>
        <p:nvSpPr>
          <p:cNvPr id="17" name="status-bottom-rule">
            <a:extLst xmlns:a="http://schemas.openxmlformats.org/drawingml/2006/main">
              <a:ext uri="{FF2B5EF4-FFF2-40B4-BE49-F238E27FC236}">
                <a16:creationId xmlns:a16="http://schemas.microsoft.com/office/drawing/2014/main" id="{69D2D908-6152-4B9E-842E-88EA698D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tus-bottom">
            <a:extLst xmlns:a="http://schemas.openxmlformats.org/drawingml/2006/main">
              <a:ext uri="{FF2B5EF4-FFF2-40B4-BE49-F238E27FC236}">
                <a16:creationId xmlns:a16="http://schemas.microsoft.com/office/drawing/2014/main" id="{27A4C18C-95EE-4E77-AADE-3DA35C84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Production build สำเร็จ · ความเสี่ยงหลักคือกติกา “ต้องแนบหลักฐานหรือไม่” ยังไม่ตรงกับ test เดิม</a:t>
            </a:r>
          </a:p>
        </p:txBody>
      </p:sp>
    </p:spTree>
    <p:extLst>
      <p:ext uri="{BB962C8B-B14F-4D97-AF65-F5344CB8AC3E}">
        <p14:creationId xmlns:p14="http://schemas.microsoft.com/office/powerpoint/2010/main" val="1596214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947BDCB-1F57-48C1-ABEA-F92E900C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คืนนี้ต้องปิด 4 เรื่องก่อนเรียกว่าพร้อมส่ง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FF2F1D06-8CD7-42D1-BA8A-84780BA5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FE51B4BE-3D93-4627-A9F8-7A287C48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4" name="action-accent-0">
            <a:extLst xmlns:a="http://schemas.openxmlformats.org/drawingml/2006/main">
              <a:ext uri="{FF2B5EF4-FFF2-40B4-BE49-F238E27FC236}">
                <a16:creationId xmlns:a16="http://schemas.microsoft.com/office/drawing/2014/main" id="{2E6E826C-F589-4517-B345-D625BD06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ction-num-0">
            <a:extLst xmlns:a="http://schemas.openxmlformats.org/drawingml/2006/main">
              <a:ext uri="{FF2B5EF4-FFF2-40B4-BE49-F238E27FC236}">
                <a16:creationId xmlns:a16="http://schemas.microsoft.com/office/drawing/2014/main" id="{B8385D03-E997-407E-ACF7-B2788A1A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action-head-0">
            <a:extLst xmlns:a="http://schemas.openxmlformats.org/drawingml/2006/main">
              <a:ext uri="{FF2B5EF4-FFF2-40B4-BE49-F238E27FC236}">
                <a16:creationId xmlns:a16="http://schemas.microsoft.com/office/drawing/2014/main" id="{61733B7F-CE35-4531-8DF8-BE8781A2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ตัดสิน requirement</a:t>
            </a:r>
          </a:p>
        </p:txBody>
      </p:sp>
      <p:sp>
        <p:nvSpPr>
          <p:cNvPr id="7" name="action-body-0">
            <a:extLst xmlns:a="http://schemas.openxmlformats.org/drawingml/2006/main">
              <a:ext uri="{FF2B5EF4-FFF2-40B4-BE49-F238E27FC236}">
                <a16:creationId xmlns:a16="http://schemas.microsoft.com/office/drawing/2014/main" id="{B347F683-BB7A-4F50-B456-83277F1A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หลักฐานสายสนับสนุน</a:t>
            </a:r>
          </a:p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บังคับหรือไม่บังคับ</a:t>
            </a:r>
          </a:p>
        </p:txBody>
      </p:sp>
      <p:sp>
        <p:nvSpPr>
          <p:cNvPr id="8" name="action-owner-0">
            <a:extLst xmlns:a="http://schemas.openxmlformats.org/drawingml/2006/main">
              <a:ext uri="{FF2B5EF4-FFF2-40B4-BE49-F238E27FC236}">
                <a16:creationId xmlns:a16="http://schemas.microsoft.com/office/drawing/2014/main" id="{DD5813D3-B741-4942-B86C-AA3B495B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003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ผู้รับผิดชอบ: ผู้ตัดสิน requirement</a:t>
            </a:r>
          </a:p>
        </p:txBody>
      </p:sp>
      <p:sp>
        <p:nvSpPr>
          <p:cNvPr id="9" name="action-accent-1">
            <a:extLst xmlns:a="http://schemas.openxmlformats.org/drawingml/2006/main">
              <a:ext uri="{FF2B5EF4-FFF2-40B4-BE49-F238E27FC236}">
                <a16:creationId xmlns:a16="http://schemas.microsoft.com/office/drawing/2014/main" id="{6A6244E6-5620-4F12-AE78-56131C46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ction-num-1">
            <a:extLst xmlns:a="http://schemas.openxmlformats.org/drawingml/2006/main">
              <a:ext uri="{FF2B5EF4-FFF2-40B4-BE49-F238E27FC236}">
                <a16:creationId xmlns:a16="http://schemas.microsoft.com/office/drawing/2014/main" id="{946E3E1D-47B3-4348-B767-F711D564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1" name="action-head-1">
            <a:extLst xmlns:a="http://schemas.openxmlformats.org/drawingml/2006/main">
              <a:ext uri="{FF2B5EF4-FFF2-40B4-BE49-F238E27FC236}">
                <a16:creationId xmlns:a16="http://schemas.microsoft.com/office/drawing/2014/main" id="{F9DE0404-D5FD-4901-8C2B-2FEBCDD6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907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ทำ test ให้ตรงกัน</a:t>
            </a:r>
          </a:p>
        </p:txBody>
      </p:sp>
      <p:sp>
        <p:nvSpPr>
          <p:cNvPr id="12" name="action-body-1">
            <a:extLst xmlns:a="http://schemas.openxmlformats.org/drawingml/2006/main">
              <a:ext uri="{FF2B5EF4-FFF2-40B4-BE49-F238E27FC236}">
                <a16:creationId xmlns:a16="http://schemas.microsoft.com/office/drawing/2014/main" id="{05225CC4-A011-4A61-A444-21186C27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860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แก้ test หรือ validation</a:t>
            </a:r>
          </a:p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ใน 3 กรณีที่ขัดกัน</a:t>
            </a:r>
          </a:p>
        </p:txBody>
      </p:sp>
      <p:sp>
        <p:nvSpPr>
          <p:cNvPr id="13" name="action-owner-1">
            <a:extLst xmlns:a="http://schemas.openxmlformats.org/drawingml/2006/main">
              <a:ext uri="{FF2B5EF4-FFF2-40B4-BE49-F238E27FC236}">
                <a16:creationId xmlns:a16="http://schemas.microsoft.com/office/drawing/2014/main" id="{3F3F5C18-6C54-492B-86D4-64B3C005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03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ผู้รับผิดชอบ: ทีมพัฒนา</a:t>
            </a:r>
          </a:p>
        </p:txBody>
      </p:sp>
      <p:sp>
        <p:nvSpPr>
          <p:cNvPr id="14" name="action-accent-2">
            <a:extLst xmlns:a="http://schemas.openxmlformats.org/drawingml/2006/main">
              <a:ext uri="{FF2B5EF4-FFF2-40B4-BE49-F238E27FC236}">
                <a16:creationId xmlns:a16="http://schemas.microsoft.com/office/drawing/2014/main" id="{5727AE8C-9A26-4E5A-95F5-8270EFEF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ction-num-2">
            <a:extLst xmlns:a="http://schemas.openxmlformats.org/drawingml/2006/main">
              <a:ext uri="{FF2B5EF4-FFF2-40B4-BE49-F238E27FC236}">
                <a16:creationId xmlns:a16="http://schemas.microsoft.com/office/drawing/2014/main" id="{A3832455-3533-4893-8A07-4348E430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action-head-2">
            <a:extLst xmlns:a="http://schemas.openxmlformats.org/drawingml/2006/main">
              <a:ext uri="{FF2B5EF4-FFF2-40B4-BE49-F238E27FC236}">
                <a16:creationId xmlns:a16="http://schemas.microsoft.com/office/drawing/2014/main" id="{AA20E1A7-986C-4084-8B8C-983E93CD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24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รวมชุดงานขึ้น remote</a:t>
            </a:r>
          </a:p>
        </p:txBody>
      </p:sp>
      <p:sp>
        <p:nvSpPr>
          <p:cNvPr id="17" name="action-body-2">
            <a:extLst xmlns:a="http://schemas.openxmlformats.org/drawingml/2006/main">
              <a:ext uri="{FF2B5EF4-FFF2-40B4-BE49-F238E27FC236}">
                <a16:creationId xmlns:a16="http://schemas.microsoft.com/office/drawing/2014/main" id="{0A1CC080-49D5-48CA-A585-964EDD60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577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ตรวจไฟล์ลบ/ไฟล์ใหม่</a:t>
            </a:r>
          </a:p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push 16 commits ที่ค้าง</a:t>
            </a:r>
          </a:p>
        </p:txBody>
      </p:sp>
      <p:sp>
        <p:nvSpPr>
          <p:cNvPr id="18" name="action-owner-2">
            <a:extLst xmlns:a="http://schemas.openxmlformats.org/drawingml/2006/main">
              <a:ext uri="{FF2B5EF4-FFF2-40B4-BE49-F238E27FC236}">
                <a16:creationId xmlns:a16="http://schemas.microsoft.com/office/drawing/2014/main" id="{7FE89AB9-474C-4904-B10F-45BA071C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ผู้รับผิดชอบ: ทีมพัฒนา</a:t>
            </a:r>
          </a:p>
        </p:txBody>
      </p:sp>
      <p:sp>
        <p:nvSpPr>
          <p:cNvPr id="19" name="action-accent-3">
            <a:extLst xmlns:a="http://schemas.openxmlformats.org/drawingml/2006/main">
              <a:ext uri="{FF2B5EF4-FFF2-40B4-BE49-F238E27FC236}">
                <a16:creationId xmlns:a16="http://schemas.microsoft.com/office/drawing/2014/main" id="{A4E06303-587A-472B-BB15-F9FE1227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8145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ction-num-3">
            <a:extLst xmlns:a="http://schemas.openxmlformats.org/drawingml/2006/main">
              <a:ext uri="{FF2B5EF4-FFF2-40B4-BE49-F238E27FC236}">
                <a16:creationId xmlns:a16="http://schemas.microsoft.com/office/drawing/2014/main" id="{E793C0BE-3809-401D-8867-1E126881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81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21" name="action-head-3">
            <a:extLst xmlns:a="http://schemas.openxmlformats.org/drawingml/2006/main">
              <a:ext uri="{FF2B5EF4-FFF2-40B4-BE49-F238E27FC236}">
                <a16:creationId xmlns:a16="http://schemas.microsoft.com/office/drawing/2014/main" id="{53ED6F50-C2DD-4F33-82F1-678147EB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624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Smoke test UAT</a:t>
            </a:r>
          </a:p>
        </p:txBody>
      </p:sp>
      <p:sp>
        <p:nvSpPr>
          <p:cNvPr id="22" name="action-body-3">
            <a:extLst xmlns:a="http://schemas.openxmlformats.org/drawingml/2006/main">
              <a:ext uri="{FF2B5EF4-FFF2-40B4-BE49-F238E27FC236}">
                <a16:creationId xmlns:a16="http://schemas.microsoft.com/office/drawing/2014/main" id="{DED32248-041F-4103-BA73-B18397B9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577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Login → ประเมิน → รายงาน</a:t>
            </a:r>
          </a:p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บนเครื่องส่งงานจริง</a:t>
            </a:r>
          </a:p>
        </p:txBody>
      </p:sp>
      <p:sp>
        <p:nvSpPr>
          <p:cNvPr id="23" name="action-owner-3">
            <a:extLst xmlns:a="http://schemas.openxmlformats.org/drawingml/2006/main">
              <a:ext uri="{FF2B5EF4-FFF2-40B4-BE49-F238E27FC236}">
                <a16:creationId xmlns:a16="http://schemas.microsoft.com/office/drawing/2014/main" id="{688EC91F-C13A-4BF3-91C3-336A7F10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720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ผู้รับผิดชอบ: ทีมทดสอบ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1776285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47EC51B9-8E67-4821-B56F-4CD9AD0F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พรุ่งนี้ส่ง 3 อย่าง และเดโมตาม workflow จริง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C5CC72C1-566B-4A09-99E0-92A95864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16393201-9D6B-4701-9F41-8AB0EDB2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4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08F99D55-AE60-4B2F-AFCA-D9A6210B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773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4886F0A6-8403-4975-B2A0-E2C814B7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1D21C629-B123-46C9-8256-C46D0DD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ชุดส่งมอบ</a:t>
            </a:r>
          </a:p>
        </p:txBody>
      </p:sp>
      <p:sp>
        <p:nvSpPr>
          <p:cNvPr id="7" name="timeline-head-0">
            <a:extLst xmlns:a="http://schemas.openxmlformats.org/drawingml/2006/main">
              <a:ext uri="{FF2B5EF4-FFF2-40B4-BE49-F238E27FC236}">
                <a16:creationId xmlns:a16="http://schemas.microsoft.com/office/drawing/2014/main" id="{EE8169DF-A643-47D0-A63A-A965D411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Source + เอกสาร</a:t>
            </a:r>
          </a:p>
        </p:txBody>
      </p:sp>
      <p:sp>
        <p:nvSpPr>
          <p:cNvPr id="8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1FB48922-97A5-42E5-8EC6-C6D8BE0F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8622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โค้ดและ migration</a:t>
            </a:r>
          </a:p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คู่มือ/สไลด์อบรม</a:t>
            </a:r>
          </a:p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วิธีติดตั้งและ config</a:t>
            </a:r>
          </a:p>
        </p:txBody>
      </p:sp>
      <p:sp>
        <p:nvSpPr>
          <p:cNvPr id="9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4D58A5DB-E993-4F4D-8EBD-2C2CA566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99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CAC118DD-C941-42B1-9F08-DE54B723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57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ตรวจรอบสุดท้าย</a:t>
            </a:r>
          </a:p>
        </p:txBody>
      </p:sp>
      <p:sp>
        <p:nvSpPr>
          <p:cNvPr id="11" name="timeline-head-1">
            <a:extLst xmlns:a="http://schemas.openxmlformats.org/drawingml/2006/main">
              <a:ext uri="{FF2B5EF4-FFF2-40B4-BE49-F238E27FC236}">
                <a16:creationId xmlns:a16="http://schemas.microsoft.com/office/drawing/2014/main" id="{B5FC42E3-353E-4F6D-A0BA-66000CF2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43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UAT smoke test</a:t>
            </a:r>
          </a:p>
        </p:txBody>
      </p:sp>
      <p:sp>
        <p:nvSpPr>
          <p:cNvPr id="12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56CD1E28-7D75-428F-85A9-DB736A0F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8622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Login ทุกบทบาท</a:t>
            </a:r>
          </a:p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ส่งต่อสถานะประเมิน</a:t>
            </a:r>
          </a:p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Dashboard และ export</a:t>
            </a:r>
          </a:p>
        </p:txBody>
      </p:sp>
      <p:sp>
        <p:nvSpPr>
          <p:cNvPr id="13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53D33272-E57C-477C-A2F0-BFDB1ED6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173DFD9C-29C2-467E-B6AD-4401DF4B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เดโม</a:t>
            </a:r>
          </a:p>
        </p:txBody>
      </p:sp>
      <p:sp>
        <p:nvSpPr>
          <p:cNvPr id="15" name="timeline-head-2">
            <a:extLst xmlns:a="http://schemas.openxmlformats.org/drawingml/2006/main">
              <a:ext uri="{FF2B5EF4-FFF2-40B4-BE49-F238E27FC236}">
                <a16:creationId xmlns:a16="http://schemas.microsoft.com/office/drawing/2014/main" id="{B79EECBF-124A-41BF-9FEA-AFF0E922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เดินตามงานจริง</a:t>
            </a:r>
          </a:p>
        </p:txBody>
      </p:sp>
      <p:sp>
        <p:nvSpPr>
          <p:cNvPr id="16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BA71487A-FDDA-479E-8B6B-FCF874A0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8622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Admin ตั้งค่า</a:t>
            </a:r>
          </a:p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ผู้รับฯ กรอก → ผู้ประเมิน</a:t>
            </a:r>
          </a:p>
          <a:p xmlns:a="http://schemas.openxmlformats.org/drawingml/2006/main">
            <a:pPr algn="l">
              <a:defRPr sz="1500" b="0">
                <a:solidFill>
                  <a:srgbClr val="60646C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0646C"/>
                </a:solidFill>
                <a:latin typeface="Tahoma"/>
                <a:ea typeface="Tahoma"/>
                <a:cs typeface="Tahoma"/>
              </a:rPr>
              <a:t>สรุปผลและรายงาน</a:t>
            </a:r>
          </a:p>
        </p:txBody>
      </p:sp>
      <p:sp>
        <p:nvSpPr>
          <p:cNvPr id="17" name="go-no-go-panel">
            <a:extLst xmlns:a="http://schemas.openxmlformats.org/drawingml/2006/main">
              <a:ext uri="{FF2B5EF4-FFF2-40B4-BE49-F238E27FC236}">
                <a16:creationId xmlns:a16="http://schemas.microsoft.com/office/drawing/2014/main" id="{4BAB6E73-D2F7-4615-BA46-261812E0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o-no-go">
            <a:extLst xmlns:a="http://schemas.openxmlformats.org/drawingml/2006/main">
              <a:ext uri="{FF2B5EF4-FFF2-40B4-BE49-F238E27FC236}">
                <a16:creationId xmlns:a16="http://schemas.microsoft.com/office/drawing/2014/main" id="{085B0900-01CC-420E-B827-600B3E9C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Go / No-Go: ตัดสิน test 3 จุด · remote ตรงกับชุดส่ง · UAT smoke ผ่าน</a:t>
            </a:r>
          </a:p>
        </p:txBody>
      </p:sp>
    </p:spTree>
    <p:extLst>
      <p:ext uri="{BB962C8B-B14F-4D97-AF65-F5344CB8AC3E}">
        <p14:creationId xmlns:p14="http://schemas.microsoft.com/office/powerpoint/2010/main" val="289494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2026-08-03T02:29:59.9310000Z</dcterms:created>
  <dcterms:modified xsi:type="dcterms:W3CDTF">2026-08-03T02:29:59.9310000Z</dcterms:modified>
</coreProperties>
</file>