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79d34a23f740b8" /><Relationship Type="http://schemas.openxmlformats.org/officeDocument/2006/relationships/extended-properties" Target="/docProps/app.xml" Id="R32aa6eca77dd4440" /><Relationship Type="http://schemas.openxmlformats.org/officeDocument/2006/relationships/officeDocument" Target="/ppt/presentation.xml" Id="Rc6c18079c7d34c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56317112d5422a"/>
  </p:sldMasterIdLst>
  <p:notesMasterIdLst>
    <p:notesMasterId xmlns:r="http://schemas.openxmlformats.org/officeDocument/2006/relationships" r:id="Rdc2a391816614f7f"/>
  </p:notesMasterIdLst>
  <p:sldIdLst>
    <p:sldId xmlns:r="http://schemas.openxmlformats.org/officeDocument/2006/relationships" id="256" r:id="R7978b7684ced47e6"/>
    <p:sldId xmlns:r="http://schemas.openxmlformats.org/officeDocument/2006/relationships" id="257" r:id="Rf5fef4beff71456f"/>
    <p:sldId xmlns:r="http://schemas.openxmlformats.org/officeDocument/2006/relationships" id="258" r:id="R148d80faa3844a6a"/>
    <p:sldId xmlns:r="http://schemas.openxmlformats.org/officeDocument/2006/relationships" id="259" r:id="R8640754339c34bd2"/>
    <p:sldId xmlns:r="http://schemas.openxmlformats.org/officeDocument/2006/relationships" id="260" r:id="Rdac4e06960d94759"/>
    <p:sldId xmlns:r="http://schemas.openxmlformats.org/officeDocument/2006/relationships" id="261" r:id="Rf80c65ed575d4fcb"/>
    <p:sldId xmlns:r="http://schemas.openxmlformats.org/officeDocument/2006/relationships" id="262" r:id="Ra94de395b1bc4830"/>
    <p:sldId xmlns:r="http://schemas.openxmlformats.org/officeDocument/2006/relationships" id="263" r:id="R95b0e63b846a41a5"/>
    <p:sldId xmlns:r="http://schemas.openxmlformats.org/officeDocument/2006/relationships" id="264" r:id="R1a97489fdceb4f48"/>
    <p:sldId xmlns:r="http://schemas.openxmlformats.org/officeDocument/2006/relationships" id="265" r:id="Rf81d4418e9464056"/>
    <p:sldId xmlns:r="http://schemas.openxmlformats.org/officeDocument/2006/relationships" id="266" r:id="Rd2fd889448b1434a"/>
    <p:sldId xmlns:r="http://schemas.openxmlformats.org/officeDocument/2006/relationships" id="267" r:id="R3eb3837dacba47e6"/>
    <p:sldId xmlns:r="http://schemas.openxmlformats.org/officeDocument/2006/relationships" id="268" r:id="R36b92fd629614b1c"/>
    <p:sldId xmlns:r="http://schemas.openxmlformats.org/officeDocument/2006/relationships" id="269" r:id="Rc8d6e521760c424e"/>
    <p:sldId xmlns:r="http://schemas.openxmlformats.org/officeDocument/2006/relationships" id="270" r:id="Reb30488e3e6a41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732f174c6d4f11" /><Relationship Type="http://schemas.openxmlformats.org/officeDocument/2006/relationships/slideMaster" Target="/ppt/slideMasters/slideMaster1.xml" Id="R7e56317112d5422a" /><Relationship Type="http://schemas.openxmlformats.org/officeDocument/2006/relationships/notesMaster" Target="/ppt/notesMasters/notesMaster1.xml" Id="Rdc2a391816614f7f" /><Relationship Type="http://schemas.openxmlformats.org/officeDocument/2006/relationships/presProps" Target="/ppt/presProps.xml" Id="Rfbaab94d34eb4d91" /><Relationship Type="http://schemas.openxmlformats.org/officeDocument/2006/relationships/tableStyles" Target="/ppt/tableStyles.xml" Id="Rbd2b603da96f4221" /><Relationship Type="http://schemas.openxmlformats.org/officeDocument/2006/relationships/slide" Target="/ppt/slides/slide1.xml" Id="R7978b7684ced47e6" /><Relationship Type="http://schemas.openxmlformats.org/officeDocument/2006/relationships/slide" Target="/ppt/slides/slide2.xml" Id="Rf5fef4beff71456f" /><Relationship Type="http://schemas.openxmlformats.org/officeDocument/2006/relationships/slide" Target="/ppt/slides/slide3.xml" Id="R148d80faa3844a6a" /><Relationship Type="http://schemas.openxmlformats.org/officeDocument/2006/relationships/slide" Target="/ppt/slides/slide4.xml" Id="R8640754339c34bd2" /><Relationship Type="http://schemas.openxmlformats.org/officeDocument/2006/relationships/slide" Target="/ppt/slides/slide5.xml" Id="Rdac4e06960d94759" /><Relationship Type="http://schemas.openxmlformats.org/officeDocument/2006/relationships/slide" Target="/ppt/slides/slide6.xml" Id="Rf80c65ed575d4fcb" /><Relationship Type="http://schemas.openxmlformats.org/officeDocument/2006/relationships/slide" Target="/ppt/slides/slide7.xml" Id="Ra94de395b1bc4830" /><Relationship Type="http://schemas.openxmlformats.org/officeDocument/2006/relationships/slide" Target="/ppt/slides/slide8.xml" Id="R95b0e63b846a41a5" /><Relationship Type="http://schemas.openxmlformats.org/officeDocument/2006/relationships/slide" Target="/ppt/slides/slide9.xml" Id="R1a97489fdceb4f48" /><Relationship Type="http://schemas.openxmlformats.org/officeDocument/2006/relationships/slide" Target="/ppt/slides/slide10.xml" Id="Rf81d4418e9464056" /><Relationship Type="http://schemas.openxmlformats.org/officeDocument/2006/relationships/slide" Target="/ppt/slides/slide11.xml" Id="Rd2fd889448b1434a" /><Relationship Type="http://schemas.openxmlformats.org/officeDocument/2006/relationships/slide" Target="/ppt/slides/slide12.xml" Id="R3eb3837dacba47e6" /><Relationship Type="http://schemas.openxmlformats.org/officeDocument/2006/relationships/slide" Target="/ppt/slides/slide13.xml" Id="R36b92fd629614b1c" /><Relationship Type="http://schemas.openxmlformats.org/officeDocument/2006/relationships/slide" Target="/ppt/slides/slide14.xml" Id="Rc8d6e521760c424e" /><Relationship Type="http://schemas.openxmlformats.org/officeDocument/2006/relationships/slide" Target="/ppt/slides/slide15.xml" Id="Reb30488e3e6a41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7837f5c99f4a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cc891d802f4bd7" /><Relationship Type="http://schemas.openxmlformats.org/officeDocument/2006/relationships/notesMaster" Target="/ppt/notesMasters/notesMaster1.xml" Id="R4816c365c93647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a1fb8e250c4754" /><Relationship Type="http://schemas.openxmlformats.org/officeDocument/2006/relationships/notesMaster" Target="/ppt/notesMasters/notesMaster1.xml" Id="Rcb625b443f624d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0cd27adc9143ef" /><Relationship Type="http://schemas.openxmlformats.org/officeDocument/2006/relationships/notesMaster" Target="/ppt/notesMasters/notesMaster1.xml" Id="R49b33282347a4b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b97ce90e104b50" /><Relationship Type="http://schemas.openxmlformats.org/officeDocument/2006/relationships/notesMaster" Target="/ppt/notesMasters/notesMaster1.xml" Id="Rcec9015a776648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40d3b23fc24cb1" /><Relationship Type="http://schemas.openxmlformats.org/officeDocument/2006/relationships/notesMaster" Target="/ppt/notesMasters/notesMaster1.xml" Id="Rc85d0753661142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68260f12874d64" /><Relationship Type="http://schemas.openxmlformats.org/officeDocument/2006/relationships/notesMaster" Target="/ppt/notesMasters/notesMaster1.xml" Id="R3d151b3a225448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90b4d95cc34e87" /><Relationship Type="http://schemas.openxmlformats.org/officeDocument/2006/relationships/notesMaster" Target="/ppt/notesMasters/notesMaster1.xml" Id="Rf5a7d7cb110546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14fb8ea0c84391" /><Relationship Type="http://schemas.openxmlformats.org/officeDocument/2006/relationships/notesMaster" Target="/ppt/notesMasters/notesMaster1.xml" Id="R33a8900a8ba94d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954d7cd38944dd" /><Relationship Type="http://schemas.openxmlformats.org/officeDocument/2006/relationships/notesMaster" Target="/ppt/notesMasters/notesMaster1.xml" Id="R559f84ab20104da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a55a0ec96b40ea" /><Relationship Type="http://schemas.openxmlformats.org/officeDocument/2006/relationships/notesMaster" Target="/ppt/notesMasters/notesMaster1.xml" Id="Rb661bfc0a83e464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a8bb4867364f80" /><Relationship Type="http://schemas.openxmlformats.org/officeDocument/2006/relationships/notesMaster" Target="/ppt/notesMasters/notesMaster1.xml" Id="Rb864e26e746f4f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17a44349404f30" /><Relationship Type="http://schemas.openxmlformats.org/officeDocument/2006/relationships/notesMaster" Target="/ppt/notesMasters/notesMaster1.xml" Id="R32ad7b29e9d7490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0c376f87528496c" /><Relationship Type="http://schemas.openxmlformats.org/officeDocument/2006/relationships/notesMaster" Target="/ppt/notesMasters/notesMaster1.xml" Id="Ra11d4ad1f8dd47a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c25499a4f84b27" /><Relationship Type="http://schemas.openxmlformats.org/officeDocument/2006/relationships/notesMaster" Target="/ppt/notesMasters/notesMaster1.xml" Id="Re81854170c74421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268a80fd018422a" /><Relationship Type="http://schemas.openxmlformats.org/officeDocument/2006/relationships/notesMaster" Target="/ppt/notesMasters/notesMaster1.xml" Id="Rae0ae15f0b824f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.superpowers/sdd/task-2-brief.md</a:t>
            </a:r>
          </a:p>
          <a:p xmlns:a="http://schemas.openxmlformats.org/drawingml/2006/main">
            <a:r>
              <a:t>- docs/superpowers/specs/2026-07-24-full-day-system-training-deck-design.md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.superpowers/sdd/task-2-brief.md</a:t>
            </a:r>
          </a:p>
          <a:p xmlns:a="http://schemas.openxmlformats.org/drawingml/2006/main">
            <a:r>
              <a:t>- docs/superpowers/specs/2026-07-24-full-day-system-training-deck-design.md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- app/Http/Controllers/AssignmentDataController.php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- app/Http/Controllers/AssignmentDataController.php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resources/views/partials/evaluation-form-action-buttons.blade.php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resources/views/evaluatee/dashboard.blade.php</a:t>
            </a:r>
          </a:p>
          <a:p xmlns:a="http://schemas.openxmlformats.org/drawingml/2006/main">
            <a:r>
              <a:t>- resources/views/evaluator/dashboard.blade.php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app/Http/Controllers/Evaluatee/EvaluationWorkloadController.php</a:t>
            </a:r>
          </a:p>
          <a:p xmlns:a="http://schemas.openxmlformats.org/drawingml/2006/main">
            <a:r>
              <a:t>- app/Http/Controllers/Evaluatee/EvaluationScoreController.php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app/Http/Controllers/Evaluatee/EvaluationWorkloadController.php</a:t>
            </a:r>
          </a:p>
          <a:p xmlns:a="http://schemas.openxmlformats.org/drawingml/2006/main">
            <a:r>
              <a:t>- resources/views/partials/evaluation-form-action-buttons.blade.php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app/Services/SupportScoreService.php</a:t>
            </a:r>
          </a:p>
          <a:p xmlns:a="http://schemas.openxmlformats.org/drawingml/2006/main">
            <a:r>
              <a:t>- app/Http/Controllers/Evaluatee/EvaluationScoreController.php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app/Services/SupportScoreService.php</a:t>
            </a:r>
          </a:p>
          <a:p xmlns:a="http://schemas.openxmlformats.org/drawingml/2006/main">
            <a:r>
              <a:t>- app/Support/SupportAchievementScore.php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- app/Http/Controllers/EvaluatorScoreController.php</a:t>
            </a:r>
          </a:p>
          <a:p xmlns:a="http://schemas.openxmlformats.org/drawingml/2006/main">
            <a:r>
              <a:t>- app/Http/Controllers/Director/DirectorScoreController.php</a:t>
            </a:r>
          </a:p>
          <a:p xmlns:a="http://schemas.openxmlformats.org/drawingml/2006/main">
            <a:r>
              <a:t>- app/Http/Controllers/Manager/ManagerScoreController.php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- app/Http/Controllers/AssignmentDataController.php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- resources/views/evaluatee/dashboard.blade.php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resources/views/partials/evaluation-form-action-buttons.blade.php</a:t>
            </a:r>
          </a:p>
          <a:p xmlns:a="http://schemas.openxmlformats.org/drawingml/2006/main">
            <a:r>
              <a:t>- app/Support/AssignmentFlow.php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.superpowers/sdd/task-2-brief.md</a:t>
            </a:r>
          </a:p>
          <a:p xmlns:a="http://schemas.openxmlformats.org/drawingml/2006/main">
            <a:r>
              <a:t>- docs/superpowers/specs/2026-07-24-full-day-system-training-deck-design.md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ac05c8c0304d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2af2a6e12a4c62" /><Relationship Type="http://schemas.openxmlformats.org/officeDocument/2006/relationships/slideLayout" Target="/ppt/slideLayouts/slideLayout1.xml" Id="R2ac62cded52c4b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c62cded52c4b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db29ad7e94aa1" /><Relationship Type="http://schemas.openxmlformats.org/officeDocument/2006/relationships/notesSlide" Target="/ppt/notesSlides/notesSlide1.xml" Id="Rb07b84340e284d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158ddeec54815" /><Relationship Type="http://schemas.openxmlformats.org/officeDocument/2006/relationships/notesSlide" Target="/ppt/notesSlides/notesSlide2.xml" Id="R248a38cf879945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1bc81c15b4373" /><Relationship Type="http://schemas.openxmlformats.org/officeDocument/2006/relationships/notesSlide" Target="/ppt/notesSlides/notesSlide3.xml" Id="R99cb0a55724349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e41a26e864191" /><Relationship Type="http://schemas.openxmlformats.org/officeDocument/2006/relationships/notesSlide" Target="/ppt/notesSlides/notesSlide4.xml" Id="Ra5bab2eb5ade41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ccc01643a4947" /><Relationship Type="http://schemas.openxmlformats.org/officeDocument/2006/relationships/notesSlide" Target="/ppt/notesSlides/notesSlide5.xml" Id="R5f3c02f6c9f34b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08315ff1846c5" /><Relationship Type="http://schemas.openxmlformats.org/officeDocument/2006/relationships/notesSlide" Target="/ppt/notesSlides/notesSlide6.xml" Id="Ra7c483e235264a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20c9e5ff34f58" /><Relationship Type="http://schemas.openxmlformats.org/officeDocument/2006/relationships/notesSlide" Target="/ppt/notesSlides/notesSlide7.xml" Id="Rde0f291ec97541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536801f7c458a" /><Relationship Type="http://schemas.openxmlformats.org/officeDocument/2006/relationships/notesSlide" Target="/ppt/notesSlides/notesSlide8.xml" Id="R8089d7474b1d45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8883d946043a1" /><Relationship Type="http://schemas.openxmlformats.org/officeDocument/2006/relationships/notesSlide" Target="/ppt/notesSlides/notesSlide9.xml" Id="R34432bb1a98144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967576af542bb" /><Relationship Type="http://schemas.openxmlformats.org/officeDocument/2006/relationships/notesSlide" Target="/ppt/notesSlides/notesSlide10.xml" Id="Rf2d6f60f19744a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9451ed8454bc4" /><Relationship Type="http://schemas.openxmlformats.org/officeDocument/2006/relationships/notesSlide" Target="/ppt/notesSlides/notesSlide11.xml" Id="Rab715a53475140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67771e4234145" /><Relationship Type="http://schemas.openxmlformats.org/officeDocument/2006/relationships/notesSlide" Target="/ppt/notesSlides/notesSlide12.xml" Id="R770a209190bf46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e5d85d68a4079" /><Relationship Type="http://schemas.openxmlformats.org/officeDocument/2006/relationships/notesSlide" Target="/ppt/notesSlides/notesSlide13.xml" Id="R8437f7d4f4c94ba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c1a4c78ab47cb" /><Relationship Type="http://schemas.openxmlformats.org/officeDocument/2006/relationships/notesSlide" Target="/ppt/notesSlides/notesSlide14.xml" Id="Rbc5c786e7d474f2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a1e0533124cb4" /><Relationship Type="http://schemas.openxmlformats.org/officeDocument/2006/relationships/notesSlide" Target="/ppt/notesSlides/notesSlide15.xml" Id="Rd1f544b2ef7b4f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AB5AABBE-704C-42CB-ABE2-1ACC2698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MSU EVA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BE62FCC-06B6-4317-A9F4-57EE9183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96202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540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การอบรมการใช้งาน</a:t>
            </a:r>
          </a:p>
          <a:p xmlns:a="http://schemas.openxmlformats.org/drawingml/2006/main">
            <a:pPr algn="l">
              <a:defRPr sz="540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540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ระบบ MSU EVA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3010B3D4-E51E-4CCC-A61D-3B60A524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D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5E34059-0F3F-40A9-BAEC-57A21A75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ภาคเช้า: สายวิชาการ  •  ภาคบ่าย: สายสนับสนุน</a:t>
            </a:r>
          </a:p>
        </p:txBody>
      </p:sp>
      <p:sp>
        <p:nvSpPr>
          <p:cNvPr id="5" name="cover-detail">
            <a:extLst xmlns:a="http://schemas.openxmlformats.org/drawingml/2006/main">
              <a:ext uri="{FF2B5EF4-FFF2-40B4-BE49-F238E27FC236}">
                <a16:creationId xmlns:a16="http://schemas.microsoft.com/office/drawing/2014/main" id="{FED0ECC1-D868-4188-B2FD-9BF7685C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อบรมเชิงปฏิบัติการ: ทำหนึ่งงานให้ครบกระบวนการ</a:t>
            </a:r>
          </a:p>
        </p:txBody>
      </p:sp>
      <p:sp>
        <p:nvSpPr>
          <p:cNvPr id="6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021FC8FF-6FEB-45D6-8B96-3D3AC3F1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label-1">
            <a:extLst xmlns:a="http://schemas.openxmlformats.org/drawingml/2006/main">
              <a:ext uri="{FF2B5EF4-FFF2-40B4-BE49-F238E27FC236}">
                <a16:creationId xmlns:a16="http://schemas.microsoft.com/office/drawing/2014/main" id="{319C104F-65C7-4EB5-ACDB-929B2F71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MSU EVA • การอบรมเชิงปฏิบัติการ</a:t>
            </a:r>
          </a:p>
        </p:txBody>
      </p:sp>
      <p:sp>
        <p:nvSpPr>
          <p:cNvPr id="8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EF2A5BCA-CAD3-4502-8981-CDE97A6A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01 / 15</a:t>
            </a:r>
          </a:p>
        </p:txBody>
      </p:sp>
    </p:spTree>
    <p:extLst>
      <p:ext uri="{BB962C8B-B14F-4D97-AF65-F5344CB8AC3E}">
        <p14:creationId xmlns:p14="http://schemas.microsoft.com/office/powerpoint/2010/main" val="9168378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2">
            <a:extLst xmlns:a="http://schemas.openxmlformats.org/drawingml/2006/main">
              <a:ext uri="{FF2B5EF4-FFF2-40B4-BE49-F238E27FC236}">
                <a16:creationId xmlns:a16="http://schemas.microsoft.com/office/drawing/2014/main" id="{C324475C-E736-4EEC-807F-3E9F0272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เป้าหมายวันนี้</a:t>
            </a:r>
          </a:p>
        </p:txBody>
      </p:sp>
      <p:sp>
        <p:nvSpPr>
          <p:cNvPr id="2" name="outcome-message">
            <a:extLst xmlns:a="http://schemas.openxmlformats.org/drawingml/2006/main">
              <a:ext uri="{FF2B5EF4-FFF2-40B4-BE49-F238E27FC236}">
                <a16:creationId xmlns:a16="http://schemas.microsoft.com/office/drawing/2014/main" id="{C9522A4B-2392-44D2-9AC1-CF391CE2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7143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4875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วันนี้ทุกคนจะทำงาน</a:t>
            </a:r>
          </a:p>
          <a:p xmlns:a="http://schemas.openxmlformats.org/drawingml/2006/main">
            <a:pPr algn="l">
              <a:defRPr sz="4875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4875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หนึ่งรายการจนจบ</a:t>
            </a:r>
          </a:p>
          <a:p xmlns:a="http://schemas.openxmlformats.org/drawingml/2006/main">
            <a:pPr algn="l">
              <a:defRPr sz="4875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4875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กระบวนการ</a:t>
            </a:r>
          </a:p>
        </p:txBody>
      </p:sp>
      <p:sp>
        <p:nvSpPr>
          <p:cNvPr id="3" name="outcome-side-label">
            <a:extLst xmlns:a="http://schemas.openxmlformats.org/drawingml/2006/main">
              <a:ext uri="{FF2B5EF4-FFF2-40B4-BE49-F238E27FC236}">
                <a16:creationId xmlns:a16="http://schemas.microsoft.com/office/drawing/2014/main" id="{CE5682D8-0366-45D7-98C7-2BC945B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"/>
            <a:ext cx="3295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เป้าหมายร่วม</a:t>
            </a:r>
          </a:p>
        </p:txBody>
      </p:sp>
      <p:sp>
        <p:nvSpPr>
          <p:cNvPr id="4" name="outcome-side-message">
            <a:extLst xmlns:a="http://schemas.openxmlformats.org/drawingml/2006/main">
              <a:ext uri="{FF2B5EF4-FFF2-40B4-BE49-F238E27FC236}">
                <a16:creationId xmlns:a16="http://schemas.microsoft.com/office/drawing/2014/main" id="{247979F1-F3C3-49F2-B5B8-943691AB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933450"/>
            <a:ext cx="3295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บันทึก → ส่ง → ตรวจ → ปิดงาน</a:t>
            </a:r>
          </a:p>
        </p:txBody>
      </p:sp>
      <p:sp>
        <p:nvSpPr>
          <p:cNvPr id="5" name="outcome-side-detail">
            <a:extLst xmlns:a="http://schemas.openxmlformats.org/drawingml/2006/main">
              <a:ext uri="{FF2B5EF4-FFF2-40B4-BE49-F238E27FC236}">
                <a16:creationId xmlns:a16="http://schemas.microsoft.com/office/drawing/2014/main" id="{CBDE06A5-8F10-48BC-9AED-F51CEAD9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38350"/>
            <a:ext cx="3295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เห็นสถานะ Completed</a:t>
            </a:r>
          </a:p>
          <a:p xmlns:a="http://schemas.openxmlformats.org/drawingml/2006/main">
            <a:pPr algn="l">
              <a:defRPr sz="157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และรู้ว่าจะตรวจสอบอะไรเมื่อมีปัญหา</a:t>
            </a:r>
          </a:p>
        </p:txBody>
      </p:sp>
      <p:sp>
        <p:nvSpPr>
          <p:cNvPr id="6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5078ADE3-75F4-4B1E-825B-E814A1A6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2986DA1C-6E9B-4082-A3F8-A6AB25BC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MSU EVA • การอบรมเชิงปฏิบัติการ</a:t>
            </a:r>
          </a:p>
        </p:txBody>
      </p:sp>
      <p:sp>
        <p:nvSpPr>
          <p:cNvPr id="8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A583CEAC-347E-4674-8EF4-FB2E6939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02 / 15</a:t>
            </a:r>
          </a:p>
        </p:txBody>
      </p:sp>
    </p:spTree>
    <p:extLst>
      <p:ext uri="{BB962C8B-B14F-4D97-AF65-F5344CB8AC3E}">
        <p14:creationId xmlns:p14="http://schemas.microsoft.com/office/powerpoint/2010/main" val="12676310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3">
            <a:extLst xmlns:a="http://schemas.openxmlformats.org/drawingml/2006/main">
              <a:ext uri="{FF2B5EF4-FFF2-40B4-BE49-F238E27FC236}">
                <a16:creationId xmlns:a16="http://schemas.microsoft.com/office/drawing/2014/main" id="{DB02B47E-DD98-4885-88C0-059AF218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ภาพรวมร่วมกัน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76D8E440-9EB1-4E11-B4EB-0CF7B632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แต่ละบทบาทรับช่วงงานต่อกัน</a:t>
            </a:r>
          </a:p>
        </p:txBody>
      </p:sp>
      <p:sp>
        <p:nvSpPr>
          <p:cNvPr id="3" name="role-evaluatee-number">
            <a:extLst xmlns:a="http://schemas.openxmlformats.org/drawingml/2006/main">
              <a:ext uri="{FF2B5EF4-FFF2-40B4-BE49-F238E27FC236}">
                <a16:creationId xmlns:a16="http://schemas.microsoft.com/office/drawing/2014/main" id="{AE7DC53D-933F-4ECA-B42D-9603118F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8FBA6-0985-46E4-BA00-9FF24E45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ole-evaluatee-label">
            <a:extLst xmlns:a="http://schemas.openxmlformats.org/drawingml/2006/main">
              <a:ext uri="{FF2B5EF4-FFF2-40B4-BE49-F238E27FC236}">
                <a16:creationId xmlns:a16="http://schemas.microsoft.com/office/drawing/2014/main" id="{14C50645-28BF-4B17-B981-9F0E5603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ผู้รับการประเมิน</a:t>
            </a:r>
          </a:p>
        </p:txBody>
      </p:sp>
      <p:sp>
        <p:nvSpPr>
          <p:cNvPr id="6" name="role-evaluatee-detail">
            <a:extLst xmlns:a="http://schemas.openxmlformats.org/drawingml/2006/main">
              <a:ext uri="{FF2B5EF4-FFF2-40B4-BE49-F238E27FC236}">
                <a16:creationId xmlns:a16="http://schemas.microsoft.com/office/drawing/2014/main" id="{B95020C6-340C-459E-9AF5-2147BA5D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23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กรอกผลงาน ตรวจข้อมูล</a:t>
            </a:r>
          </a:p>
          <a:p xmlns:a="http://schemas.openxmlformats.org/drawingml/2006/main">
            <a:pPr algn="l">
              <a:defRPr sz="16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แนบหลักฐาน และส่งงาน</a:t>
            </a:r>
          </a:p>
        </p:txBody>
      </p:sp>
      <p:sp>
        <p:nvSpPr>
          <p:cNvPr id="7" name="role-evaluator-number">
            <a:extLst xmlns:a="http://schemas.openxmlformats.org/drawingml/2006/main">
              <a:ext uri="{FF2B5EF4-FFF2-40B4-BE49-F238E27FC236}">
                <a16:creationId xmlns:a16="http://schemas.microsoft.com/office/drawing/2014/main" id="{D862ACDB-2D80-4FEC-96E9-AFB59781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E76D6-0B24-4C49-AB78-F5E34B51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ole-evaluator-label">
            <a:extLst xmlns:a="http://schemas.openxmlformats.org/drawingml/2006/main">
              <a:ext uri="{FF2B5EF4-FFF2-40B4-BE49-F238E27FC236}">
                <a16:creationId xmlns:a16="http://schemas.microsoft.com/office/drawing/2014/main" id="{C3AB0F8A-038F-4FD8-B7DF-920A5061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528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ผู้ประเมิน/</a:t>
            </a:r>
          </a:p>
          <a:p xmlns:a="http://schemas.openxmlformats.org/drawingml/2006/main">
            <a:pPr algn="l">
              <a:defRPr sz="225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หัวหน้างาน</a:t>
            </a:r>
          </a:p>
        </p:txBody>
      </p:sp>
      <p:sp>
        <p:nvSpPr>
          <p:cNvPr id="10" name="role-evaluator-detail">
            <a:extLst xmlns:a="http://schemas.openxmlformats.org/drawingml/2006/main">
              <a:ext uri="{FF2B5EF4-FFF2-40B4-BE49-F238E27FC236}">
                <a16:creationId xmlns:a16="http://schemas.microsoft.com/office/drawing/2014/main" id="{806A935F-E94C-4AA3-BF45-E9B0C87E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14800"/>
            <a:ext cx="323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ตรวจ ให้คะแนนหรือความเห็น</a:t>
            </a:r>
          </a:p>
          <a:p xmlns:a="http://schemas.openxmlformats.org/drawingml/2006/main">
            <a:pPr algn="l">
              <a:defRPr sz="16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แล้วส่งต่อเมื่อพร้อม</a:t>
            </a:r>
          </a:p>
        </p:txBody>
      </p:sp>
      <p:sp>
        <p:nvSpPr>
          <p:cNvPr id="11" name="role-reviewers-number">
            <a:extLst xmlns:a="http://schemas.openxmlformats.org/drawingml/2006/main">
              <a:ext uri="{FF2B5EF4-FFF2-40B4-BE49-F238E27FC236}">
                <a16:creationId xmlns:a16="http://schemas.microsoft.com/office/drawing/2014/main" id="{0FCB072C-5C19-4B1D-B8F6-5F3EFCC4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670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FF902D-35E5-4072-88B8-EFB771AF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ole-reviewers-label">
            <a:extLst xmlns:a="http://schemas.openxmlformats.org/drawingml/2006/main">
              <a:ext uri="{FF2B5EF4-FFF2-40B4-BE49-F238E27FC236}">
                <a16:creationId xmlns:a16="http://schemas.microsoft.com/office/drawing/2014/main" id="{7492AE60-F5BC-47D2-9D21-0E66D770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528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กรรมการ /</a:t>
            </a:r>
          </a:p>
          <a:p xmlns:a="http://schemas.openxmlformats.org/drawingml/2006/main">
            <a:pPr algn="l">
              <a:defRPr sz="225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ผู้บริหาร</a:t>
            </a:r>
          </a:p>
        </p:txBody>
      </p:sp>
      <p:sp>
        <p:nvSpPr>
          <p:cNvPr id="14" name="role-reviewers-detail">
            <a:extLst xmlns:a="http://schemas.openxmlformats.org/drawingml/2006/main">
              <a:ext uri="{FF2B5EF4-FFF2-40B4-BE49-F238E27FC236}">
                <a16:creationId xmlns:a16="http://schemas.microsoft.com/office/drawing/2014/main" id="{DBEF687A-0DF1-43F6-B300-8FEB0671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14800"/>
            <a:ext cx="323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รับช่วงตามลำดับที่ตั้งค่า</a:t>
            </a:r>
          </a:p>
          <a:p xmlns:a="http://schemas.openxmlformats.org/drawingml/2006/main">
            <a:pPr algn="l">
              <a:defRPr sz="16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ผู้ตรวจคนสุดท้ายปิดงาน</a:t>
            </a:r>
          </a:p>
        </p:txBody>
      </p:sp>
      <p:sp>
        <p:nvSpPr>
          <p:cNvPr id="15" name="role-admin-note">
            <a:extLst xmlns:a="http://schemas.openxmlformats.org/drawingml/2006/main">
              <a:ext uri="{FF2B5EF4-FFF2-40B4-BE49-F238E27FC236}">
                <a16:creationId xmlns:a16="http://schemas.microsoft.com/office/drawing/2014/main" id="{9E7D9C31-6EC0-4450-9AF0-7913043B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E1D85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4E1D85"/>
                </a:solidFill>
                <a:latin typeface="Tahoma"/>
                <a:ea typeface="Tahoma"/>
                <a:cs typeface="Tahoma"/>
              </a:rPr>
              <a:t>ผู้ดูแลระบบเป็นผู้กำหนดจำนวนผู้ตรวจและลำดับของแต่ละงาน</a:t>
            </a:r>
          </a:p>
        </p:txBody>
      </p:sp>
      <p:sp>
        <p:nvSpPr>
          <p:cNvPr id="16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51ABEF88-F055-4505-ACF5-22827820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93EF2AA1-6F16-48DF-B399-E040A824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MSU EVA • การอบรมเชิงปฏิบัติการ</a:t>
            </a:r>
          </a:p>
        </p:txBody>
      </p:sp>
      <p:sp>
        <p:nvSpPr>
          <p:cNvPr id="18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D57C71E6-91D0-4055-B602-EBC107D3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03 / 15</a:t>
            </a:r>
          </a:p>
        </p:txBody>
      </p:sp>
    </p:spTree>
    <p:extLst>
      <p:ext uri="{BB962C8B-B14F-4D97-AF65-F5344CB8AC3E}">
        <p14:creationId xmlns:p14="http://schemas.microsoft.com/office/powerpoint/2010/main" val="10327850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4">
            <a:extLst xmlns:a="http://schemas.openxmlformats.org/drawingml/2006/main">
              <a:ext uri="{FF2B5EF4-FFF2-40B4-BE49-F238E27FC236}">
                <a16:creationId xmlns:a16="http://schemas.microsoft.com/office/drawing/2014/main" id="{E628A8AE-ADA1-49AF-A309-17713341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ภาพรวมร่วมกัน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F6BF05EE-3856-43C9-B0DD-F964E703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งานเดินตามลำดับที่ผู้ดูแลระบบกำหนด</a:t>
            </a:r>
          </a:p>
        </p:txBody>
      </p:sp>
      <p:sp>
        <p:nvSpPr>
          <p:cNvPr id="3" name="workflow-dynamic-note">
            <a:extLst xmlns:a="http://schemas.openxmlformats.org/drawingml/2006/main">
              <a:ext uri="{FF2B5EF4-FFF2-40B4-BE49-F238E27FC236}">
                <a16:creationId xmlns:a16="http://schemas.microsoft.com/office/drawing/2014/main" id="{CADB4A98-C9F3-4AE9-9AB0-1684A394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E1D85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4E1D85"/>
                </a:solidFill>
                <a:latin typeface="Tahoma"/>
                <a:ea typeface="Tahoma"/>
                <a:cs typeface="Tahoma"/>
              </a:rPr>
              <a:t>จำนวนและลำดับผู้ตรวจไม่ตายตัว</a:t>
            </a:r>
          </a:p>
        </p:txBody>
      </p:sp>
      <p:sp>
        <p:nvSpPr>
          <p:cNvPr id="4" name="workflow-connector">
            <a:extLst xmlns:a="http://schemas.openxmlformats.org/drawingml/2006/main">
              <a:ext uri="{FF2B5EF4-FFF2-40B4-BE49-F238E27FC236}">
                <a16:creationId xmlns:a16="http://schemas.microsoft.com/office/drawing/2014/main" id="{81C63339-BC8E-44C5-A277-FD87E300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29000"/>
            <a:ext cx="8591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workflow-arrow">
            <a:extLst xmlns:a="http://schemas.openxmlformats.org/drawingml/2006/main">
              <a:ext uri="{FF2B5EF4-FFF2-40B4-BE49-F238E27FC236}">
                <a16:creationId xmlns:a16="http://schemas.microsoft.com/office/drawing/2014/main" id="{BE3B1D3F-1441-46C8-85EF-C00F3FDB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314700"/>
            <a:ext cx="4000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FA135E78-5611-47F1-9875-72BCFEA2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19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orkflow-number-1">
            <a:extLst xmlns:a="http://schemas.openxmlformats.org/drawingml/2006/main">
              <a:ext uri="{FF2B5EF4-FFF2-40B4-BE49-F238E27FC236}">
                <a16:creationId xmlns:a16="http://schemas.microsoft.com/office/drawing/2014/main" id="{4769C51D-0C7C-4FD1-9556-C0F08850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861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8" name="workflow-label-1">
            <a:extLst xmlns:a="http://schemas.openxmlformats.org/drawingml/2006/main">
              <a:ext uri="{FF2B5EF4-FFF2-40B4-BE49-F238E27FC236}">
                <a16:creationId xmlns:a16="http://schemas.microsoft.com/office/drawing/2014/main" id="{B22245BF-C09F-467A-8490-872A6264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433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ผู้รับการประเมิน</a:t>
            </a:r>
          </a:p>
        </p:txBody>
      </p:sp>
      <p:sp>
        <p:nvSpPr>
          <p:cNvPr id="9" name="workflow-body-1">
            <a:extLst xmlns:a="http://schemas.openxmlformats.org/drawingml/2006/main">
              <a:ext uri="{FF2B5EF4-FFF2-40B4-BE49-F238E27FC236}">
                <a16:creationId xmlns:a16="http://schemas.microsoft.com/office/drawing/2014/main" id="{E8724B28-5ECF-422F-A934-BF992EAF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101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กรอก ตรวจ และส่งงาน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3852255E-4927-4340-A992-9A613461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19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kflow-number-2">
            <a:extLst xmlns:a="http://schemas.openxmlformats.org/drawingml/2006/main">
              <a:ext uri="{FF2B5EF4-FFF2-40B4-BE49-F238E27FC236}">
                <a16:creationId xmlns:a16="http://schemas.microsoft.com/office/drawing/2014/main" id="{3E55A3F0-0EE2-4A80-B70D-A72DA416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861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2" name="workflow-label-2">
            <a:extLst xmlns:a="http://schemas.openxmlformats.org/drawingml/2006/main">
              <a:ext uri="{FF2B5EF4-FFF2-40B4-BE49-F238E27FC236}">
                <a16:creationId xmlns:a16="http://schemas.microsoft.com/office/drawing/2014/main" id="{771A157C-E50A-4578-A5E5-F4EAC134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433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ผู้ตรวจตามลำดับ</a:t>
            </a:r>
          </a:p>
        </p:txBody>
      </p:sp>
      <p:sp>
        <p:nvSpPr>
          <p:cNvPr id="13" name="workflow-body-2">
            <a:extLst xmlns:a="http://schemas.openxmlformats.org/drawingml/2006/main">
              <a:ext uri="{FF2B5EF4-FFF2-40B4-BE49-F238E27FC236}">
                <a16:creationId xmlns:a16="http://schemas.microsoft.com/office/drawing/2014/main" id="{B5846442-9603-42EA-A295-A386EB0A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101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ตรวจ ให้คะแนน และส่งต่อ</a:t>
            </a:r>
          </a:p>
        </p:txBody>
      </p:sp>
      <p:sp>
        <p:nvSpPr>
          <p:cNvPr id="14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74E3BEFC-6E70-4318-9337-E02493B2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194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D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workflow-number-3">
            <a:extLst xmlns:a="http://schemas.openxmlformats.org/drawingml/2006/main">
              <a:ext uri="{FF2B5EF4-FFF2-40B4-BE49-F238E27FC236}">
                <a16:creationId xmlns:a16="http://schemas.microsoft.com/office/drawing/2014/main" id="{0EDFEFF5-66DF-41CA-9586-D0B4163B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8612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6" name="workflow-label-3">
            <a:extLst xmlns:a="http://schemas.openxmlformats.org/drawingml/2006/main">
              <a:ext uri="{FF2B5EF4-FFF2-40B4-BE49-F238E27FC236}">
                <a16:creationId xmlns:a16="http://schemas.microsoft.com/office/drawing/2014/main" id="{7623E52F-1C6E-4888-BFF8-685217E0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433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ผู้ตรวจลำดับสุดท้าย</a:t>
            </a:r>
          </a:p>
        </p:txBody>
      </p:sp>
      <p:sp>
        <p:nvSpPr>
          <p:cNvPr id="17" name="workflow-body-3">
            <a:extLst xmlns:a="http://schemas.openxmlformats.org/drawingml/2006/main">
              <a:ext uri="{FF2B5EF4-FFF2-40B4-BE49-F238E27FC236}">
                <a16:creationId xmlns:a16="http://schemas.microsoft.com/office/drawing/2014/main" id="{2E02B6EC-5B10-4C5F-A291-8D5B2531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101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รับรองและปิดงาน</a:t>
            </a:r>
          </a:p>
        </p:txBody>
      </p:sp>
      <p:sp>
        <p:nvSpPr>
          <p:cNvPr id="18" name="workflow-role-note">
            <a:extLst xmlns:a="http://schemas.openxmlformats.org/drawingml/2006/main">
              <a:ext uri="{FF2B5EF4-FFF2-40B4-BE49-F238E27FC236}">
                <a16:creationId xmlns:a16="http://schemas.microsoft.com/office/drawing/2014/main" id="{305F6E0C-73A4-45C8-8414-A48624C6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ลำดับจริงอาจมีผู้ประเมิน/หัวหน้างาน กรรมการ หรือผู้บริหาร ตามที่ตั้งค่า</a:t>
            </a:r>
          </a:p>
        </p:txBody>
      </p:sp>
      <p:sp>
        <p:nvSpPr>
          <p:cNvPr id="19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ED059FA4-9362-4704-9272-C93818C2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29B282A9-2B16-4123-BE6B-8F42E0BE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MSU EVA • การอบรมเชิงปฏิบัติการ</a:t>
            </a:r>
          </a:p>
        </p:txBody>
      </p:sp>
      <p:sp>
        <p:nvSpPr>
          <p:cNvPr id="21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33105F03-0906-4AAC-A530-B0673DE3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04 / 15</a:t>
            </a:r>
          </a:p>
        </p:txBody>
      </p:sp>
    </p:spTree>
    <p:extLst>
      <p:ext uri="{BB962C8B-B14F-4D97-AF65-F5344CB8AC3E}">
        <p14:creationId xmlns:p14="http://schemas.microsoft.com/office/powerpoint/2010/main" val="20193897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5">
            <a:extLst xmlns:a="http://schemas.openxmlformats.org/drawingml/2006/main">
              <a:ext uri="{FF2B5EF4-FFF2-40B4-BE49-F238E27FC236}">
                <a16:creationId xmlns:a16="http://schemas.microsoft.com/office/drawing/2014/main" id="{45C6705D-8792-4CBE-BB4B-84183D15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ก่อนเริ่มกรอก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330E84BD-CFEA-483B-BA15-AE368CE3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บันทึกร่างแก้ไขได้ แต่ส่งแล้วแก้ไขไม่ได้</a:t>
            </a:r>
          </a:p>
        </p:txBody>
      </p:sp>
      <p:sp>
        <p:nvSpPr>
          <p:cNvPr id="3" name="decision-intro">
            <a:extLst xmlns:a="http://schemas.openxmlformats.org/drawingml/2006/main">
              <a:ext uri="{FF2B5EF4-FFF2-40B4-BE49-F238E27FC236}">
                <a16:creationId xmlns:a16="http://schemas.microsoft.com/office/drawing/2014/main" id="{F67FB19A-B2BF-4DF5-8BC2-B6D23D3B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เลือกให้ตรงกับความพร้อมของงาน</a:t>
            </a:r>
          </a:p>
        </p:txBody>
      </p:sp>
      <p:sp>
        <p:nvSpPr>
          <p:cNvPr id="4" name="draft-panel">
            <a:extLst xmlns:a="http://schemas.openxmlformats.org/drawingml/2006/main">
              <a:ext uri="{FF2B5EF4-FFF2-40B4-BE49-F238E27FC236}">
                <a16:creationId xmlns:a16="http://schemas.microsoft.com/office/drawing/2014/main" id="{C39309B2-B980-445B-9508-D2FBCBF8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1435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2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raft-title">
            <a:extLst xmlns:a="http://schemas.openxmlformats.org/drawingml/2006/main">
              <a:ext uri="{FF2B5EF4-FFF2-40B4-BE49-F238E27FC236}">
                <a16:creationId xmlns:a16="http://schemas.microsoft.com/office/drawing/2014/main" id="{D179336A-739C-4BA8-8653-5AFFAAB9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บันทึกร่าง</a:t>
            </a:r>
          </a:p>
        </p:txBody>
      </p:sp>
      <p:sp>
        <p:nvSpPr>
          <p:cNvPr id="6" name="draft-body">
            <a:extLst xmlns:a="http://schemas.openxmlformats.org/drawingml/2006/main">
              <a:ext uri="{FF2B5EF4-FFF2-40B4-BE49-F238E27FC236}">
                <a16:creationId xmlns:a16="http://schemas.microsoft.com/office/drawing/2014/main" id="{46B0357F-3E9B-4022-B06F-23F11FE6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4229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• กลับมาแก้ไขได้</a:t>
            </a:r>
          </a:p>
          <a:p xmlns:a="http://schemas.openxmlformats.org/drawingml/2006/main">
            <a:pPr algn="l">
              <a:defRPr sz="172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• ใช้ตรวจความครบถ้วน</a:t>
            </a:r>
          </a:p>
          <a:p xmlns:a="http://schemas.openxmlformats.org/drawingml/2006/main">
            <a:pPr algn="l">
              <a:defRPr sz="172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• ยังไม่ส่งให้ผู้ตรวจขั้นถัดไป</a:t>
            </a:r>
          </a:p>
        </p:txBody>
      </p:sp>
      <p:sp>
        <p:nvSpPr>
          <p:cNvPr id="7" name="submit-panel">
            <a:extLst xmlns:a="http://schemas.openxmlformats.org/drawingml/2006/main">
              <a:ext uri="{FF2B5EF4-FFF2-40B4-BE49-F238E27FC236}">
                <a16:creationId xmlns:a16="http://schemas.microsoft.com/office/drawing/2014/main" id="{4DC59B96-207E-4CDD-9121-5B5A2487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33650"/>
            <a:ext cx="514350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2EBFA"/>
          </a:solidFill>
          <a:ln xmlns:a="http://schemas.openxmlformats.org/drawingml/2006/main" w="19050">
            <a:solidFill>
              <a:srgbClr val="6F2DBD"/>
            </a:solidFill>
            <a:prstDash val="solid"/>
          </a:ln>
        </p:spPr>
      </p:sp>
      <p:sp>
        <p:nvSpPr>
          <p:cNvPr id="8" name="submit-title">
            <a:extLst xmlns:a="http://schemas.openxmlformats.org/drawingml/2006/main">
              <a:ext uri="{FF2B5EF4-FFF2-40B4-BE49-F238E27FC236}">
                <a16:creationId xmlns:a16="http://schemas.microsoft.com/office/drawing/2014/main" id="{A429ED8E-7739-42DC-9257-029067DA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434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E1D85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4E1D85"/>
                </a:solidFill>
                <a:latin typeface="Tahoma"/>
                <a:ea typeface="Tahoma"/>
                <a:cs typeface="Tahoma"/>
              </a:rPr>
              <a:t>ส่ง</a:t>
            </a:r>
          </a:p>
        </p:txBody>
      </p:sp>
      <p:sp>
        <p:nvSpPr>
          <p:cNvPr id="9" name="submit-body">
            <a:extLst xmlns:a="http://schemas.openxmlformats.org/drawingml/2006/main">
              <a:ext uri="{FF2B5EF4-FFF2-40B4-BE49-F238E27FC236}">
                <a16:creationId xmlns:a16="http://schemas.microsoft.com/office/drawing/2014/main" id="{64ECE79C-006A-41C0-B542-6C780E45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33800"/>
            <a:ext cx="4229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E1D85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4E1D85"/>
                </a:solidFill>
                <a:latin typeface="Tahoma"/>
                <a:ea typeface="Tahoma"/>
                <a:cs typeface="Tahoma"/>
              </a:rPr>
              <a:t>• ล็อกการแก้ไขของผู้ส่งในขั้นนั้น</a:t>
            </a:r>
          </a:p>
          <a:p xmlns:a="http://schemas.openxmlformats.org/drawingml/2006/main">
            <a:pPr algn="l">
              <a:defRPr sz="1725" b="0">
                <a:solidFill>
                  <a:srgbClr val="4E1D85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4E1D85"/>
                </a:solidFill>
                <a:latin typeface="Tahoma"/>
                <a:ea typeface="Tahoma"/>
                <a:cs typeface="Tahoma"/>
              </a:rPr>
              <a:t>• ส่งงานให้ผู้ตรวจตามลำดับ</a:t>
            </a:r>
          </a:p>
          <a:p xmlns:a="http://schemas.openxmlformats.org/drawingml/2006/main">
            <a:pPr algn="l">
              <a:defRPr sz="1725" b="0">
                <a:solidFill>
                  <a:srgbClr val="4E1D85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4E1D85"/>
                </a:solidFill>
                <a:latin typeface="Tahoma"/>
                <a:ea typeface="Tahoma"/>
                <a:cs typeface="Tahoma"/>
              </a:rPr>
              <a:t>• ตรวจข้อมูลและหลักฐานก่อนยืนยัน</a:t>
            </a:r>
          </a:p>
        </p:txBody>
      </p:sp>
      <p:sp>
        <p:nvSpPr>
          <p:cNvPr id="10" name="submit-nuance">
            <a:extLst xmlns:a="http://schemas.openxmlformats.org/drawingml/2006/main">
              <a:ext uri="{FF2B5EF4-FFF2-40B4-BE49-F238E27FC236}">
                <a16:creationId xmlns:a16="http://schemas.microsoft.com/office/drawing/2014/main" id="{7A99FC9B-9462-45C1-B350-DD446CC2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ผู้ตรวจขั้นถัดไปยังตรวจ แก้ไข หรือให้คะแนนได้ตามสิทธิ์ของตน</a:t>
            </a:r>
          </a:p>
        </p:txBody>
      </p:sp>
      <p:sp>
        <p:nvSpPr>
          <p:cNvPr id="11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88B926F5-BE39-4FC4-A301-33128AA9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5AD21651-54D5-48B9-9EEB-C86B1766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MSU EVA • การอบรมเชิงปฏิบัติการ</a:t>
            </a:r>
          </a:p>
        </p:txBody>
      </p:sp>
      <p:sp>
        <p:nvSpPr>
          <p:cNvPr id="13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C87DDC1A-F704-42EF-BAB7-DA15E164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05 / 15</a:t>
            </a:r>
          </a:p>
        </p:txBody>
      </p:sp>
    </p:spTree>
    <p:extLst>
      <p:ext uri="{BB962C8B-B14F-4D97-AF65-F5344CB8AC3E}">
        <p14:creationId xmlns:p14="http://schemas.microsoft.com/office/powerpoint/2010/main" val="4079070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6">
            <a:extLst xmlns:a="http://schemas.openxmlformats.org/drawingml/2006/main">
              <a:ext uri="{FF2B5EF4-FFF2-40B4-BE49-F238E27FC236}">
                <a16:creationId xmlns:a16="http://schemas.microsoft.com/office/drawing/2014/main" id="{CCBC8B8C-44D4-4A1C-9E06-67329BA3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จุดเริ่มต้น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4FA1D958-9EBF-4733-8ED2-3AFFF99C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เริ่มจากแดชบอร์ดและเลือกงานที่ได้รับมอบหมาย</a:t>
            </a:r>
          </a:p>
        </p:txBody>
      </p:sp>
      <p:sp>
        <p:nvSpPr>
          <p:cNvPr id="3" name="entry-precheck">
            <a:extLst xmlns:a="http://schemas.openxmlformats.org/drawingml/2006/main">
              <a:ext uri="{FF2B5EF4-FFF2-40B4-BE49-F238E27FC236}">
                <a16:creationId xmlns:a16="http://schemas.microsoft.com/office/drawing/2014/main" id="{6D28EBC0-99C9-4CCC-9AA2-581F4483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E1D85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4E1D85"/>
                </a:solidFill>
                <a:latin typeface="Tahoma"/>
                <a:ea typeface="Tahoma"/>
                <a:cs typeface="Tahoma"/>
              </a:rPr>
              <a:t>ก่อนเปิดงาน</a:t>
            </a:r>
          </a:p>
        </p:txBody>
      </p:sp>
      <p:sp>
        <p:nvSpPr>
          <p:cNvPr id="4" name="entry-precheck-body">
            <a:extLst xmlns:a="http://schemas.openxmlformats.org/drawingml/2006/main">
              <a:ext uri="{FF2B5EF4-FFF2-40B4-BE49-F238E27FC236}">
                <a16:creationId xmlns:a16="http://schemas.microsoft.com/office/drawing/2014/main" id="{CED1F22D-9413-4F90-9F73-F419EC62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ตรวจบทบาท รอบประเมิน</a:t>
            </a:r>
          </a:p>
          <a:p xmlns:a="http://schemas.openxmlformats.org/drawingml/2006/main">
            <a:pPr algn="l">
              <a:defRPr sz="202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และสถานะของรายการให้ถูกต้อง</a:t>
            </a:r>
          </a:p>
        </p:txBody>
      </p:sp>
      <p:sp>
        <p:nvSpPr>
          <p:cNvPr id="5" name="entry-demo-note">
            <a:extLst xmlns:a="http://schemas.openxmlformats.org/drawingml/2006/main">
              <a:ext uri="{FF2B5EF4-FFF2-40B4-BE49-F238E27FC236}">
                <a16:creationId xmlns:a16="http://schemas.microsoft.com/office/drawing/2014/main" id="{F996FD41-B6CF-455E-BE96-BC5CCC15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งานของแต่ละคนอาจต่างกันตามบทบาทและรอบประเมิน</a:t>
            </a:r>
          </a:p>
        </p:txBody>
      </p:sp>
      <p:sp>
        <p:nvSpPr>
          <p:cNvPr id="6" name="entry-sequence-frame">
            <a:extLst xmlns:a="http://schemas.openxmlformats.org/drawingml/2006/main">
              <a:ext uri="{FF2B5EF4-FFF2-40B4-BE49-F238E27FC236}">
                <a16:creationId xmlns:a16="http://schemas.microsoft.com/office/drawing/2014/main" id="{C6019267-034D-4848-9BB2-E1E69716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53911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ntry-step-1-number">
            <a:extLst xmlns:a="http://schemas.openxmlformats.org/drawingml/2006/main">
              <a:ext uri="{FF2B5EF4-FFF2-40B4-BE49-F238E27FC236}">
                <a16:creationId xmlns:a16="http://schemas.microsoft.com/office/drawing/2014/main" id="{0076C3E6-95F0-4FB0-AF20-D92DD71D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8" name="entry-step-1-title">
            <a:extLst xmlns:a="http://schemas.openxmlformats.org/drawingml/2006/main">
              <a:ext uri="{FF2B5EF4-FFF2-40B4-BE49-F238E27FC236}">
                <a16:creationId xmlns:a16="http://schemas.microsoft.com/office/drawing/2014/main" id="{52F99A67-ECA9-4123-A51C-DCFB0285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955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เปิด Dashboard</a:t>
            </a:r>
          </a:p>
        </p:txBody>
      </p:sp>
      <p:sp>
        <p:nvSpPr>
          <p:cNvPr id="9" name="entry-step-1-body">
            <a:extLst xmlns:a="http://schemas.openxmlformats.org/drawingml/2006/main">
              <a:ext uri="{FF2B5EF4-FFF2-40B4-BE49-F238E27FC236}">
                <a16:creationId xmlns:a16="http://schemas.microsoft.com/office/drawing/2014/main" id="{A3517809-041B-44FD-8D69-A642F4F7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051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ดูสถานะและงานที่รอทำ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2C647-FE15-49AC-97BA-E7116EF0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62300"/>
            <a:ext cx="4438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ntry-step-2-number">
            <a:extLst xmlns:a="http://schemas.openxmlformats.org/drawingml/2006/main">
              <a:ext uri="{FF2B5EF4-FFF2-40B4-BE49-F238E27FC236}">
                <a16:creationId xmlns:a16="http://schemas.microsoft.com/office/drawing/2014/main" id="{8FD0E3F8-9E18-4A7B-8AA6-FE926C3F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528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12" name="entry-step-2-title">
            <a:extLst xmlns:a="http://schemas.openxmlformats.org/drawingml/2006/main">
              <a:ext uri="{FF2B5EF4-FFF2-40B4-BE49-F238E27FC236}">
                <a16:creationId xmlns:a16="http://schemas.microsoft.com/office/drawing/2014/main" id="{2C1F4D2B-0206-4337-B823-C1645DB0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242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เลือกงานที่ได้รับมอบหมาย</a:t>
            </a:r>
          </a:p>
        </p:txBody>
      </p:sp>
      <p:sp>
        <p:nvSpPr>
          <p:cNvPr id="13" name="entry-step-2-body">
            <a:extLst xmlns:a="http://schemas.openxmlformats.org/drawingml/2006/main">
              <a:ext uri="{FF2B5EF4-FFF2-40B4-BE49-F238E27FC236}">
                <a16:creationId xmlns:a16="http://schemas.microsoft.com/office/drawing/2014/main" id="{90582190-395A-4A3A-BA8F-08A43ADC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338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ตรวจชื่อรายการและบทบาท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BA0589-D4BD-46DB-87A0-4DA81422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4438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ntry-step-3-number">
            <a:extLst xmlns:a="http://schemas.openxmlformats.org/drawingml/2006/main">
              <a:ext uri="{FF2B5EF4-FFF2-40B4-BE49-F238E27FC236}">
                <a16:creationId xmlns:a16="http://schemas.microsoft.com/office/drawing/2014/main" id="{1453E951-4C93-4339-8D5F-0DEC9B45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815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6" name="entry-step-3-title">
            <a:extLst xmlns:a="http://schemas.openxmlformats.org/drawingml/2006/main">
              <a:ext uri="{FF2B5EF4-FFF2-40B4-BE49-F238E27FC236}">
                <a16:creationId xmlns:a16="http://schemas.microsoft.com/office/drawing/2014/main" id="{FB8FD893-EE36-49BE-A0E2-81FE9EFE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3529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เปิดรายการ</a:t>
            </a:r>
          </a:p>
        </p:txBody>
      </p:sp>
      <p:sp>
        <p:nvSpPr>
          <p:cNvPr id="17" name="entry-step-3-body">
            <a:extLst xmlns:a="http://schemas.openxmlformats.org/drawingml/2006/main">
              <a:ext uri="{FF2B5EF4-FFF2-40B4-BE49-F238E27FC236}">
                <a16:creationId xmlns:a16="http://schemas.microsoft.com/office/drawing/2014/main" id="{58ACC603-ECEC-4B29-8930-AFE6D0B6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7625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เริ่มกรอกตามสายงาน</a:t>
            </a:r>
          </a:p>
        </p:txBody>
      </p:sp>
      <p:sp>
        <p:nvSpPr>
          <p:cNvPr id="18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A3C5A538-B3E9-4168-BE68-C7D32821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BB3B6930-7C56-4E83-B2D3-936042C8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MSU EVA • การอบรมเชิงปฏิบัติการ</a:t>
            </a:r>
          </a:p>
        </p:txBody>
      </p:sp>
      <p:sp>
        <p:nvSpPr>
          <p:cNvPr id="20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8B8228AF-2BF6-4676-A4E5-3271295A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06 / 15</a:t>
            </a:r>
          </a:p>
        </p:txBody>
      </p:sp>
    </p:spTree>
    <p:extLst>
      <p:ext uri="{BB962C8B-B14F-4D97-AF65-F5344CB8AC3E}">
        <p14:creationId xmlns:p14="http://schemas.microsoft.com/office/powerpoint/2010/main" val="9741004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7">
            <a:extLst xmlns:a="http://schemas.openxmlformats.org/drawingml/2006/main">
              <a:ext uri="{FF2B5EF4-FFF2-40B4-BE49-F238E27FC236}">
                <a16:creationId xmlns:a16="http://schemas.microsoft.com/office/drawing/2014/main" id="{A08B84FD-6FDC-4D44-BB44-27C21E2C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สายวิชาการ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BC524776-1AF5-4E12-9919-2DE10FBE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สายวิชาการเริ่มจากรายวิชาและภาระงาน</a:t>
            </a:r>
          </a:p>
        </p:txBody>
      </p:sp>
      <p:sp>
        <p:nvSpPr>
          <p:cNvPr id="3" name="academic-1-number">
            <a:extLst xmlns:a="http://schemas.openxmlformats.org/drawingml/2006/main">
              <a:ext uri="{FF2B5EF4-FFF2-40B4-BE49-F238E27FC236}">
                <a16:creationId xmlns:a16="http://schemas.microsoft.com/office/drawing/2014/main" id="{2A257032-7F5D-44E2-90CE-8740AA43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9AFC0-EF9E-430C-89D2-CFE26898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cademic-1-title">
            <a:extLst xmlns:a="http://schemas.openxmlformats.org/drawingml/2006/main">
              <a:ext uri="{FF2B5EF4-FFF2-40B4-BE49-F238E27FC236}">
                <a16:creationId xmlns:a16="http://schemas.microsoft.com/office/drawing/2014/main" id="{8154BDFA-8C21-467B-BB96-9AFED09D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2209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เลือกรายวิชา/</a:t>
            </a:r>
          </a:p>
          <a:p xmlns:a="http://schemas.openxmlformats.org/drawingml/2006/main">
            <a:pPr algn="l">
              <a:defRPr sz="195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งาน</a:t>
            </a:r>
          </a:p>
        </p:txBody>
      </p:sp>
      <p:sp>
        <p:nvSpPr>
          <p:cNvPr id="6" name="academic-1-body">
            <a:extLst xmlns:a="http://schemas.openxmlformats.org/drawingml/2006/main">
              <a:ext uri="{FF2B5EF4-FFF2-40B4-BE49-F238E27FC236}">
                <a16:creationId xmlns:a16="http://schemas.microsoft.com/office/drawing/2014/main" id="{78669F65-4460-4BB0-A6D6-FC73FB44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20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เปิดรายการที่ได้รับ</a:t>
            </a:r>
          </a:p>
          <a:p xmlns:a="http://schemas.openxmlformats.org/drawingml/2006/main">
            <a:pPr algn="l">
              <a:defRPr sz="150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มอบหมาย</a:t>
            </a:r>
          </a:p>
        </p:txBody>
      </p:sp>
      <p:sp>
        <p:nvSpPr>
          <p:cNvPr id="7" name="academic-2-number">
            <a:extLst xmlns:a="http://schemas.openxmlformats.org/drawingml/2006/main">
              <a:ext uri="{FF2B5EF4-FFF2-40B4-BE49-F238E27FC236}">
                <a16:creationId xmlns:a16="http://schemas.microsoft.com/office/drawing/2014/main" id="{73B294E1-6EC6-4E4B-9F39-ED5DD04E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14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29F51-E37E-4443-8F5A-BEDFD99E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09900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cademic-2-title">
            <a:extLst xmlns:a="http://schemas.openxmlformats.org/drawingml/2006/main">
              <a:ext uri="{FF2B5EF4-FFF2-40B4-BE49-F238E27FC236}">
                <a16:creationId xmlns:a16="http://schemas.microsoft.com/office/drawing/2014/main" id="{1C787AEC-C397-496C-B0C8-79B459CD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52800"/>
            <a:ext cx="2209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ระบุภาระงาน</a:t>
            </a:r>
          </a:p>
        </p:txBody>
      </p:sp>
      <p:sp>
        <p:nvSpPr>
          <p:cNvPr id="10" name="academic-2-body">
            <a:extLst xmlns:a="http://schemas.openxmlformats.org/drawingml/2006/main">
              <a:ext uri="{FF2B5EF4-FFF2-40B4-BE49-F238E27FC236}">
                <a16:creationId xmlns:a16="http://schemas.microsoft.com/office/drawing/2014/main" id="{2ABC47D8-59D4-4914-8DBF-86CE839C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24350"/>
            <a:ext cx="220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กรอกปริมาณและคุณภาพ</a:t>
            </a:r>
          </a:p>
          <a:p xmlns:a="http://schemas.openxmlformats.org/drawingml/2006/main">
            <a:pPr algn="l">
              <a:defRPr sz="150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ตามแบบ</a:t>
            </a:r>
          </a:p>
        </p:txBody>
      </p:sp>
      <p:sp>
        <p:nvSpPr>
          <p:cNvPr id="11" name="academic-3-number">
            <a:extLst xmlns:a="http://schemas.openxmlformats.org/drawingml/2006/main">
              <a:ext uri="{FF2B5EF4-FFF2-40B4-BE49-F238E27FC236}">
                <a16:creationId xmlns:a16="http://schemas.microsoft.com/office/drawing/2014/main" id="{BC48BB89-15FA-4E0C-932B-E7D7CD5E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14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69495-A346-4F96-9B9B-A0E38C7F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09900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cademic-3-title">
            <a:extLst xmlns:a="http://schemas.openxmlformats.org/drawingml/2006/main">
              <a:ext uri="{FF2B5EF4-FFF2-40B4-BE49-F238E27FC236}">
                <a16:creationId xmlns:a16="http://schemas.microsoft.com/office/drawing/2014/main" id="{D9AD7EAC-FFC8-4B3E-9A0F-A7F04706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52800"/>
            <a:ext cx="2209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บันทึกผลงาน</a:t>
            </a:r>
          </a:p>
        </p:txBody>
      </p:sp>
      <p:sp>
        <p:nvSpPr>
          <p:cNvPr id="14" name="academic-3-body">
            <a:extLst xmlns:a="http://schemas.openxmlformats.org/drawingml/2006/main">
              <a:ext uri="{FF2B5EF4-FFF2-40B4-BE49-F238E27FC236}">
                <a16:creationId xmlns:a16="http://schemas.microsoft.com/office/drawing/2014/main" id="{49B0762D-5B45-4F44-882E-AD1E2FAA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24350"/>
            <a:ext cx="220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ตรวจค่าที่ใช้คำนวณ</a:t>
            </a:r>
          </a:p>
          <a:p xmlns:a="http://schemas.openxmlformats.org/drawingml/2006/main">
            <a:pPr algn="l">
              <a:defRPr sz="150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คะแนน</a:t>
            </a:r>
          </a:p>
        </p:txBody>
      </p:sp>
      <p:sp>
        <p:nvSpPr>
          <p:cNvPr id="15" name="academic-4-number">
            <a:extLst xmlns:a="http://schemas.openxmlformats.org/drawingml/2006/main">
              <a:ext uri="{FF2B5EF4-FFF2-40B4-BE49-F238E27FC236}">
                <a16:creationId xmlns:a16="http://schemas.microsoft.com/office/drawing/2014/main" id="{849B871E-024A-4829-86C1-0E62FA70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14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04CE0-CEAE-4212-92A1-F73407FD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99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D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cademic-4-title">
            <a:extLst xmlns:a="http://schemas.openxmlformats.org/drawingml/2006/main">
              <a:ext uri="{FF2B5EF4-FFF2-40B4-BE49-F238E27FC236}">
                <a16:creationId xmlns:a16="http://schemas.microsoft.com/office/drawing/2014/main" id="{2545D475-01F2-41C0-9EBB-2CC578FB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52800"/>
            <a:ext cx="2209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แนบหลักฐาน</a:t>
            </a:r>
          </a:p>
        </p:txBody>
      </p:sp>
      <p:sp>
        <p:nvSpPr>
          <p:cNvPr id="18" name="academic-4-body">
            <a:extLst xmlns:a="http://schemas.openxmlformats.org/drawingml/2006/main">
              <a:ext uri="{FF2B5EF4-FFF2-40B4-BE49-F238E27FC236}">
                <a16:creationId xmlns:a16="http://schemas.microsoft.com/office/drawing/2014/main" id="{884D0239-585A-4EE0-874A-4C13248B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24350"/>
            <a:ext cx="220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เตรียมลิงก์ที่ผู้ตรวจ</a:t>
            </a:r>
          </a:p>
          <a:p xmlns:a="http://schemas.openxmlformats.org/drawingml/2006/main">
            <a:pPr algn="l">
              <a:defRPr sz="150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เปิดได้</a:t>
            </a:r>
          </a:p>
        </p:txBody>
      </p:sp>
      <p:sp>
        <p:nvSpPr>
          <p:cNvPr id="19" name="academic-close">
            <a:extLst xmlns:a="http://schemas.openxmlformats.org/drawingml/2006/main">
              <a:ext uri="{FF2B5EF4-FFF2-40B4-BE49-F238E27FC236}">
                <a16:creationId xmlns:a16="http://schemas.microsoft.com/office/drawing/2014/main" id="{6AEA674A-1CD0-4004-A725-9A3B9F8B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E1D85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4E1D85"/>
                </a:solidFill>
                <a:latin typeface="Tahoma"/>
                <a:ea typeface="Tahoma"/>
                <a:cs typeface="Tahoma"/>
              </a:rPr>
              <a:t>ทำทีละรายการและตรวจความครบถ้วนก่อนส่ง</a:t>
            </a:r>
          </a:p>
        </p:txBody>
      </p:sp>
      <p:sp>
        <p:nvSpPr>
          <p:cNvPr id="20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F9683F6D-5F12-42E2-A198-B1809E66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62B457EE-C7E2-40DD-8053-B0944768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MSU EVA • การอบรมเชิงปฏิบัติการ</a:t>
            </a:r>
          </a:p>
        </p:txBody>
      </p:sp>
      <p:sp>
        <p:nvSpPr>
          <p:cNvPr id="22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1733CC78-2492-4BB7-A269-098B05A6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07 / 15</a:t>
            </a:r>
          </a:p>
        </p:txBody>
      </p:sp>
    </p:spTree>
    <p:extLst>
      <p:ext uri="{BB962C8B-B14F-4D97-AF65-F5344CB8AC3E}">
        <p14:creationId xmlns:p14="http://schemas.microsoft.com/office/powerpoint/2010/main" val="17073266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8">
            <a:extLst xmlns:a="http://schemas.openxmlformats.org/drawingml/2006/main">
              <a:ext uri="{FF2B5EF4-FFF2-40B4-BE49-F238E27FC236}">
                <a16:creationId xmlns:a16="http://schemas.microsoft.com/office/drawing/2014/main" id="{5B8C27FC-396A-4295-A39D-77F6106E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สายวิชาการ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770EEF2C-555E-4A11-829A-BBB3D953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กรอกผลงาน ตรวจสูตร และแนบหลักฐาน</a:t>
            </a:r>
          </a:p>
        </p:txBody>
      </p:sp>
      <p:sp>
        <p:nvSpPr>
          <p:cNvPr id="3" name="evidence-panel-1">
            <a:extLst xmlns:a="http://schemas.openxmlformats.org/drawingml/2006/main">
              <a:ext uri="{FF2B5EF4-FFF2-40B4-BE49-F238E27FC236}">
                <a16:creationId xmlns:a16="http://schemas.microsoft.com/office/drawing/2014/main" id="{E2014623-61F4-4ECC-98CF-1C84940C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33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vidence-1-number">
            <a:extLst xmlns:a="http://schemas.openxmlformats.org/drawingml/2006/main">
              <a:ext uri="{FF2B5EF4-FFF2-40B4-BE49-F238E27FC236}">
                <a16:creationId xmlns:a16="http://schemas.microsoft.com/office/drawing/2014/main" id="{DB1813FE-E16F-421A-88DA-6478456E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5" name="evidence-1-title">
            <a:extLst xmlns:a="http://schemas.openxmlformats.org/drawingml/2006/main">
              <a:ext uri="{FF2B5EF4-FFF2-40B4-BE49-F238E27FC236}">
                <a16:creationId xmlns:a16="http://schemas.microsoft.com/office/drawing/2014/main" id="{D62B2806-3A16-4C02-842D-D66150A4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65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ผลงาน</a:t>
            </a:r>
          </a:p>
        </p:txBody>
      </p:sp>
      <p:sp>
        <p:nvSpPr>
          <p:cNvPr id="6" name="evidence-1-body">
            <a:extLst xmlns:a="http://schemas.openxmlformats.org/drawingml/2006/main">
              <a:ext uri="{FF2B5EF4-FFF2-40B4-BE49-F238E27FC236}">
                <a16:creationId xmlns:a16="http://schemas.microsoft.com/office/drawing/2014/main" id="{3F82FC7C-2A78-4BE6-97A5-4D193A05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337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กรอกค่าที่ระบบต้องใช้ให้ครบ</a:t>
            </a:r>
          </a:p>
        </p:txBody>
      </p:sp>
      <p:sp>
        <p:nvSpPr>
          <p:cNvPr id="7" name="evidence-panel-2">
            <a:extLst xmlns:a="http://schemas.openxmlformats.org/drawingml/2006/main">
              <a:ext uri="{FF2B5EF4-FFF2-40B4-BE49-F238E27FC236}">
                <a16:creationId xmlns:a16="http://schemas.microsoft.com/office/drawing/2014/main" id="{33A99BDB-CA76-4C38-BE7E-5A14B459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86000"/>
            <a:ext cx="533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vidence-2-number">
            <a:extLst xmlns:a="http://schemas.openxmlformats.org/drawingml/2006/main">
              <a:ext uri="{FF2B5EF4-FFF2-40B4-BE49-F238E27FC236}">
                <a16:creationId xmlns:a16="http://schemas.microsoft.com/office/drawing/2014/main" id="{08A31501-53CB-4912-8F98-7205A560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146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9" name="evidence-2-title">
            <a:extLst xmlns:a="http://schemas.openxmlformats.org/drawingml/2006/main">
              <a:ext uri="{FF2B5EF4-FFF2-40B4-BE49-F238E27FC236}">
                <a16:creationId xmlns:a16="http://schemas.microsoft.com/office/drawing/2014/main" id="{0897A78C-0EF0-407F-AE24-71B56E22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สูตร</a:t>
            </a:r>
          </a:p>
        </p:txBody>
      </p:sp>
      <p:sp>
        <p:nvSpPr>
          <p:cNvPr id="10" name="evidence-2-body">
            <a:extLst xmlns:a="http://schemas.openxmlformats.org/drawingml/2006/main">
              <a:ext uri="{FF2B5EF4-FFF2-40B4-BE49-F238E27FC236}">
                <a16:creationId xmlns:a16="http://schemas.microsoft.com/office/drawing/2014/main" id="{47678AFA-6BA6-4172-AB6B-15B418F0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3370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ทบทวนค่าที่คำนวณก่อนยืนยัน</a:t>
            </a:r>
          </a:p>
        </p:txBody>
      </p:sp>
      <p:sp>
        <p:nvSpPr>
          <p:cNvPr id="11" name="evidence-panel-3">
            <a:extLst xmlns:a="http://schemas.openxmlformats.org/drawingml/2006/main">
              <a:ext uri="{FF2B5EF4-FFF2-40B4-BE49-F238E27FC236}">
                <a16:creationId xmlns:a16="http://schemas.microsoft.com/office/drawing/2014/main" id="{6CAB80BA-2FBA-4C5E-AE9D-BA8806F0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33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A"/>
          </a:solidFill>
          <a:ln xmlns:a="http://schemas.openxmlformats.org/drawingml/2006/main" w="19050">
            <a:solidFill>
              <a:srgbClr val="6F2DBD"/>
            </a:solidFill>
            <a:prstDash val="solid"/>
          </a:ln>
        </p:spPr>
      </p:sp>
      <p:sp>
        <p:nvSpPr>
          <p:cNvPr id="12" name="evidence-3-number">
            <a:extLst xmlns:a="http://schemas.openxmlformats.org/drawingml/2006/main">
              <a:ext uri="{FF2B5EF4-FFF2-40B4-BE49-F238E27FC236}">
                <a16:creationId xmlns:a16="http://schemas.microsoft.com/office/drawing/2014/main" id="{778A78AF-F18B-4E44-B1D6-ADE60D91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3" name="evidence-3-title">
            <a:extLst xmlns:a="http://schemas.openxmlformats.org/drawingml/2006/main">
              <a:ext uri="{FF2B5EF4-FFF2-40B4-BE49-F238E27FC236}">
                <a16:creationId xmlns:a16="http://schemas.microsoft.com/office/drawing/2014/main" id="{A4F55883-F389-4E9F-A647-61AA5AFB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862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หลักฐาน</a:t>
            </a:r>
          </a:p>
        </p:txBody>
      </p:sp>
      <p:sp>
        <p:nvSpPr>
          <p:cNvPr id="14" name="evidence-3-body">
            <a:extLst xmlns:a="http://schemas.openxmlformats.org/drawingml/2006/main">
              <a:ext uri="{FF2B5EF4-FFF2-40B4-BE49-F238E27FC236}">
                <a16:creationId xmlns:a16="http://schemas.microsoft.com/office/drawing/2014/main" id="{F544E821-1D8F-4D21-83CD-E8E908C8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E1D85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4E1D85"/>
                </a:solidFill>
                <a:latin typeface="Tahoma"/>
                <a:ea typeface="Tahoma"/>
                <a:cs typeface="Tahoma"/>
              </a:rPr>
              <a:t>รายการที่กำหนดต้องมีลิงก์ก่อนส่ง</a:t>
            </a:r>
          </a:p>
        </p:txBody>
      </p:sp>
      <p:sp>
        <p:nvSpPr>
          <p:cNvPr id="15" name="evidence-panel-4">
            <a:extLst xmlns:a="http://schemas.openxmlformats.org/drawingml/2006/main">
              <a:ext uri="{FF2B5EF4-FFF2-40B4-BE49-F238E27FC236}">
                <a16:creationId xmlns:a16="http://schemas.microsoft.com/office/drawing/2014/main" id="{27BC2621-DF6F-4113-A70F-8959173E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533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vidence-4-number">
            <a:extLst xmlns:a="http://schemas.openxmlformats.org/drawingml/2006/main">
              <a:ext uri="{FF2B5EF4-FFF2-40B4-BE49-F238E27FC236}">
                <a16:creationId xmlns:a16="http://schemas.microsoft.com/office/drawing/2014/main" id="{45F93AFE-BDEE-40A3-8904-FBE87EC9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243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17" name="evidence-4-title">
            <a:extLst xmlns:a="http://schemas.openxmlformats.org/drawingml/2006/main">
              <a:ext uri="{FF2B5EF4-FFF2-40B4-BE49-F238E27FC236}">
                <a16:creationId xmlns:a16="http://schemas.microsoft.com/office/drawing/2014/main" id="{D0FA7566-E619-431E-B7B0-CA784446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862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ก่อนส่ง</a:t>
            </a:r>
          </a:p>
        </p:txBody>
      </p:sp>
      <p:sp>
        <p:nvSpPr>
          <p:cNvPr id="18" name="evidence-4-body">
            <a:extLst xmlns:a="http://schemas.openxmlformats.org/drawingml/2006/main">
              <a:ext uri="{FF2B5EF4-FFF2-40B4-BE49-F238E27FC236}">
                <a16:creationId xmlns:a16="http://schemas.microsoft.com/office/drawing/2014/main" id="{9D4C3A27-D1AD-44AB-B3C1-97239473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434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เปิดลิงก์ได้ ข้อมูลตรง และไม่มีช่องบังคับค้าง</a:t>
            </a:r>
          </a:p>
        </p:txBody>
      </p:sp>
      <p:sp>
        <p:nvSpPr>
          <p:cNvPr id="19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4777FEDE-39CA-4BAE-A6BE-4D66A657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D9F3450E-82E1-400D-AED5-0D5F21B3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MSU EVA • การอบรมเชิงปฏิบัติการ</a:t>
            </a:r>
          </a:p>
        </p:txBody>
      </p:sp>
      <p:sp>
        <p:nvSpPr>
          <p:cNvPr id="21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65768050-7472-4894-A43F-012F0DAD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08 / 15</a:t>
            </a:r>
          </a:p>
        </p:txBody>
      </p:sp>
    </p:spTree>
    <p:extLst>
      <p:ext uri="{BB962C8B-B14F-4D97-AF65-F5344CB8AC3E}">
        <p14:creationId xmlns:p14="http://schemas.microsoft.com/office/powerpoint/2010/main" val="6338925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9">
            <a:extLst xmlns:a="http://schemas.openxmlformats.org/drawingml/2006/main">
              <a:ext uri="{FF2B5EF4-FFF2-40B4-BE49-F238E27FC236}">
                <a16:creationId xmlns:a16="http://schemas.microsoft.com/office/drawing/2014/main" id="{D7E31595-453B-4819-B5F8-D73ED066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สายสนับสนุน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D530B6ED-B781-467E-B429-663A30FD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สายสนับสนุนเริ่มจากกิจกรรมและตัวชี้วัด</a:t>
            </a:r>
          </a:p>
        </p:txBody>
      </p:sp>
      <p:sp>
        <p:nvSpPr>
          <p:cNvPr id="3" name="support-1-number">
            <a:extLst xmlns:a="http://schemas.openxmlformats.org/drawingml/2006/main">
              <a:ext uri="{FF2B5EF4-FFF2-40B4-BE49-F238E27FC236}">
                <a16:creationId xmlns:a16="http://schemas.microsoft.com/office/drawing/2014/main" id="{A3775C52-9147-4AC2-A5AC-49731D5C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29AC4-EA0A-43AB-BB51-03D7F955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3371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pport-1-title">
            <a:extLst xmlns:a="http://schemas.openxmlformats.org/drawingml/2006/main">
              <a:ext uri="{FF2B5EF4-FFF2-40B4-BE49-F238E27FC236}">
                <a16:creationId xmlns:a16="http://schemas.microsoft.com/office/drawing/2014/main" id="{B31C7CA6-4803-43E2-AC34-021A9DD1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371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กิจกรรม</a:t>
            </a:r>
          </a:p>
        </p:txBody>
      </p:sp>
      <p:sp>
        <p:nvSpPr>
          <p:cNvPr id="6" name="support-1-body">
            <a:extLst xmlns:a="http://schemas.openxmlformats.org/drawingml/2006/main">
              <a:ext uri="{FF2B5EF4-FFF2-40B4-BE49-F238E27FC236}">
                <a16:creationId xmlns:a16="http://schemas.microsoft.com/office/drawing/2014/main" id="{0AB69FF1-81A4-4047-8343-E7E0D07C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3371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เลือกรายการที่ได้รับมอบหมาย</a:t>
            </a:r>
          </a:p>
          <a:p xmlns:a="http://schemas.openxmlformats.org/drawingml/2006/main">
            <a:pPr algn="l">
              <a:defRPr sz="157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และกรอกรายละเอียดเมื่อระบบเปิดให้</a:t>
            </a:r>
          </a:p>
        </p:txBody>
      </p:sp>
      <p:sp>
        <p:nvSpPr>
          <p:cNvPr id="7" name="support-2-number">
            <a:extLst xmlns:a="http://schemas.openxmlformats.org/drawingml/2006/main">
              <a:ext uri="{FF2B5EF4-FFF2-40B4-BE49-F238E27FC236}">
                <a16:creationId xmlns:a16="http://schemas.microsoft.com/office/drawing/2014/main" id="{153B920C-853F-4AA7-88E1-3ED9C24B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527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260B2-D61C-4669-8689-5A3F35F5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28950"/>
            <a:ext cx="3371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upport-2-title">
            <a:extLst xmlns:a="http://schemas.openxmlformats.org/drawingml/2006/main">
              <a:ext uri="{FF2B5EF4-FFF2-40B4-BE49-F238E27FC236}">
                <a16:creationId xmlns:a16="http://schemas.microsoft.com/office/drawing/2014/main" id="{B2FA56D7-37E1-4396-BB17-0C5DD00A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71850"/>
            <a:ext cx="3371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ตัวชี้วัด</a:t>
            </a:r>
          </a:p>
        </p:txBody>
      </p:sp>
      <p:sp>
        <p:nvSpPr>
          <p:cNvPr id="10" name="support-2-body">
            <a:extLst xmlns:a="http://schemas.openxmlformats.org/drawingml/2006/main">
              <a:ext uri="{FF2B5EF4-FFF2-40B4-BE49-F238E27FC236}">
                <a16:creationId xmlns:a16="http://schemas.microsoft.com/office/drawing/2014/main" id="{EE281E61-5EEE-490C-8A19-0374CCE7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38600"/>
            <a:ext cx="3371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ตรวจเป้าหมาย น้ำหนัก</a:t>
            </a:r>
          </a:p>
          <a:p xmlns:a="http://schemas.openxmlformats.org/drawingml/2006/main">
            <a:pPr algn="l">
              <a:defRPr sz="157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และเงื่อนไขหลักฐานของรายการ</a:t>
            </a:r>
          </a:p>
        </p:txBody>
      </p:sp>
      <p:sp>
        <p:nvSpPr>
          <p:cNvPr id="11" name="support-3-number">
            <a:extLst xmlns:a="http://schemas.openxmlformats.org/drawingml/2006/main">
              <a:ext uri="{FF2B5EF4-FFF2-40B4-BE49-F238E27FC236}">
                <a16:creationId xmlns:a16="http://schemas.microsoft.com/office/drawing/2014/main" id="{0C84A37D-0191-443E-B882-F9986B19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5270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EAC47-2F3F-4BC6-A502-F9866AA8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3371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D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upport-3-title">
            <a:extLst xmlns:a="http://schemas.openxmlformats.org/drawingml/2006/main">
              <a:ext uri="{FF2B5EF4-FFF2-40B4-BE49-F238E27FC236}">
                <a16:creationId xmlns:a16="http://schemas.microsoft.com/office/drawing/2014/main" id="{85F06354-DEFE-46EC-8198-D28B04EE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71850"/>
            <a:ext cx="3371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2325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ผลที่ทำได้</a:t>
            </a:r>
          </a:p>
        </p:txBody>
      </p:sp>
      <p:sp>
        <p:nvSpPr>
          <p:cNvPr id="14" name="support-3-body">
            <a:extLst xmlns:a="http://schemas.openxmlformats.org/drawingml/2006/main">
              <a:ext uri="{FF2B5EF4-FFF2-40B4-BE49-F238E27FC236}">
                <a16:creationId xmlns:a16="http://schemas.microsoft.com/office/drawing/2014/main" id="{8E7777DB-68F7-4149-A22D-CDB2DE5D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38600"/>
            <a:ext cx="3371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กรอกคะแนนตามผลงานจริง</a:t>
            </a:r>
          </a:p>
          <a:p xmlns:a="http://schemas.openxmlformats.org/drawingml/2006/main">
            <a:pPr algn="l">
              <a:defRPr sz="157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แล้วตรวจผลคำนวณก่อนส่ง</a:t>
            </a:r>
          </a:p>
        </p:txBody>
      </p:sp>
      <p:sp>
        <p:nvSpPr>
          <p:cNvPr id="15" name="support-evidence-callout">
            <a:extLst xmlns:a="http://schemas.openxmlformats.org/drawingml/2006/main">
              <a:ext uri="{FF2B5EF4-FFF2-40B4-BE49-F238E27FC236}">
                <a16:creationId xmlns:a16="http://schemas.microsoft.com/office/drawing/2014/main" id="{2D313217-37FF-4490-B82E-2A43C2D1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upport-evidence-text">
            <a:extLst xmlns:a="http://schemas.openxmlformats.org/drawingml/2006/main">
              <a:ext uri="{FF2B5EF4-FFF2-40B4-BE49-F238E27FC236}">
                <a16:creationId xmlns:a16="http://schemas.microsoft.com/office/drawing/2014/main" id="{533AFE3A-4B43-4E47-A59B-3C33AA7A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E1D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4E1D85"/>
                </a:solidFill>
                <a:latin typeface="Tahoma"/>
                <a:ea typeface="Tahoma"/>
                <a:cs typeface="Tahoma"/>
              </a:rPr>
              <a:t>ถ้ารายการบังคับหลักฐาน ระบบอาจตรวจลิงก์ตั้งแต่บันทึกร่าง</a:t>
            </a:r>
          </a:p>
        </p:txBody>
      </p:sp>
      <p:sp>
        <p:nvSpPr>
          <p:cNvPr id="17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F337A5A4-E716-4106-AD34-BA2058C1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3EA1B021-86A9-4163-8FA4-9AF227C7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MSU EVA • การอบรมเชิงปฏิบัติการ</a:t>
            </a:r>
          </a:p>
        </p:txBody>
      </p:sp>
      <p:sp>
        <p:nvSpPr>
          <p:cNvPr id="19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3DB47F35-9A13-4326-9062-EBFB297B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09 / 15</a:t>
            </a:r>
          </a:p>
        </p:txBody>
      </p:sp>
    </p:spTree>
    <p:extLst>
      <p:ext uri="{BB962C8B-B14F-4D97-AF65-F5344CB8AC3E}">
        <p14:creationId xmlns:p14="http://schemas.microsoft.com/office/powerpoint/2010/main" val="7293892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10">
            <a:extLst xmlns:a="http://schemas.openxmlformats.org/drawingml/2006/main">
              <a:ext uri="{FF2B5EF4-FFF2-40B4-BE49-F238E27FC236}">
                <a16:creationId xmlns:a16="http://schemas.microsoft.com/office/drawing/2014/main" id="{13EA0F9C-D649-4E28-B558-13958321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สายสนับสนุน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C516CF8C-A7CB-46CE-A33C-99EC4F35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คะแนนถ่วงน้ำหนักเกิดจากน้ำหนักและผลงานที่ทำได้</a:t>
            </a:r>
          </a:p>
        </p:txBody>
      </p:sp>
      <p:sp>
        <p:nvSpPr>
          <p:cNvPr id="3" name="score-formula">
            <a:extLst xmlns:a="http://schemas.openxmlformats.org/drawingml/2006/main">
              <a:ext uri="{FF2B5EF4-FFF2-40B4-BE49-F238E27FC236}">
                <a16:creationId xmlns:a16="http://schemas.microsoft.com/office/drawing/2014/main" id="{CA7A45ED-BBE7-4E65-BB5A-F7158886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4E1D85"/>
                </a:solidFill>
                <a:latin typeface="Tahoma"/>
                <a:ea typeface="Tahoma"/>
                <a:cs typeface="Tahoma"/>
              </a:defRPr>
            </a:pPr>
            <a:r>
              <a:rPr sz="2775" b="1">
                <a:solidFill>
                  <a:srgbClr val="4E1D85"/>
                </a:solidFill>
                <a:latin typeface="Tahoma"/>
                <a:ea typeface="Tahoma"/>
                <a:cs typeface="Tahoma"/>
              </a:rPr>
              <a:t>คะแนนถ่วงน้ำหนัก = น้ำหนัก × คะแนนที่ทำได้ ÷ 100</a:t>
            </a:r>
          </a:p>
        </p:txBody>
      </p:sp>
      <p:sp>
        <p:nvSpPr>
          <p:cNvPr id="4" name="score-example">
            <a:extLst xmlns:a="http://schemas.openxmlformats.org/drawingml/2006/main">
              <a:ext uri="{FF2B5EF4-FFF2-40B4-BE49-F238E27FC236}">
                <a16:creationId xmlns:a16="http://schemas.microsoft.com/office/drawing/2014/main" id="{8ACF89B1-CD59-4031-966B-BCACDABA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ตัวอย่าง: 20 × 80 ÷ 100 = 16 คะแนน</a:t>
            </a:r>
          </a:p>
        </p:txBody>
      </p:sp>
      <p:sp>
        <p:nvSpPr>
          <p:cNvPr id="5" name="score-stat-1">
            <a:extLst xmlns:a="http://schemas.openxmlformats.org/drawingml/2006/main">
              <a:ext uri="{FF2B5EF4-FFF2-40B4-BE49-F238E27FC236}">
                <a16:creationId xmlns:a16="http://schemas.microsoft.com/office/drawing/2014/main" id="{3F15B306-0F3A-4AC5-911E-F55443DC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3718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core-stat-1-value">
            <a:extLst xmlns:a="http://schemas.openxmlformats.org/drawingml/2006/main">
              <a:ext uri="{FF2B5EF4-FFF2-40B4-BE49-F238E27FC236}">
                <a16:creationId xmlns:a16="http://schemas.microsoft.com/office/drawing/2014/main" id="{A4AA2D6D-6EB6-495E-B60C-70B79DA7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2800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495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20</a:t>
            </a:r>
          </a:p>
        </p:txBody>
      </p:sp>
      <p:sp>
        <p:nvSpPr>
          <p:cNvPr id="7" name="score-stat-1-label">
            <a:extLst xmlns:a="http://schemas.openxmlformats.org/drawingml/2006/main">
              <a:ext uri="{FF2B5EF4-FFF2-40B4-BE49-F238E27FC236}">
                <a16:creationId xmlns:a16="http://schemas.microsoft.com/office/drawing/2014/main" id="{15622B49-756C-4D75-A684-7C1CCF9F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น้ำหนัก</a:t>
            </a:r>
          </a:p>
        </p:txBody>
      </p:sp>
      <p:sp>
        <p:nvSpPr>
          <p:cNvPr id="8" name="score-stat-2">
            <a:extLst xmlns:a="http://schemas.openxmlformats.org/drawingml/2006/main">
              <a:ext uri="{FF2B5EF4-FFF2-40B4-BE49-F238E27FC236}">
                <a16:creationId xmlns:a16="http://schemas.microsoft.com/office/drawing/2014/main" id="{384CF051-C1A9-48C0-96F1-6759169A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71850"/>
            <a:ext cx="33718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core-stat-2-value">
            <a:extLst xmlns:a="http://schemas.openxmlformats.org/drawingml/2006/main">
              <a:ext uri="{FF2B5EF4-FFF2-40B4-BE49-F238E27FC236}">
                <a16:creationId xmlns:a16="http://schemas.microsoft.com/office/drawing/2014/main" id="{231A122A-27BE-4D27-8CC6-2A5DD585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657600"/>
            <a:ext cx="2800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495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80</a:t>
            </a:r>
          </a:p>
        </p:txBody>
      </p:sp>
      <p:sp>
        <p:nvSpPr>
          <p:cNvPr id="10" name="score-stat-2-label">
            <a:extLst xmlns:a="http://schemas.openxmlformats.org/drawingml/2006/main">
              <a:ext uri="{FF2B5EF4-FFF2-40B4-BE49-F238E27FC236}">
                <a16:creationId xmlns:a16="http://schemas.microsoft.com/office/drawing/2014/main" id="{C47DB38E-307D-4B9F-9003-CBD661E6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768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คะแนนที่ทำได้</a:t>
            </a:r>
          </a:p>
        </p:txBody>
      </p:sp>
      <p:sp>
        <p:nvSpPr>
          <p:cNvPr id="11" name="score-stat-3">
            <a:extLst xmlns:a="http://schemas.openxmlformats.org/drawingml/2006/main">
              <a:ext uri="{FF2B5EF4-FFF2-40B4-BE49-F238E27FC236}">
                <a16:creationId xmlns:a16="http://schemas.microsoft.com/office/drawing/2014/main" id="{4A4A7340-D3C2-43BB-BB2C-493F031B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71850"/>
            <a:ext cx="33718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A"/>
          </a:solidFill>
          <a:ln xmlns:a="http://schemas.openxmlformats.org/drawingml/2006/main" w="19050">
            <a:solidFill>
              <a:srgbClr val="6F2DBD"/>
            </a:solidFill>
            <a:prstDash val="solid"/>
          </a:ln>
        </p:spPr>
      </p:sp>
      <p:sp>
        <p:nvSpPr>
          <p:cNvPr id="12" name="score-stat-3-value">
            <a:extLst xmlns:a="http://schemas.openxmlformats.org/drawingml/2006/main">
              <a:ext uri="{FF2B5EF4-FFF2-40B4-BE49-F238E27FC236}">
                <a16:creationId xmlns:a16="http://schemas.microsoft.com/office/drawing/2014/main" id="{464D70A7-48FC-4C19-AAAC-1CE56E92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57600"/>
            <a:ext cx="2800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4E1D85"/>
                </a:solidFill>
                <a:latin typeface="Tahoma"/>
                <a:ea typeface="Tahoma"/>
                <a:cs typeface="Tahoma"/>
              </a:defRPr>
            </a:pPr>
            <a:r>
              <a:rPr sz="4950" b="1">
                <a:solidFill>
                  <a:srgbClr val="4E1D85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13" name="score-stat-3-label">
            <a:extLst xmlns:a="http://schemas.openxmlformats.org/drawingml/2006/main">
              <a:ext uri="{FF2B5EF4-FFF2-40B4-BE49-F238E27FC236}">
                <a16:creationId xmlns:a16="http://schemas.microsoft.com/office/drawing/2014/main" id="{0E4330BB-B689-4CB0-9C83-C89AA70C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768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คะแนนถ่วงน้ำหนัก</a:t>
            </a:r>
          </a:p>
        </p:txBody>
      </p:sp>
      <p:sp>
        <p:nvSpPr>
          <p:cNvPr id="14" name="score-note">
            <a:extLst xmlns:a="http://schemas.openxmlformats.org/drawingml/2006/main">
              <a:ext uri="{FF2B5EF4-FFF2-40B4-BE49-F238E27FC236}">
                <a16:creationId xmlns:a16="http://schemas.microsoft.com/office/drawing/2014/main" id="{4EE75630-ABFA-4C58-9957-52E72F39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คำนวณแต่ละรายการก่อนรวมคะแนนสายสนับสนุน</a:t>
            </a:r>
          </a:p>
        </p:txBody>
      </p:sp>
      <p:sp>
        <p:nvSpPr>
          <p:cNvPr id="15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A46B5A99-2068-4BF6-A291-1DAA2D6D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70773402-86C7-4BAD-8546-F265C1F3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MSU EVA • การอบรมเชิงปฏิบัติการ</a:t>
            </a:r>
          </a:p>
        </p:txBody>
      </p:sp>
      <p:sp>
        <p:nvSpPr>
          <p:cNvPr id="17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0EAEF4F3-518C-4814-B8C7-B34ABC9D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17855607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11">
            <a:extLst xmlns:a="http://schemas.openxmlformats.org/drawingml/2006/main">
              <a:ext uri="{FF2B5EF4-FFF2-40B4-BE49-F238E27FC236}">
                <a16:creationId xmlns:a16="http://schemas.microsoft.com/office/drawing/2014/main" id="{2FFF39B9-D1F1-43AF-9BD6-FDE247D6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ตรวจและส่งต่อ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22A9111D-B7B0-4CB5-BEFD-CA208A2E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ผู้ประเมินแต่ละลำดับตรวจ ให้คะแนน และส่งต่อ</a:t>
            </a:r>
          </a:p>
        </p:txBody>
      </p:sp>
      <p:sp>
        <p:nvSpPr>
          <p:cNvPr id="3" name="review-block-1">
            <a:extLst xmlns:a="http://schemas.openxmlformats.org/drawingml/2006/main">
              <a:ext uri="{FF2B5EF4-FFF2-40B4-BE49-F238E27FC236}">
                <a16:creationId xmlns:a16="http://schemas.microsoft.com/office/drawing/2014/main" id="{13A09FED-3AF3-4328-A36B-2696481B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3718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view-1-number">
            <a:extLst xmlns:a="http://schemas.openxmlformats.org/drawingml/2006/main">
              <a:ext uri="{FF2B5EF4-FFF2-40B4-BE49-F238E27FC236}">
                <a16:creationId xmlns:a16="http://schemas.microsoft.com/office/drawing/2014/main" id="{1A211011-BEA6-4F3D-867D-30ED86B2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5" name="review-1-title">
            <a:extLst xmlns:a="http://schemas.openxmlformats.org/drawingml/2006/main">
              <a:ext uri="{FF2B5EF4-FFF2-40B4-BE49-F238E27FC236}">
                <a16:creationId xmlns:a16="http://schemas.microsoft.com/office/drawing/2014/main" id="{D0C8A9DA-9D43-4CC8-9BCD-AC1AD31E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ตรวจ</a:t>
            </a:r>
          </a:p>
        </p:txBody>
      </p:sp>
      <p:sp>
        <p:nvSpPr>
          <p:cNvPr id="6" name="review-1-body">
            <a:extLst xmlns:a="http://schemas.openxmlformats.org/drawingml/2006/main">
              <a:ext uri="{FF2B5EF4-FFF2-40B4-BE49-F238E27FC236}">
                <a16:creationId xmlns:a16="http://schemas.microsoft.com/office/drawing/2014/main" id="{FDA6BE95-CB5B-40BA-8B59-0DC846B1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819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ดูผลงาน หลักฐาน</a:t>
            </a:r>
          </a:p>
          <a:p xmlns:a="http://schemas.openxmlformats.org/drawingml/2006/main">
            <a:pPr algn="l">
              <a:defRPr sz="157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และความครบถ้วนของรายการ</a:t>
            </a:r>
          </a:p>
        </p:txBody>
      </p:sp>
      <p:sp>
        <p:nvSpPr>
          <p:cNvPr id="7" name="review-block-2">
            <a:extLst xmlns:a="http://schemas.openxmlformats.org/drawingml/2006/main">
              <a:ext uri="{FF2B5EF4-FFF2-40B4-BE49-F238E27FC236}">
                <a16:creationId xmlns:a16="http://schemas.microsoft.com/office/drawing/2014/main" id="{B18F7FE7-3A0F-4611-AA47-4C991EC0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33718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view-2-number">
            <a:extLst xmlns:a="http://schemas.openxmlformats.org/drawingml/2006/main">
              <a:ext uri="{FF2B5EF4-FFF2-40B4-BE49-F238E27FC236}">
                <a16:creationId xmlns:a16="http://schemas.microsoft.com/office/drawing/2014/main" id="{2E22D941-FAA0-471D-9D16-E75157F5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47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9" name="review-2-title">
            <a:extLst xmlns:a="http://schemas.openxmlformats.org/drawingml/2006/main">
              <a:ext uri="{FF2B5EF4-FFF2-40B4-BE49-F238E27FC236}">
                <a16:creationId xmlns:a16="http://schemas.microsoft.com/office/drawing/2014/main" id="{3AF3A2C2-BF73-466E-B5DA-59BC6DC7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4325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ให้คะแนน/ความเห็น</a:t>
            </a:r>
          </a:p>
        </p:txBody>
      </p:sp>
      <p:sp>
        <p:nvSpPr>
          <p:cNvPr id="10" name="review-2-body">
            <a:extLst xmlns:a="http://schemas.openxmlformats.org/drawingml/2006/main">
              <a:ext uri="{FF2B5EF4-FFF2-40B4-BE49-F238E27FC236}">
                <a16:creationId xmlns:a16="http://schemas.microsoft.com/office/drawing/2014/main" id="{081D8C3E-9804-4071-99DC-4D5139B2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00500"/>
            <a:ext cx="2819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บันทึกผลตามสิทธิ์</a:t>
            </a:r>
          </a:p>
          <a:p xmlns:a="http://schemas.openxmlformats.org/drawingml/2006/main">
            <a:pPr algn="l">
              <a:defRPr sz="157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พร้อมเหตุผลเมื่อมีการแก้ไข</a:t>
            </a:r>
          </a:p>
        </p:txBody>
      </p:sp>
      <p:sp>
        <p:nvSpPr>
          <p:cNvPr id="11" name="review-block-3">
            <a:extLst xmlns:a="http://schemas.openxmlformats.org/drawingml/2006/main">
              <a:ext uri="{FF2B5EF4-FFF2-40B4-BE49-F238E27FC236}">
                <a16:creationId xmlns:a16="http://schemas.microsoft.com/office/drawing/2014/main" id="{98C89348-AD33-4C37-AA9F-3C572E83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81250"/>
            <a:ext cx="33718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view-3-number">
            <a:extLst xmlns:a="http://schemas.openxmlformats.org/drawingml/2006/main">
              <a:ext uri="{FF2B5EF4-FFF2-40B4-BE49-F238E27FC236}">
                <a16:creationId xmlns:a16="http://schemas.microsoft.com/office/drawing/2014/main" id="{724BA68A-82C5-40EA-9E9A-E285751D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479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13" name="review-3-title">
            <a:extLst xmlns:a="http://schemas.openxmlformats.org/drawingml/2006/main">
              <a:ext uri="{FF2B5EF4-FFF2-40B4-BE49-F238E27FC236}">
                <a16:creationId xmlns:a16="http://schemas.microsoft.com/office/drawing/2014/main" id="{9B897E82-3C42-41CF-9293-25278A56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ส่งต่อหรือปิดงาน</a:t>
            </a:r>
          </a:p>
        </p:txBody>
      </p:sp>
      <p:sp>
        <p:nvSpPr>
          <p:cNvPr id="14" name="review-3-body">
            <a:extLst xmlns:a="http://schemas.openxmlformats.org/drawingml/2006/main">
              <a:ext uri="{FF2B5EF4-FFF2-40B4-BE49-F238E27FC236}">
                <a16:creationId xmlns:a16="http://schemas.microsoft.com/office/drawing/2014/main" id="{5D7932D2-5D60-43E8-B1C0-D13969B9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819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หากมีผู้ตรวจถัดไปให้ส่งต่อ</a:t>
            </a:r>
          </a:p>
          <a:p xmlns:a="http://schemas.openxmlformats.org/drawingml/2006/main">
            <a:pPr algn="l">
              <a:defRPr sz="157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หากเป็นคนสุดท้ายให้รับรอง</a:t>
            </a:r>
          </a:p>
        </p:txBody>
      </p:sp>
      <p:sp>
        <p:nvSpPr>
          <p:cNvPr id="15" name="review-dynamic-note">
            <a:extLst xmlns:a="http://schemas.openxmlformats.org/drawingml/2006/main">
              <a:ext uri="{FF2B5EF4-FFF2-40B4-BE49-F238E27FC236}">
                <a16:creationId xmlns:a16="http://schemas.microsoft.com/office/drawing/2014/main" id="{71A5BD76-FD60-4008-B4C3-F58E1C02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E1D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4E1D85"/>
                </a:solidFill>
                <a:latin typeface="Tahoma"/>
                <a:ea typeface="Tahoma"/>
                <a:cs typeface="Tahoma"/>
              </a:rPr>
              <a:t>จำนวนผู้ตรวจและลำดับจริงขึ้นอยู่กับการตั้งค่าของงานนั้น</a:t>
            </a:r>
          </a:p>
        </p:txBody>
      </p:sp>
      <p:sp>
        <p:nvSpPr>
          <p:cNvPr id="16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D0BCCCE3-A8BF-4E8A-AC35-42E5B8EC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abel-11">
            <a:extLst xmlns:a="http://schemas.openxmlformats.org/drawingml/2006/main">
              <a:ext uri="{FF2B5EF4-FFF2-40B4-BE49-F238E27FC236}">
                <a16:creationId xmlns:a16="http://schemas.microsoft.com/office/drawing/2014/main" id="{C375FDDE-5F15-40F6-8B7E-90C3EF0C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MSU EVA • การอบรมเชิงปฏิบัติการ</a:t>
            </a:r>
          </a:p>
        </p:txBody>
      </p:sp>
      <p:sp>
        <p:nvSpPr>
          <p:cNvPr id="18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6714EACE-3368-49D6-A10F-6491B5EE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3178208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12">
            <a:extLst xmlns:a="http://schemas.openxmlformats.org/drawingml/2006/main">
              <a:ext uri="{FF2B5EF4-FFF2-40B4-BE49-F238E27FC236}">
                <a16:creationId xmlns:a16="http://schemas.microsoft.com/office/drawing/2014/main" id="{CB2F454C-7FED-4889-A43E-036ADECA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สถานะสุดท้าย</a:t>
            </a:r>
          </a:p>
        </p:txBody>
      </p:sp>
      <p:sp>
        <p:nvSpPr>
          <p:cNvPr id="2" name="complete-message">
            <a:extLst xmlns:a="http://schemas.openxmlformats.org/drawingml/2006/main">
              <a:ext uri="{FF2B5EF4-FFF2-40B4-BE49-F238E27FC236}">
                <a16:creationId xmlns:a16="http://schemas.microsoft.com/office/drawing/2014/main" id="{1B661E12-0AFD-4DF1-AA11-B164B6CB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7239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405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ผู้ตรวจลำดับสุดท้าย</a:t>
            </a:r>
          </a:p>
          <a:p xmlns:a="http://schemas.openxmlformats.org/drawingml/2006/main">
            <a:pPr algn="l">
              <a:defRPr sz="405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405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รับรองจนสถานะเป็น</a:t>
            </a:r>
          </a:p>
        </p:txBody>
      </p:sp>
      <p:sp>
        <p:nvSpPr>
          <p:cNvPr id="3" name="complete-status">
            <a:extLst xmlns:a="http://schemas.openxmlformats.org/drawingml/2006/main">
              <a:ext uri="{FF2B5EF4-FFF2-40B4-BE49-F238E27FC236}">
                <a16:creationId xmlns:a16="http://schemas.microsoft.com/office/drawing/2014/main" id="{7CD475E2-4025-4FCD-AEAF-2ECE985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7524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6000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Completed</a:t>
            </a:r>
          </a:p>
        </p:txBody>
      </p:sp>
      <p:sp>
        <p:nvSpPr>
          <p:cNvPr id="4" name="complete-side-label">
            <a:extLst xmlns:a="http://schemas.openxmlformats.org/drawingml/2006/main">
              <a:ext uri="{FF2B5EF4-FFF2-40B4-BE49-F238E27FC236}">
                <a16:creationId xmlns:a16="http://schemas.microsoft.com/office/drawing/2014/main" id="{9D87255C-CEF7-4429-B344-C6A5AD80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00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จำไว้</a:t>
            </a:r>
          </a:p>
        </p:txBody>
      </p:sp>
      <p:sp>
        <p:nvSpPr>
          <p:cNvPr id="5" name="complete-side-title">
            <a:extLst xmlns:a="http://schemas.openxmlformats.org/drawingml/2006/main">
              <a:ext uri="{FF2B5EF4-FFF2-40B4-BE49-F238E27FC236}">
                <a16:creationId xmlns:a16="http://schemas.microsoft.com/office/drawing/2014/main" id="{211B4902-ADAF-47AE-BDB3-0B3C3598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933450"/>
            <a:ext cx="3333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คนที่ปิดงานคือผู้ตรวจคนสุดท้ายตาม flow ที่ตั้งค่า</a:t>
            </a:r>
          </a:p>
        </p:txBody>
      </p:sp>
      <p:sp>
        <p:nvSpPr>
          <p:cNvPr id="6" name="complete-side-detail">
            <a:extLst xmlns:a="http://schemas.openxmlformats.org/drawingml/2006/main">
              <a:ext uri="{FF2B5EF4-FFF2-40B4-BE49-F238E27FC236}">
                <a16:creationId xmlns:a16="http://schemas.microsoft.com/office/drawing/2014/main" id="{3DE5B43F-6955-4027-AA50-A2927320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1460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จึงไม่จำเป็นต้องเป็นผู้บริหารเสมอไป</a:t>
            </a:r>
          </a:p>
        </p:txBody>
      </p:sp>
      <p:sp>
        <p:nvSpPr>
          <p:cNvPr id="7" name="footer-rule-12">
            <a:extLst xmlns:a="http://schemas.openxmlformats.org/drawingml/2006/main">
              <a:ext uri="{FF2B5EF4-FFF2-40B4-BE49-F238E27FC236}">
                <a16:creationId xmlns:a16="http://schemas.microsoft.com/office/drawing/2014/main" id="{F7B4A7B1-FAD0-4061-8C0F-6E443BDA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abel-12">
            <a:extLst xmlns:a="http://schemas.openxmlformats.org/drawingml/2006/main">
              <a:ext uri="{FF2B5EF4-FFF2-40B4-BE49-F238E27FC236}">
                <a16:creationId xmlns:a16="http://schemas.microsoft.com/office/drawing/2014/main" id="{ECE7C0FB-7CBF-4C0E-9DF3-ACB3A36C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MSU EVA • การอบรมเชิงปฏิบัติการ</a:t>
            </a:r>
          </a:p>
        </p:txBody>
      </p:sp>
      <p:sp>
        <p:nvSpPr>
          <p:cNvPr id="9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88DDFD01-EBD7-4C70-BFF0-8E809FFD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12932268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ection-13">
            <a:extLst xmlns:a="http://schemas.openxmlformats.org/drawingml/2006/main">
              <a:ext uri="{FF2B5EF4-FFF2-40B4-BE49-F238E27FC236}">
                <a16:creationId xmlns:a16="http://schemas.microsoft.com/office/drawing/2014/main" id="{9A9F7C21-0715-4EE4-8FDD-595368F2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ดูผลและรายงาน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066C71DA-9DD4-4729-9572-6BA02E7E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360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งานที่ปิดแล้วพร้อมดูผลและส่งออกรายงาน</a:t>
            </a:r>
          </a:p>
        </p:txBody>
      </p:sp>
      <p:sp>
        <p:nvSpPr>
          <p:cNvPr id="3" name="report-disclaimer">
            <a:extLst xmlns:a="http://schemas.openxmlformats.org/drawingml/2006/main">
              <a:ext uri="{FF2B5EF4-FFF2-40B4-BE49-F238E27FC236}">
                <a16:creationId xmlns:a16="http://schemas.microsoft.com/office/drawing/2014/main" id="{CDAF0955-2D10-4903-A8E7-4EB6E2C1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3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ตัวอย่างข้อมูลฝึกอบรม — ไม่มีข้อมูลจริงหรือข้อมูลส่วนบุคคล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06A25-E8A1-478E-8FAE-D18054BB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619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port-header-รายการ">
            <a:extLst xmlns:a="http://schemas.openxmlformats.org/drawingml/2006/main">
              <a:ext uri="{FF2B5EF4-FFF2-40B4-BE49-F238E27FC236}">
                <a16:creationId xmlns:a16="http://schemas.microsoft.com/office/drawing/2014/main" id="{CE24BCEA-9D9D-4E99-8957-096C6F9A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รายการ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1E70F-B7FA-4B99-9793-D14FAF79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81250"/>
            <a:ext cx="2362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port-header-สถานะ">
            <a:extLst xmlns:a="http://schemas.openxmlformats.org/drawingml/2006/main">
              <a:ext uri="{FF2B5EF4-FFF2-40B4-BE49-F238E27FC236}">
                <a16:creationId xmlns:a16="http://schemas.microsoft.com/office/drawing/2014/main" id="{C0752371-60B8-42A9-A8EB-4D763209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336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สถานะ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9940C-7BA9-441C-8DF8-2AE9E8A0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2362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port-header-ผล">
            <a:extLst xmlns:a="http://schemas.openxmlformats.org/drawingml/2006/main">
              <a:ext uri="{FF2B5EF4-FFF2-40B4-BE49-F238E27FC236}">
                <a16:creationId xmlns:a16="http://schemas.microsoft.com/office/drawing/2014/main" id="{69450D4E-85AA-42BB-A455-F7B9F2EB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336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ผล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CAC58-F86A-4594-8373-9A756E8E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2628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port-header-การทำงาน">
            <a:extLst xmlns:a="http://schemas.openxmlformats.org/drawingml/2006/main">
              <a:ext uri="{FF2B5EF4-FFF2-40B4-BE49-F238E27FC236}">
                <a16:creationId xmlns:a16="http://schemas.microsoft.com/office/drawing/2014/main" id="{D458DCFF-141D-4E67-AAF3-B16E912A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336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การทำงาน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D03D54-8B82-4152-9796-EF38FB96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361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4"/>
          </a:solidFill>
          <a:ln xmlns:a="http://schemas.openxmlformats.org/drawingml/2006/main" w="9525">
            <a:solidFill>
              <a:srgbClr val="E3E4E8"/>
            </a:solidFill>
            <a:prstDash val="solid"/>
          </a:ln>
        </p:spPr>
      </p:sp>
      <p:sp>
        <p:nvSpPr>
          <p:cNvPr id="13" name="report-row-1-col-1">
            <a:extLst xmlns:a="http://schemas.openxmlformats.org/drawingml/2006/main">
              <a:ext uri="{FF2B5EF4-FFF2-40B4-BE49-F238E27FC236}">
                <a16:creationId xmlns:a16="http://schemas.microsoft.com/office/drawing/2014/main" id="{7E432618-E250-46BB-A7EB-4EF2044D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งานฝึกปฏิบัติ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9F1E95-6A89-4760-9949-2EDDA9E0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14650"/>
            <a:ext cx="2362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4"/>
          </a:solidFill>
          <a:ln xmlns:a="http://schemas.openxmlformats.org/drawingml/2006/main" w="9525">
            <a:solidFill>
              <a:srgbClr val="E3E4E8"/>
            </a:solidFill>
            <a:prstDash val="solid"/>
          </a:ln>
        </p:spPr>
      </p:sp>
      <p:sp>
        <p:nvSpPr>
          <p:cNvPr id="15" name="report-row-1-col-2">
            <a:extLst xmlns:a="http://schemas.openxmlformats.org/drawingml/2006/main">
              <a:ext uri="{FF2B5EF4-FFF2-40B4-BE49-F238E27FC236}">
                <a16:creationId xmlns:a16="http://schemas.microsoft.com/office/drawing/2014/main" id="{6AB60968-AB88-490F-B89F-706CC99D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432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E1D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4E1D85"/>
                </a:solidFill>
                <a:latin typeface="Tahoma"/>
                <a:ea typeface="Tahoma"/>
                <a:cs typeface="Tahoma"/>
              </a:rPr>
              <a:t>Completed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24251A-9D47-4A53-9331-BC825C86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14650"/>
            <a:ext cx="2362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4"/>
          </a:solidFill>
          <a:ln xmlns:a="http://schemas.openxmlformats.org/drawingml/2006/main" w="9525">
            <a:solidFill>
              <a:srgbClr val="E3E4E8"/>
            </a:solidFill>
            <a:prstDash val="solid"/>
          </a:ln>
        </p:spPr>
      </p:sp>
      <p:sp>
        <p:nvSpPr>
          <p:cNvPr id="17" name="report-row-1-col-3">
            <a:extLst xmlns:a="http://schemas.openxmlformats.org/drawingml/2006/main">
              <a:ext uri="{FF2B5EF4-FFF2-40B4-BE49-F238E27FC236}">
                <a16:creationId xmlns:a16="http://schemas.microsoft.com/office/drawing/2014/main" id="{E89A4184-9602-42D3-800A-BC6C255A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พร้อมดูผล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59A2F7-6945-4923-894A-856D1020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14650"/>
            <a:ext cx="2628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4"/>
          </a:solidFill>
          <a:ln xmlns:a="http://schemas.openxmlformats.org/drawingml/2006/main" w="9525">
            <a:solidFill>
              <a:srgbClr val="E3E4E8"/>
            </a:solidFill>
            <a:prstDash val="solid"/>
          </a:ln>
        </p:spPr>
      </p:sp>
      <p:sp>
        <p:nvSpPr>
          <p:cNvPr id="19" name="report-row-1-col-4">
            <a:extLst xmlns:a="http://schemas.openxmlformats.org/drawingml/2006/main">
              <a:ext uri="{FF2B5EF4-FFF2-40B4-BE49-F238E27FC236}">
                <a16:creationId xmlns:a16="http://schemas.microsoft.com/office/drawing/2014/main" id="{AEEA046F-3E61-4E5C-A6FD-E4B0E42C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43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ส่งออก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926B8F-0C76-4996-A3A4-3BB92883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361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4E8"/>
            </a:solidFill>
            <a:prstDash val="solid"/>
          </a:ln>
        </p:spPr>
      </p:sp>
      <p:sp>
        <p:nvSpPr>
          <p:cNvPr id="21" name="report-row-2-col-1">
            <a:extLst xmlns:a="http://schemas.openxmlformats.org/drawingml/2006/main">
              <a:ext uri="{FF2B5EF4-FFF2-40B4-BE49-F238E27FC236}">
                <a16:creationId xmlns:a16="http://schemas.microsoft.com/office/drawing/2014/main" id="{6141EFC0-DE35-4782-B725-A4F54E1B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งานฝึกปฏิบัติ 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08402A-CF11-4275-979B-23BED6AF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57600"/>
            <a:ext cx="2362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4E8"/>
            </a:solidFill>
            <a:prstDash val="solid"/>
          </a:ln>
        </p:spPr>
      </p:sp>
      <p:sp>
        <p:nvSpPr>
          <p:cNvPr id="23" name="report-row-2-col-2">
            <a:extLst xmlns:a="http://schemas.openxmlformats.org/drawingml/2006/main">
              <a:ext uri="{FF2B5EF4-FFF2-40B4-BE49-F238E27FC236}">
                <a16:creationId xmlns:a16="http://schemas.microsoft.com/office/drawing/2014/main" id="{FCD978B4-6B12-4251-BAE3-A6D5F28E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8620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E1D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4E1D85"/>
                </a:solidFill>
                <a:latin typeface="Tahoma"/>
                <a:ea typeface="Tahoma"/>
                <a:cs typeface="Tahoma"/>
              </a:rPr>
              <a:t>Completed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C4FBCD-BB83-45B7-8911-B2D614FA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57600"/>
            <a:ext cx="2362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4E8"/>
            </a:solidFill>
            <a:prstDash val="solid"/>
          </a:ln>
        </p:spPr>
      </p:sp>
      <p:sp>
        <p:nvSpPr>
          <p:cNvPr id="25" name="report-row-2-col-3">
            <a:extLst xmlns:a="http://schemas.openxmlformats.org/drawingml/2006/main">
              <a:ext uri="{FF2B5EF4-FFF2-40B4-BE49-F238E27FC236}">
                <a16:creationId xmlns:a16="http://schemas.microsoft.com/office/drawing/2014/main" id="{C55EFCBE-B351-4C4E-A7D3-027831A1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8620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พร้อมดูผล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F1E1D1-C88E-41E3-9E5E-5FC1CEA3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57600"/>
            <a:ext cx="2628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4E8"/>
            </a:solidFill>
            <a:prstDash val="solid"/>
          </a:ln>
        </p:spPr>
      </p:sp>
      <p:sp>
        <p:nvSpPr>
          <p:cNvPr id="27" name="report-row-2-col-4">
            <a:extLst xmlns:a="http://schemas.openxmlformats.org/drawingml/2006/main">
              <a:ext uri="{FF2B5EF4-FFF2-40B4-BE49-F238E27FC236}">
                <a16:creationId xmlns:a16="http://schemas.microsoft.com/office/drawing/2014/main" id="{CDDC9760-61E2-47BA-BACC-598BD497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86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ส่งออก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16EB02-92CA-44F2-8C8E-9CF4D206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361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4"/>
          </a:solidFill>
          <a:ln xmlns:a="http://schemas.openxmlformats.org/drawingml/2006/main" w="9525">
            <a:solidFill>
              <a:srgbClr val="E3E4E8"/>
            </a:solidFill>
            <a:prstDash val="solid"/>
          </a:ln>
        </p:spPr>
      </p:sp>
      <p:sp>
        <p:nvSpPr>
          <p:cNvPr id="29" name="report-row-3-col-1">
            <a:extLst xmlns:a="http://schemas.openxmlformats.org/drawingml/2006/main">
              <a:ext uri="{FF2B5EF4-FFF2-40B4-BE49-F238E27FC236}">
                <a16:creationId xmlns:a16="http://schemas.microsoft.com/office/drawing/2014/main" id="{2998A549-D2D0-4511-AFEC-6677B625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งานฝึกปฏิบัติ 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4DB709-BD65-4B97-B4AB-F8D2BD48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00550"/>
            <a:ext cx="2362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4"/>
          </a:solidFill>
          <a:ln xmlns:a="http://schemas.openxmlformats.org/drawingml/2006/main" w="9525">
            <a:solidFill>
              <a:srgbClr val="E3E4E8"/>
            </a:solidFill>
            <a:prstDash val="solid"/>
          </a:ln>
        </p:spPr>
      </p:sp>
      <p:sp>
        <p:nvSpPr>
          <p:cNvPr id="31" name="report-row-3-col-2">
            <a:extLst xmlns:a="http://schemas.openxmlformats.org/drawingml/2006/main">
              <a:ext uri="{FF2B5EF4-FFF2-40B4-BE49-F238E27FC236}">
                <a16:creationId xmlns:a16="http://schemas.microsoft.com/office/drawing/2014/main" id="{56C14DFE-0205-4811-803C-4E5912C9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291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E1D85"/>
                </a:solidFill>
                <a:latin typeface="Tahoma"/>
                <a:ea typeface="Tahoma"/>
                <a:cs typeface="Tahoma"/>
              </a:defRPr>
            </a:pPr>
            <a:r>
              <a:rPr sz="1500" b="1">
                <a:solidFill>
                  <a:srgbClr val="4E1D85"/>
                </a:solidFill>
                <a:latin typeface="Tahoma"/>
                <a:ea typeface="Tahoma"/>
                <a:cs typeface="Tahoma"/>
              </a:rPr>
              <a:t>Completed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337582-4604-4B52-AD25-E7481825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00550"/>
            <a:ext cx="2362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4"/>
          </a:solidFill>
          <a:ln xmlns:a="http://schemas.openxmlformats.org/drawingml/2006/main" w="9525">
            <a:solidFill>
              <a:srgbClr val="E3E4E8"/>
            </a:solidFill>
            <a:prstDash val="solid"/>
          </a:ln>
        </p:spPr>
      </p:sp>
      <p:sp>
        <p:nvSpPr>
          <p:cNvPr id="33" name="report-row-3-col-3">
            <a:extLst xmlns:a="http://schemas.openxmlformats.org/drawingml/2006/main">
              <a:ext uri="{FF2B5EF4-FFF2-40B4-BE49-F238E27FC236}">
                <a16:creationId xmlns:a16="http://schemas.microsoft.com/office/drawing/2014/main" id="{4B632D6F-5A2D-40C9-9EFC-426433E5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291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พร้อมดูผล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6CA11D-62F6-434A-AFE9-0E2A1D49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00550"/>
            <a:ext cx="2628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4"/>
          </a:solidFill>
          <a:ln xmlns:a="http://schemas.openxmlformats.org/drawingml/2006/main" w="9525">
            <a:solidFill>
              <a:srgbClr val="E3E4E8"/>
            </a:solidFill>
            <a:prstDash val="solid"/>
          </a:ln>
        </p:spPr>
      </p:sp>
      <p:sp>
        <p:nvSpPr>
          <p:cNvPr id="35" name="report-row-3-col-4">
            <a:extLst xmlns:a="http://schemas.openxmlformats.org/drawingml/2006/main">
              <a:ext uri="{FF2B5EF4-FFF2-40B4-BE49-F238E27FC236}">
                <a16:creationId xmlns:a16="http://schemas.microsoft.com/office/drawing/2014/main" id="{B380688F-D721-4DF5-8571-C804672B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629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ส่งออก</a:t>
            </a:r>
          </a:p>
        </p:txBody>
      </p:sp>
      <p:sp>
        <p:nvSpPr>
          <p:cNvPr id="36" name="report-check">
            <a:extLst xmlns:a="http://schemas.openxmlformats.org/drawingml/2006/main">
              <a:ext uri="{FF2B5EF4-FFF2-40B4-BE49-F238E27FC236}">
                <a16:creationId xmlns:a16="http://schemas.microsoft.com/office/drawing/2014/main" id="{0334207E-440B-4207-B70B-2767043E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E1D85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4E1D85"/>
                </a:solidFill>
                <a:latin typeface="Tahoma"/>
                <a:ea typeface="Tahoma"/>
                <a:cs typeface="Tahoma"/>
              </a:rPr>
              <a:t>ตรวจสถานะให้เป็น Completed ก่อนใช้ผลหรือส่งออกรายงาน</a:t>
            </a:r>
          </a:p>
        </p:txBody>
      </p:sp>
      <p:sp>
        <p:nvSpPr>
          <p:cNvPr id="37" name="footer-rule-13">
            <a:extLst xmlns:a="http://schemas.openxmlformats.org/drawingml/2006/main">
              <a:ext uri="{FF2B5EF4-FFF2-40B4-BE49-F238E27FC236}">
                <a16:creationId xmlns:a16="http://schemas.microsoft.com/office/drawing/2014/main" id="{75DB132A-03A7-403F-8267-6F31DBE5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footer-label-13">
            <a:extLst xmlns:a="http://schemas.openxmlformats.org/drawingml/2006/main">
              <a:ext uri="{FF2B5EF4-FFF2-40B4-BE49-F238E27FC236}">
                <a16:creationId xmlns:a16="http://schemas.microsoft.com/office/drawing/2014/main" id="{2E247652-23B6-4559-8EE2-41E310C1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MSU EVA • การอบรมเชิงปฏิบัติการ</a:t>
            </a:r>
          </a:p>
        </p:txBody>
      </p:sp>
      <p:sp>
        <p:nvSpPr>
          <p:cNvPr id="39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480A1152-07AF-4719-B9DD-77E110DB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19609797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14">
            <a:extLst xmlns:a="http://schemas.openxmlformats.org/drawingml/2006/main">
              <a:ext uri="{FF2B5EF4-FFF2-40B4-BE49-F238E27FC236}">
                <a16:creationId xmlns:a16="http://schemas.microsoft.com/office/drawing/2014/main" id="{4EF07151-E6F8-4610-BADA-6F0D8462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แก้ปัญหาเบื้องต้น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BC9E83FC-EC8D-40A6-A577-79F320FB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345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หากติดขัด ให้ตรวจสถานะ สิทธิ์ และข้อมูลที่บังคับก่อน</a:t>
            </a:r>
          </a:p>
        </p:txBody>
      </p:sp>
      <p:sp>
        <p:nvSpPr>
          <p:cNvPr id="3" name="recovery-dot-1">
            <a:extLst xmlns:a="http://schemas.openxmlformats.org/drawingml/2006/main">
              <a:ext uri="{FF2B5EF4-FFF2-40B4-BE49-F238E27FC236}">
                <a16:creationId xmlns:a16="http://schemas.microsoft.com/office/drawing/2014/main" id="{7D9E5FD7-14B0-4772-9051-FD2E3113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overy-1-title">
            <a:extLst xmlns:a="http://schemas.openxmlformats.org/drawingml/2006/main">
              <a:ext uri="{FF2B5EF4-FFF2-40B4-BE49-F238E27FC236}">
                <a16:creationId xmlns:a16="http://schemas.microsoft.com/office/drawing/2014/main" id="{CAA5F80B-6E33-427B-AB85-EBDD5532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764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งานไม่ปรากฏ</a:t>
            </a:r>
          </a:p>
        </p:txBody>
      </p:sp>
      <p:sp>
        <p:nvSpPr>
          <p:cNvPr id="5" name="recovery-1-body">
            <a:extLst xmlns:a="http://schemas.openxmlformats.org/drawingml/2006/main">
              <a:ext uri="{FF2B5EF4-FFF2-40B4-BE49-F238E27FC236}">
                <a16:creationId xmlns:a16="http://schemas.microsoft.com/office/drawing/2014/main" id="{D289AF2A-4909-4C74-9B77-D3A20658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764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ตรวจรอบประเมิน บทบาท และงานที่ได้รับมอบหมาย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11123-1D24-406E-9890-DFC01018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95575"/>
            <a:ext cx="1005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overy-dot-2">
            <a:extLst xmlns:a="http://schemas.openxmlformats.org/drawingml/2006/main">
              <a:ext uri="{FF2B5EF4-FFF2-40B4-BE49-F238E27FC236}">
                <a16:creationId xmlns:a16="http://schemas.microsoft.com/office/drawing/2014/main" id="{7063D176-8409-45B0-874D-E59DD682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covery-2-title">
            <a:extLst xmlns:a="http://schemas.openxmlformats.org/drawingml/2006/main">
              <a:ext uri="{FF2B5EF4-FFF2-40B4-BE49-F238E27FC236}">
                <a16:creationId xmlns:a16="http://schemas.microsoft.com/office/drawing/2014/main" id="{BC52833A-3B76-4C04-B405-455AF7D2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ปุ่มที่ต้องการไม่พร้อม</a:t>
            </a:r>
          </a:p>
        </p:txBody>
      </p:sp>
      <p:sp>
        <p:nvSpPr>
          <p:cNvPr id="9" name="recovery-2-body">
            <a:extLst xmlns:a="http://schemas.openxmlformats.org/drawingml/2006/main">
              <a:ext uri="{FF2B5EF4-FFF2-40B4-BE49-F238E27FC236}">
                <a16:creationId xmlns:a16="http://schemas.microsoft.com/office/drawing/2014/main" id="{899F14B1-541E-4F7D-941A-9862A49E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527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ตรวจสถานะปัจจุบันและสิทธิ์ของบทบาท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EE25B-3F66-4A24-B138-BE3A00A8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71875"/>
            <a:ext cx="1005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overy-dot-3">
            <a:extLst xmlns:a="http://schemas.openxmlformats.org/drawingml/2006/main">
              <a:ext uri="{FF2B5EF4-FFF2-40B4-BE49-F238E27FC236}">
                <a16:creationId xmlns:a16="http://schemas.microsoft.com/office/drawing/2014/main" id="{CFB4802A-F2BC-407E-BF64-FF8AE46A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overy-3-title">
            <a:extLst xmlns:a="http://schemas.openxmlformats.org/drawingml/2006/main">
              <a:ext uri="{FF2B5EF4-FFF2-40B4-BE49-F238E27FC236}">
                <a16:creationId xmlns:a16="http://schemas.microsoft.com/office/drawing/2014/main" id="{17867E68-CF59-4098-91C5-501F36CC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บันทึกหรือส่งไม่ได้</a:t>
            </a:r>
          </a:p>
        </p:txBody>
      </p:sp>
      <p:sp>
        <p:nvSpPr>
          <p:cNvPr id="13" name="recovery-3-body">
            <a:extLst xmlns:a="http://schemas.openxmlformats.org/drawingml/2006/main">
              <a:ext uri="{FF2B5EF4-FFF2-40B4-BE49-F238E27FC236}">
                <a16:creationId xmlns:a16="http://schemas.microsoft.com/office/drawing/2014/main" id="{599B06D6-17A4-4408-B80D-985F17FC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290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ตรวจช่องบังคับ สูตร และลิงก์หลักฐาน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6EABBC-53F4-4677-9FDB-6B7D710C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10058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overy-dot-4">
            <a:extLst xmlns:a="http://schemas.openxmlformats.org/drawingml/2006/main">
              <a:ext uri="{FF2B5EF4-FFF2-40B4-BE49-F238E27FC236}">
                <a16:creationId xmlns:a16="http://schemas.microsoft.com/office/drawing/2014/main" id="{D5960D15-61A0-4DB3-BACD-9654AF80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D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covery-4-title">
            <a:extLst xmlns:a="http://schemas.openxmlformats.org/drawingml/2006/main">
              <a:ext uri="{FF2B5EF4-FFF2-40B4-BE49-F238E27FC236}">
                <a16:creationId xmlns:a16="http://schemas.microsoft.com/office/drawing/2014/main" id="{2283BBAC-1C38-456B-A918-4B6E7103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ยังแก้ไม่ได้</a:t>
            </a:r>
          </a:p>
        </p:txBody>
      </p:sp>
      <p:sp>
        <p:nvSpPr>
          <p:cNvPr id="17" name="recovery-4-body">
            <a:extLst xmlns:a="http://schemas.openxmlformats.org/drawingml/2006/main">
              <a:ext uri="{FF2B5EF4-FFF2-40B4-BE49-F238E27FC236}">
                <a16:creationId xmlns:a16="http://schemas.microsoft.com/office/drawing/2014/main" id="{F4A2CE80-6F70-4DD7-AD1A-452D68D1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053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จดชื่อรายการ/สถานะ แล้วติดต่อผู้ดูแลระบบของหน่วยงาน</a:t>
            </a:r>
          </a:p>
        </p:txBody>
      </p:sp>
      <p:sp>
        <p:nvSpPr>
          <p:cNvPr id="18" name="recovery-help">
            <a:extLst xmlns:a="http://schemas.openxmlformats.org/drawingml/2006/main">
              <a:ext uri="{FF2B5EF4-FFF2-40B4-BE49-F238E27FC236}">
                <a16:creationId xmlns:a16="http://schemas.microsoft.com/office/drawing/2014/main" id="{49D5713D-1597-4605-887F-17DFD65F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covery-help-text">
            <a:extLst xmlns:a="http://schemas.openxmlformats.org/drawingml/2006/main">
              <a:ext uri="{FF2B5EF4-FFF2-40B4-BE49-F238E27FC236}">
                <a16:creationId xmlns:a16="http://schemas.microsoft.com/office/drawing/2014/main" id="{B8B2B9A9-78C8-4330-A049-925FAD41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E1D85"/>
                </a:solidFill>
                <a:latin typeface="Tahoma"/>
                <a:ea typeface="Tahoma"/>
                <a:cs typeface="Tahoma"/>
              </a:defRPr>
            </a:pPr>
            <a:r>
              <a:rPr sz="1425" b="1">
                <a:solidFill>
                  <a:srgbClr val="4E1D85"/>
                </a:solidFill>
                <a:latin typeface="Tahoma"/>
                <a:ea typeface="Tahoma"/>
                <a:cs typeface="Tahoma"/>
              </a:rPr>
              <a:t>ช่องทางช่วยเหลือ: คู่มือผู้ใช้ • ผู้ดูแลระบบของหน่วยงาน</a:t>
            </a:r>
          </a:p>
        </p:txBody>
      </p:sp>
      <p:sp>
        <p:nvSpPr>
          <p:cNvPr id="20" name="footer-rule-14">
            <a:extLst xmlns:a="http://schemas.openxmlformats.org/drawingml/2006/main">
              <a:ext uri="{FF2B5EF4-FFF2-40B4-BE49-F238E27FC236}">
                <a16:creationId xmlns:a16="http://schemas.microsoft.com/office/drawing/2014/main" id="{81709D22-7455-40B7-A5D1-54021AFA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ooter-label-14">
            <a:extLst xmlns:a="http://schemas.openxmlformats.org/drawingml/2006/main">
              <a:ext uri="{FF2B5EF4-FFF2-40B4-BE49-F238E27FC236}">
                <a16:creationId xmlns:a16="http://schemas.microsoft.com/office/drawing/2014/main" id="{CFF75A9F-A26A-4CA8-91C4-D3096D22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MSU EVA • การอบรมเชิงปฏิบัติการ</a:t>
            </a:r>
          </a:p>
        </p:txBody>
      </p:sp>
      <p:sp>
        <p:nvSpPr>
          <p:cNvPr id="22" name="footer-page-14">
            <a:extLst xmlns:a="http://schemas.openxmlformats.org/drawingml/2006/main">
              <a:ext uri="{FF2B5EF4-FFF2-40B4-BE49-F238E27FC236}">
                <a16:creationId xmlns:a16="http://schemas.microsoft.com/office/drawing/2014/main" id="{B692B096-3669-4348-8B88-4B9D197F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18387808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ractice-eyebrow">
            <a:extLst xmlns:a="http://schemas.openxmlformats.org/drawingml/2006/main">
              <a:ext uri="{FF2B5EF4-FFF2-40B4-BE49-F238E27FC236}">
                <a16:creationId xmlns:a16="http://schemas.microsoft.com/office/drawing/2014/main" id="{5C471EC5-6B4C-4469-B873-80356536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F2DBD"/>
                </a:solidFill>
                <a:latin typeface="Tahoma"/>
                <a:ea typeface="Tahoma"/>
                <a:cs typeface="Tahoma"/>
              </a:defRPr>
            </a:pPr>
            <a:r>
              <a:rPr sz="1575" b="1">
                <a:solidFill>
                  <a:srgbClr val="6F2DBD"/>
                </a:solidFill>
                <a:latin typeface="Tahoma"/>
                <a:ea typeface="Tahoma"/>
                <a:cs typeface="Tahoma"/>
              </a:rPr>
              <a:t>ภารกิจปิดการอบรม</a:t>
            </a:r>
          </a:p>
        </p:txBody>
      </p:sp>
      <p:sp>
        <p:nvSpPr>
          <p:cNvPr id="2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7A5C2958-462F-4A69-B7C4-B840D3DF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480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ลองทำหนึ่งงานให้ครบ</a:t>
            </a:r>
          </a:p>
          <a:p xmlns:a="http://schemas.openxmlformats.org/drawingml/2006/main">
            <a:pPr algn="l">
              <a:defRPr sz="480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480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แล้วใช้คู่มือเมื่อกลับไป</a:t>
            </a:r>
          </a:p>
          <a:p xmlns:a="http://schemas.openxmlformats.org/drawingml/2006/main">
            <a:pPr algn="l">
              <a:defRPr sz="4800" b="1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4800" b="1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ทำงานจริง</a:t>
            </a:r>
          </a:p>
        </p:txBody>
      </p:sp>
      <p:sp>
        <p:nvSpPr>
          <p:cNvPr id="3" name="practice-accent">
            <a:extLst xmlns:a="http://schemas.openxmlformats.org/drawingml/2006/main">
              <a:ext uri="{FF2B5EF4-FFF2-40B4-BE49-F238E27FC236}">
                <a16:creationId xmlns:a16="http://schemas.microsoft.com/office/drawing/2014/main" id="{8DB47EDC-84D7-4876-A815-C10C079B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2D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actice-criteria">
            <a:extLst xmlns:a="http://schemas.openxmlformats.org/drawingml/2006/main">
              <a:ext uri="{FF2B5EF4-FFF2-40B4-BE49-F238E27FC236}">
                <a16:creationId xmlns:a16="http://schemas.microsoft.com/office/drawing/2014/main" id="{54F1BA92-2F2F-442D-BFC7-7554D791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114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101114"/>
                </a:solidFill>
                <a:latin typeface="Tahoma"/>
                <a:ea typeface="Tahoma"/>
                <a:cs typeface="Tahoma"/>
              </a:rPr>
              <a:t>ทำร่วมกันตามบทบาท • ตรวจข้อมูลและหลักฐาน • ส่งต่อจนเห็น Completed</a:t>
            </a:r>
          </a:p>
        </p:txBody>
      </p:sp>
      <p:sp>
        <p:nvSpPr>
          <p:cNvPr id="5" name="practice-support">
            <a:extLst xmlns:a="http://schemas.openxmlformats.org/drawingml/2006/main">
              <a:ext uri="{FF2B5EF4-FFF2-40B4-BE49-F238E27FC236}">
                <a16:creationId xmlns:a16="http://schemas.microsoft.com/office/drawing/2014/main" id="{449A9FF7-5F12-49F9-84C8-96C40899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คู่มือผู้ใช้  •  ผู้ดูแลระบบของหน่วยงาน</a:t>
            </a:r>
          </a:p>
        </p:txBody>
      </p:sp>
      <p:sp>
        <p:nvSpPr>
          <p:cNvPr id="6" name="footer-rule-15">
            <a:extLst xmlns:a="http://schemas.openxmlformats.org/drawingml/2006/main">
              <a:ext uri="{FF2B5EF4-FFF2-40B4-BE49-F238E27FC236}">
                <a16:creationId xmlns:a16="http://schemas.microsoft.com/office/drawing/2014/main" id="{E4E50612-7A59-464E-AE21-A9100E35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label-15">
            <a:extLst xmlns:a="http://schemas.openxmlformats.org/drawingml/2006/main">
              <a:ext uri="{FF2B5EF4-FFF2-40B4-BE49-F238E27FC236}">
                <a16:creationId xmlns:a16="http://schemas.microsoft.com/office/drawing/2014/main" id="{7637C1E0-B8BE-4D68-99D2-572C53F9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MSU EVA • การอบรมเชิงปฏิบัติการ</a:t>
            </a:r>
          </a:p>
        </p:txBody>
      </p:sp>
      <p:sp>
        <p:nvSpPr>
          <p:cNvPr id="8" name="footer-page-15">
            <a:extLst xmlns:a="http://schemas.openxmlformats.org/drawingml/2006/main">
              <a:ext uri="{FF2B5EF4-FFF2-40B4-BE49-F238E27FC236}">
                <a16:creationId xmlns:a16="http://schemas.microsoft.com/office/drawing/2014/main" id="{2E913F6E-087E-4251-A92E-29D73A9C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86525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26A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5F626A"/>
                </a:solidFill>
                <a:latin typeface="Tahoma"/>
                <a:ea typeface="Tahoma"/>
                <a:cs typeface="Tahoma"/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6429310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2026-07-24T07:51:01.9760000Z</dcterms:created>
  <dcterms:modified xsi:type="dcterms:W3CDTF">2026-07-24T07:51:01.9760000Z</dcterms:modified>
</coreProperties>
</file>